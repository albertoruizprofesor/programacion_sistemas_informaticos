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6" d="100"/>
          <a:sy n="66" d="100"/>
        </p:scale>
        <p:origin x="979" y="2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556D48-21FE-41AB-8F6E-56563E0B03F2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1BB10F5-B6D6-4AFF-A5CC-08110305A17C}">
      <dgm:prSet/>
      <dgm:spPr/>
      <dgm:t>
        <a:bodyPr/>
        <a:lstStyle/>
        <a:p>
          <a:r>
            <a:rPr lang="en-US"/>
            <a:t>Problemas comunes:</a:t>
          </a:r>
        </a:p>
      </dgm:t>
    </dgm:pt>
    <dgm:pt modelId="{11FE6F86-D67E-4921-B03D-06E19A177DBE}" type="parTrans" cxnId="{7B7791F1-0603-4AA2-AFA3-79C635E00DA5}">
      <dgm:prSet/>
      <dgm:spPr/>
      <dgm:t>
        <a:bodyPr/>
        <a:lstStyle/>
        <a:p>
          <a:endParaRPr lang="en-US"/>
        </a:p>
      </dgm:t>
    </dgm:pt>
    <dgm:pt modelId="{2A7FC20F-72E8-4483-A235-327437649DC9}" type="sibTrans" cxnId="{7B7791F1-0603-4AA2-AFA3-79C635E00DA5}">
      <dgm:prSet/>
      <dgm:spPr/>
      <dgm:t>
        <a:bodyPr/>
        <a:lstStyle/>
        <a:p>
          <a:endParaRPr lang="en-US"/>
        </a:p>
      </dgm:t>
    </dgm:pt>
    <dgm:pt modelId="{FF637646-DC64-4D6F-9A18-9E972D69BAEE}">
      <dgm:prSet/>
      <dgm:spPr/>
      <dgm:t>
        <a:bodyPr/>
        <a:lstStyle/>
        <a:p>
          <a:r>
            <a:rPr lang="en-US"/>
            <a:t>- Funciona en mi máquina</a:t>
          </a:r>
        </a:p>
      </dgm:t>
    </dgm:pt>
    <dgm:pt modelId="{C0641EA1-1867-43C3-9E8B-359A797917DF}" type="parTrans" cxnId="{05DD5AA2-8E8D-4F52-A060-EACFE8C24EBD}">
      <dgm:prSet/>
      <dgm:spPr/>
      <dgm:t>
        <a:bodyPr/>
        <a:lstStyle/>
        <a:p>
          <a:endParaRPr lang="en-US"/>
        </a:p>
      </dgm:t>
    </dgm:pt>
    <dgm:pt modelId="{85731179-8BA9-44C5-97B5-F3719DADAF28}" type="sibTrans" cxnId="{05DD5AA2-8E8D-4F52-A060-EACFE8C24EBD}">
      <dgm:prSet/>
      <dgm:spPr/>
      <dgm:t>
        <a:bodyPr/>
        <a:lstStyle/>
        <a:p>
          <a:endParaRPr lang="en-US"/>
        </a:p>
      </dgm:t>
    </dgm:pt>
    <dgm:pt modelId="{51BDE3F5-92E3-48C4-8BAD-B91EB485F3DA}">
      <dgm:prSet/>
      <dgm:spPr/>
      <dgm:t>
        <a:bodyPr/>
        <a:lstStyle/>
        <a:p>
          <a:r>
            <a:rPr lang="en-US"/>
            <a:t>- Conflictos de librerías</a:t>
          </a:r>
        </a:p>
      </dgm:t>
    </dgm:pt>
    <dgm:pt modelId="{674C9207-8F5B-4607-80BB-955C3DADEC6E}" type="parTrans" cxnId="{E3E7AA8A-8ECA-4659-8A85-1991C574C27C}">
      <dgm:prSet/>
      <dgm:spPr/>
      <dgm:t>
        <a:bodyPr/>
        <a:lstStyle/>
        <a:p>
          <a:endParaRPr lang="en-US"/>
        </a:p>
      </dgm:t>
    </dgm:pt>
    <dgm:pt modelId="{A9538F7C-47D0-4E04-A836-97DC64F982BE}" type="sibTrans" cxnId="{E3E7AA8A-8ECA-4659-8A85-1991C574C27C}">
      <dgm:prSet/>
      <dgm:spPr/>
      <dgm:t>
        <a:bodyPr/>
        <a:lstStyle/>
        <a:p>
          <a:endParaRPr lang="en-US"/>
        </a:p>
      </dgm:t>
    </dgm:pt>
    <dgm:pt modelId="{983AF4FF-D5C7-488E-830C-C8A375D12B7F}">
      <dgm:prSet/>
      <dgm:spPr/>
      <dgm:t>
        <a:bodyPr/>
        <a:lstStyle/>
        <a:p>
          <a:r>
            <a:rPr lang="en-US"/>
            <a:t>- Instalaciones complejas</a:t>
          </a:r>
        </a:p>
      </dgm:t>
    </dgm:pt>
    <dgm:pt modelId="{CF11F1B2-0D7C-4F89-AAC7-A866F3F94261}" type="parTrans" cxnId="{47CD48D1-FC12-4140-9AA9-9B13DA93BF47}">
      <dgm:prSet/>
      <dgm:spPr/>
      <dgm:t>
        <a:bodyPr/>
        <a:lstStyle/>
        <a:p>
          <a:endParaRPr lang="en-US"/>
        </a:p>
      </dgm:t>
    </dgm:pt>
    <dgm:pt modelId="{46FAE2A7-0557-4695-9ECB-BD5EAAEB5F97}" type="sibTrans" cxnId="{47CD48D1-FC12-4140-9AA9-9B13DA93BF47}">
      <dgm:prSet/>
      <dgm:spPr/>
      <dgm:t>
        <a:bodyPr/>
        <a:lstStyle/>
        <a:p>
          <a:endParaRPr lang="en-US"/>
        </a:p>
      </dgm:t>
    </dgm:pt>
    <dgm:pt modelId="{6F163F66-CB0B-41B9-9DB3-AC83D4C8068A}">
      <dgm:prSet/>
      <dgm:spPr/>
      <dgm:t>
        <a:bodyPr/>
        <a:lstStyle/>
        <a:p>
          <a:r>
            <a:rPr lang="en-US"/>
            <a:t>- Diferencias entre entornos</a:t>
          </a:r>
        </a:p>
      </dgm:t>
    </dgm:pt>
    <dgm:pt modelId="{0B57A6F7-C5FB-4F87-A51D-DDD4E1146982}" type="parTrans" cxnId="{056D2B68-FEE1-4357-B411-96820923454C}">
      <dgm:prSet/>
      <dgm:spPr/>
      <dgm:t>
        <a:bodyPr/>
        <a:lstStyle/>
        <a:p>
          <a:endParaRPr lang="en-US"/>
        </a:p>
      </dgm:t>
    </dgm:pt>
    <dgm:pt modelId="{3CE28DED-48CC-46EC-B9BD-AF99BDCC3DDF}" type="sibTrans" cxnId="{056D2B68-FEE1-4357-B411-96820923454C}">
      <dgm:prSet/>
      <dgm:spPr/>
      <dgm:t>
        <a:bodyPr/>
        <a:lstStyle/>
        <a:p>
          <a:endParaRPr lang="en-US"/>
        </a:p>
      </dgm:t>
    </dgm:pt>
    <dgm:pt modelId="{0CCCD841-16F8-44DE-A516-AD5D66482ED4}" type="pres">
      <dgm:prSet presAssocID="{CE556D48-21FE-41AB-8F6E-56563E0B03F2}" presName="vert0" presStyleCnt="0">
        <dgm:presLayoutVars>
          <dgm:dir/>
          <dgm:animOne val="branch"/>
          <dgm:animLvl val="lvl"/>
        </dgm:presLayoutVars>
      </dgm:prSet>
      <dgm:spPr/>
    </dgm:pt>
    <dgm:pt modelId="{0C227EB8-14EB-4244-8044-F3F0A312534C}" type="pres">
      <dgm:prSet presAssocID="{61BB10F5-B6D6-4AFF-A5CC-08110305A17C}" presName="thickLine" presStyleLbl="alignNode1" presStyleIdx="0" presStyleCnt="5"/>
      <dgm:spPr/>
    </dgm:pt>
    <dgm:pt modelId="{77CF0BD7-9C86-411E-9DEC-3185D8056BFC}" type="pres">
      <dgm:prSet presAssocID="{61BB10F5-B6D6-4AFF-A5CC-08110305A17C}" presName="horz1" presStyleCnt="0"/>
      <dgm:spPr/>
    </dgm:pt>
    <dgm:pt modelId="{4CD8964D-C50A-405A-82CC-44905C068132}" type="pres">
      <dgm:prSet presAssocID="{61BB10F5-B6D6-4AFF-A5CC-08110305A17C}" presName="tx1" presStyleLbl="revTx" presStyleIdx="0" presStyleCnt="5"/>
      <dgm:spPr/>
    </dgm:pt>
    <dgm:pt modelId="{21D0542F-47AD-43B9-9B37-0AB7B9F812D0}" type="pres">
      <dgm:prSet presAssocID="{61BB10F5-B6D6-4AFF-A5CC-08110305A17C}" presName="vert1" presStyleCnt="0"/>
      <dgm:spPr/>
    </dgm:pt>
    <dgm:pt modelId="{5E22059B-CE4A-40EB-AF66-05A73F9C09A6}" type="pres">
      <dgm:prSet presAssocID="{FF637646-DC64-4D6F-9A18-9E972D69BAEE}" presName="thickLine" presStyleLbl="alignNode1" presStyleIdx="1" presStyleCnt="5"/>
      <dgm:spPr/>
    </dgm:pt>
    <dgm:pt modelId="{570498A6-CB1B-4F82-BFC1-491FF5896FEB}" type="pres">
      <dgm:prSet presAssocID="{FF637646-DC64-4D6F-9A18-9E972D69BAEE}" presName="horz1" presStyleCnt="0"/>
      <dgm:spPr/>
    </dgm:pt>
    <dgm:pt modelId="{4CE76940-C003-4CCF-BB55-184CF400FB16}" type="pres">
      <dgm:prSet presAssocID="{FF637646-DC64-4D6F-9A18-9E972D69BAEE}" presName="tx1" presStyleLbl="revTx" presStyleIdx="1" presStyleCnt="5"/>
      <dgm:spPr/>
    </dgm:pt>
    <dgm:pt modelId="{EA240845-C7A0-4813-B88B-4968019C1B46}" type="pres">
      <dgm:prSet presAssocID="{FF637646-DC64-4D6F-9A18-9E972D69BAEE}" presName="vert1" presStyleCnt="0"/>
      <dgm:spPr/>
    </dgm:pt>
    <dgm:pt modelId="{477646DB-C5B0-4B03-A4F0-EE01BB2C5510}" type="pres">
      <dgm:prSet presAssocID="{51BDE3F5-92E3-48C4-8BAD-B91EB485F3DA}" presName="thickLine" presStyleLbl="alignNode1" presStyleIdx="2" presStyleCnt="5"/>
      <dgm:spPr/>
    </dgm:pt>
    <dgm:pt modelId="{B304E746-FBDD-4486-A239-581C7F58B3A3}" type="pres">
      <dgm:prSet presAssocID="{51BDE3F5-92E3-48C4-8BAD-B91EB485F3DA}" presName="horz1" presStyleCnt="0"/>
      <dgm:spPr/>
    </dgm:pt>
    <dgm:pt modelId="{A9F923D2-2535-484D-923C-5125C7C2601B}" type="pres">
      <dgm:prSet presAssocID="{51BDE3F5-92E3-48C4-8BAD-B91EB485F3DA}" presName="tx1" presStyleLbl="revTx" presStyleIdx="2" presStyleCnt="5"/>
      <dgm:spPr/>
    </dgm:pt>
    <dgm:pt modelId="{B024A711-1B0D-45F6-9332-60C83525FD23}" type="pres">
      <dgm:prSet presAssocID="{51BDE3F5-92E3-48C4-8BAD-B91EB485F3DA}" presName="vert1" presStyleCnt="0"/>
      <dgm:spPr/>
    </dgm:pt>
    <dgm:pt modelId="{F1167405-7A41-427F-88DF-5731FEEDF782}" type="pres">
      <dgm:prSet presAssocID="{983AF4FF-D5C7-488E-830C-C8A375D12B7F}" presName="thickLine" presStyleLbl="alignNode1" presStyleIdx="3" presStyleCnt="5"/>
      <dgm:spPr/>
    </dgm:pt>
    <dgm:pt modelId="{F3AACC76-AAC8-4024-A3E1-AE9C76E32947}" type="pres">
      <dgm:prSet presAssocID="{983AF4FF-D5C7-488E-830C-C8A375D12B7F}" presName="horz1" presStyleCnt="0"/>
      <dgm:spPr/>
    </dgm:pt>
    <dgm:pt modelId="{E7498526-885B-4F03-A319-A6CC35B82AB7}" type="pres">
      <dgm:prSet presAssocID="{983AF4FF-D5C7-488E-830C-C8A375D12B7F}" presName="tx1" presStyleLbl="revTx" presStyleIdx="3" presStyleCnt="5"/>
      <dgm:spPr/>
    </dgm:pt>
    <dgm:pt modelId="{C34DDE6A-B0CB-45E5-A4E3-1014C0032E77}" type="pres">
      <dgm:prSet presAssocID="{983AF4FF-D5C7-488E-830C-C8A375D12B7F}" presName="vert1" presStyleCnt="0"/>
      <dgm:spPr/>
    </dgm:pt>
    <dgm:pt modelId="{96D9F489-7F54-4BB3-AFA3-F6D2D2068540}" type="pres">
      <dgm:prSet presAssocID="{6F163F66-CB0B-41B9-9DB3-AC83D4C8068A}" presName="thickLine" presStyleLbl="alignNode1" presStyleIdx="4" presStyleCnt="5"/>
      <dgm:spPr/>
    </dgm:pt>
    <dgm:pt modelId="{07DA662E-EDBC-46B6-B07E-E7D245B375B3}" type="pres">
      <dgm:prSet presAssocID="{6F163F66-CB0B-41B9-9DB3-AC83D4C8068A}" presName="horz1" presStyleCnt="0"/>
      <dgm:spPr/>
    </dgm:pt>
    <dgm:pt modelId="{566BC578-2D0A-4574-97F5-C2DF008D4E34}" type="pres">
      <dgm:prSet presAssocID="{6F163F66-CB0B-41B9-9DB3-AC83D4C8068A}" presName="tx1" presStyleLbl="revTx" presStyleIdx="4" presStyleCnt="5"/>
      <dgm:spPr/>
    </dgm:pt>
    <dgm:pt modelId="{2853A428-127C-478C-B698-A301B3E7CAA5}" type="pres">
      <dgm:prSet presAssocID="{6F163F66-CB0B-41B9-9DB3-AC83D4C8068A}" presName="vert1" presStyleCnt="0"/>
      <dgm:spPr/>
    </dgm:pt>
  </dgm:ptLst>
  <dgm:cxnLst>
    <dgm:cxn modelId="{94341B02-AFFC-4226-9CFC-71624374E7D1}" type="presOf" srcId="{51BDE3F5-92E3-48C4-8BAD-B91EB485F3DA}" destId="{A9F923D2-2535-484D-923C-5125C7C2601B}" srcOrd="0" destOrd="0" presId="urn:microsoft.com/office/officeart/2008/layout/LinedList"/>
    <dgm:cxn modelId="{1ACF5D5C-DE97-4303-AFBF-3CAD8BE1CE9F}" type="presOf" srcId="{CE556D48-21FE-41AB-8F6E-56563E0B03F2}" destId="{0CCCD841-16F8-44DE-A516-AD5D66482ED4}" srcOrd="0" destOrd="0" presId="urn:microsoft.com/office/officeart/2008/layout/LinedList"/>
    <dgm:cxn modelId="{5E5FA345-F226-4C58-BC76-A27AA6DEEB81}" type="presOf" srcId="{983AF4FF-D5C7-488E-830C-C8A375D12B7F}" destId="{E7498526-885B-4F03-A319-A6CC35B82AB7}" srcOrd="0" destOrd="0" presId="urn:microsoft.com/office/officeart/2008/layout/LinedList"/>
    <dgm:cxn modelId="{056D2B68-FEE1-4357-B411-96820923454C}" srcId="{CE556D48-21FE-41AB-8F6E-56563E0B03F2}" destId="{6F163F66-CB0B-41B9-9DB3-AC83D4C8068A}" srcOrd="4" destOrd="0" parTransId="{0B57A6F7-C5FB-4F87-A51D-DDD4E1146982}" sibTransId="{3CE28DED-48CC-46EC-B9BD-AF99BDCC3DDF}"/>
    <dgm:cxn modelId="{E3E7AA8A-8ECA-4659-8A85-1991C574C27C}" srcId="{CE556D48-21FE-41AB-8F6E-56563E0B03F2}" destId="{51BDE3F5-92E3-48C4-8BAD-B91EB485F3DA}" srcOrd="2" destOrd="0" parTransId="{674C9207-8F5B-4607-80BB-955C3DADEC6E}" sibTransId="{A9538F7C-47D0-4E04-A836-97DC64F982BE}"/>
    <dgm:cxn modelId="{11F3619C-0745-4A78-B60D-157B7619D9F3}" type="presOf" srcId="{FF637646-DC64-4D6F-9A18-9E972D69BAEE}" destId="{4CE76940-C003-4CCF-BB55-184CF400FB16}" srcOrd="0" destOrd="0" presId="urn:microsoft.com/office/officeart/2008/layout/LinedList"/>
    <dgm:cxn modelId="{05DD5AA2-8E8D-4F52-A060-EACFE8C24EBD}" srcId="{CE556D48-21FE-41AB-8F6E-56563E0B03F2}" destId="{FF637646-DC64-4D6F-9A18-9E972D69BAEE}" srcOrd="1" destOrd="0" parTransId="{C0641EA1-1867-43C3-9E8B-359A797917DF}" sibTransId="{85731179-8BA9-44C5-97B5-F3719DADAF28}"/>
    <dgm:cxn modelId="{9CB828C4-CB34-4D10-BA29-445A4EAF921F}" type="presOf" srcId="{61BB10F5-B6D6-4AFF-A5CC-08110305A17C}" destId="{4CD8964D-C50A-405A-82CC-44905C068132}" srcOrd="0" destOrd="0" presId="urn:microsoft.com/office/officeart/2008/layout/LinedList"/>
    <dgm:cxn modelId="{47CD48D1-FC12-4140-9AA9-9B13DA93BF47}" srcId="{CE556D48-21FE-41AB-8F6E-56563E0B03F2}" destId="{983AF4FF-D5C7-488E-830C-C8A375D12B7F}" srcOrd="3" destOrd="0" parTransId="{CF11F1B2-0D7C-4F89-AAC7-A866F3F94261}" sibTransId="{46FAE2A7-0557-4695-9ECB-BD5EAAEB5F97}"/>
    <dgm:cxn modelId="{7B7791F1-0603-4AA2-AFA3-79C635E00DA5}" srcId="{CE556D48-21FE-41AB-8F6E-56563E0B03F2}" destId="{61BB10F5-B6D6-4AFF-A5CC-08110305A17C}" srcOrd="0" destOrd="0" parTransId="{11FE6F86-D67E-4921-B03D-06E19A177DBE}" sibTransId="{2A7FC20F-72E8-4483-A235-327437649DC9}"/>
    <dgm:cxn modelId="{2E5FC9FD-2518-495F-AB12-A256C2B8042B}" type="presOf" srcId="{6F163F66-CB0B-41B9-9DB3-AC83D4C8068A}" destId="{566BC578-2D0A-4574-97F5-C2DF008D4E34}" srcOrd="0" destOrd="0" presId="urn:microsoft.com/office/officeart/2008/layout/LinedList"/>
    <dgm:cxn modelId="{1F7A1017-BFC1-4B5A-968C-DA7040985B7F}" type="presParOf" srcId="{0CCCD841-16F8-44DE-A516-AD5D66482ED4}" destId="{0C227EB8-14EB-4244-8044-F3F0A312534C}" srcOrd="0" destOrd="0" presId="urn:microsoft.com/office/officeart/2008/layout/LinedList"/>
    <dgm:cxn modelId="{8E0F52C6-B785-46B3-89BD-761355517DCC}" type="presParOf" srcId="{0CCCD841-16F8-44DE-A516-AD5D66482ED4}" destId="{77CF0BD7-9C86-411E-9DEC-3185D8056BFC}" srcOrd="1" destOrd="0" presId="urn:microsoft.com/office/officeart/2008/layout/LinedList"/>
    <dgm:cxn modelId="{97FF359A-3C07-4708-B28F-6903E12EE02F}" type="presParOf" srcId="{77CF0BD7-9C86-411E-9DEC-3185D8056BFC}" destId="{4CD8964D-C50A-405A-82CC-44905C068132}" srcOrd="0" destOrd="0" presId="urn:microsoft.com/office/officeart/2008/layout/LinedList"/>
    <dgm:cxn modelId="{501A4325-3BFB-4254-9F4C-BCD69CB93044}" type="presParOf" srcId="{77CF0BD7-9C86-411E-9DEC-3185D8056BFC}" destId="{21D0542F-47AD-43B9-9B37-0AB7B9F812D0}" srcOrd="1" destOrd="0" presId="urn:microsoft.com/office/officeart/2008/layout/LinedList"/>
    <dgm:cxn modelId="{B8E504D9-CC6F-4553-97A6-37E30DD854BA}" type="presParOf" srcId="{0CCCD841-16F8-44DE-A516-AD5D66482ED4}" destId="{5E22059B-CE4A-40EB-AF66-05A73F9C09A6}" srcOrd="2" destOrd="0" presId="urn:microsoft.com/office/officeart/2008/layout/LinedList"/>
    <dgm:cxn modelId="{3165AD82-2281-4224-8A19-7B6656387F9E}" type="presParOf" srcId="{0CCCD841-16F8-44DE-A516-AD5D66482ED4}" destId="{570498A6-CB1B-4F82-BFC1-491FF5896FEB}" srcOrd="3" destOrd="0" presId="urn:microsoft.com/office/officeart/2008/layout/LinedList"/>
    <dgm:cxn modelId="{C90B552B-1BB8-49CB-B182-38135BC3D4FA}" type="presParOf" srcId="{570498A6-CB1B-4F82-BFC1-491FF5896FEB}" destId="{4CE76940-C003-4CCF-BB55-184CF400FB16}" srcOrd="0" destOrd="0" presId="urn:microsoft.com/office/officeart/2008/layout/LinedList"/>
    <dgm:cxn modelId="{0718FE86-B727-488F-96D3-30A2E0BD9EC1}" type="presParOf" srcId="{570498A6-CB1B-4F82-BFC1-491FF5896FEB}" destId="{EA240845-C7A0-4813-B88B-4968019C1B46}" srcOrd="1" destOrd="0" presId="urn:microsoft.com/office/officeart/2008/layout/LinedList"/>
    <dgm:cxn modelId="{A5E1B7B7-0B47-4BBB-98D4-086C9D16BB7F}" type="presParOf" srcId="{0CCCD841-16F8-44DE-A516-AD5D66482ED4}" destId="{477646DB-C5B0-4B03-A4F0-EE01BB2C5510}" srcOrd="4" destOrd="0" presId="urn:microsoft.com/office/officeart/2008/layout/LinedList"/>
    <dgm:cxn modelId="{1F651FF1-D085-4869-9AB8-2CBEAA682F4B}" type="presParOf" srcId="{0CCCD841-16F8-44DE-A516-AD5D66482ED4}" destId="{B304E746-FBDD-4486-A239-581C7F58B3A3}" srcOrd="5" destOrd="0" presId="urn:microsoft.com/office/officeart/2008/layout/LinedList"/>
    <dgm:cxn modelId="{D8047AB4-72FF-4A21-85A1-50073903A5C9}" type="presParOf" srcId="{B304E746-FBDD-4486-A239-581C7F58B3A3}" destId="{A9F923D2-2535-484D-923C-5125C7C2601B}" srcOrd="0" destOrd="0" presId="urn:microsoft.com/office/officeart/2008/layout/LinedList"/>
    <dgm:cxn modelId="{63A39B24-5C51-4437-8886-69C72DD444C1}" type="presParOf" srcId="{B304E746-FBDD-4486-A239-581C7F58B3A3}" destId="{B024A711-1B0D-45F6-9332-60C83525FD23}" srcOrd="1" destOrd="0" presId="urn:microsoft.com/office/officeart/2008/layout/LinedList"/>
    <dgm:cxn modelId="{C26BD3B1-53FD-415E-8D58-001331FB4A64}" type="presParOf" srcId="{0CCCD841-16F8-44DE-A516-AD5D66482ED4}" destId="{F1167405-7A41-427F-88DF-5731FEEDF782}" srcOrd="6" destOrd="0" presId="urn:microsoft.com/office/officeart/2008/layout/LinedList"/>
    <dgm:cxn modelId="{C3EE8D51-FA11-4C4A-9002-8855A10C3C2F}" type="presParOf" srcId="{0CCCD841-16F8-44DE-A516-AD5D66482ED4}" destId="{F3AACC76-AAC8-4024-A3E1-AE9C76E32947}" srcOrd="7" destOrd="0" presId="urn:microsoft.com/office/officeart/2008/layout/LinedList"/>
    <dgm:cxn modelId="{66DE3FF0-99BF-4D33-9751-122771E014EE}" type="presParOf" srcId="{F3AACC76-AAC8-4024-A3E1-AE9C76E32947}" destId="{E7498526-885B-4F03-A319-A6CC35B82AB7}" srcOrd="0" destOrd="0" presId="urn:microsoft.com/office/officeart/2008/layout/LinedList"/>
    <dgm:cxn modelId="{D27191BD-2F4A-4D8F-BF69-E121483F30B5}" type="presParOf" srcId="{F3AACC76-AAC8-4024-A3E1-AE9C76E32947}" destId="{C34DDE6A-B0CB-45E5-A4E3-1014C0032E77}" srcOrd="1" destOrd="0" presId="urn:microsoft.com/office/officeart/2008/layout/LinedList"/>
    <dgm:cxn modelId="{8D9703B3-D63F-420E-8ACF-43DF09E3C5EA}" type="presParOf" srcId="{0CCCD841-16F8-44DE-A516-AD5D66482ED4}" destId="{96D9F489-7F54-4BB3-AFA3-F6D2D2068540}" srcOrd="8" destOrd="0" presId="urn:microsoft.com/office/officeart/2008/layout/LinedList"/>
    <dgm:cxn modelId="{8BA429FB-F2B5-4AE7-96FA-FE0429730211}" type="presParOf" srcId="{0CCCD841-16F8-44DE-A516-AD5D66482ED4}" destId="{07DA662E-EDBC-46B6-B07E-E7D245B375B3}" srcOrd="9" destOrd="0" presId="urn:microsoft.com/office/officeart/2008/layout/LinedList"/>
    <dgm:cxn modelId="{A9C800C9-7E1A-4636-A14E-ABC2195B170C}" type="presParOf" srcId="{07DA662E-EDBC-46B6-B07E-E7D245B375B3}" destId="{566BC578-2D0A-4574-97F5-C2DF008D4E34}" srcOrd="0" destOrd="0" presId="urn:microsoft.com/office/officeart/2008/layout/LinedList"/>
    <dgm:cxn modelId="{B3046626-AD8B-4CBE-9463-6E7AE0AD8EC2}" type="presParOf" srcId="{07DA662E-EDBC-46B6-B07E-E7D245B375B3}" destId="{2853A428-127C-478C-B698-A301B3E7CAA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C227EB8-14EB-4244-8044-F3F0A312534C}">
      <dsp:nvSpPr>
        <dsp:cNvPr id="0" name=""/>
        <dsp:cNvSpPr/>
      </dsp:nvSpPr>
      <dsp:spPr>
        <a:xfrm>
          <a:off x="0" y="552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D8964D-C50A-405A-82CC-44905C068132}">
      <dsp:nvSpPr>
        <dsp:cNvPr id="0" name=""/>
        <dsp:cNvSpPr/>
      </dsp:nvSpPr>
      <dsp:spPr>
        <a:xfrm>
          <a:off x="0" y="552"/>
          <a:ext cx="8229600" cy="9049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210" tIns="156210" rIns="156210" bIns="156210" numCol="1" spcCol="1270" anchor="t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Problemas comunes:</a:t>
          </a:r>
        </a:p>
      </dsp:txBody>
      <dsp:txXfrm>
        <a:off x="0" y="552"/>
        <a:ext cx="8229600" cy="904971"/>
      </dsp:txXfrm>
    </dsp:sp>
    <dsp:sp modelId="{5E22059B-CE4A-40EB-AF66-05A73F9C09A6}">
      <dsp:nvSpPr>
        <dsp:cNvPr id="0" name=""/>
        <dsp:cNvSpPr/>
      </dsp:nvSpPr>
      <dsp:spPr>
        <a:xfrm>
          <a:off x="0" y="905524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E76940-C003-4CCF-BB55-184CF400FB16}">
      <dsp:nvSpPr>
        <dsp:cNvPr id="0" name=""/>
        <dsp:cNvSpPr/>
      </dsp:nvSpPr>
      <dsp:spPr>
        <a:xfrm>
          <a:off x="0" y="905524"/>
          <a:ext cx="8229600" cy="9049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210" tIns="156210" rIns="156210" bIns="156210" numCol="1" spcCol="1270" anchor="t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- Funciona en mi máquina</a:t>
          </a:r>
        </a:p>
      </dsp:txBody>
      <dsp:txXfrm>
        <a:off x="0" y="905524"/>
        <a:ext cx="8229600" cy="904971"/>
      </dsp:txXfrm>
    </dsp:sp>
    <dsp:sp modelId="{477646DB-C5B0-4B03-A4F0-EE01BB2C5510}">
      <dsp:nvSpPr>
        <dsp:cNvPr id="0" name=""/>
        <dsp:cNvSpPr/>
      </dsp:nvSpPr>
      <dsp:spPr>
        <a:xfrm>
          <a:off x="0" y="1810495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9F923D2-2535-484D-923C-5125C7C2601B}">
      <dsp:nvSpPr>
        <dsp:cNvPr id="0" name=""/>
        <dsp:cNvSpPr/>
      </dsp:nvSpPr>
      <dsp:spPr>
        <a:xfrm>
          <a:off x="0" y="1810495"/>
          <a:ext cx="8229600" cy="9049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210" tIns="156210" rIns="156210" bIns="156210" numCol="1" spcCol="1270" anchor="t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- Conflictos de librerías</a:t>
          </a:r>
        </a:p>
      </dsp:txBody>
      <dsp:txXfrm>
        <a:off x="0" y="1810495"/>
        <a:ext cx="8229600" cy="904971"/>
      </dsp:txXfrm>
    </dsp:sp>
    <dsp:sp modelId="{F1167405-7A41-427F-88DF-5731FEEDF782}">
      <dsp:nvSpPr>
        <dsp:cNvPr id="0" name=""/>
        <dsp:cNvSpPr/>
      </dsp:nvSpPr>
      <dsp:spPr>
        <a:xfrm>
          <a:off x="0" y="2715467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498526-885B-4F03-A319-A6CC35B82AB7}">
      <dsp:nvSpPr>
        <dsp:cNvPr id="0" name=""/>
        <dsp:cNvSpPr/>
      </dsp:nvSpPr>
      <dsp:spPr>
        <a:xfrm>
          <a:off x="0" y="2715467"/>
          <a:ext cx="8229600" cy="9049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210" tIns="156210" rIns="156210" bIns="156210" numCol="1" spcCol="1270" anchor="t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- Instalaciones complejas</a:t>
          </a:r>
        </a:p>
      </dsp:txBody>
      <dsp:txXfrm>
        <a:off x="0" y="2715467"/>
        <a:ext cx="8229600" cy="904971"/>
      </dsp:txXfrm>
    </dsp:sp>
    <dsp:sp modelId="{96D9F489-7F54-4BB3-AFA3-F6D2D2068540}">
      <dsp:nvSpPr>
        <dsp:cNvPr id="0" name=""/>
        <dsp:cNvSpPr/>
      </dsp:nvSpPr>
      <dsp:spPr>
        <a:xfrm>
          <a:off x="0" y="3620438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6BC578-2D0A-4574-97F5-C2DF008D4E34}">
      <dsp:nvSpPr>
        <dsp:cNvPr id="0" name=""/>
        <dsp:cNvSpPr/>
      </dsp:nvSpPr>
      <dsp:spPr>
        <a:xfrm>
          <a:off x="0" y="3620438"/>
          <a:ext cx="8229600" cy="9049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6210" tIns="156210" rIns="156210" bIns="156210" numCol="1" spcCol="1270" anchor="t" anchorCtr="0">
          <a:noAutofit/>
        </a:bodyPr>
        <a:lstStyle/>
        <a:p>
          <a:pPr marL="0" lvl="0" indent="0" algn="l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100" kern="1200"/>
            <a:t>- Diferencias entre entornos</a:t>
          </a:r>
        </a:p>
      </dsp:txBody>
      <dsp:txXfrm>
        <a:off x="0" y="3620438"/>
        <a:ext cx="8229600" cy="90497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F9073F-0744-A916-5DEE-214B444469C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795" r="49924"/>
          <a:stretch>
            <a:fillRect/>
          </a:stretch>
        </p:blipFill>
        <p:spPr>
          <a:xfrm>
            <a:off x="20" y="-2"/>
            <a:ext cx="4057627" cy="6858002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7647" y="-1"/>
            <a:ext cx="508635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86487" y="405685"/>
            <a:ext cx="4098726" cy="1559301"/>
          </a:xfrm>
        </p:spPr>
        <p:txBody>
          <a:bodyPr>
            <a:normAutofit/>
          </a:bodyPr>
          <a:lstStyle/>
          <a:p>
            <a:r>
              <a:rPr lang="es-ES" sz="3500"/>
              <a:t>Docker y Docker Desktop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86487" y="2743200"/>
            <a:ext cx="3935505" cy="3496878"/>
          </a:xfrm>
        </p:spPr>
        <p:txBody>
          <a:bodyPr anchor="ctr">
            <a:normAutofit/>
          </a:bodyPr>
          <a:lstStyle/>
          <a:p>
            <a:r>
              <a:rPr lang="es-ES" sz="1700"/>
              <a:t>Introducción completa a la tecnología de contenedores</a:t>
            </a:r>
          </a:p>
          <a:p>
            <a:r>
              <a:rPr lang="es-ES" sz="1700"/>
              <a:t>Uso profesional de Docker Desktop</a:t>
            </a:r>
          </a:p>
          <a:p>
            <a:r>
              <a:rPr lang="es-ES" sz="1700"/>
              <a:t>Arquitectura, conceptos y prácticas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Contenedores apilados y un semirremolque en un puerto marítimo">
            <a:extLst>
              <a:ext uri="{FF2B5EF4-FFF2-40B4-BE49-F238E27FC236}">
                <a16:creationId xmlns:a16="http://schemas.microsoft.com/office/drawing/2014/main" id="{D2992324-269D-65B5-4ED5-2766993803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362" r="18263"/>
          <a:stretch>
            <a:fillRect/>
          </a:stretch>
        </p:blipFill>
        <p:spPr>
          <a:xfrm>
            <a:off x="20" y="-2"/>
            <a:ext cx="4057627" cy="6858002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7647" y="-1"/>
            <a:ext cx="508635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86487" y="405685"/>
            <a:ext cx="4098726" cy="1559301"/>
          </a:xfrm>
        </p:spPr>
        <p:txBody>
          <a:bodyPr>
            <a:normAutofit/>
          </a:bodyPr>
          <a:lstStyle/>
          <a:p>
            <a:r>
              <a:rPr lang="es-ES" sz="3500"/>
              <a:t>¿Qué es Docker?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86487" y="2743200"/>
            <a:ext cx="3935505" cy="3496878"/>
          </a:xfrm>
        </p:spPr>
        <p:txBody>
          <a:bodyPr anchor="ctr">
            <a:normAutofit/>
          </a:bodyPr>
          <a:lstStyle/>
          <a:p>
            <a:r>
              <a:rPr lang="es-ES" sz="1700"/>
              <a:t>Docker es una plataforma que permite desarrollar, enviar y ejecutar aplicaciones en contenedores.</a:t>
            </a:r>
          </a:p>
          <a:p>
            <a:r>
              <a:rPr lang="es-ES" sz="1700"/>
              <a:t>Los contenedores incluyen la aplicación y todas sus dependencias.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Problema clásico en desarrollo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5DF8B37-411D-DA49-89DF-64CBAE1CF738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5400"/>
              <a:t>Solución que propone Docker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Docker encapsula aplicaciones en contenedores portables.</a:t>
            </a:r>
          </a:p>
          <a:p>
            <a:r>
              <a:rPr lang="es-ES" sz="2100"/>
              <a:t>Los contenedores funcionan igual en desarrollo, pruebas y producción.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5400"/>
              <a:t>¿Qué es un contenedor?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Un contenedor es un entorno aislado que contiene:</a:t>
            </a:r>
          </a:p>
          <a:p>
            <a:r>
              <a:rPr lang="es-ES" sz="2100"/>
              <a:t>- Aplicación</a:t>
            </a:r>
          </a:p>
          <a:p>
            <a:r>
              <a:rPr lang="es-ES" sz="2100"/>
              <a:t>- Librerías</a:t>
            </a:r>
          </a:p>
          <a:p>
            <a:r>
              <a:rPr lang="es-ES" sz="2100"/>
              <a:t>- Dependencias</a:t>
            </a:r>
          </a:p>
          <a:p>
            <a:r>
              <a:rPr lang="es-ES" sz="2100"/>
              <a:t>- Configuración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5400"/>
              <a:t>Características de los contenedores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- Aislamiento</a:t>
            </a:r>
          </a:p>
          <a:p>
            <a:r>
              <a:rPr lang="es-ES" sz="2100"/>
              <a:t>- Portabilidad</a:t>
            </a:r>
          </a:p>
          <a:p>
            <a:r>
              <a:rPr lang="es-ES" sz="2100"/>
              <a:t>- Arranque rápido</a:t>
            </a:r>
          </a:p>
          <a:p>
            <a:r>
              <a:rPr lang="es-ES" sz="2100"/>
              <a:t>- Consumo reducido de recursos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5400"/>
              <a:t>Máquinas virtuales vs contenedores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1900"/>
              <a:t>Máquinas virtuales:</a:t>
            </a:r>
          </a:p>
          <a:p>
            <a:pPr>
              <a:lnSpc>
                <a:spcPct val="90000"/>
              </a:lnSpc>
            </a:pPr>
            <a:r>
              <a:rPr lang="es-ES" sz="1900"/>
              <a:t>- Sistema operativo completo</a:t>
            </a:r>
          </a:p>
          <a:p>
            <a:pPr>
              <a:lnSpc>
                <a:spcPct val="90000"/>
              </a:lnSpc>
            </a:pPr>
            <a:r>
              <a:rPr lang="es-ES" sz="1900"/>
              <a:t>- Más pesadas</a:t>
            </a:r>
          </a:p>
          <a:p>
            <a:pPr>
              <a:lnSpc>
                <a:spcPct val="90000"/>
              </a:lnSpc>
            </a:pPr>
            <a:endParaRPr lang="es-ES" sz="1900"/>
          </a:p>
          <a:p>
            <a:pPr>
              <a:lnSpc>
                <a:spcPct val="90000"/>
              </a:lnSpc>
            </a:pPr>
            <a:r>
              <a:rPr lang="es-ES" sz="1900"/>
              <a:t>Contenedores:</a:t>
            </a:r>
          </a:p>
          <a:p>
            <a:pPr>
              <a:lnSpc>
                <a:spcPct val="90000"/>
              </a:lnSpc>
            </a:pPr>
            <a:r>
              <a:rPr lang="es-ES" sz="1900"/>
              <a:t>- Comparten kernel</a:t>
            </a:r>
          </a:p>
          <a:p>
            <a:pPr>
              <a:lnSpc>
                <a:spcPct val="90000"/>
              </a:lnSpc>
            </a:pPr>
            <a:r>
              <a:rPr lang="es-ES" sz="1900"/>
              <a:t>- Más ligeros</a:t>
            </a:r>
          </a:p>
          <a:p>
            <a:pPr>
              <a:lnSpc>
                <a:spcPct val="90000"/>
              </a:lnSpc>
            </a:pPr>
            <a:r>
              <a:rPr lang="es-ES" sz="1900"/>
              <a:t>- Arranque inmediato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5400"/>
              <a:t>Arquitectura de Docker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Componentes principales:</a:t>
            </a:r>
          </a:p>
          <a:p>
            <a:r>
              <a:rPr lang="es-ES" sz="2100"/>
              <a:t>- Docker Engine</a:t>
            </a:r>
          </a:p>
          <a:p>
            <a:r>
              <a:rPr lang="es-ES" sz="2100"/>
              <a:t>- Docker Client</a:t>
            </a:r>
          </a:p>
          <a:p>
            <a:r>
              <a:rPr lang="es-ES" sz="2100"/>
              <a:t>- Docker Registry</a:t>
            </a:r>
          </a:p>
          <a:p>
            <a:r>
              <a:rPr lang="es-ES" sz="2100"/>
              <a:t>- Docker Images</a:t>
            </a:r>
          </a:p>
          <a:p>
            <a:r>
              <a:rPr lang="es-ES" sz="2100"/>
              <a:t>- Docker Containers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es-ES" sz="6300"/>
              <a:t>Docker Engine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Es el núcleo de Docker.</a:t>
            </a:r>
          </a:p>
          <a:p>
            <a:r>
              <a:rPr lang="es-ES" sz="2100"/>
              <a:t>Se encarga de crear, ejecutar y gestionar contenedores.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es-ES" sz="6300"/>
              <a:t>Docker Client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Es la herramienta con la que interactuamos con Docker.</a:t>
            </a:r>
          </a:p>
          <a:p>
            <a:r>
              <a:rPr lang="es-ES" sz="2100"/>
              <a:t>Ejemplo de comandos:</a:t>
            </a:r>
          </a:p>
          <a:p>
            <a:r>
              <a:rPr lang="es-ES" sz="2100"/>
              <a:t>- docker run</a:t>
            </a:r>
          </a:p>
          <a:p>
            <a:r>
              <a:rPr lang="es-ES" sz="2100"/>
              <a:t>- docker ps</a:t>
            </a:r>
          </a:p>
          <a:p>
            <a:r>
              <a:rPr lang="es-ES" sz="2100"/>
              <a:t>- docker pull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es-ES" sz="6300"/>
              <a:t>Docker Registry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Repositorio donde se almacenan imágenes.</a:t>
            </a:r>
          </a:p>
          <a:p>
            <a:r>
              <a:rPr lang="es-ES" sz="2100"/>
              <a:t>El más utilizado es Docker Hub.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es-ES" sz="6300"/>
              <a:t>Docker Images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Las imágenes son plantillas de solo lectura que contienen todo lo necesario para ejecutar una aplicación.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es-ES" sz="5800"/>
              <a:t>Docker Containers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Un contenedor es una instancia en ejecución de una imagen.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es-ES" sz="6300"/>
              <a:t>Docker Hub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Docker Hub es el repositorio público de imágenes Docker.</a:t>
            </a:r>
          </a:p>
          <a:p>
            <a:r>
              <a:rPr lang="es-ES" sz="2100"/>
              <a:t>Permite descargar y compartir imágenes.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5400"/>
              <a:t>Instalación de Docker Desktop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Docker Desktop es la forma más sencilla de usar Docker en Windows y Mac.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5400"/>
              <a:t>Qué incluye Docker Desktop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pt-BR" sz="2100"/>
              <a:t>- Docker Engine</a:t>
            </a:r>
          </a:p>
          <a:p>
            <a:r>
              <a:rPr lang="pt-BR" sz="2100"/>
              <a:t>- Docker Compose</a:t>
            </a:r>
          </a:p>
          <a:p>
            <a:r>
              <a:rPr lang="pt-BR" sz="2100"/>
              <a:t>- Kubernetes opcional</a:t>
            </a:r>
          </a:p>
          <a:p>
            <a:r>
              <a:rPr lang="pt-BR" sz="2100"/>
              <a:t>- Interfaz gráfica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5400"/>
              <a:t>Interfaz de Docker Desktop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Docker Desktop permite gestionar:</a:t>
            </a:r>
          </a:p>
          <a:p>
            <a:r>
              <a:rPr lang="es-ES" sz="2100"/>
              <a:t>- Contenedores</a:t>
            </a:r>
          </a:p>
          <a:p>
            <a:r>
              <a:rPr lang="es-ES" sz="2100"/>
              <a:t>- Imágenes</a:t>
            </a:r>
          </a:p>
          <a:p>
            <a:r>
              <a:rPr lang="es-ES" sz="2100"/>
              <a:t>- Volúmenes</a:t>
            </a:r>
          </a:p>
          <a:p>
            <a:r>
              <a:rPr lang="es-ES" sz="2100"/>
              <a:t>- Redes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5400"/>
              <a:t>Panel de contenedores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Permite:</a:t>
            </a:r>
          </a:p>
          <a:p>
            <a:r>
              <a:rPr lang="es-ES" sz="2100"/>
              <a:t>- Ver contenedores activos</a:t>
            </a:r>
          </a:p>
          <a:p>
            <a:r>
              <a:rPr lang="es-ES" sz="2100"/>
              <a:t>- Iniciar o detener contenedores</a:t>
            </a:r>
          </a:p>
          <a:p>
            <a:r>
              <a:rPr lang="es-ES" sz="2100"/>
              <a:t>- Ver logs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5400"/>
              <a:t>Gestión de imágenes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Docker Desktop permite:</a:t>
            </a:r>
          </a:p>
          <a:p>
            <a:r>
              <a:rPr lang="es-ES" sz="2100"/>
              <a:t>- Descargar imágenes</a:t>
            </a:r>
          </a:p>
          <a:p>
            <a:r>
              <a:rPr lang="es-ES" sz="2100"/>
              <a:t>- Eliminar imágenes</a:t>
            </a:r>
          </a:p>
          <a:p>
            <a:r>
              <a:rPr lang="es-ES" sz="2100"/>
              <a:t>- Crear contenedores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5400"/>
              <a:t>Logs de contenedores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Desde Docker Desktop se pueden ver logs en tiempo real.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08993"/>
            <a:ext cx="6923558" cy="354204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78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Terminal dentro de contenedores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4582814"/>
            <a:ext cx="5349252" cy="1312657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24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Permite abrir una terminal directamente dentro de un contenedor.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5400"/>
              <a:t>Comandos básicos de Docker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sv-SE" sz="2100"/>
              <a:t>docker pull</a:t>
            </a:r>
          </a:p>
          <a:p>
            <a:r>
              <a:rPr lang="sv-SE" sz="2100"/>
              <a:t> docker run</a:t>
            </a:r>
          </a:p>
          <a:p>
            <a:r>
              <a:rPr lang="sv-SE" sz="2100"/>
              <a:t> docker ps</a:t>
            </a:r>
          </a:p>
          <a:p>
            <a:r>
              <a:rPr lang="sv-SE" sz="2100"/>
              <a:t> docker stop</a:t>
            </a:r>
          </a:p>
          <a:p>
            <a:r>
              <a:rPr lang="sv-SE" sz="2100"/>
              <a:t> docker rm</a:t>
            </a:r>
          </a:p>
          <a:p>
            <a:r>
              <a:rPr lang="sv-SE" sz="2100"/>
              <a:t> docker images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5400"/>
              <a:t>Ejemplo ejecutar servidor web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docker run -d -p 8080:80 nginx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es-ES" sz="5800"/>
              <a:t>Uso de volúmenes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Los volúmenes permiten guardar datos persistentes.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es-ES" sz="6300"/>
              <a:t>Ejemplo volumen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docker volume create datos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es-ES" sz="6300"/>
              <a:t>Redes en Docker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Permiten conectar contenedores entre sí.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es-ES" sz="6300"/>
              <a:t>Docker Compose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Permite definir aplicaciones multicontenedor usando un archivo YAML.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5400"/>
              <a:t>Archivo docker-compose.yml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Define servicios, redes y volúmenes.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5400"/>
              <a:t>Ejemplo Docker Compose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Ejemplo: Apache + MySQL + phpMyAdmin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es-ES" sz="5800"/>
              <a:t>Ventajas de Docker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- Portabilidad</a:t>
            </a:r>
          </a:p>
          <a:p>
            <a:r>
              <a:rPr lang="es-ES" sz="2100"/>
              <a:t>- Escalabilidad</a:t>
            </a:r>
          </a:p>
          <a:p>
            <a:r>
              <a:rPr lang="es-ES" sz="2100"/>
              <a:t>- Aislamiento</a:t>
            </a:r>
          </a:p>
          <a:p>
            <a:r>
              <a:rPr lang="es-ES" sz="2100"/>
              <a:t>- Automatización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5400"/>
              <a:t>Docker en desarrollo profesional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Docker es usado en DevOps, CI/CD y despliegue en la nube.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s-ES" sz="5400"/>
              <a:t>Docker Desktop en el día a día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Facilita la gestión visual de contenedores y el desarrollo local.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es-ES" sz="6300"/>
              <a:t>Resumen final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anchor="t">
            <a:normAutofit/>
          </a:bodyPr>
          <a:lstStyle/>
          <a:p>
            <a:r>
              <a:rPr lang="es-ES" sz="2100"/>
              <a:t>Docker simplifica el desarrollo y despliegue de aplicaciones.</a:t>
            </a:r>
          </a:p>
          <a:p>
            <a:r>
              <a:rPr lang="es-ES" sz="2100"/>
              <a:t>Docker Desktop facilita su uso mediante interfaz gráfica.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560</Words>
  <Application>Microsoft Office PowerPoint</Application>
  <PresentationFormat>Presentación en pantalla (4:3)</PresentationFormat>
  <Paragraphs>122</Paragraphs>
  <Slides>33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Docker y Docker Desktop</vt:lpstr>
      <vt:lpstr>¿Qué es Docker?</vt:lpstr>
      <vt:lpstr>Problema clásico en desarrollo</vt:lpstr>
      <vt:lpstr>Solución que propone Docker</vt:lpstr>
      <vt:lpstr>¿Qué es un contenedor?</vt:lpstr>
      <vt:lpstr>Características de los contenedores</vt:lpstr>
      <vt:lpstr>Máquinas virtuales vs contenedores</vt:lpstr>
      <vt:lpstr>Arquitectura de Docker</vt:lpstr>
      <vt:lpstr>Docker Engine</vt:lpstr>
      <vt:lpstr>Docker Client</vt:lpstr>
      <vt:lpstr>Docker Registry</vt:lpstr>
      <vt:lpstr>Docker Images</vt:lpstr>
      <vt:lpstr>Docker Containers</vt:lpstr>
      <vt:lpstr>Docker Hub</vt:lpstr>
      <vt:lpstr>Instalación de Docker Desktop</vt:lpstr>
      <vt:lpstr>Qué incluye Docker Desktop</vt:lpstr>
      <vt:lpstr>Interfaz de Docker Desktop</vt:lpstr>
      <vt:lpstr>Panel de contenedores</vt:lpstr>
      <vt:lpstr>Gestión de imágenes</vt:lpstr>
      <vt:lpstr>Logs de contenedores</vt:lpstr>
      <vt:lpstr>Terminal dentro de contenedores</vt:lpstr>
      <vt:lpstr>Comandos básicos de Docker</vt:lpstr>
      <vt:lpstr>Ejemplo ejecutar servidor web</vt:lpstr>
      <vt:lpstr>Uso de volúmenes</vt:lpstr>
      <vt:lpstr>Ejemplo volumen</vt:lpstr>
      <vt:lpstr>Redes en Docker</vt:lpstr>
      <vt:lpstr>Docker Compose</vt:lpstr>
      <vt:lpstr>Archivo docker-compose.yml</vt:lpstr>
      <vt:lpstr>Ejemplo Docker Compose</vt:lpstr>
      <vt:lpstr>Ventajas de Docker</vt:lpstr>
      <vt:lpstr>Docker en desarrollo profesional</vt:lpstr>
      <vt:lpstr>Docker Desktop en el día a día</vt:lpstr>
      <vt:lpstr>Resumen final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Alberto Ruiz</cp:lastModifiedBy>
  <cp:revision>2</cp:revision>
  <dcterms:created xsi:type="dcterms:W3CDTF">2013-01-27T09:14:16Z</dcterms:created>
  <dcterms:modified xsi:type="dcterms:W3CDTF">2026-03-06T07:48:40Z</dcterms:modified>
  <cp:category/>
</cp:coreProperties>
</file>