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- Virtualización y Contenedores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Curso detallado sobre Docker</a:t>
            </a:r>
          </a:p>
          <a:p>
            <a:pPr lvl="1"/>
            <a:r>
              <a:t>Arquitectura, imágenes, contenedores y redes</a:t>
            </a:r>
          </a:p>
          <a:p>
            <a:pPr lvl="1"/>
            <a:r>
              <a:t>Uso profesional en desarrollo y producción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¿Qué es Docker?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Plataforma de contenedores open source</a:t>
            </a:r>
          </a:p>
          <a:p>
            <a:pPr lvl="1"/>
            <a:r>
              <a:rPr lang="es-ES" sz="1700"/>
              <a:t>Permite empaquetar aplicaciones con sus dependencias</a:t>
            </a:r>
          </a:p>
          <a:p>
            <a:pPr lvl="1"/>
            <a:r>
              <a:rPr lang="es-ES" sz="1700"/>
              <a:t>Garantiza portabilidad entre entornos</a:t>
            </a:r>
          </a:p>
        </p:txBody>
      </p:sp>
      <p:pic>
        <p:nvPicPr>
          <p:cNvPr id="5" name="Picture 4" descr="Contenedores apilados y un semirremolque en un puerto marítimo">
            <a:extLst>
              <a:ext uri="{FF2B5EF4-FFF2-40B4-BE49-F238E27FC236}">
                <a16:creationId xmlns:a16="http://schemas.microsoft.com/office/drawing/2014/main" id="{2434B68C-0E09-43B7-08D7-2782A1F6E6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21" r="1542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Problema que resuelve Docker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Conflictos de dependencias</a:t>
            </a:r>
          </a:p>
          <a:p>
            <a:pPr lvl="1"/>
            <a:r>
              <a:t>Diferencias entre entornos (dev / test / prod)</a:t>
            </a:r>
          </a:p>
          <a:p>
            <a:pPr lvl="1"/>
            <a:r>
              <a:t>"En mi máquina funciona"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2800">
                <a:solidFill>
                  <a:srgbClr val="FFFFFF"/>
                </a:solidFill>
              </a:rPr>
              <a:t>Virtualización tradicional vs Contenedores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Máquinas virtuales: incluyen SO completo</a:t>
            </a:r>
          </a:p>
          <a:p>
            <a:pPr lvl="1"/>
            <a:r>
              <a:t>Contenedores: comparten kernel del host</a:t>
            </a:r>
          </a:p>
          <a:p>
            <a:pPr lvl="1"/>
            <a:r>
              <a:t>Mayor eficiencia y menor consumo de recursos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3400">
                <a:solidFill>
                  <a:srgbClr val="FFFFFF"/>
                </a:solidFill>
              </a:rPr>
              <a:t>Arquitectura de Docker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Docker Client</a:t>
            </a:r>
          </a:p>
          <a:p>
            <a:pPr lvl="1"/>
            <a:r>
              <a:t>Docker Daemon</a:t>
            </a:r>
          </a:p>
          <a:p>
            <a:pPr lvl="1"/>
            <a:r>
              <a:t>Docker Registry</a:t>
            </a:r>
          </a:p>
          <a:p>
            <a:pPr lvl="1"/>
            <a:r>
              <a:t>Docker Objects: imágenes, contenedores, redes y volúmenes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Imágenes Docker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Plantillas inmutables</a:t>
            </a:r>
          </a:p>
          <a:p>
            <a:pPr lvl="1"/>
            <a:r>
              <a:t>Se construyen por capas</a:t>
            </a:r>
          </a:p>
          <a:p>
            <a:pPr lvl="1"/>
            <a:r>
              <a:t>Se crean mediante Dockerfile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2800">
                <a:solidFill>
                  <a:srgbClr val="FFFFFF"/>
                </a:solidFill>
              </a:rPr>
              <a:t>Contenedores Docker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Instancias en ejecución de una imagen</a:t>
            </a:r>
          </a:p>
          <a:p>
            <a:pPr lvl="1"/>
            <a:r>
              <a:t>Aislados entre sí</a:t>
            </a:r>
          </a:p>
          <a:p>
            <a:pPr lvl="1"/>
            <a:r>
              <a:t>Ligeros y rápidos de iniciar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rgbClr val="FFFFFF"/>
                </a:solidFill>
              </a:rPr>
              <a:t>Dockerfile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Archivo de texto con instrucciones</a:t>
            </a:r>
          </a:p>
          <a:p>
            <a:pPr lvl="1"/>
            <a:r>
              <a:t>FROM, RUN, COPY, WORKDIR, CMD, EXPOSE</a:t>
            </a:r>
          </a:p>
          <a:p>
            <a:pPr lvl="1"/>
            <a:r>
              <a:t>Permite automatizar la construcción de imágenes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rgbClr val="FFFFFF"/>
                </a:solidFill>
              </a:rPr>
              <a:t>Ejemplo básico de Dockerfile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FROM openjdk:21</a:t>
            </a:r>
          </a:p>
          <a:p>
            <a:pPr lvl="1"/>
            <a:r>
              <a:t>WORKDIR /app</a:t>
            </a:r>
          </a:p>
          <a:p>
            <a:pPr lvl="1"/>
            <a:r>
              <a:t>COPY . .</a:t>
            </a:r>
          </a:p>
          <a:p>
            <a:pPr lvl="1"/>
            <a:r>
              <a:t>RUN javac Main.java</a:t>
            </a:r>
          </a:p>
          <a:p>
            <a:pPr lvl="1"/>
            <a:r>
              <a:t>CMD ["java", "Main"]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rgbClr val="FFFFFF"/>
                </a:solidFill>
              </a:rPr>
              <a:t>Comandos básicos Docker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docker pull</a:t>
            </a:r>
          </a:p>
          <a:p>
            <a:pPr lvl="1"/>
            <a:r>
              <a:t>docker build</a:t>
            </a:r>
          </a:p>
          <a:p>
            <a:pPr lvl="1"/>
            <a:r>
              <a:t>docker run</a:t>
            </a:r>
          </a:p>
          <a:p>
            <a:pPr lvl="1"/>
            <a:r>
              <a:t>docker ps</a:t>
            </a:r>
          </a:p>
          <a:p>
            <a:pPr lvl="1"/>
            <a:r>
              <a:t>docker stop</a:t>
            </a:r>
          </a:p>
          <a:p>
            <a:pPr lvl="1"/>
            <a:r>
              <a:t>docker 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rgbClr val="FFFFFF"/>
                </a:solidFill>
              </a:rPr>
              <a:t>Gestión de Volúmenes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Persistencia de datos</a:t>
            </a:r>
          </a:p>
          <a:p>
            <a:pPr lvl="1"/>
            <a:r>
              <a:t>Evita pérdida de información al eliminar contenedor</a:t>
            </a:r>
          </a:p>
          <a:p>
            <a:pPr lvl="1"/>
            <a:r>
              <a:t>docker volume create</a:t>
            </a:r>
          </a:p>
          <a:p>
            <a:pPr lvl="1"/>
            <a:r>
              <a:t>Montaje con -v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Redes en Docker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Bridge (por defecto)</a:t>
            </a:r>
          </a:p>
          <a:p>
            <a:pPr lvl="1"/>
            <a:r>
              <a:t>Host</a:t>
            </a:r>
          </a:p>
          <a:p>
            <a:pPr lvl="1"/>
            <a:r>
              <a:t>None</a:t>
            </a:r>
          </a:p>
          <a:p>
            <a:pPr lvl="1"/>
            <a:r>
              <a:t>Redes personalizadas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Docker Compose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Define aplicaciones multi-contenedor</a:t>
            </a:r>
          </a:p>
          <a:p>
            <a:pPr lvl="1"/>
            <a:r>
              <a:t>Archivo docker-compose.yml</a:t>
            </a:r>
          </a:p>
          <a:p>
            <a:pPr lvl="1"/>
            <a:r>
              <a:t>Permite levantar servicios completos con un solo comando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3100">
                <a:solidFill>
                  <a:srgbClr val="FFFFFF"/>
                </a:solidFill>
              </a:rPr>
              <a:t>Ejemplo docker-compose.yml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services:</a:t>
            </a:r>
          </a:p>
          <a:p>
            <a:pPr lvl="1"/>
            <a:r>
              <a:t>  web:</a:t>
            </a:r>
          </a:p>
          <a:p>
            <a:pPr lvl="1"/>
            <a:r>
              <a:t>    image: nginx</a:t>
            </a:r>
          </a:p>
          <a:p>
            <a:pPr lvl="1"/>
            <a:r>
              <a:t>  db:</a:t>
            </a:r>
          </a:p>
          <a:p>
            <a:pPr lvl="1"/>
            <a:r>
              <a:t>    image: mysql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Docker Hub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Registro público de imágenes</a:t>
            </a:r>
          </a:p>
          <a:p>
            <a:pPr lvl="1"/>
            <a:r>
              <a:t>Imágenes oficiales verificadas</a:t>
            </a:r>
          </a:p>
          <a:p>
            <a:pPr lvl="1"/>
            <a:r>
              <a:t>Posibilidad de subir imágenes propias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Buenas prácticas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Usar imágenes oficiales</a:t>
            </a:r>
          </a:p>
          <a:p>
            <a:pPr lvl="1"/>
            <a:r>
              <a:t>Minimizar capas</a:t>
            </a:r>
          </a:p>
          <a:p>
            <a:pPr lvl="1"/>
            <a:r>
              <a:t>No ejecutar como root</a:t>
            </a:r>
          </a:p>
          <a:p>
            <a:pPr lvl="1"/>
            <a:r>
              <a:t>Usar .dockerignore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rgbClr val="FFFFFF"/>
                </a:solidFill>
              </a:rPr>
              <a:t>Docker en producción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Integración CI/CD</a:t>
            </a:r>
          </a:p>
          <a:p>
            <a:pPr lvl="1"/>
            <a:r>
              <a:t>Escalabilidad horizontal</a:t>
            </a:r>
          </a:p>
          <a:p>
            <a:pPr lvl="1"/>
            <a:r>
              <a:t>Uso con Kubernetes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rgbClr val="FFFFFF"/>
                </a:solidFill>
              </a:rPr>
              <a:t>Seguridad en Docker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Aislamiento de contenedores</a:t>
            </a:r>
          </a:p>
          <a:p>
            <a:pPr lvl="1"/>
            <a:r>
              <a:t>Escaneo de vulnerabilidades</a:t>
            </a:r>
          </a:p>
          <a:p>
            <a:pPr lvl="1"/>
            <a:r>
              <a:t>Control de permisos y namespaces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Casos de uso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Microservicios</a:t>
            </a:r>
          </a:p>
          <a:p>
            <a:pPr lvl="1"/>
            <a:r>
              <a:t>Entornos reproducibles para FP y formación</a:t>
            </a:r>
          </a:p>
          <a:p>
            <a:pPr lvl="1"/>
            <a:r>
              <a:t>Testing automatizado</a:t>
            </a:r>
          </a:p>
          <a:p>
            <a:pPr lvl="1"/>
            <a:r>
              <a:t>Despliegues en la nube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3400">
                <a:solidFill>
                  <a:srgbClr val="FFFFFF"/>
                </a:solidFill>
              </a:rPr>
              <a:t>Ventajas y Desventajas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Ventajas: portabilidad, eficiencia, rapidez</a:t>
            </a:r>
          </a:p>
          <a:p>
            <a:pPr lvl="1"/>
            <a:r>
              <a:t>Desventajas: curva de aprendizaje, gestión avanzada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rgbClr val="FFFFFF"/>
                </a:solidFill>
              </a:rPr>
              <a:t>Conclusión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Docker es estándar en la industria</a:t>
            </a:r>
          </a:p>
          <a:p>
            <a:pPr lvl="1"/>
            <a:r>
              <a:t>Clave para DevOps y Cloud Computing</a:t>
            </a:r>
          </a:p>
          <a:p>
            <a:pPr lvl="1"/>
            <a:r>
              <a:t>Imprescindible en desarrollo moderno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373</Words>
  <Application>Microsoft Office PowerPoint</Application>
  <PresentationFormat>Presentación en pantalla (4:3)</PresentationFormat>
  <Paragraphs>95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DOCKER - Virtualización y Contenedores</vt:lpstr>
      <vt:lpstr>¿Qué es Docker?</vt:lpstr>
      <vt:lpstr>Problema que resuelve Docker</vt:lpstr>
      <vt:lpstr>Virtualización tradicional vs Contenedores</vt:lpstr>
      <vt:lpstr>Arquitectura de Docker</vt:lpstr>
      <vt:lpstr>Imágenes Docker</vt:lpstr>
      <vt:lpstr>Contenedores Docker</vt:lpstr>
      <vt:lpstr>Dockerfile</vt:lpstr>
      <vt:lpstr>Ejemplo básico de Dockerfile</vt:lpstr>
      <vt:lpstr>Comandos básicos Docker</vt:lpstr>
      <vt:lpstr>Gestión de Volúmenes</vt:lpstr>
      <vt:lpstr>Redes en Docker</vt:lpstr>
      <vt:lpstr>Docker Compose</vt:lpstr>
      <vt:lpstr>Ejemplo docker-compose.yml</vt:lpstr>
      <vt:lpstr>Docker Hub</vt:lpstr>
      <vt:lpstr>Buenas prácticas</vt:lpstr>
      <vt:lpstr>Docker en producción</vt:lpstr>
      <vt:lpstr>Seguridad en Docker</vt:lpstr>
      <vt:lpstr>Casos de uso</vt:lpstr>
      <vt:lpstr>Ventajas y Desventajas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2</cp:revision>
  <dcterms:created xsi:type="dcterms:W3CDTF">2013-01-27T09:14:16Z</dcterms:created>
  <dcterms:modified xsi:type="dcterms:W3CDTF">2026-03-01T19:17:27Z</dcterms:modified>
  <cp:category/>
</cp:coreProperties>
</file>