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7"/>
  </p:notesMasterIdLst>
  <p:handoutMasterIdLst>
    <p:handoutMasterId r:id="rId108"/>
  </p:handoutMasterIdLst>
  <p:sldIdLst>
    <p:sldId id="256" r:id="rId2"/>
    <p:sldId id="257" r:id="rId3"/>
    <p:sldId id="258" r:id="rId4"/>
    <p:sldId id="259" r:id="rId5"/>
    <p:sldId id="293" r:id="rId6"/>
    <p:sldId id="301" r:id="rId7"/>
    <p:sldId id="436" r:id="rId8"/>
    <p:sldId id="295" r:id="rId9"/>
    <p:sldId id="312" r:id="rId10"/>
    <p:sldId id="431" r:id="rId11"/>
    <p:sldId id="296" r:id="rId12"/>
    <p:sldId id="305" r:id="rId13"/>
    <p:sldId id="438" r:id="rId14"/>
    <p:sldId id="437" r:id="rId15"/>
    <p:sldId id="302" r:id="rId16"/>
    <p:sldId id="306" r:id="rId17"/>
    <p:sldId id="307" r:id="rId18"/>
    <p:sldId id="309" r:id="rId19"/>
    <p:sldId id="439" r:id="rId20"/>
    <p:sldId id="298" r:id="rId21"/>
    <p:sldId id="313" r:id="rId22"/>
    <p:sldId id="442" r:id="rId23"/>
    <p:sldId id="300" r:id="rId24"/>
    <p:sldId id="315" r:id="rId25"/>
    <p:sldId id="266" r:id="rId26"/>
    <p:sldId id="459" r:id="rId27"/>
    <p:sldId id="371" r:id="rId28"/>
    <p:sldId id="316" r:id="rId29"/>
    <p:sldId id="440" r:id="rId30"/>
    <p:sldId id="432" r:id="rId31"/>
    <p:sldId id="321" r:id="rId32"/>
    <p:sldId id="322" r:id="rId33"/>
    <p:sldId id="325" r:id="rId34"/>
    <p:sldId id="320" r:id="rId35"/>
    <p:sldId id="433" r:id="rId36"/>
    <p:sldId id="456" r:id="rId37"/>
    <p:sldId id="324" r:id="rId38"/>
    <p:sldId id="319" r:id="rId39"/>
    <p:sldId id="328" r:id="rId40"/>
    <p:sldId id="333" r:id="rId41"/>
    <p:sldId id="334" r:id="rId42"/>
    <p:sldId id="329" r:id="rId43"/>
    <p:sldId id="457" r:id="rId44"/>
    <p:sldId id="340" r:id="rId45"/>
    <p:sldId id="344" r:id="rId46"/>
    <p:sldId id="339" r:id="rId47"/>
    <p:sldId id="351" r:id="rId48"/>
    <p:sldId id="343" r:id="rId49"/>
    <p:sldId id="345" r:id="rId50"/>
    <p:sldId id="372" r:id="rId51"/>
    <p:sldId id="355" r:id="rId52"/>
    <p:sldId id="368" r:id="rId53"/>
    <p:sldId id="369" r:id="rId54"/>
    <p:sldId id="346" r:id="rId55"/>
    <p:sldId id="444" r:id="rId56"/>
    <p:sldId id="348" r:id="rId57"/>
    <p:sldId id="361" r:id="rId58"/>
    <p:sldId id="349" r:id="rId59"/>
    <p:sldId id="373" r:id="rId60"/>
    <p:sldId id="458" r:id="rId61"/>
    <p:sldId id="378" r:id="rId62"/>
    <p:sldId id="375" r:id="rId63"/>
    <p:sldId id="380" r:id="rId64"/>
    <p:sldId id="271" r:id="rId65"/>
    <p:sldId id="377" r:id="rId66"/>
    <p:sldId id="379" r:id="rId67"/>
    <p:sldId id="393" r:id="rId68"/>
    <p:sldId id="384" r:id="rId69"/>
    <p:sldId id="394" r:id="rId70"/>
    <p:sldId id="383" r:id="rId71"/>
    <p:sldId id="395" r:id="rId72"/>
    <p:sldId id="386" r:id="rId73"/>
    <p:sldId id="396" r:id="rId74"/>
    <p:sldId id="387" r:id="rId75"/>
    <p:sldId id="401" r:id="rId76"/>
    <p:sldId id="403" r:id="rId77"/>
    <p:sldId id="388" r:id="rId78"/>
    <p:sldId id="366" r:id="rId79"/>
    <p:sldId id="374" r:id="rId80"/>
    <p:sldId id="389" r:id="rId81"/>
    <p:sldId id="390" r:id="rId82"/>
    <p:sldId id="406" r:id="rId83"/>
    <p:sldId id="407" r:id="rId84"/>
    <p:sldId id="409" r:id="rId85"/>
    <p:sldId id="416" r:id="rId86"/>
    <p:sldId id="392" r:id="rId87"/>
    <p:sldId id="429" r:id="rId88"/>
    <p:sldId id="430" r:id="rId89"/>
    <p:sldId id="454" r:id="rId90"/>
    <p:sldId id="428" r:id="rId91"/>
    <p:sldId id="418" r:id="rId92"/>
    <p:sldId id="419" r:id="rId93"/>
    <p:sldId id="421" r:id="rId94"/>
    <p:sldId id="422" r:id="rId95"/>
    <p:sldId id="423" r:id="rId96"/>
    <p:sldId id="424" r:id="rId97"/>
    <p:sldId id="446" r:id="rId98"/>
    <p:sldId id="447" r:id="rId99"/>
    <p:sldId id="405" r:id="rId100"/>
    <p:sldId id="448" r:id="rId101"/>
    <p:sldId id="414" r:id="rId102"/>
    <p:sldId id="449" r:id="rId103"/>
    <p:sldId id="450" r:id="rId104"/>
    <p:sldId id="451" r:id="rId105"/>
    <p:sldId id="452" r:id="rId10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CB2F231E-7EC7-461F-A01C-5F591622AEB5}">
          <p14:sldIdLst>
            <p14:sldId id="256"/>
          </p14:sldIdLst>
        </p14:section>
        <p14:section name="INDICE" id="{1EBB00C4-E72E-4F5C-BCD6-DADB79144885}">
          <p14:sldIdLst>
            <p14:sldId id="257"/>
            <p14:sldId id="258"/>
            <p14:sldId id="259"/>
          </p14:sldIdLst>
        </p14:section>
        <p14:section name="1 introduccion" id="{45903128-BAE1-47B8-A66A-90A94943942F}">
          <p14:sldIdLst>
            <p14:sldId id="293"/>
            <p14:sldId id="301"/>
            <p14:sldId id="436"/>
            <p14:sldId id="295"/>
            <p14:sldId id="312"/>
            <p14:sldId id="431"/>
            <p14:sldId id="296"/>
            <p14:sldId id="305"/>
            <p14:sldId id="438"/>
            <p14:sldId id="437"/>
            <p14:sldId id="302"/>
            <p14:sldId id="306"/>
            <p14:sldId id="307"/>
            <p14:sldId id="309"/>
            <p14:sldId id="439"/>
            <p14:sldId id="298"/>
            <p14:sldId id="313"/>
            <p14:sldId id="442"/>
            <p14:sldId id="300"/>
          </p14:sldIdLst>
        </p14:section>
        <p14:section name="2 roles y responsabilidades" id="{40E33FED-DB0C-4E78-A8D5-F7BE421BB1D0}">
          <p14:sldIdLst>
            <p14:sldId id="315"/>
            <p14:sldId id="266"/>
            <p14:sldId id="459"/>
            <p14:sldId id="371"/>
            <p14:sldId id="316"/>
            <p14:sldId id="440"/>
            <p14:sldId id="432"/>
            <p14:sldId id="321"/>
            <p14:sldId id="322"/>
            <p14:sldId id="325"/>
            <p14:sldId id="320"/>
            <p14:sldId id="433"/>
            <p14:sldId id="456"/>
            <p14:sldId id="324"/>
            <p14:sldId id="319"/>
          </p14:sldIdLst>
        </p14:section>
        <p14:section name="3 periodos de trabajo" id="{BC77E6B2-260F-4610-BFA9-89F2956B6B8D}">
          <p14:sldIdLst>
            <p14:sldId id="328"/>
            <p14:sldId id="333"/>
            <p14:sldId id="334"/>
            <p14:sldId id="329"/>
            <p14:sldId id="457"/>
            <p14:sldId id="340"/>
          </p14:sldIdLst>
        </p14:section>
        <p14:section name="4 sprint" id="{C7BD2318-3B1C-4F6A-94DE-EEC82FF8867D}">
          <p14:sldIdLst>
            <p14:sldId id="344"/>
            <p14:sldId id="339"/>
            <p14:sldId id="351"/>
            <p14:sldId id="343"/>
            <p14:sldId id="345"/>
            <p14:sldId id="372"/>
            <p14:sldId id="355"/>
            <p14:sldId id="368"/>
            <p14:sldId id="369"/>
            <p14:sldId id="346"/>
            <p14:sldId id="444"/>
            <p14:sldId id="348"/>
            <p14:sldId id="361"/>
            <p14:sldId id="349"/>
            <p14:sldId id="373"/>
          </p14:sldIdLst>
        </p14:section>
        <p14:section name="5. REUNIONES EN SCRUM." id="{F5699E62-9B2C-4CAC-8349-BEC09F868483}">
          <p14:sldIdLst>
            <p14:sldId id="458"/>
            <p14:sldId id="378"/>
            <p14:sldId id="375"/>
            <p14:sldId id="380"/>
            <p14:sldId id="271"/>
            <p14:sldId id="377"/>
            <p14:sldId id="379"/>
            <p14:sldId id="393"/>
            <p14:sldId id="384"/>
            <p14:sldId id="394"/>
            <p14:sldId id="383"/>
            <p14:sldId id="395"/>
          </p14:sldIdLst>
        </p14:section>
        <p14:section name="6. DOCUMENTOS" id="{F1522482-7F5D-45A4-A21F-3447756CB59E}">
          <p14:sldIdLst>
            <p14:sldId id="386"/>
            <p14:sldId id="396"/>
            <p14:sldId id="387"/>
            <p14:sldId id="401"/>
            <p14:sldId id="403"/>
            <p14:sldId id="388"/>
            <p14:sldId id="366"/>
            <p14:sldId id="374"/>
            <p14:sldId id="389"/>
          </p14:sldIdLst>
        </p14:section>
        <p14:section name="7. ¿QUÉ ES EL SCALING SCRUM?" id="{FF94BFC0-CCAD-46E9-9807-C49FAAAA0148}">
          <p14:sldIdLst>
            <p14:sldId id="390"/>
            <p14:sldId id="406"/>
            <p14:sldId id="407"/>
            <p14:sldId id="409"/>
            <p14:sldId id="416"/>
            <p14:sldId id="392"/>
            <p14:sldId id="429"/>
            <p14:sldId id="430"/>
            <p14:sldId id="454"/>
            <p14:sldId id="428"/>
          </p14:sldIdLst>
        </p14:section>
        <p14:section name="8. OBSTÁCULOS" id="{3A442066-8AEB-4D85-8663-5953B8436E7A}">
          <p14:sldIdLst>
            <p14:sldId id="418"/>
            <p14:sldId id="419"/>
            <p14:sldId id="421"/>
            <p14:sldId id="422"/>
            <p14:sldId id="423"/>
            <p14:sldId id="424"/>
          </p14:sldIdLst>
        </p14:section>
        <p14:section name="9. HERRAMIENTAS SCRUM" id="{A75AA6D2-19D2-4317-AE03-CAC98B2E7730}">
          <p14:sldIdLst>
            <p14:sldId id="446"/>
            <p14:sldId id="447"/>
            <p14:sldId id="405"/>
            <p14:sldId id="448"/>
            <p14:sldId id="414"/>
            <p14:sldId id="449"/>
            <p14:sldId id="450"/>
            <p14:sldId id="451"/>
            <p14:sldId id="452"/>
          </p14:sldIdLst>
        </p14:section>
        <p14:section name="apendices" id="{4989E0D4-44D2-4C04-9F71-657648D7A69D}">
          <p14:sldIdLst/>
        </p14:section>
        <p14:section name="Sección sin título" id="{3FE77E1D-1E03-4D23-9DAF-BC88DA09C69F}">
          <p14:sldIdLst/>
        </p14:section>
      </p14:sectionLst>
    </p:ext>
    <p:ext uri="{EFAFB233-063F-42B5-8137-9DF3F51BA10A}">
      <p15:sldGuideLst xmlns:p15="http://schemas.microsoft.com/office/powerpoint/2012/main">
        <p15:guide id="1" orient="horz" pos="2160" userDrawn="1">
          <p15:clr>
            <a:srgbClr val="A4A3A4"/>
          </p15:clr>
        </p15:guide>
        <p15:guide id="2" pos="7317" userDrawn="1">
          <p15:clr>
            <a:srgbClr val="A4A3A4"/>
          </p15:clr>
        </p15:guide>
        <p15:guide id="4" pos="3842" userDrawn="1">
          <p15:clr>
            <a:srgbClr val="A4A3A4"/>
          </p15:clr>
        </p15:guide>
        <p15:guide id="5" pos="3840" userDrawn="1">
          <p15:clr>
            <a:srgbClr val="A4A3A4"/>
          </p15:clr>
        </p15:guide>
        <p15:guide id="8" pos="34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a Merchán Ribera" initials="SMR" lastIdx="0" clrIdx="0">
    <p:extLst>
      <p:ext uri="{19B8F6BF-5375-455C-9EA6-DF929625EA0E}">
        <p15:presenceInfo xmlns:p15="http://schemas.microsoft.com/office/powerpoint/2012/main" userId="655dc597d9fe225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9212" autoAdjust="0"/>
  </p:normalViewPr>
  <p:slideViewPr>
    <p:cSldViewPr snapToGrid="0">
      <p:cViewPr varScale="1">
        <p:scale>
          <a:sx n="107" d="100"/>
          <a:sy n="107" d="100"/>
        </p:scale>
        <p:origin x="612" y="138"/>
      </p:cViewPr>
      <p:guideLst>
        <p:guide orient="horz" pos="2160"/>
        <p:guide pos="7317"/>
        <p:guide pos="3842"/>
        <p:guide pos="3840"/>
        <p:guide pos="348"/>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90" d="100"/>
        <a:sy n="90" d="100"/>
      </p:scale>
      <p:origin x="0" y="0"/>
    </p:cViewPr>
  </p:sorterViewPr>
  <p:notesViewPr>
    <p:cSldViewPr snapToGrid="0">
      <p:cViewPr varScale="1">
        <p:scale>
          <a:sx n="65" d="100"/>
          <a:sy n="65" d="100"/>
        </p:scale>
        <p:origin x="3082"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commentAuthors" Target="commen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8AB06D-55D7-42B8-A930-E5E66CA9F326}" type="doc">
      <dgm:prSet loTypeId="urn:microsoft.com/office/officeart/2005/8/layout/default" loCatId="list" qsTypeId="urn:microsoft.com/office/officeart/2005/8/quickstyle/simple5" qsCatId="simple" csTypeId="urn:microsoft.com/office/officeart/2005/8/colors/accent5_2" csCatId="accent5" phldr="1"/>
      <dgm:spPr/>
      <dgm:t>
        <a:bodyPr/>
        <a:lstStyle/>
        <a:p>
          <a:endParaRPr lang="es-ES"/>
        </a:p>
      </dgm:t>
    </dgm:pt>
    <dgm:pt modelId="{622735DB-A954-430E-B200-4C963634E03F}">
      <dgm:prSet phldrT="[Texto]"/>
      <dgm:spPr/>
      <dgm:t>
        <a:bodyPr/>
        <a:lstStyle/>
        <a:p>
          <a:r>
            <a:rPr lang="es-ES" dirty="0"/>
            <a:t>Gestión regular de las expectativas del cliente</a:t>
          </a:r>
        </a:p>
      </dgm:t>
    </dgm:pt>
    <dgm:pt modelId="{E9EF3AE4-98DA-4D49-90C1-7636303C1D68}" type="parTrans" cxnId="{CBC50232-5709-4970-BB8E-BBCAC39AE3EB}">
      <dgm:prSet/>
      <dgm:spPr/>
      <dgm:t>
        <a:bodyPr/>
        <a:lstStyle/>
        <a:p>
          <a:endParaRPr lang="es-ES"/>
        </a:p>
      </dgm:t>
    </dgm:pt>
    <dgm:pt modelId="{B7035F32-E6C7-48D0-A7C0-86861DB6248E}" type="sibTrans" cxnId="{CBC50232-5709-4970-BB8E-BBCAC39AE3EB}">
      <dgm:prSet/>
      <dgm:spPr/>
      <dgm:t>
        <a:bodyPr/>
        <a:lstStyle/>
        <a:p>
          <a:endParaRPr lang="es-ES"/>
        </a:p>
      </dgm:t>
    </dgm:pt>
    <dgm:pt modelId="{72E60AA4-7165-4E40-BC26-41BBDD8D59AD}">
      <dgm:prSet phldrT="[Texto]"/>
      <dgm:spPr/>
      <dgm:t>
        <a:bodyPr/>
        <a:lstStyle/>
        <a:p>
          <a:r>
            <a:rPr lang="es-ES" dirty="0"/>
            <a:t>Resultados anticipados</a:t>
          </a:r>
        </a:p>
      </dgm:t>
    </dgm:pt>
    <dgm:pt modelId="{8AB7F5FE-0B0E-492F-8915-AA97D3515F01}" type="parTrans" cxnId="{A342ADF9-51D0-44B1-AEC1-68A2ECA119FB}">
      <dgm:prSet/>
      <dgm:spPr/>
      <dgm:t>
        <a:bodyPr/>
        <a:lstStyle/>
        <a:p>
          <a:endParaRPr lang="es-ES"/>
        </a:p>
      </dgm:t>
    </dgm:pt>
    <dgm:pt modelId="{6D652854-1969-4037-8FC5-B0DCD7D3D53F}" type="sibTrans" cxnId="{A342ADF9-51D0-44B1-AEC1-68A2ECA119FB}">
      <dgm:prSet/>
      <dgm:spPr/>
      <dgm:t>
        <a:bodyPr/>
        <a:lstStyle/>
        <a:p>
          <a:endParaRPr lang="es-ES"/>
        </a:p>
      </dgm:t>
    </dgm:pt>
    <dgm:pt modelId="{3A8ECCA7-BACA-409A-905C-9AB76413C01A}">
      <dgm:prSet phldrT="[Texto]"/>
      <dgm:spPr/>
      <dgm:t>
        <a:bodyPr/>
        <a:lstStyle/>
        <a:p>
          <a:r>
            <a:rPr lang="es-ES" dirty="0"/>
            <a:t>Flexibilidad y adaptación</a:t>
          </a:r>
        </a:p>
      </dgm:t>
    </dgm:pt>
    <dgm:pt modelId="{CCDD898D-768C-47C2-B2FC-60A6CBD1B0E4}" type="parTrans" cxnId="{64728CBE-B350-4A8F-8183-FA927EB0DA85}">
      <dgm:prSet/>
      <dgm:spPr/>
      <dgm:t>
        <a:bodyPr/>
        <a:lstStyle/>
        <a:p>
          <a:endParaRPr lang="es-ES"/>
        </a:p>
      </dgm:t>
    </dgm:pt>
    <dgm:pt modelId="{5036C73A-519D-4C41-AA19-C1E32664B64F}" type="sibTrans" cxnId="{64728CBE-B350-4A8F-8183-FA927EB0DA85}">
      <dgm:prSet/>
      <dgm:spPr/>
      <dgm:t>
        <a:bodyPr/>
        <a:lstStyle/>
        <a:p>
          <a:endParaRPr lang="es-ES"/>
        </a:p>
      </dgm:t>
    </dgm:pt>
    <dgm:pt modelId="{73C60956-5CBC-486D-8284-F896FE17E40B}">
      <dgm:prSet phldrT="[Texto]"/>
      <dgm:spPr/>
      <dgm:t>
        <a:bodyPr/>
        <a:lstStyle/>
        <a:p>
          <a:r>
            <a:rPr lang="es-ES" dirty="0"/>
            <a:t>Retorno de inversión</a:t>
          </a:r>
        </a:p>
      </dgm:t>
    </dgm:pt>
    <dgm:pt modelId="{FF9C8558-DDDE-4E0B-9DAE-EEF01133B7A9}" type="parTrans" cxnId="{8252B6E9-4941-40F3-9A7C-7A06A9B74FF3}">
      <dgm:prSet/>
      <dgm:spPr/>
      <dgm:t>
        <a:bodyPr/>
        <a:lstStyle/>
        <a:p>
          <a:endParaRPr lang="es-ES"/>
        </a:p>
      </dgm:t>
    </dgm:pt>
    <dgm:pt modelId="{0C3BD1DE-F02C-4161-9E2E-FB18D4FEBBCD}" type="sibTrans" cxnId="{8252B6E9-4941-40F3-9A7C-7A06A9B74FF3}">
      <dgm:prSet/>
      <dgm:spPr/>
      <dgm:t>
        <a:bodyPr/>
        <a:lstStyle/>
        <a:p>
          <a:endParaRPr lang="es-ES"/>
        </a:p>
      </dgm:t>
    </dgm:pt>
    <dgm:pt modelId="{3AFDB2A9-4E65-4E5D-8201-5C856AC24F31}">
      <dgm:prSet phldrT="[Texto]"/>
      <dgm:spPr/>
      <dgm:t>
        <a:bodyPr/>
        <a:lstStyle/>
        <a:p>
          <a:r>
            <a:rPr lang="es-ES" dirty="0"/>
            <a:t>Disminución del riesgo</a:t>
          </a:r>
        </a:p>
      </dgm:t>
    </dgm:pt>
    <dgm:pt modelId="{B877F372-08FE-45EE-A796-484327ABFA78}" type="parTrans" cxnId="{EFD47E18-090D-4BA4-A096-FD79A28020EF}">
      <dgm:prSet/>
      <dgm:spPr/>
      <dgm:t>
        <a:bodyPr/>
        <a:lstStyle/>
        <a:p>
          <a:endParaRPr lang="es-ES"/>
        </a:p>
      </dgm:t>
    </dgm:pt>
    <dgm:pt modelId="{E05B30CD-4D64-44A8-9186-D60C03057FA0}" type="sibTrans" cxnId="{EFD47E18-090D-4BA4-A096-FD79A28020EF}">
      <dgm:prSet/>
      <dgm:spPr/>
      <dgm:t>
        <a:bodyPr/>
        <a:lstStyle/>
        <a:p>
          <a:endParaRPr lang="es-ES"/>
        </a:p>
      </dgm:t>
    </dgm:pt>
    <dgm:pt modelId="{B5A2EA3C-3CE4-46B9-BCD9-52E4ECF10F64}">
      <dgm:prSet phldrT="[Texto]"/>
      <dgm:spPr/>
      <dgm:t>
        <a:bodyPr/>
        <a:lstStyle/>
        <a:p>
          <a:r>
            <a:rPr lang="es-ES" dirty="0"/>
            <a:t>Alineamiento entre cliente y equipo</a:t>
          </a:r>
        </a:p>
      </dgm:t>
    </dgm:pt>
    <dgm:pt modelId="{17EB5C8C-E884-4E83-B62E-F7C76D7CDFAE}" type="parTrans" cxnId="{A51DB31E-1080-4381-890C-D45B1CA30CCD}">
      <dgm:prSet/>
      <dgm:spPr/>
      <dgm:t>
        <a:bodyPr/>
        <a:lstStyle/>
        <a:p>
          <a:endParaRPr lang="es-ES"/>
        </a:p>
      </dgm:t>
    </dgm:pt>
    <dgm:pt modelId="{EDC309E6-1B80-41D9-93CE-9ADA66F53C8C}" type="sibTrans" cxnId="{A51DB31E-1080-4381-890C-D45B1CA30CCD}">
      <dgm:prSet/>
      <dgm:spPr/>
      <dgm:t>
        <a:bodyPr/>
        <a:lstStyle/>
        <a:p>
          <a:endParaRPr lang="es-ES"/>
        </a:p>
      </dgm:t>
    </dgm:pt>
    <dgm:pt modelId="{53DC164E-DE4B-4FCB-9C9B-A8A1760D7C7A}">
      <dgm:prSet phldrT="[Texto]"/>
      <dgm:spPr/>
      <dgm:t>
        <a:bodyPr/>
        <a:lstStyle/>
        <a:p>
          <a:r>
            <a:rPr lang="es-ES" dirty="0"/>
            <a:t>Equipo motivado</a:t>
          </a:r>
        </a:p>
      </dgm:t>
    </dgm:pt>
    <dgm:pt modelId="{C0C13507-AECE-4D06-8378-FAFCAEE82DA0}" type="parTrans" cxnId="{7F2CDE95-38AB-4521-9DC7-96575C11691A}">
      <dgm:prSet/>
      <dgm:spPr/>
      <dgm:t>
        <a:bodyPr/>
        <a:lstStyle/>
        <a:p>
          <a:endParaRPr lang="es-ES"/>
        </a:p>
      </dgm:t>
    </dgm:pt>
    <dgm:pt modelId="{7EB38A1F-C6E8-46EE-B3FA-DBD3A665B687}" type="sibTrans" cxnId="{7F2CDE95-38AB-4521-9DC7-96575C11691A}">
      <dgm:prSet/>
      <dgm:spPr/>
      <dgm:t>
        <a:bodyPr/>
        <a:lstStyle/>
        <a:p>
          <a:endParaRPr lang="es-ES"/>
        </a:p>
      </dgm:t>
    </dgm:pt>
    <dgm:pt modelId="{32242222-B38E-4047-9E87-493214BABE04}" type="pres">
      <dgm:prSet presAssocID="{628AB06D-55D7-42B8-A930-E5E66CA9F326}" presName="diagram" presStyleCnt="0">
        <dgm:presLayoutVars>
          <dgm:dir/>
          <dgm:resizeHandles val="exact"/>
        </dgm:presLayoutVars>
      </dgm:prSet>
      <dgm:spPr/>
    </dgm:pt>
    <dgm:pt modelId="{9F51721C-CE54-49BB-9B7F-FE3C381F1D25}" type="pres">
      <dgm:prSet presAssocID="{622735DB-A954-430E-B200-4C963634E03F}" presName="node" presStyleLbl="node1" presStyleIdx="0" presStyleCnt="7">
        <dgm:presLayoutVars>
          <dgm:bulletEnabled val="1"/>
        </dgm:presLayoutVars>
      </dgm:prSet>
      <dgm:spPr/>
    </dgm:pt>
    <dgm:pt modelId="{7BDC1D45-02CE-4D01-A658-EFF7BE402A37}" type="pres">
      <dgm:prSet presAssocID="{B7035F32-E6C7-48D0-A7C0-86861DB6248E}" presName="sibTrans" presStyleCnt="0"/>
      <dgm:spPr/>
    </dgm:pt>
    <dgm:pt modelId="{1B912BD5-87C9-4653-A9FB-E2274DEA5450}" type="pres">
      <dgm:prSet presAssocID="{72E60AA4-7165-4E40-BC26-41BBDD8D59AD}" presName="node" presStyleLbl="node1" presStyleIdx="1" presStyleCnt="7" custLinFactNeighborX="-702" custLinFactNeighborY="1861">
        <dgm:presLayoutVars>
          <dgm:bulletEnabled val="1"/>
        </dgm:presLayoutVars>
      </dgm:prSet>
      <dgm:spPr/>
    </dgm:pt>
    <dgm:pt modelId="{FA06A017-390A-43E7-B386-53A31EE109EB}" type="pres">
      <dgm:prSet presAssocID="{6D652854-1969-4037-8FC5-B0DCD7D3D53F}" presName="sibTrans" presStyleCnt="0"/>
      <dgm:spPr/>
    </dgm:pt>
    <dgm:pt modelId="{D77B6031-0581-434C-842E-C81CFC5180CB}" type="pres">
      <dgm:prSet presAssocID="{3A8ECCA7-BACA-409A-905C-9AB76413C01A}" presName="node" presStyleLbl="node1" presStyleIdx="2" presStyleCnt="7" custLinFactNeighborY="4095">
        <dgm:presLayoutVars>
          <dgm:bulletEnabled val="1"/>
        </dgm:presLayoutVars>
      </dgm:prSet>
      <dgm:spPr/>
    </dgm:pt>
    <dgm:pt modelId="{121ABC9D-A6AF-40B6-900A-5B11AF460CFB}" type="pres">
      <dgm:prSet presAssocID="{5036C73A-519D-4C41-AA19-C1E32664B64F}" presName="sibTrans" presStyleCnt="0"/>
      <dgm:spPr/>
    </dgm:pt>
    <dgm:pt modelId="{25EADC44-4B59-4F08-B9D8-3D0FB4D7755A}" type="pres">
      <dgm:prSet presAssocID="{73C60956-5CBC-486D-8284-F896FE17E40B}" presName="node" presStyleLbl="node1" presStyleIdx="3" presStyleCnt="7">
        <dgm:presLayoutVars>
          <dgm:bulletEnabled val="1"/>
        </dgm:presLayoutVars>
      </dgm:prSet>
      <dgm:spPr/>
    </dgm:pt>
    <dgm:pt modelId="{92A510F2-B777-476F-BC6E-B04707ACE6C4}" type="pres">
      <dgm:prSet presAssocID="{0C3BD1DE-F02C-4161-9E2E-FB18D4FEBBCD}" presName="sibTrans" presStyleCnt="0"/>
      <dgm:spPr/>
    </dgm:pt>
    <dgm:pt modelId="{A464B20C-8FF7-4E0F-B826-66B596B06ED0}" type="pres">
      <dgm:prSet presAssocID="{3AFDB2A9-4E65-4E5D-8201-5C856AC24F31}" presName="node" presStyleLbl="node1" presStyleIdx="4" presStyleCnt="7">
        <dgm:presLayoutVars>
          <dgm:bulletEnabled val="1"/>
        </dgm:presLayoutVars>
      </dgm:prSet>
      <dgm:spPr/>
    </dgm:pt>
    <dgm:pt modelId="{C1B641AA-6D83-4F76-83C2-3FC04E2C9FFD}" type="pres">
      <dgm:prSet presAssocID="{E05B30CD-4D64-44A8-9186-D60C03057FA0}" presName="sibTrans" presStyleCnt="0"/>
      <dgm:spPr/>
    </dgm:pt>
    <dgm:pt modelId="{240B7A5C-F644-46F7-A90F-75A6C8925EC8}" type="pres">
      <dgm:prSet presAssocID="{B5A2EA3C-3CE4-46B9-BCD9-52E4ECF10F64}" presName="node" presStyleLbl="node1" presStyleIdx="5" presStyleCnt="7">
        <dgm:presLayoutVars>
          <dgm:bulletEnabled val="1"/>
        </dgm:presLayoutVars>
      </dgm:prSet>
      <dgm:spPr/>
    </dgm:pt>
    <dgm:pt modelId="{DE586E35-BEE9-4107-BF9C-4AB7E877DE70}" type="pres">
      <dgm:prSet presAssocID="{EDC309E6-1B80-41D9-93CE-9ADA66F53C8C}" presName="sibTrans" presStyleCnt="0"/>
      <dgm:spPr/>
    </dgm:pt>
    <dgm:pt modelId="{D29C4FBB-A2A4-457E-B554-5C35666752A2}" type="pres">
      <dgm:prSet presAssocID="{53DC164E-DE4B-4FCB-9C9B-A8A1760D7C7A}" presName="node" presStyleLbl="node1" presStyleIdx="6" presStyleCnt="7">
        <dgm:presLayoutVars>
          <dgm:bulletEnabled val="1"/>
        </dgm:presLayoutVars>
      </dgm:prSet>
      <dgm:spPr/>
    </dgm:pt>
  </dgm:ptLst>
  <dgm:cxnLst>
    <dgm:cxn modelId="{D9A92308-3F05-4E78-A15E-69008CEBE93E}" type="presOf" srcId="{622735DB-A954-430E-B200-4C963634E03F}" destId="{9F51721C-CE54-49BB-9B7F-FE3C381F1D25}" srcOrd="0" destOrd="0" presId="urn:microsoft.com/office/officeart/2005/8/layout/default"/>
    <dgm:cxn modelId="{7F4AD416-1066-4ABE-BB28-4DA50818BA7E}" type="presOf" srcId="{628AB06D-55D7-42B8-A930-E5E66CA9F326}" destId="{32242222-B38E-4047-9E87-493214BABE04}" srcOrd="0" destOrd="0" presId="urn:microsoft.com/office/officeart/2005/8/layout/default"/>
    <dgm:cxn modelId="{EFD47E18-090D-4BA4-A096-FD79A28020EF}" srcId="{628AB06D-55D7-42B8-A930-E5E66CA9F326}" destId="{3AFDB2A9-4E65-4E5D-8201-5C856AC24F31}" srcOrd="4" destOrd="0" parTransId="{B877F372-08FE-45EE-A796-484327ABFA78}" sibTransId="{E05B30CD-4D64-44A8-9186-D60C03057FA0}"/>
    <dgm:cxn modelId="{A51DB31E-1080-4381-890C-D45B1CA30CCD}" srcId="{628AB06D-55D7-42B8-A930-E5E66CA9F326}" destId="{B5A2EA3C-3CE4-46B9-BCD9-52E4ECF10F64}" srcOrd="5" destOrd="0" parTransId="{17EB5C8C-E884-4E83-B62E-F7C76D7CDFAE}" sibTransId="{EDC309E6-1B80-41D9-93CE-9ADA66F53C8C}"/>
    <dgm:cxn modelId="{0B86772B-28D5-49D6-9EC2-037D481F53A3}" type="presOf" srcId="{73C60956-5CBC-486D-8284-F896FE17E40B}" destId="{25EADC44-4B59-4F08-B9D8-3D0FB4D7755A}" srcOrd="0" destOrd="0" presId="urn:microsoft.com/office/officeart/2005/8/layout/default"/>
    <dgm:cxn modelId="{CBC50232-5709-4970-BB8E-BBCAC39AE3EB}" srcId="{628AB06D-55D7-42B8-A930-E5E66CA9F326}" destId="{622735DB-A954-430E-B200-4C963634E03F}" srcOrd="0" destOrd="0" parTransId="{E9EF3AE4-98DA-4D49-90C1-7636303C1D68}" sibTransId="{B7035F32-E6C7-48D0-A7C0-86861DB6248E}"/>
    <dgm:cxn modelId="{BF6E004F-7755-4127-8624-04E5E3707ED8}" type="presOf" srcId="{B5A2EA3C-3CE4-46B9-BCD9-52E4ECF10F64}" destId="{240B7A5C-F644-46F7-A90F-75A6C8925EC8}" srcOrd="0" destOrd="0" presId="urn:microsoft.com/office/officeart/2005/8/layout/default"/>
    <dgm:cxn modelId="{7F2CDE95-38AB-4521-9DC7-96575C11691A}" srcId="{628AB06D-55D7-42B8-A930-E5E66CA9F326}" destId="{53DC164E-DE4B-4FCB-9C9B-A8A1760D7C7A}" srcOrd="6" destOrd="0" parTransId="{C0C13507-AECE-4D06-8378-FAFCAEE82DA0}" sibTransId="{7EB38A1F-C6E8-46EE-B3FA-DBD3A665B687}"/>
    <dgm:cxn modelId="{64728CBE-B350-4A8F-8183-FA927EB0DA85}" srcId="{628AB06D-55D7-42B8-A930-E5E66CA9F326}" destId="{3A8ECCA7-BACA-409A-905C-9AB76413C01A}" srcOrd="2" destOrd="0" parTransId="{CCDD898D-768C-47C2-B2FC-60A6CBD1B0E4}" sibTransId="{5036C73A-519D-4C41-AA19-C1E32664B64F}"/>
    <dgm:cxn modelId="{A7586AD1-7B85-40B2-A704-C066FCB00E0D}" type="presOf" srcId="{72E60AA4-7165-4E40-BC26-41BBDD8D59AD}" destId="{1B912BD5-87C9-4653-A9FB-E2274DEA5450}" srcOrd="0" destOrd="0" presId="urn:microsoft.com/office/officeart/2005/8/layout/default"/>
    <dgm:cxn modelId="{BC7159D4-978D-4B3B-9EBB-044AAB9E858B}" type="presOf" srcId="{3A8ECCA7-BACA-409A-905C-9AB76413C01A}" destId="{D77B6031-0581-434C-842E-C81CFC5180CB}" srcOrd="0" destOrd="0" presId="urn:microsoft.com/office/officeart/2005/8/layout/default"/>
    <dgm:cxn modelId="{3A09E6DF-10CC-4F77-A7F6-65AC69C58F9F}" type="presOf" srcId="{53DC164E-DE4B-4FCB-9C9B-A8A1760D7C7A}" destId="{D29C4FBB-A2A4-457E-B554-5C35666752A2}" srcOrd="0" destOrd="0" presId="urn:microsoft.com/office/officeart/2005/8/layout/default"/>
    <dgm:cxn modelId="{C1CA44E1-CF9C-4C9D-AB62-16327C69186B}" type="presOf" srcId="{3AFDB2A9-4E65-4E5D-8201-5C856AC24F31}" destId="{A464B20C-8FF7-4E0F-B826-66B596B06ED0}" srcOrd="0" destOrd="0" presId="urn:microsoft.com/office/officeart/2005/8/layout/default"/>
    <dgm:cxn modelId="{8252B6E9-4941-40F3-9A7C-7A06A9B74FF3}" srcId="{628AB06D-55D7-42B8-A930-E5E66CA9F326}" destId="{73C60956-5CBC-486D-8284-F896FE17E40B}" srcOrd="3" destOrd="0" parTransId="{FF9C8558-DDDE-4E0B-9DAE-EEF01133B7A9}" sibTransId="{0C3BD1DE-F02C-4161-9E2E-FB18D4FEBBCD}"/>
    <dgm:cxn modelId="{A342ADF9-51D0-44B1-AEC1-68A2ECA119FB}" srcId="{628AB06D-55D7-42B8-A930-E5E66CA9F326}" destId="{72E60AA4-7165-4E40-BC26-41BBDD8D59AD}" srcOrd="1" destOrd="0" parTransId="{8AB7F5FE-0B0E-492F-8915-AA97D3515F01}" sibTransId="{6D652854-1969-4037-8FC5-B0DCD7D3D53F}"/>
    <dgm:cxn modelId="{AA2AAFB6-7861-44D1-B800-87E07AFFE98A}" type="presParOf" srcId="{32242222-B38E-4047-9E87-493214BABE04}" destId="{9F51721C-CE54-49BB-9B7F-FE3C381F1D25}" srcOrd="0" destOrd="0" presId="urn:microsoft.com/office/officeart/2005/8/layout/default"/>
    <dgm:cxn modelId="{CEFB9E55-8611-48D7-AF10-238E158CDBCE}" type="presParOf" srcId="{32242222-B38E-4047-9E87-493214BABE04}" destId="{7BDC1D45-02CE-4D01-A658-EFF7BE402A37}" srcOrd="1" destOrd="0" presId="urn:microsoft.com/office/officeart/2005/8/layout/default"/>
    <dgm:cxn modelId="{99CA7B4E-27EB-4B4C-9962-F8C4990D02A5}" type="presParOf" srcId="{32242222-B38E-4047-9E87-493214BABE04}" destId="{1B912BD5-87C9-4653-A9FB-E2274DEA5450}" srcOrd="2" destOrd="0" presId="urn:microsoft.com/office/officeart/2005/8/layout/default"/>
    <dgm:cxn modelId="{2D77F81A-72AD-4554-87BA-850725433C05}" type="presParOf" srcId="{32242222-B38E-4047-9E87-493214BABE04}" destId="{FA06A017-390A-43E7-B386-53A31EE109EB}" srcOrd="3" destOrd="0" presId="urn:microsoft.com/office/officeart/2005/8/layout/default"/>
    <dgm:cxn modelId="{7E7D32A9-4888-4773-8F97-3FA75C4D23AF}" type="presParOf" srcId="{32242222-B38E-4047-9E87-493214BABE04}" destId="{D77B6031-0581-434C-842E-C81CFC5180CB}" srcOrd="4" destOrd="0" presId="urn:microsoft.com/office/officeart/2005/8/layout/default"/>
    <dgm:cxn modelId="{5DA78B3B-176B-4972-98C8-7F37E06517C2}" type="presParOf" srcId="{32242222-B38E-4047-9E87-493214BABE04}" destId="{121ABC9D-A6AF-40B6-900A-5B11AF460CFB}" srcOrd="5" destOrd="0" presId="urn:microsoft.com/office/officeart/2005/8/layout/default"/>
    <dgm:cxn modelId="{0F72FD60-29D4-4B2A-AD65-21C0BDD7FEA4}" type="presParOf" srcId="{32242222-B38E-4047-9E87-493214BABE04}" destId="{25EADC44-4B59-4F08-B9D8-3D0FB4D7755A}" srcOrd="6" destOrd="0" presId="urn:microsoft.com/office/officeart/2005/8/layout/default"/>
    <dgm:cxn modelId="{BEA3D33D-4AD7-433A-8CC7-28FCE813A9E2}" type="presParOf" srcId="{32242222-B38E-4047-9E87-493214BABE04}" destId="{92A510F2-B777-476F-BC6E-B04707ACE6C4}" srcOrd="7" destOrd="0" presId="urn:microsoft.com/office/officeart/2005/8/layout/default"/>
    <dgm:cxn modelId="{37341677-6C7C-4DEC-B398-AF263AE9D760}" type="presParOf" srcId="{32242222-B38E-4047-9E87-493214BABE04}" destId="{A464B20C-8FF7-4E0F-B826-66B596B06ED0}" srcOrd="8" destOrd="0" presId="urn:microsoft.com/office/officeart/2005/8/layout/default"/>
    <dgm:cxn modelId="{209C19A2-3490-405C-B34C-723F2941435B}" type="presParOf" srcId="{32242222-B38E-4047-9E87-493214BABE04}" destId="{C1B641AA-6D83-4F76-83C2-3FC04E2C9FFD}" srcOrd="9" destOrd="0" presId="urn:microsoft.com/office/officeart/2005/8/layout/default"/>
    <dgm:cxn modelId="{F1F3D6BA-9CCA-4510-90BF-6194F57B4DF9}" type="presParOf" srcId="{32242222-B38E-4047-9E87-493214BABE04}" destId="{240B7A5C-F644-46F7-A90F-75A6C8925EC8}" srcOrd="10" destOrd="0" presId="urn:microsoft.com/office/officeart/2005/8/layout/default"/>
    <dgm:cxn modelId="{3382299C-2BAC-4490-8F2F-9B84F9FA5E02}" type="presParOf" srcId="{32242222-B38E-4047-9E87-493214BABE04}" destId="{DE586E35-BEE9-4107-BF9C-4AB7E877DE70}" srcOrd="11" destOrd="0" presId="urn:microsoft.com/office/officeart/2005/8/layout/default"/>
    <dgm:cxn modelId="{FBDF60D2-A3F1-4212-8F67-1A3926ED4776}" type="presParOf" srcId="{32242222-B38E-4047-9E87-493214BABE04}" destId="{D29C4FBB-A2A4-457E-B554-5C35666752A2}"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B15F10-A5F6-4F0C-9694-0DB1124735D5}" type="doc">
      <dgm:prSet loTypeId="urn:microsoft.com/office/officeart/2005/8/layout/default" loCatId="list" qsTypeId="urn:microsoft.com/office/officeart/2005/8/quickstyle/3d1" qsCatId="3D" csTypeId="urn:microsoft.com/office/officeart/2005/8/colors/accent5_2" csCatId="accent5" phldr="1"/>
      <dgm:spPr/>
      <dgm:t>
        <a:bodyPr/>
        <a:lstStyle/>
        <a:p>
          <a:endParaRPr lang="es-ES"/>
        </a:p>
      </dgm:t>
    </dgm:pt>
    <dgm:pt modelId="{12154AB8-F9A4-41B1-8881-AC07E5F7888E}">
      <dgm:prSet phldrT="[Texto]" custT="1"/>
      <dgm:spPr/>
      <dgm:t>
        <a:bodyPr/>
        <a:lstStyle/>
        <a:p>
          <a:pPr>
            <a:buFont typeface="+mj-lt"/>
            <a:buAutoNum type="arabicPeriod"/>
          </a:pPr>
          <a:r>
            <a:rPr lang="es-ES" sz="2400" b="0" i="0" u="none" strike="noStrike" baseline="0" dirty="0">
              <a:latin typeface="Raleway-Light"/>
            </a:rPr>
            <a:t>Entrega demos operativas entre 2 semanas y 2 meses.</a:t>
          </a:r>
          <a:endParaRPr lang="es-ES" sz="2400" dirty="0"/>
        </a:p>
      </dgm:t>
    </dgm:pt>
    <dgm:pt modelId="{64402F90-AE81-4632-BF1E-2B304F3348C3}" type="parTrans" cxnId="{C2F46095-9F8A-4A7F-B703-D51C1E727CFE}">
      <dgm:prSet/>
      <dgm:spPr/>
      <dgm:t>
        <a:bodyPr/>
        <a:lstStyle/>
        <a:p>
          <a:endParaRPr lang="es-ES" sz="3200"/>
        </a:p>
      </dgm:t>
    </dgm:pt>
    <dgm:pt modelId="{4737DFDD-E763-43B7-A2A1-509CDB795E0D}" type="sibTrans" cxnId="{C2F46095-9F8A-4A7F-B703-D51C1E727CFE}">
      <dgm:prSet/>
      <dgm:spPr/>
      <dgm:t>
        <a:bodyPr/>
        <a:lstStyle/>
        <a:p>
          <a:endParaRPr lang="es-ES" sz="3200"/>
        </a:p>
      </dgm:t>
    </dgm:pt>
    <dgm:pt modelId="{5CDF086D-4865-45B9-A62F-1292929171D6}">
      <dgm:prSet custT="1"/>
      <dgm:spPr/>
      <dgm:t>
        <a:bodyPr/>
        <a:lstStyle/>
        <a:p>
          <a:r>
            <a:rPr lang="es-ES" sz="2400" b="1" i="0" u="none" strike="noStrike" baseline="0" dirty="0">
              <a:latin typeface="Raleway-Light"/>
            </a:rPr>
            <a:t>Adáptate al cambio</a:t>
          </a:r>
          <a:endParaRPr lang="es-ES" sz="2400" b="0" i="0" u="none" strike="noStrike" baseline="0" dirty="0">
            <a:latin typeface="Raleway-Light"/>
          </a:endParaRPr>
        </a:p>
      </dgm:t>
    </dgm:pt>
    <dgm:pt modelId="{60407864-3D04-4176-9530-EACA6156A54E}" type="parTrans" cxnId="{CCE7EB6A-D62C-4E88-84A6-4FE8037F1258}">
      <dgm:prSet/>
      <dgm:spPr/>
      <dgm:t>
        <a:bodyPr/>
        <a:lstStyle/>
        <a:p>
          <a:endParaRPr lang="es-ES" sz="3200"/>
        </a:p>
      </dgm:t>
    </dgm:pt>
    <dgm:pt modelId="{97351ABA-E10F-465B-886E-AB60C0337061}" type="sibTrans" cxnId="{CCE7EB6A-D62C-4E88-84A6-4FE8037F1258}">
      <dgm:prSet/>
      <dgm:spPr/>
      <dgm:t>
        <a:bodyPr/>
        <a:lstStyle/>
        <a:p>
          <a:endParaRPr lang="es-ES" sz="3200"/>
        </a:p>
      </dgm:t>
    </dgm:pt>
    <dgm:pt modelId="{8BA3B714-BD9A-4255-BDE4-B92EEBD30F0C}">
      <dgm:prSet custT="1"/>
      <dgm:spPr/>
      <dgm:t>
        <a:bodyPr/>
        <a:lstStyle/>
        <a:p>
          <a:r>
            <a:rPr lang="es-ES" sz="2400" b="0" i="0" u="none" strike="noStrike" baseline="0" dirty="0">
              <a:latin typeface="Raleway-Light"/>
            </a:rPr>
            <a:t>Trabajar juntos, área de negocio y desarrollo.</a:t>
          </a:r>
        </a:p>
      </dgm:t>
    </dgm:pt>
    <dgm:pt modelId="{DD73BFB4-9BB9-4F10-B4A8-F68B7AD31A2B}" type="parTrans" cxnId="{BECEE371-76F5-497C-865A-04E499522E78}">
      <dgm:prSet/>
      <dgm:spPr/>
      <dgm:t>
        <a:bodyPr/>
        <a:lstStyle/>
        <a:p>
          <a:endParaRPr lang="es-ES" sz="3200"/>
        </a:p>
      </dgm:t>
    </dgm:pt>
    <dgm:pt modelId="{00EE3B17-42BA-4A59-9596-730B583EC0B3}" type="sibTrans" cxnId="{BECEE371-76F5-497C-865A-04E499522E78}">
      <dgm:prSet/>
      <dgm:spPr/>
      <dgm:t>
        <a:bodyPr/>
        <a:lstStyle/>
        <a:p>
          <a:endParaRPr lang="es-ES" sz="3200"/>
        </a:p>
      </dgm:t>
    </dgm:pt>
    <dgm:pt modelId="{5545E204-76F8-4FCA-9CB8-7BD0E03E753A}">
      <dgm:prSet custT="1"/>
      <dgm:spPr/>
      <dgm:t>
        <a:bodyPr/>
        <a:lstStyle/>
        <a:p>
          <a:r>
            <a:rPr lang="es-ES" sz="2400" b="0" i="0" u="none" strike="noStrike" baseline="0">
              <a:latin typeface="Raleway-Light"/>
            </a:rPr>
            <a:t>Motivación al equipo.</a:t>
          </a:r>
          <a:endParaRPr lang="es-ES" sz="2400" b="0" i="0" u="none" strike="noStrike" baseline="0" dirty="0">
            <a:latin typeface="Raleway-Light"/>
          </a:endParaRPr>
        </a:p>
      </dgm:t>
    </dgm:pt>
    <dgm:pt modelId="{CE8D0510-BBA4-4845-B8B4-49CDBA31ED86}" type="parTrans" cxnId="{1660FC3B-053D-4A95-BA92-23E322369688}">
      <dgm:prSet/>
      <dgm:spPr/>
      <dgm:t>
        <a:bodyPr/>
        <a:lstStyle/>
        <a:p>
          <a:endParaRPr lang="es-ES" sz="3200"/>
        </a:p>
      </dgm:t>
    </dgm:pt>
    <dgm:pt modelId="{5681B1C4-7F62-4A23-A8A3-C73EEF21D6DD}" type="sibTrans" cxnId="{1660FC3B-053D-4A95-BA92-23E322369688}">
      <dgm:prSet/>
      <dgm:spPr/>
      <dgm:t>
        <a:bodyPr/>
        <a:lstStyle/>
        <a:p>
          <a:endParaRPr lang="es-ES" sz="3200"/>
        </a:p>
      </dgm:t>
    </dgm:pt>
    <dgm:pt modelId="{3D64C0CD-A46B-4482-9F20-08486A5ADCDE}">
      <dgm:prSet custT="1"/>
      <dgm:spPr/>
      <dgm:t>
        <a:bodyPr/>
        <a:lstStyle/>
        <a:p>
          <a:r>
            <a:rPr lang="es-ES" sz="2400" b="0" i="0" u="none" strike="noStrike" baseline="0">
              <a:latin typeface="Raleway-Light"/>
            </a:rPr>
            <a:t>Conversaciones cara a cara.</a:t>
          </a:r>
          <a:endParaRPr lang="es-ES" sz="2400" b="0" i="0" u="none" strike="noStrike" baseline="0" dirty="0">
            <a:latin typeface="Raleway-Light"/>
          </a:endParaRPr>
        </a:p>
      </dgm:t>
    </dgm:pt>
    <dgm:pt modelId="{BDF56148-113C-457A-AB3A-653C9E9A0B15}" type="parTrans" cxnId="{B4B35A13-679F-4D4C-A729-027C053EB968}">
      <dgm:prSet/>
      <dgm:spPr/>
      <dgm:t>
        <a:bodyPr/>
        <a:lstStyle/>
        <a:p>
          <a:endParaRPr lang="es-ES" sz="3200"/>
        </a:p>
      </dgm:t>
    </dgm:pt>
    <dgm:pt modelId="{B8E37ADC-BC52-47D7-B598-050DA5B5E20E}" type="sibTrans" cxnId="{B4B35A13-679F-4D4C-A729-027C053EB968}">
      <dgm:prSet/>
      <dgm:spPr/>
      <dgm:t>
        <a:bodyPr/>
        <a:lstStyle/>
        <a:p>
          <a:endParaRPr lang="es-ES" sz="3200"/>
        </a:p>
      </dgm:t>
    </dgm:pt>
    <dgm:pt modelId="{14F92849-5DA1-43D5-81DF-C75C2C32B682}">
      <dgm:prSet custT="1"/>
      <dgm:spPr/>
      <dgm:t>
        <a:bodyPr/>
        <a:lstStyle/>
        <a:p>
          <a:r>
            <a:rPr lang="es-ES" sz="2400" b="0" i="0" u="none" strike="noStrike" baseline="0">
              <a:latin typeface="Raleway-Light"/>
            </a:rPr>
            <a:t>Software operativo.</a:t>
          </a:r>
          <a:endParaRPr lang="es-ES" sz="2400" dirty="0">
            <a:latin typeface="Raleway-Light"/>
          </a:endParaRPr>
        </a:p>
      </dgm:t>
    </dgm:pt>
    <dgm:pt modelId="{EA6D6E68-5B80-44AE-AF3A-A15D970CFAA8}" type="parTrans" cxnId="{42CACAB7-30F4-407D-90B8-012F212BAA28}">
      <dgm:prSet/>
      <dgm:spPr/>
      <dgm:t>
        <a:bodyPr/>
        <a:lstStyle/>
        <a:p>
          <a:endParaRPr lang="es-ES" sz="3200"/>
        </a:p>
      </dgm:t>
    </dgm:pt>
    <dgm:pt modelId="{EF5B4F08-F81F-4E69-BE3B-39D0BB6AE809}" type="sibTrans" cxnId="{42CACAB7-30F4-407D-90B8-012F212BAA28}">
      <dgm:prSet/>
      <dgm:spPr/>
      <dgm:t>
        <a:bodyPr/>
        <a:lstStyle/>
        <a:p>
          <a:endParaRPr lang="es-ES" sz="3200"/>
        </a:p>
      </dgm:t>
    </dgm:pt>
    <dgm:pt modelId="{04F72BD2-5C83-4087-8D2F-71D6416DEB36}">
      <dgm:prSet custT="1"/>
      <dgm:spPr/>
      <dgm:t>
        <a:bodyPr/>
        <a:lstStyle/>
        <a:p>
          <a:r>
            <a:rPr lang="es-ES" sz="2400" b="0" i="0" u="none" strike="noStrike" baseline="0">
              <a:latin typeface="Raleway-Light"/>
            </a:rPr>
            <a:t>Ritmo constante.</a:t>
          </a:r>
          <a:endParaRPr lang="es-ES" sz="2400" b="0" i="0" u="none" strike="noStrike" baseline="0" dirty="0">
            <a:latin typeface="Raleway-Light"/>
          </a:endParaRPr>
        </a:p>
      </dgm:t>
    </dgm:pt>
    <dgm:pt modelId="{3E34C636-554F-4C5C-AC38-931D6F89CD14}" type="parTrans" cxnId="{27433239-FC41-4C8C-8CE0-D2F9700BAC7C}">
      <dgm:prSet/>
      <dgm:spPr/>
      <dgm:t>
        <a:bodyPr/>
        <a:lstStyle/>
        <a:p>
          <a:endParaRPr lang="es-ES" sz="3200"/>
        </a:p>
      </dgm:t>
    </dgm:pt>
    <dgm:pt modelId="{9D2D52CF-157F-40A8-AD3E-80196F33E016}" type="sibTrans" cxnId="{27433239-FC41-4C8C-8CE0-D2F9700BAC7C}">
      <dgm:prSet/>
      <dgm:spPr/>
      <dgm:t>
        <a:bodyPr/>
        <a:lstStyle/>
        <a:p>
          <a:endParaRPr lang="es-ES" sz="3200"/>
        </a:p>
      </dgm:t>
    </dgm:pt>
    <dgm:pt modelId="{938AB950-03B0-4BCC-B853-E1FF50B3BA49}">
      <dgm:prSet custT="1"/>
      <dgm:spPr/>
      <dgm:t>
        <a:bodyPr/>
        <a:lstStyle/>
        <a:p>
          <a:r>
            <a:rPr lang="es-ES" sz="2400" b="0" i="0" u="none" strike="noStrike" baseline="0">
              <a:latin typeface="Raleway-Light"/>
            </a:rPr>
            <a:t>Excelencia técnica.</a:t>
          </a:r>
          <a:endParaRPr lang="es-ES" sz="2400" b="0" i="0" u="none" strike="noStrike" baseline="0" dirty="0">
            <a:latin typeface="Raleway-Light"/>
          </a:endParaRPr>
        </a:p>
      </dgm:t>
    </dgm:pt>
    <dgm:pt modelId="{EE9D8864-F354-44BA-B392-53A2C2BFA3CE}" type="parTrans" cxnId="{ADC51348-DC27-4CF7-BB23-2A180743C6A8}">
      <dgm:prSet/>
      <dgm:spPr/>
      <dgm:t>
        <a:bodyPr/>
        <a:lstStyle/>
        <a:p>
          <a:endParaRPr lang="es-ES" sz="3200"/>
        </a:p>
      </dgm:t>
    </dgm:pt>
    <dgm:pt modelId="{19B7D3B5-5AEF-4847-AE19-636981481A25}" type="sibTrans" cxnId="{ADC51348-DC27-4CF7-BB23-2A180743C6A8}">
      <dgm:prSet/>
      <dgm:spPr/>
      <dgm:t>
        <a:bodyPr/>
        <a:lstStyle/>
        <a:p>
          <a:endParaRPr lang="es-ES" sz="3200"/>
        </a:p>
      </dgm:t>
    </dgm:pt>
    <dgm:pt modelId="{096266D2-63E9-4508-A7D2-CE668AEB6189}">
      <dgm:prSet custT="1"/>
      <dgm:spPr/>
      <dgm:t>
        <a:bodyPr/>
        <a:lstStyle/>
        <a:p>
          <a:r>
            <a:rPr lang="es-ES" sz="2400" b="0" i="0" u="none" strike="noStrike" baseline="0">
              <a:latin typeface="Raleway-Light"/>
            </a:rPr>
            <a:t>Autoorganización.</a:t>
          </a:r>
          <a:endParaRPr lang="es-ES" sz="2400" b="0" i="0" u="none" strike="noStrike" baseline="0" dirty="0">
            <a:latin typeface="Raleway-Light"/>
          </a:endParaRPr>
        </a:p>
      </dgm:t>
    </dgm:pt>
    <dgm:pt modelId="{BCEE6BCD-1010-48F9-99C9-BBDEB313B8E0}" type="parTrans" cxnId="{794FC1C6-348E-4517-9617-621CF57C0ABF}">
      <dgm:prSet/>
      <dgm:spPr/>
      <dgm:t>
        <a:bodyPr/>
        <a:lstStyle/>
        <a:p>
          <a:endParaRPr lang="es-ES" sz="3200"/>
        </a:p>
      </dgm:t>
    </dgm:pt>
    <dgm:pt modelId="{B1E505B8-0237-4DBA-8FA4-9D32CFA0344D}" type="sibTrans" cxnId="{794FC1C6-348E-4517-9617-621CF57C0ABF}">
      <dgm:prSet/>
      <dgm:spPr/>
      <dgm:t>
        <a:bodyPr/>
        <a:lstStyle/>
        <a:p>
          <a:endParaRPr lang="es-ES" sz="3200"/>
        </a:p>
      </dgm:t>
    </dgm:pt>
    <dgm:pt modelId="{9EBD543A-6CFA-41D3-A77B-FFD6B081D1CE}">
      <dgm:prSet custT="1"/>
      <dgm:spPr/>
      <dgm:t>
        <a:bodyPr/>
        <a:lstStyle/>
        <a:p>
          <a:r>
            <a:rPr lang="es-ES" sz="2400" b="0" i="0" u="none" strike="noStrike" baseline="0">
              <a:latin typeface="Raleway-Light"/>
            </a:rPr>
            <a:t>Reflexión constante.</a:t>
          </a:r>
          <a:endParaRPr lang="es-ES" sz="2400" b="0" i="0" u="none" strike="noStrike" baseline="0" dirty="0">
            <a:latin typeface="Raleway-Light"/>
          </a:endParaRPr>
        </a:p>
      </dgm:t>
    </dgm:pt>
    <dgm:pt modelId="{1A155960-906B-48BF-89EC-05037FC98C5D}" type="parTrans" cxnId="{BF72DCB1-E5D8-423E-A980-B72D05C195AF}">
      <dgm:prSet/>
      <dgm:spPr/>
      <dgm:t>
        <a:bodyPr/>
        <a:lstStyle/>
        <a:p>
          <a:endParaRPr lang="es-ES" sz="3200"/>
        </a:p>
      </dgm:t>
    </dgm:pt>
    <dgm:pt modelId="{165E4757-2E92-484A-A818-F255893C9016}" type="sibTrans" cxnId="{BF72DCB1-E5D8-423E-A980-B72D05C195AF}">
      <dgm:prSet/>
      <dgm:spPr/>
      <dgm:t>
        <a:bodyPr/>
        <a:lstStyle/>
        <a:p>
          <a:endParaRPr lang="es-ES" sz="3200"/>
        </a:p>
      </dgm:t>
    </dgm:pt>
    <dgm:pt modelId="{148ED0C1-A9D6-4EF8-B7CD-F10E6B07BF37}" type="pres">
      <dgm:prSet presAssocID="{27B15F10-A5F6-4F0C-9694-0DB1124735D5}" presName="diagram" presStyleCnt="0">
        <dgm:presLayoutVars>
          <dgm:dir/>
          <dgm:resizeHandles val="exact"/>
        </dgm:presLayoutVars>
      </dgm:prSet>
      <dgm:spPr/>
    </dgm:pt>
    <dgm:pt modelId="{862CC551-E411-4B32-999F-AC7D18AF1A90}" type="pres">
      <dgm:prSet presAssocID="{12154AB8-F9A4-41B1-8881-AC07E5F7888E}" presName="node" presStyleLbl="node1" presStyleIdx="0" presStyleCnt="10">
        <dgm:presLayoutVars>
          <dgm:bulletEnabled val="1"/>
        </dgm:presLayoutVars>
      </dgm:prSet>
      <dgm:spPr/>
    </dgm:pt>
    <dgm:pt modelId="{6EE7ED47-C578-4922-9FB1-2FFAC3A480A4}" type="pres">
      <dgm:prSet presAssocID="{4737DFDD-E763-43B7-A2A1-509CDB795E0D}" presName="sibTrans" presStyleCnt="0"/>
      <dgm:spPr/>
    </dgm:pt>
    <dgm:pt modelId="{2F201847-68E6-4574-8EC0-2647E9E24020}" type="pres">
      <dgm:prSet presAssocID="{5CDF086D-4865-45B9-A62F-1292929171D6}" presName="node" presStyleLbl="node1" presStyleIdx="1" presStyleCnt="10">
        <dgm:presLayoutVars>
          <dgm:bulletEnabled val="1"/>
        </dgm:presLayoutVars>
      </dgm:prSet>
      <dgm:spPr/>
    </dgm:pt>
    <dgm:pt modelId="{3C4616E7-5163-4DCE-B7BA-D4B691F5985E}" type="pres">
      <dgm:prSet presAssocID="{97351ABA-E10F-465B-886E-AB60C0337061}" presName="sibTrans" presStyleCnt="0"/>
      <dgm:spPr/>
    </dgm:pt>
    <dgm:pt modelId="{B9AEB8D4-4F52-4C1F-BCAF-3B8E5ABA5C4D}" type="pres">
      <dgm:prSet presAssocID="{8BA3B714-BD9A-4255-BDE4-B92EEBD30F0C}" presName="node" presStyleLbl="node1" presStyleIdx="2" presStyleCnt="10">
        <dgm:presLayoutVars>
          <dgm:bulletEnabled val="1"/>
        </dgm:presLayoutVars>
      </dgm:prSet>
      <dgm:spPr/>
    </dgm:pt>
    <dgm:pt modelId="{6AD20D08-6E15-45A1-A991-5E4C97585F30}" type="pres">
      <dgm:prSet presAssocID="{00EE3B17-42BA-4A59-9596-730B583EC0B3}" presName="sibTrans" presStyleCnt="0"/>
      <dgm:spPr/>
    </dgm:pt>
    <dgm:pt modelId="{BEA98013-77E4-4126-AEE6-6F5F3C4FD490}" type="pres">
      <dgm:prSet presAssocID="{5545E204-76F8-4FCA-9CB8-7BD0E03E753A}" presName="node" presStyleLbl="node1" presStyleIdx="3" presStyleCnt="10">
        <dgm:presLayoutVars>
          <dgm:bulletEnabled val="1"/>
        </dgm:presLayoutVars>
      </dgm:prSet>
      <dgm:spPr/>
    </dgm:pt>
    <dgm:pt modelId="{FD22588F-F2EE-4397-883C-9E6F5177A073}" type="pres">
      <dgm:prSet presAssocID="{5681B1C4-7F62-4A23-A8A3-C73EEF21D6DD}" presName="sibTrans" presStyleCnt="0"/>
      <dgm:spPr/>
    </dgm:pt>
    <dgm:pt modelId="{59B28460-67BE-466A-A778-733F16784158}" type="pres">
      <dgm:prSet presAssocID="{3D64C0CD-A46B-4482-9F20-08486A5ADCDE}" presName="node" presStyleLbl="node1" presStyleIdx="4" presStyleCnt="10">
        <dgm:presLayoutVars>
          <dgm:bulletEnabled val="1"/>
        </dgm:presLayoutVars>
      </dgm:prSet>
      <dgm:spPr/>
    </dgm:pt>
    <dgm:pt modelId="{B94603C2-DD0B-4270-9686-6D1B37C37899}" type="pres">
      <dgm:prSet presAssocID="{B8E37ADC-BC52-47D7-B598-050DA5B5E20E}" presName="sibTrans" presStyleCnt="0"/>
      <dgm:spPr/>
    </dgm:pt>
    <dgm:pt modelId="{1EC58B0F-6999-4A68-B6A9-6A120FFDBB5F}" type="pres">
      <dgm:prSet presAssocID="{14F92849-5DA1-43D5-81DF-C75C2C32B682}" presName="node" presStyleLbl="node1" presStyleIdx="5" presStyleCnt="10">
        <dgm:presLayoutVars>
          <dgm:bulletEnabled val="1"/>
        </dgm:presLayoutVars>
      </dgm:prSet>
      <dgm:spPr/>
    </dgm:pt>
    <dgm:pt modelId="{BCD5D42B-77F6-4052-9F40-913C40AA2A5E}" type="pres">
      <dgm:prSet presAssocID="{EF5B4F08-F81F-4E69-BE3B-39D0BB6AE809}" presName="sibTrans" presStyleCnt="0"/>
      <dgm:spPr/>
    </dgm:pt>
    <dgm:pt modelId="{9EAEB7BD-0528-43B6-8651-8C49EFEE9465}" type="pres">
      <dgm:prSet presAssocID="{04F72BD2-5C83-4087-8D2F-71D6416DEB36}" presName="node" presStyleLbl="node1" presStyleIdx="6" presStyleCnt="10">
        <dgm:presLayoutVars>
          <dgm:bulletEnabled val="1"/>
        </dgm:presLayoutVars>
      </dgm:prSet>
      <dgm:spPr/>
    </dgm:pt>
    <dgm:pt modelId="{937ABFF6-5709-4051-B1A3-68D551B2DB56}" type="pres">
      <dgm:prSet presAssocID="{9D2D52CF-157F-40A8-AD3E-80196F33E016}" presName="sibTrans" presStyleCnt="0"/>
      <dgm:spPr/>
    </dgm:pt>
    <dgm:pt modelId="{F865283B-7474-4703-B2AF-D053CD700BE0}" type="pres">
      <dgm:prSet presAssocID="{938AB950-03B0-4BCC-B853-E1FF50B3BA49}" presName="node" presStyleLbl="node1" presStyleIdx="7" presStyleCnt="10">
        <dgm:presLayoutVars>
          <dgm:bulletEnabled val="1"/>
        </dgm:presLayoutVars>
      </dgm:prSet>
      <dgm:spPr/>
    </dgm:pt>
    <dgm:pt modelId="{5B765C2C-D94F-4CB2-BF95-13267CE125D3}" type="pres">
      <dgm:prSet presAssocID="{19B7D3B5-5AEF-4847-AE19-636981481A25}" presName="sibTrans" presStyleCnt="0"/>
      <dgm:spPr/>
    </dgm:pt>
    <dgm:pt modelId="{080530D0-BE4D-4129-A965-81E5F7DB3D33}" type="pres">
      <dgm:prSet presAssocID="{096266D2-63E9-4508-A7D2-CE668AEB6189}" presName="node" presStyleLbl="node1" presStyleIdx="8" presStyleCnt="10">
        <dgm:presLayoutVars>
          <dgm:bulletEnabled val="1"/>
        </dgm:presLayoutVars>
      </dgm:prSet>
      <dgm:spPr/>
    </dgm:pt>
    <dgm:pt modelId="{A9983709-7725-489E-A006-5B3308CE0612}" type="pres">
      <dgm:prSet presAssocID="{B1E505B8-0237-4DBA-8FA4-9D32CFA0344D}" presName="sibTrans" presStyleCnt="0"/>
      <dgm:spPr/>
    </dgm:pt>
    <dgm:pt modelId="{58D569C4-B23F-43D4-813F-D12EE63CB55A}" type="pres">
      <dgm:prSet presAssocID="{9EBD543A-6CFA-41D3-A77B-FFD6B081D1CE}" presName="node" presStyleLbl="node1" presStyleIdx="9" presStyleCnt="10">
        <dgm:presLayoutVars>
          <dgm:bulletEnabled val="1"/>
        </dgm:presLayoutVars>
      </dgm:prSet>
      <dgm:spPr/>
    </dgm:pt>
  </dgm:ptLst>
  <dgm:cxnLst>
    <dgm:cxn modelId="{B4B35A13-679F-4D4C-A729-027C053EB968}" srcId="{27B15F10-A5F6-4F0C-9694-0DB1124735D5}" destId="{3D64C0CD-A46B-4482-9F20-08486A5ADCDE}" srcOrd="4" destOrd="0" parTransId="{BDF56148-113C-457A-AB3A-653C9E9A0B15}" sibTransId="{B8E37ADC-BC52-47D7-B598-050DA5B5E20E}"/>
    <dgm:cxn modelId="{27433239-FC41-4C8C-8CE0-D2F9700BAC7C}" srcId="{27B15F10-A5F6-4F0C-9694-0DB1124735D5}" destId="{04F72BD2-5C83-4087-8D2F-71D6416DEB36}" srcOrd="6" destOrd="0" parTransId="{3E34C636-554F-4C5C-AC38-931D6F89CD14}" sibTransId="{9D2D52CF-157F-40A8-AD3E-80196F33E016}"/>
    <dgm:cxn modelId="{1660FC3B-053D-4A95-BA92-23E322369688}" srcId="{27B15F10-A5F6-4F0C-9694-0DB1124735D5}" destId="{5545E204-76F8-4FCA-9CB8-7BD0E03E753A}" srcOrd="3" destOrd="0" parTransId="{CE8D0510-BBA4-4845-B8B4-49CDBA31ED86}" sibTransId="{5681B1C4-7F62-4A23-A8A3-C73EEF21D6DD}"/>
    <dgm:cxn modelId="{E9525465-B08F-4700-A8CB-96F45B818A56}" type="presOf" srcId="{12154AB8-F9A4-41B1-8881-AC07E5F7888E}" destId="{862CC551-E411-4B32-999F-AC7D18AF1A90}" srcOrd="0" destOrd="0" presId="urn:microsoft.com/office/officeart/2005/8/layout/default"/>
    <dgm:cxn modelId="{ADC51348-DC27-4CF7-BB23-2A180743C6A8}" srcId="{27B15F10-A5F6-4F0C-9694-0DB1124735D5}" destId="{938AB950-03B0-4BCC-B853-E1FF50B3BA49}" srcOrd="7" destOrd="0" parTransId="{EE9D8864-F354-44BA-B392-53A2C2BFA3CE}" sibTransId="{19B7D3B5-5AEF-4847-AE19-636981481A25}"/>
    <dgm:cxn modelId="{CCE7EB6A-D62C-4E88-84A6-4FE8037F1258}" srcId="{27B15F10-A5F6-4F0C-9694-0DB1124735D5}" destId="{5CDF086D-4865-45B9-A62F-1292929171D6}" srcOrd="1" destOrd="0" parTransId="{60407864-3D04-4176-9530-EACA6156A54E}" sibTransId="{97351ABA-E10F-465B-886E-AB60C0337061}"/>
    <dgm:cxn modelId="{BECEE371-76F5-497C-865A-04E499522E78}" srcId="{27B15F10-A5F6-4F0C-9694-0DB1124735D5}" destId="{8BA3B714-BD9A-4255-BDE4-B92EEBD30F0C}" srcOrd="2" destOrd="0" parTransId="{DD73BFB4-9BB9-4F10-B4A8-F68B7AD31A2B}" sibTransId="{00EE3B17-42BA-4A59-9596-730B583EC0B3}"/>
    <dgm:cxn modelId="{93923654-A5F0-4E9C-B165-43A6728E5557}" type="presOf" srcId="{5CDF086D-4865-45B9-A62F-1292929171D6}" destId="{2F201847-68E6-4574-8EC0-2647E9E24020}" srcOrd="0" destOrd="0" presId="urn:microsoft.com/office/officeart/2005/8/layout/default"/>
    <dgm:cxn modelId="{35598C74-1D1D-4553-B752-C4D2EBC40DD9}" type="presOf" srcId="{3D64C0CD-A46B-4482-9F20-08486A5ADCDE}" destId="{59B28460-67BE-466A-A778-733F16784158}" srcOrd="0" destOrd="0" presId="urn:microsoft.com/office/officeart/2005/8/layout/default"/>
    <dgm:cxn modelId="{2056587C-BB25-4084-9A99-C3161C322636}" type="presOf" srcId="{9EBD543A-6CFA-41D3-A77B-FFD6B081D1CE}" destId="{58D569C4-B23F-43D4-813F-D12EE63CB55A}" srcOrd="0" destOrd="0" presId="urn:microsoft.com/office/officeart/2005/8/layout/default"/>
    <dgm:cxn modelId="{C2628C84-022B-4165-8752-FB2EE446BD3E}" type="presOf" srcId="{096266D2-63E9-4508-A7D2-CE668AEB6189}" destId="{080530D0-BE4D-4129-A965-81E5F7DB3D33}" srcOrd="0" destOrd="0" presId="urn:microsoft.com/office/officeart/2005/8/layout/default"/>
    <dgm:cxn modelId="{C2F46095-9F8A-4A7F-B703-D51C1E727CFE}" srcId="{27B15F10-A5F6-4F0C-9694-0DB1124735D5}" destId="{12154AB8-F9A4-41B1-8881-AC07E5F7888E}" srcOrd="0" destOrd="0" parTransId="{64402F90-AE81-4632-BF1E-2B304F3348C3}" sibTransId="{4737DFDD-E763-43B7-A2A1-509CDB795E0D}"/>
    <dgm:cxn modelId="{554B28A1-AE5D-4DB4-8CC6-532AC7EB622D}" type="presOf" srcId="{14F92849-5DA1-43D5-81DF-C75C2C32B682}" destId="{1EC58B0F-6999-4A68-B6A9-6A120FFDBB5F}" srcOrd="0" destOrd="0" presId="urn:microsoft.com/office/officeart/2005/8/layout/default"/>
    <dgm:cxn modelId="{BF72DCB1-E5D8-423E-A980-B72D05C195AF}" srcId="{27B15F10-A5F6-4F0C-9694-0DB1124735D5}" destId="{9EBD543A-6CFA-41D3-A77B-FFD6B081D1CE}" srcOrd="9" destOrd="0" parTransId="{1A155960-906B-48BF-89EC-05037FC98C5D}" sibTransId="{165E4757-2E92-484A-A818-F255893C9016}"/>
    <dgm:cxn modelId="{42CACAB7-30F4-407D-90B8-012F212BAA28}" srcId="{27B15F10-A5F6-4F0C-9694-0DB1124735D5}" destId="{14F92849-5DA1-43D5-81DF-C75C2C32B682}" srcOrd="5" destOrd="0" parTransId="{EA6D6E68-5B80-44AE-AF3A-A15D970CFAA8}" sibTransId="{EF5B4F08-F81F-4E69-BE3B-39D0BB6AE809}"/>
    <dgm:cxn modelId="{B1D10CB8-2F06-4CD5-A011-4D0198A3C607}" type="presOf" srcId="{27B15F10-A5F6-4F0C-9694-0DB1124735D5}" destId="{148ED0C1-A9D6-4EF8-B7CD-F10E6B07BF37}" srcOrd="0" destOrd="0" presId="urn:microsoft.com/office/officeart/2005/8/layout/default"/>
    <dgm:cxn modelId="{794FC1C6-348E-4517-9617-621CF57C0ABF}" srcId="{27B15F10-A5F6-4F0C-9694-0DB1124735D5}" destId="{096266D2-63E9-4508-A7D2-CE668AEB6189}" srcOrd="8" destOrd="0" parTransId="{BCEE6BCD-1010-48F9-99C9-BBDEB313B8E0}" sibTransId="{B1E505B8-0237-4DBA-8FA4-9D32CFA0344D}"/>
    <dgm:cxn modelId="{F1A37DC9-A0DD-4BB4-9A1F-6157F85D9071}" type="presOf" srcId="{5545E204-76F8-4FCA-9CB8-7BD0E03E753A}" destId="{BEA98013-77E4-4126-AEE6-6F5F3C4FD490}" srcOrd="0" destOrd="0" presId="urn:microsoft.com/office/officeart/2005/8/layout/default"/>
    <dgm:cxn modelId="{D83BFED5-14E6-416B-9225-4BE65585F34D}" type="presOf" srcId="{04F72BD2-5C83-4087-8D2F-71D6416DEB36}" destId="{9EAEB7BD-0528-43B6-8651-8C49EFEE9465}" srcOrd="0" destOrd="0" presId="urn:microsoft.com/office/officeart/2005/8/layout/default"/>
    <dgm:cxn modelId="{8F7239E1-DB82-4DB5-8091-E7D6A0F14ADD}" type="presOf" srcId="{8BA3B714-BD9A-4255-BDE4-B92EEBD30F0C}" destId="{B9AEB8D4-4F52-4C1F-BCAF-3B8E5ABA5C4D}" srcOrd="0" destOrd="0" presId="urn:microsoft.com/office/officeart/2005/8/layout/default"/>
    <dgm:cxn modelId="{7DE51FE2-0382-4ACE-BC57-2DDA30059547}" type="presOf" srcId="{938AB950-03B0-4BCC-B853-E1FF50B3BA49}" destId="{F865283B-7474-4703-B2AF-D053CD700BE0}" srcOrd="0" destOrd="0" presId="urn:microsoft.com/office/officeart/2005/8/layout/default"/>
    <dgm:cxn modelId="{61D3C1E9-E90A-46EA-BD63-54AB3565CE06}" type="presParOf" srcId="{148ED0C1-A9D6-4EF8-B7CD-F10E6B07BF37}" destId="{862CC551-E411-4B32-999F-AC7D18AF1A90}" srcOrd="0" destOrd="0" presId="urn:microsoft.com/office/officeart/2005/8/layout/default"/>
    <dgm:cxn modelId="{40C94E5F-ACD6-46DB-8ACD-E507FF67F55D}" type="presParOf" srcId="{148ED0C1-A9D6-4EF8-B7CD-F10E6B07BF37}" destId="{6EE7ED47-C578-4922-9FB1-2FFAC3A480A4}" srcOrd="1" destOrd="0" presId="urn:microsoft.com/office/officeart/2005/8/layout/default"/>
    <dgm:cxn modelId="{656F5E3B-E14E-4158-8ACE-8C5FB88199B6}" type="presParOf" srcId="{148ED0C1-A9D6-4EF8-B7CD-F10E6B07BF37}" destId="{2F201847-68E6-4574-8EC0-2647E9E24020}" srcOrd="2" destOrd="0" presId="urn:microsoft.com/office/officeart/2005/8/layout/default"/>
    <dgm:cxn modelId="{EC7C89B0-585C-445C-BEA0-A952462A12C9}" type="presParOf" srcId="{148ED0C1-A9D6-4EF8-B7CD-F10E6B07BF37}" destId="{3C4616E7-5163-4DCE-B7BA-D4B691F5985E}" srcOrd="3" destOrd="0" presId="urn:microsoft.com/office/officeart/2005/8/layout/default"/>
    <dgm:cxn modelId="{995A01FA-5407-4D22-8664-4B84FB89927A}" type="presParOf" srcId="{148ED0C1-A9D6-4EF8-B7CD-F10E6B07BF37}" destId="{B9AEB8D4-4F52-4C1F-BCAF-3B8E5ABA5C4D}" srcOrd="4" destOrd="0" presId="urn:microsoft.com/office/officeart/2005/8/layout/default"/>
    <dgm:cxn modelId="{B3E90B1E-320E-46E9-A2A6-B486FEAA1477}" type="presParOf" srcId="{148ED0C1-A9D6-4EF8-B7CD-F10E6B07BF37}" destId="{6AD20D08-6E15-45A1-A991-5E4C97585F30}" srcOrd="5" destOrd="0" presId="urn:microsoft.com/office/officeart/2005/8/layout/default"/>
    <dgm:cxn modelId="{DE8400B6-EBAE-4F41-84BB-27BD15D81298}" type="presParOf" srcId="{148ED0C1-A9D6-4EF8-B7CD-F10E6B07BF37}" destId="{BEA98013-77E4-4126-AEE6-6F5F3C4FD490}" srcOrd="6" destOrd="0" presId="urn:microsoft.com/office/officeart/2005/8/layout/default"/>
    <dgm:cxn modelId="{1236331D-AB2D-452F-B9EB-1478793D8FBF}" type="presParOf" srcId="{148ED0C1-A9D6-4EF8-B7CD-F10E6B07BF37}" destId="{FD22588F-F2EE-4397-883C-9E6F5177A073}" srcOrd="7" destOrd="0" presId="urn:microsoft.com/office/officeart/2005/8/layout/default"/>
    <dgm:cxn modelId="{37216F5D-1561-49BD-B451-B1EA16D02F3F}" type="presParOf" srcId="{148ED0C1-A9D6-4EF8-B7CD-F10E6B07BF37}" destId="{59B28460-67BE-466A-A778-733F16784158}" srcOrd="8" destOrd="0" presId="urn:microsoft.com/office/officeart/2005/8/layout/default"/>
    <dgm:cxn modelId="{5C971AD4-A717-4BB4-8C36-7D00B04563C3}" type="presParOf" srcId="{148ED0C1-A9D6-4EF8-B7CD-F10E6B07BF37}" destId="{B94603C2-DD0B-4270-9686-6D1B37C37899}" srcOrd="9" destOrd="0" presId="urn:microsoft.com/office/officeart/2005/8/layout/default"/>
    <dgm:cxn modelId="{8E4EBE97-FF0B-41E2-99D1-20CDA17AA55D}" type="presParOf" srcId="{148ED0C1-A9D6-4EF8-B7CD-F10E6B07BF37}" destId="{1EC58B0F-6999-4A68-B6A9-6A120FFDBB5F}" srcOrd="10" destOrd="0" presId="urn:microsoft.com/office/officeart/2005/8/layout/default"/>
    <dgm:cxn modelId="{F9D5C2F5-9DB7-4162-858C-6101B0959894}" type="presParOf" srcId="{148ED0C1-A9D6-4EF8-B7CD-F10E6B07BF37}" destId="{BCD5D42B-77F6-4052-9F40-913C40AA2A5E}" srcOrd="11" destOrd="0" presId="urn:microsoft.com/office/officeart/2005/8/layout/default"/>
    <dgm:cxn modelId="{0E0ED0C2-0C45-4C04-95B1-3CB36AA09C0F}" type="presParOf" srcId="{148ED0C1-A9D6-4EF8-B7CD-F10E6B07BF37}" destId="{9EAEB7BD-0528-43B6-8651-8C49EFEE9465}" srcOrd="12" destOrd="0" presId="urn:microsoft.com/office/officeart/2005/8/layout/default"/>
    <dgm:cxn modelId="{1CD3B96C-1648-493F-ADCE-1FF3ADD1D147}" type="presParOf" srcId="{148ED0C1-A9D6-4EF8-B7CD-F10E6B07BF37}" destId="{937ABFF6-5709-4051-B1A3-68D551B2DB56}" srcOrd="13" destOrd="0" presId="urn:microsoft.com/office/officeart/2005/8/layout/default"/>
    <dgm:cxn modelId="{F19D1607-AD9D-4B94-8A6C-95BF4CE2CDFB}" type="presParOf" srcId="{148ED0C1-A9D6-4EF8-B7CD-F10E6B07BF37}" destId="{F865283B-7474-4703-B2AF-D053CD700BE0}" srcOrd="14" destOrd="0" presId="urn:microsoft.com/office/officeart/2005/8/layout/default"/>
    <dgm:cxn modelId="{33B43B90-1CC7-4AD9-B555-1881AD319980}" type="presParOf" srcId="{148ED0C1-A9D6-4EF8-B7CD-F10E6B07BF37}" destId="{5B765C2C-D94F-4CB2-BF95-13267CE125D3}" srcOrd="15" destOrd="0" presId="urn:microsoft.com/office/officeart/2005/8/layout/default"/>
    <dgm:cxn modelId="{5D760B99-8089-4B1A-9B80-F4FFE6522F10}" type="presParOf" srcId="{148ED0C1-A9D6-4EF8-B7CD-F10E6B07BF37}" destId="{080530D0-BE4D-4129-A965-81E5F7DB3D33}" srcOrd="16" destOrd="0" presId="urn:microsoft.com/office/officeart/2005/8/layout/default"/>
    <dgm:cxn modelId="{3C9C1176-E706-4422-A417-38A0051C7AE3}" type="presParOf" srcId="{148ED0C1-A9D6-4EF8-B7CD-F10E6B07BF37}" destId="{A9983709-7725-489E-A006-5B3308CE0612}" srcOrd="17" destOrd="0" presId="urn:microsoft.com/office/officeart/2005/8/layout/default"/>
    <dgm:cxn modelId="{8E7432D2-1648-41FA-AFC0-BC3D595D8468}" type="presParOf" srcId="{148ED0C1-A9D6-4EF8-B7CD-F10E6B07BF37}" destId="{58D569C4-B23F-43D4-813F-D12EE63CB55A}"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97C6D38-4201-41B9-8302-668E6FEFAB70}" type="doc">
      <dgm:prSet loTypeId="urn:microsoft.com/office/officeart/2005/8/layout/hProcess9" loCatId="process" qsTypeId="urn:microsoft.com/office/officeart/2005/8/quickstyle/simple1" qsCatId="simple" csTypeId="urn:microsoft.com/office/officeart/2005/8/colors/accent5_2" csCatId="accent5" phldr="1"/>
      <dgm:spPr/>
      <dgm:t>
        <a:bodyPr/>
        <a:lstStyle/>
        <a:p>
          <a:endParaRPr lang="es-ES"/>
        </a:p>
      </dgm:t>
    </dgm:pt>
    <dgm:pt modelId="{A6500D8C-9E66-433E-A971-EBFB81D6A66E}">
      <dgm:prSet/>
      <dgm:spPr/>
      <dgm:t>
        <a:bodyPr/>
        <a:lstStyle/>
        <a:p>
          <a:pPr>
            <a:buFont typeface="Arial" panose="020B0604020202020204" pitchFamily="34" charset="0"/>
            <a:buChar char="•"/>
          </a:pPr>
          <a:r>
            <a:rPr lang="es-ES" b="0" i="0"/>
            <a:t>Inicio.</a:t>
          </a:r>
        </a:p>
      </dgm:t>
    </dgm:pt>
    <dgm:pt modelId="{C7E02759-00D7-4242-B911-B4906F3209C1}" type="parTrans" cxnId="{E81FAF24-47FD-4D6B-8A5D-8C954F730475}">
      <dgm:prSet/>
      <dgm:spPr/>
      <dgm:t>
        <a:bodyPr/>
        <a:lstStyle/>
        <a:p>
          <a:endParaRPr lang="es-ES"/>
        </a:p>
      </dgm:t>
    </dgm:pt>
    <dgm:pt modelId="{B5AE8089-7D78-4D9B-B58C-9FD7E1E48E8F}" type="sibTrans" cxnId="{E81FAF24-47FD-4D6B-8A5D-8C954F730475}">
      <dgm:prSet/>
      <dgm:spPr/>
      <dgm:t>
        <a:bodyPr/>
        <a:lstStyle/>
        <a:p>
          <a:endParaRPr lang="es-ES"/>
        </a:p>
      </dgm:t>
    </dgm:pt>
    <dgm:pt modelId="{6A1100A9-0945-4039-95D5-F41201963C9C}">
      <dgm:prSet/>
      <dgm:spPr/>
      <dgm:t>
        <a:bodyPr/>
        <a:lstStyle/>
        <a:p>
          <a:pPr>
            <a:buFont typeface="Arial" panose="020B0604020202020204" pitchFamily="34" charset="0"/>
            <a:buChar char="•"/>
          </a:pPr>
          <a:r>
            <a:rPr lang="es-ES" b="0" i="0"/>
            <a:t>Planificación y estimación.</a:t>
          </a:r>
        </a:p>
      </dgm:t>
    </dgm:pt>
    <dgm:pt modelId="{A4DCC97B-BAD9-478B-BCAE-761DB8AAEDC1}" type="parTrans" cxnId="{62BD9AC6-50EE-4789-851E-09DE3E6D42A0}">
      <dgm:prSet/>
      <dgm:spPr/>
      <dgm:t>
        <a:bodyPr/>
        <a:lstStyle/>
        <a:p>
          <a:endParaRPr lang="es-ES"/>
        </a:p>
      </dgm:t>
    </dgm:pt>
    <dgm:pt modelId="{F5FB9C43-26F8-425C-ACB3-3D9E076BED16}" type="sibTrans" cxnId="{62BD9AC6-50EE-4789-851E-09DE3E6D42A0}">
      <dgm:prSet/>
      <dgm:spPr/>
      <dgm:t>
        <a:bodyPr/>
        <a:lstStyle/>
        <a:p>
          <a:endParaRPr lang="es-ES"/>
        </a:p>
      </dgm:t>
    </dgm:pt>
    <dgm:pt modelId="{2F74659D-4B09-4AF0-B0AE-0B66D90FC6C9}">
      <dgm:prSet/>
      <dgm:spPr/>
      <dgm:t>
        <a:bodyPr/>
        <a:lstStyle/>
        <a:p>
          <a:pPr>
            <a:buFont typeface="Arial" panose="020B0604020202020204" pitchFamily="34" charset="0"/>
            <a:buChar char="•"/>
          </a:pPr>
          <a:r>
            <a:rPr lang="es-ES" b="0" i="0"/>
            <a:t>Implementación.</a:t>
          </a:r>
        </a:p>
      </dgm:t>
    </dgm:pt>
    <dgm:pt modelId="{4432CFA5-2C1C-4EE4-9232-A5030446CBC2}" type="parTrans" cxnId="{205D775C-C779-4842-BB74-E0C4AE464E5C}">
      <dgm:prSet/>
      <dgm:spPr/>
      <dgm:t>
        <a:bodyPr/>
        <a:lstStyle/>
        <a:p>
          <a:endParaRPr lang="es-ES"/>
        </a:p>
      </dgm:t>
    </dgm:pt>
    <dgm:pt modelId="{E35BBA3E-0873-4684-89AD-10C4DC4AA556}" type="sibTrans" cxnId="{205D775C-C779-4842-BB74-E0C4AE464E5C}">
      <dgm:prSet/>
      <dgm:spPr/>
      <dgm:t>
        <a:bodyPr/>
        <a:lstStyle/>
        <a:p>
          <a:endParaRPr lang="es-ES"/>
        </a:p>
      </dgm:t>
    </dgm:pt>
    <dgm:pt modelId="{9EBA87B8-BE4A-4C02-B672-228E5DB651D6}">
      <dgm:prSet/>
      <dgm:spPr/>
      <dgm:t>
        <a:bodyPr/>
        <a:lstStyle/>
        <a:p>
          <a:pPr>
            <a:buFont typeface="Arial" panose="020B0604020202020204" pitchFamily="34" charset="0"/>
            <a:buChar char="•"/>
          </a:pPr>
          <a:r>
            <a:rPr lang="es-ES" b="0" i="0"/>
            <a:t>Revisión y retrospectiva.</a:t>
          </a:r>
        </a:p>
      </dgm:t>
    </dgm:pt>
    <dgm:pt modelId="{E7844F11-F301-4764-8211-99CE82D85045}" type="parTrans" cxnId="{C5280CE4-AA14-4051-8977-8E5824843B84}">
      <dgm:prSet/>
      <dgm:spPr/>
      <dgm:t>
        <a:bodyPr/>
        <a:lstStyle/>
        <a:p>
          <a:endParaRPr lang="es-ES"/>
        </a:p>
      </dgm:t>
    </dgm:pt>
    <dgm:pt modelId="{6F21CEF3-A941-46E9-A9F6-863CB281FFCB}" type="sibTrans" cxnId="{C5280CE4-AA14-4051-8977-8E5824843B84}">
      <dgm:prSet/>
      <dgm:spPr/>
      <dgm:t>
        <a:bodyPr/>
        <a:lstStyle/>
        <a:p>
          <a:endParaRPr lang="es-ES"/>
        </a:p>
      </dgm:t>
    </dgm:pt>
    <dgm:pt modelId="{82A7DC46-DD53-4EEB-AE47-5FB7925D2B50}">
      <dgm:prSet/>
      <dgm:spPr/>
      <dgm:t>
        <a:bodyPr/>
        <a:lstStyle/>
        <a:p>
          <a:pPr>
            <a:buFont typeface="Arial" panose="020B0604020202020204" pitchFamily="34" charset="0"/>
            <a:buChar char="•"/>
          </a:pPr>
          <a:r>
            <a:rPr lang="es-ES" b="0" i="0"/>
            <a:t>Lanzamiento.</a:t>
          </a:r>
        </a:p>
      </dgm:t>
    </dgm:pt>
    <dgm:pt modelId="{C675DD43-4B77-44A3-B8E6-E8EBEA9BA997}" type="parTrans" cxnId="{4484F887-A340-4722-9FE2-F5388A64EAF5}">
      <dgm:prSet/>
      <dgm:spPr/>
      <dgm:t>
        <a:bodyPr/>
        <a:lstStyle/>
        <a:p>
          <a:endParaRPr lang="es-ES"/>
        </a:p>
      </dgm:t>
    </dgm:pt>
    <dgm:pt modelId="{2C5DA6A8-CEBB-4513-9557-F975FB42FE1E}" type="sibTrans" cxnId="{4484F887-A340-4722-9FE2-F5388A64EAF5}">
      <dgm:prSet/>
      <dgm:spPr/>
      <dgm:t>
        <a:bodyPr/>
        <a:lstStyle/>
        <a:p>
          <a:endParaRPr lang="es-ES"/>
        </a:p>
      </dgm:t>
    </dgm:pt>
    <dgm:pt modelId="{2B9F6A13-7BEC-49F5-AF18-F81FC8BB2E46}" type="pres">
      <dgm:prSet presAssocID="{297C6D38-4201-41B9-8302-668E6FEFAB70}" presName="CompostProcess" presStyleCnt="0">
        <dgm:presLayoutVars>
          <dgm:dir/>
          <dgm:resizeHandles val="exact"/>
        </dgm:presLayoutVars>
      </dgm:prSet>
      <dgm:spPr/>
    </dgm:pt>
    <dgm:pt modelId="{BBF4C1D7-4745-47E6-8665-2ECA3F2C7158}" type="pres">
      <dgm:prSet presAssocID="{297C6D38-4201-41B9-8302-668E6FEFAB70}" presName="arrow" presStyleLbl="bgShp" presStyleIdx="0" presStyleCnt="1"/>
      <dgm:spPr/>
    </dgm:pt>
    <dgm:pt modelId="{A3D5799F-8D54-408F-8C9E-3BCCC6599C4B}" type="pres">
      <dgm:prSet presAssocID="{297C6D38-4201-41B9-8302-668E6FEFAB70}" presName="linearProcess" presStyleCnt="0"/>
      <dgm:spPr/>
    </dgm:pt>
    <dgm:pt modelId="{C2898610-8101-4E12-A518-E6E472BA23BD}" type="pres">
      <dgm:prSet presAssocID="{A6500D8C-9E66-433E-A971-EBFB81D6A66E}" presName="textNode" presStyleLbl="node1" presStyleIdx="0" presStyleCnt="5">
        <dgm:presLayoutVars>
          <dgm:bulletEnabled val="1"/>
        </dgm:presLayoutVars>
      </dgm:prSet>
      <dgm:spPr/>
    </dgm:pt>
    <dgm:pt modelId="{B25F6094-E1DF-4E81-AA4B-860787AE1D0F}" type="pres">
      <dgm:prSet presAssocID="{B5AE8089-7D78-4D9B-B58C-9FD7E1E48E8F}" presName="sibTrans" presStyleCnt="0"/>
      <dgm:spPr/>
    </dgm:pt>
    <dgm:pt modelId="{D26B7A6D-78F0-4152-8006-3D2128E5B3E1}" type="pres">
      <dgm:prSet presAssocID="{6A1100A9-0945-4039-95D5-F41201963C9C}" presName="textNode" presStyleLbl="node1" presStyleIdx="1" presStyleCnt="5">
        <dgm:presLayoutVars>
          <dgm:bulletEnabled val="1"/>
        </dgm:presLayoutVars>
      </dgm:prSet>
      <dgm:spPr/>
    </dgm:pt>
    <dgm:pt modelId="{16CDB303-9540-4D20-BACD-D7DE1745D684}" type="pres">
      <dgm:prSet presAssocID="{F5FB9C43-26F8-425C-ACB3-3D9E076BED16}" presName="sibTrans" presStyleCnt="0"/>
      <dgm:spPr/>
    </dgm:pt>
    <dgm:pt modelId="{613F9FB9-1738-47EE-BCE7-0C9A8C600F46}" type="pres">
      <dgm:prSet presAssocID="{2F74659D-4B09-4AF0-B0AE-0B66D90FC6C9}" presName="textNode" presStyleLbl="node1" presStyleIdx="2" presStyleCnt="5">
        <dgm:presLayoutVars>
          <dgm:bulletEnabled val="1"/>
        </dgm:presLayoutVars>
      </dgm:prSet>
      <dgm:spPr/>
    </dgm:pt>
    <dgm:pt modelId="{4AB8881C-41AD-49E1-8D78-934E7AFE89E7}" type="pres">
      <dgm:prSet presAssocID="{E35BBA3E-0873-4684-89AD-10C4DC4AA556}" presName="sibTrans" presStyleCnt="0"/>
      <dgm:spPr/>
    </dgm:pt>
    <dgm:pt modelId="{FFD02704-A03C-4B25-911B-EC9955EA6934}" type="pres">
      <dgm:prSet presAssocID="{9EBA87B8-BE4A-4C02-B672-228E5DB651D6}" presName="textNode" presStyleLbl="node1" presStyleIdx="3" presStyleCnt="5">
        <dgm:presLayoutVars>
          <dgm:bulletEnabled val="1"/>
        </dgm:presLayoutVars>
      </dgm:prSet>
      <dgm:spPr/>
    </dgm:pt>
    <dgm:pt modelId="{84C1823F-BA6B-4C59-B063-DE83ED5FBC49}" type="pres">
      <dgm:prSet presAssocID="{6F21CEF3-A941-46E9-A9F6-863CB281FFCB}" presName="sibTrans" presStyleCnt="0"/>
      <dgm:spPr/>
    </dgm:pt>
    <dgm:pt modelId="{BFB03B47-5D03-4EEF-A1C9-680239D7E62F}" type="pres">
      <dgm:prSet presAssocID="{82A7DC46-DD53-4EEB-AE47-5FB7925D2B50}" presName="textNode" presStyleLbl="node1" presStyleIdx="4" presStyleCnt="5">
        <dgm:presLayoutVars>
          <dgm:bulletEnabled val="1"/>
        </dgm:presLayoutVars>
      </dgm:prSet>
      <dgm:spPr/>
    </dgm:pt>
  </dgm:ptLst>
  <dgm:cxnLst>
    <dgm:cxn modelId="{7FDECD14-6A49-4EF5-9397-2EC34919B6E2}" type="presOf" srcId="{A6500D8C-9E66-433E-A971-EBFB81D6A66E}" destId="{C2898610-8101-4E12-A518-E6E472BA23BD}" srcOrd="0" destOrd="0" presId="urn:microsoft.com/office/officeart/2005/8/layout/hProcess9"/>
    <dgm:cxn modelId="{8073C816-613B-4D81-9833-9A6AC458AF19}" type="presOf" srcId="{6A1100A9-0945-4039-95D5-F41201963C9C}" destId="{D26B7A6D-78F0-4152-8006-3D2128E5B3E1}" srcOrd="0" destOrd="0" presId="urn:microsoft.com/office/officeart/2005/8/layout/hProcess9"/>
    <dgm:cxn modelId="{E81FAF24-47FD-4D6B-8A5D-8C954F730475}" srcId="{297C6D38-4201-41B9-8302-668E6FEFAB70}" destId="{A6500D8C-9E66-433E-A971-EBFB81D6A66E}" srcOrd="0" destOrd="0" parTransId="{C7E02759-00D7-4242-B911-B4906F3209C1}" sibTransId="{B5AE8089-7D78-4D9B-B58C-9FD7E1E48E8F}"/>
    <dgm:cxn modelId="{205D775C-C779-4842-BB74-E0C4AE464E5C}" srcId="{297C6D38-4201-41B9-8302-668E6FEFAB70}" destId="{2F74659D-4B09-4AF0-B0AE-0B66D90FC6C9}" srcOrd="2" destOrd="0" parTransId="{4432CFA5-2C1C-4EE4-9232-A5030446CBC2}" sibTransId="{E35BBA3E-0873-4684-89AD-10C4DC4AA556}"/>
    <dgm:cxn modelId="{8F518D5D-FBBC-430D-B62E-C87170BB61B7}" type="presOf" srcId="{9EBA87B8-BE4A-4C02-B672-228E5DB651D6}" destId="{FFD02704-A03C-4B25-911B-EC9955EA6934}" srcOrd="0" destOrd="0" presId="urn:microsoft.com/office/officeart/2005/8/layout/hProcess9"/>
    <dgm:cxn modelId="{A1C20B4E-7D68-4038-9EC3-39F35357B6A1}" type="presOf" srcId="{82A7DC46-DD53-4EEB-AE47-5FB7925D2B50}" destId="{BFB03B47-5D03-4EEF-A1C9-680239D7E62F}" srcOrd="0" destOrd="0" presId="urn:microsoft.com/office/officeart/2005/8/layout/hProcess9"/>
    <dgm:cxn modelId="{7FAD8A77-6D09-4CC5-A649-2A259D276786}" type="presOf" srcId="{297C6D38-4201-41B9-8302-668E6FEFAB70}" destId="{2B9F6A13-7BEC-49F5-AF18-F81FC8BB2E46}" srcOrd="0" destOrd="0" presId="urn:microsoft.com/office/officeart/2005/8/layout/hProcess9"/>
    <dgm:cxn modelId="{4484F887-A340-4722-9FE2-F5388A64EAF5}" srcId="{297C6D38-4201-41B9-8302-668E6FEFAB70}" destId="{82A7DC46-DD53-4EEB-AE47-5FB7925D2B50}" srcOrd="4" destOrd="0" parTransId="{C675DD43-4B77-44A3-B8E6-E8EBEA9BA997}" sibTransId="{2C5DA6A8-CEBB-4513-9557-F975FB42FE1E}"/>
    <dgm:cxn modelId="{450C25A4-9BF8-40DB-A8EF-5E5A479E8649}" type="presOf" srcId="{2F74659D-4B09-4AF0-B0AE-0B66D90FC6C9}" destId="{613F9FB9-1738-47EE-BCE7-0C9A8C600F46}" srcOrd="0" destOrd="0" presId="urn:microsoft.com/office/officeart/2005/8/layout/hProcess9"/>
    <dgm:cxn modelId="{62BD9AC6-50EE-4789-851E-09DE3E6D42A0}" srcId="{297C6D38-4201-41B9-8302-668E6FEFAB70}" destId="{6A1100A9-0945-4039-95D5-F41201963C9C}" srcOrd="1" destOrd="0" parTransId="{A4DCC97B-BAD9-478B-BCAE-761DB8AAEDC1}" sibTransId="{F5FB9C43-26F8-425C-ACB3-3D9E076BED16}"/>
    <dgm:cxn modelId="{C5280CE4-AA14-4051-8977-8E5824843B84}" srcId="{297C6D38-4201-41B9-8302-668E6FEFAB70}" destId="{9EBA87B8-BE4A-4C02-B672-228E5DB651D6}" srcOrd="3" destOrd="0" parTransId="{E7844F11-F301-4764-8211-99CE82D85045}" sibTransId="{6F21CEF3-A941-46E9-A9F6-863CB281FFCB}"/>
    <dgm:cxn modelId="{1A867D97-2BD3-4FBB-8474-0701D2D27A99}" type="presParOf" srcId="{2B9F6A13-7BEC-49F5-AF18-F81FC8BB2E46}" destId="{BBF4C1D7-4745-47E6-8665-2ECA3F2C7158}" srcOrd="0" destOrd="0" presId="urn:microsoft.com/office/officeart/2005/8/layout/hProcess9"/>
    <dgm:cxn modelId="{027147C6-0808-485D-B64E-933871BB7850}" type="presParOf" srcId="{2B9F6A13-7BEC-49F5-AF18-F81FC8BB2E46}" destId="{A3D5799F-8D54-408F-8C9E-3BCCC6599C4B}" srcOrd="1" destOrd="0" presId="urn:microsoft.com/office/officeart/2005/8/layout/hProcess9"/>
    <dgm:cxn modelId="{F3728688-DDF2-45A3-B434-06D65D3549DD}" type="presParOf" srcId="{A3D5799F-8D54-408F-8C9E-3BCCC6599C4B}" destId="{C2898610-8101-4E12-A518-E6E472BA23BD}" srcOrd="0" destOrd="0" presId="urn:microsoft.com/office/officeart/2005/8/layout/hProcess9"/>
    <dgm:cxn modelId="{DA22827C-AE78-4B54-97C6-9CD0BFEF335A}" type="presParOf" srcId="{A3D5799F-8D54-408F-8C9E-3BCCC6599C4B}" destId="{B25F6094-E1DF-4E81-AA4B-860787AE1D0F}" srcOrd="1" destOrd="0" presId="urn:microsoft.com/office/officeart/2005/8/layout/hProcess9"/>
    <dgm:cxn modelId="{643AA15A-5774-4D9E-B202-C05A8E960AF2}" type="presParOf" srcId="{A3D5799F-8D54-408F-8C9E-3BCCC6599C4B}" destId="{D26B7A6D-78F0-4152-8006-3D2128E5B3E1}" srcOrd="2" destOrd="0" presId="urn:microsoft.com/office/officeart/2005/8/layout/hProcess9"/>
    <dgm:cxn modelId="{1B1680C2-F7DB-4351-A946-24144BDB1778}" type="presParOf" srcId="{A3D5799F-8D54-408F-8C9E-3BCCC6599C4B}" destId="{16CDB303-9540-4D20-BACD-D7DE1745D684}" srcOrd="3" destOrd="0" presId="urn:microsoft.com/office/officeart/2005/8/layout/hProcess9"/>
    <dgm:cxn modelId="{48871EB0-724C-415A-A4CC-4EDE71B4DEB1}" type="presParOf" srcId="{A3D5799F-8D54-408F-8C9E-3BCCC6599C4B}" destId="{613F9FB9-1738-47EE-BCE7-0C9A8C600F46}" srcOrd="4" destOrd="0" presId="urn:microsoft.com/office/officeart/2005/8/layout/hProcess9"/>
    <dgm:cxn modelId="{18D2247F-467D-4860-A414-59148FE027E1}" type="presParOf" srcId="{A3D5799F-8D54-408F-8C9E-3BCCC6599C4B}" destId="{4AB8881C-41AD-49E1-8D78-934E7AFE89E7}" srcOrd="5" destOrd="0" presId="urn:microsoft.com/office/officeart/2005/8/layout/hProcess9"/>
    <dgm:cxn modelId="{5784B261-FD84-4873-8D64-A46FF19E7844}" type="presParOf" srcId="{A3D5799F-8D54-408F-8C9E-3BCCC6599C4B}" destId="{FFD02704-A03C-4B25-911B-EC9955EA6934}" srcOrd="6" destOrd="0" presId="urn:microsoft.com/office/officeart/2005/8/layout/hProcess9"/>
    <dgm:cxn modelId="{D6053E83-71F1-4771-A39E-BB9CF73EEA4C}" type="presParOf" srcId="{A3D5799F-8D54-408F-8C9E-3BCCC6599C4B}" destId="{84C1823F-BA6B-4C59-B063-DE83ED5FBC49}" srcOrd="7" destOrd="0" presId="urn:microsoft.com/office/officeart/2005/8/layout/hProcess9"/>
    <dgm:cxn modelId="{DE75C003-4D4E-4C75-9C1D-508679F66586}" type="presParOf" srcId="{A3D5799F-8D54-408F-8C9E-3BCCC6599C4B}" destId="{BFB03B47-5D03-4EEF-A1C9-680239D7E62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7EB3E0-6CA9-4851-A9B6-76FE9294E01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ES"/>
        </a:p>
      </dgm:t>
    </dgm:pt>
    <dgm:pt modelId="{8435DC42-1784-4C09-8DB1-8FC2E9C5BFEF}">
      <dgm:prSet phldrT="[Texto]" custT="1">
        <dgm:style>
          <a:lnRef idx="2">
            <a:schemeClr val="accent6"/>
          </a:lnRef>
          <a:fillRef idx="1">
            <a:schemeClr val="lt1"/>
          </a:fillRef>
          <a:effectRef idx="0">
            <a:schemeClr val="accent6"/>
          </a:effectRef>
          <a:fontRef idx="minor">
            <a:schemeClr val="dk1"/>
          </a:fontRef>
        </dgm:style>
      </dgm:prSet>
      <dgm:spPr/>
      <dgm:t>
        <a:bodyPr/>
        <a:lstStyle/>
        <a:p>
          <a:pPr marL="0">
            <a:buNone/>
          </a:pPr>
          <a:endParaRPr lang="es-ES" sz="3200" b="1" dirty="0"/>
        </a:p>
      </dgm:t>
    </dgm:pt>
    <dgm:pt modelId="{F8D11AC7-B0F0-4970-B2DC-30518266A1D5}" type="sibTrans" cxnId="{244C79AF-B0DA-4090-9F00-BF261A890804}">
      <dgm:prSet/>
      <dgm:spPr/>
      <dgm:t>
        <a:bodyPr/>
        <a:lstStyle/>
        <a:p>
          <a:endParaRPr lang="es-ES"/>
        </a:p>
      </dgm:t>
    </dgm:pt>
    <dgm:pt modelId="{C778A2DE-59C5-48CC-8156-8E2ACD3E81B5}" type="parTrans" cxnId="{244C79AF-B0DA-4090-9F00-BF261A890804}">
      <dgm:prSet/>
      <dgm:spPr/>
      <dgm:t>
        <a:bodyPr/>
        <a:lstStyle/>
        <a:p>
          <a:endParaRPr lang="es-ES"/>
        </a:p>
      </dgm:t>
    </dgm:pt>
    <dgm:pt modelId="{9CDEA8F8-EB7C-4028-BF23-1A867E53AF92}">
      <dgm:prSet phldrT="[Texto]" custT="1">
        <dgm:style>
          <a:lnRef idx="2">
            <a:schemeClr val="accent6"/>
          </a:lnRef>
          <a:fillRef idx="1">
            <a:schemeClr val="lt1"/>
          </a:fillRef>
          <a:effectRef idx="0">
            <a:schemeClr val="accent6"/>
          </a:effectRef>
          <a:fontRef idx="minor">
            <a:schemeClr val="dk1"/>
          </a:fontRef>
        </dgm:style>
      </dgm:prSet>
      <dgm:spPr/>
      <dgm:t>
        <a:bodyPr/>
        <a:lstStyle/>
        <a:p>
          <a:pPr marL="285750" indent="0">
            <a:buNone/>
          </a:pPr>
          <a:r>
            <a:rPr lang="es-ES" sz="2800" b="0" dirty="0"/>
            <a:t>El Scrum Master es un rol con un conjunto de responsabilidades muy variadas.</a:t>
          </a:r>
        </a:p>
      </dgm:t>
    </dgm:pt>
    <dgm:pt modelId="{DC8499F9-5669-4228-BD6D-3C71B31207B4}" type="sibTrans" cxnId="{D3866663-7E29-4050-91C4-C9562BEB7670}">
      <dgm:prSet/>
      <dgm:spPr/>
      <dgm:t>
        <a:bodyPr/>
        <a:lstStyle/>
        <a:p>
          <a:endParaRPr lang="es-ES"/>
        </a:p>
      </dgm:t>
    </dgm:pt>
    <dgm:pt modelId="{AF00B7C8-933F-4A4B-A3A4-7466D0FD130C}" type="parTrans" cxnId="{D3866663-7E29-4050-91C4-C9562BEB7670}">
      <dgm:prSet/>
      <dgm:spPr/>
      <dgm:t>
        <a:bodyPr/>
        <a:lstStyle/>
        <a:p>
          <a:endParaRPr lang="es-ES"/>
        </a:p>
      </dgm:t>
    </dgm:pt>
    <dgm:pt modelId="{DF813B9E-647F-4A18-A976-F5B77091C076}">
      <dgm:prSet custT="1"/>
      <dgm:spPr/>
      <dgm:t>
        <a:bodyPr/>
        <a:lstStyle/>
        <a:p>
          <a:pPr marL="0" indent="0">
            <a:buNone/>
          </a:pPr>
          <a:r>
            <a:rPr lang="es-ES" sz="2800" b="0" dirty="0"/>
            <a:t>Realiza labores de facilitador de reuniones, así como acompañante del equipo para ayudarle a resolver las problemáticas que se vaya encontrando a lo largo del proyecto. </a:t>
          </a:r>
        </a:p>
      </dgm:t>
    </dgm:pt>
    <dgm:pt modelId="{D14BE722-2B55-438A-B252-7B441DDFC7D9}" type="sibTrans" cxnId="{A305B595-0CDA-4E2A-B101-602D21050593}">
      <dgm:prSet/>
      <dgm:spPr/>
      <dgm:t>
        <a:bodyPr/>
        <a:lstStyle/>
        <a:p>
          <a:endParaRPr lang="es-ES"/>
        </a:p>
      </dgm:t>
    </dgm:pt>
    <dgm:pt modelId="{DDB20A06-D89F-4059-8861-E08FD8CB583F}" type="parTrans" cxnId="{A305B595-0CDA-4E2A-B101-602D21050593}">
      <dgm:prSet/>
      <dgm:spPr/>
      <dgm:t>
        <a:bodyPr/>
        <a:lstStyle/>
        <a:p>
          <a:endParaRPr lang="es-ES"/>
        </a:p>
      </dgm:t>
    </dgm:pt>
    <dgm:pt modelId="{D2F529BB-F069-4EFD-B3D5-C724376BDBFB}">
      <dgm:prSet custT="1"/>
      <dgm:spPr/>
      <dgm:t>
        <a:bodyPr/>
        <a:lstStyle/>
        <a:p>
          <a:pPr marL="0" indent="0">
            <a:buNone/>
          </a:pPr>
          <a:r>
            <a:rPr lang="es-ES" sz="2800" b="0" dirty="0"/>
            <a:t>El scrum master es el vigía del proceso que vela porque este se lleve a cabo sin olvidar que está pendiente de las personas que conforman el equipo. También debe tener una visión de la organización y buenas dotes de comunicación y gestión de conflictos que ayuden al equipo a mejorar.</a:t>
          </a:r>
        </a:p>
      </dgm:t>
    </dgm:pt>
    <dgm:pt modelId="{D4C93780-5FC1-4611-8243-CFCE86CBEA70}" type="sibTrans" cxnId="{B8F40B5C-4BBD-4AFE-B72E-4CB06B3E2882}">
      <dgm:prSet/>
      <dgm:spPr/>
      <dgm:t>
        <a:bodyPr/>
        <a:lstStyle/>
        <a:p>
          <a:endParaRPr lang="es-ES"/>
        </a:p>
      </dgm:t>
    </dgm:pt>
    <dgm:pt modelId="{E269889F-208F-4A59-ABC8-BF3D988B38B3}" type="parTrans" cxnId="{B8F40B5C-4BBD-4AFE-B72E-4CB06B3E2882}">
      <dgm:prSet/>
      <dgm:spPr/>
      <dgm:t>
        <a:bodyPr/>
        <a:lstStyle/>
        <a:p>
          <a:endParaRPr lang="es-ES"/>
        </a:p>
      </dgm:t>
    </dgm:pt>
    <dgm:pt modelId="{44B0D1FE-1980-4295-8FD4-060132DD86EA}">
      <dgm:prSet custT="1"/>
      <dgm:spPr/>
      <dgm:t>
        <a:bodyPr/>
        <a:lstStyle/>
        <a:p>
          <a:pPr marL="0" indent="0">
            <a:buNone/>
          </a:pPr>
          <a:endParaRPr lang="es-ES" sz="2800" b="0" dirty="0"/>
        </a:p>
      </dgm:t>
    </dgm:pt>
    <dgm:pt modelId="{09562A72-42FA-40A6-BE27-56878B0FD840}" type="sibTrans" cxnId="{F46691F1-3F09-4047-9260-B03F77F62C24}">
      <dgm:prSet/>
      <dgm:spPr/>
      <dgm:t>
        <a:bodyPr/>
        <a:lstStyle/>
        <a:p>
          <a:endParaRPr lang="es-ES"/>
        </a:p>
      </dgm:t>
    </dgm:pt>
    <dgm:pt modelId="{A0CB9F9B-36AD-4C4B-A9FB-438664F4EF1F}" type="parTrans" cxnId="{F46691F1-3F09-4047-9260-B03F77F62C24}">
      <dgm:prSet/>
      <dgm:spPr/>
      <dgm:t>
        <a:bodyPr/>
        <a:lstStyle/>
        <a:p>
          <a:endParaRPr lang="es-ES"/>
        </a:p>
      </dgm:t>
    </dgm:pt>
    <dgm:pt modelId="{D3446943-3868-426D-84AF-735AC1F418BD}">
      <dgm:prSet custT="1"/>
      <dgm:spPr/>
      <dgm:t>
        <a:bodyPr/>
        <a:lstStyle/>
        <a:p>
          <a:pPr marL="0" indent="0">
            <a:buNone/>
          </a:pPr>
          <a:endParaRPr lang="es-ES" sz="2800" b="0" dirty="0"/>
        </a:p>
      </dgm:t>
    </dgm:pt>
    <dgm:pt modelId="{C1F548DC-F3AE-4797-A049-29C1B73F8992}" type="sibTrans" cxnId="{618EA629-4718-4883-9494-4414184F9D8F}">
      <dgm:prSet/>
      <dgm:spPr/>
      <dgm:t>
        <a:bodyPr/>
        <a:lstStyle/>
        <a:p>
          <a:endParaRPr lang="es-ES"/>
        </a:p>
      </dgm:t>
    </dgm:pt>
    <dgm:pt modelId="{0BBFEAC8-5CF5-40F9-9BA7-2373C804AFEC}" type="parTrans" cxnId="{618EA629-4718-4883-9494-4414184F9D8F}">
      <dgm:prSet/>
      <dgm:spPr/>
      <dgm:t>
        <a:bodyPr/>
        <a:lstStyle/>
        <a:p>
          <a:endParaRPr lang="es-ES"/>
        </a:p>
      </dgm:t>
    </dgm:pt>
    <dgm:pt modelId="{5E3D6816-5F18-4A5B-BF15-2640CE3D591C}" type="pres">
      <dgm:prSet presAssocID="{EB7EB3E0-6CA9-4851-A9B6-76FE9294E014}" presName="Name0" presStyleCnt="0">
        <dgm:presLayoutVars>
          <dgm:dir/>
          <dgm:resizeHandles val="exact"/>
        </dgm:presLayoutVars>
      </dgm:prSet>
      <dgm:spPr/>
    </dgm:pt>
    <dgm:pt modelId="{5CB8A786-64F2-4064-8AD3-55AD910992EB}" type="pres">
      <dgm:prSet presAssocID="{8435DC42-1784-4C09-8DB1-8FC2E9C5BFEF}" presName="node" presStyleLbl="node1" presStyleIdx="0" presStyleCnt="1" custLinFactNeighborX="1373" custLinFactNeighborY="-1115">
        <dgm:presLayoutVars>
          <dgm:bulletEnabled val="1"/>
        </dgm:presLayoutVars>
      </dgm:prSet>
      <dgm:spPr/>
    </dgm:pt>
  </dgm:ptLst>
  <dgm:cxnLst>
    <dgm:cxn modelId="{68ABA800-37C4-43C0-8488-DD3700D64EB7}" type="presOf" srcId="{DF813B9E-647F-4A18-A976-F5B77091C076}" destId="{5CB8A786-64F2-4064-8AD3-55AD910992EB}" srcOrd="0" destOrd="2" presId="urn:microsoft.com/office/officeart/2005/8/layout/hList6"/>
    <dgm:cxn modelId="{618EA629-4718-4883-9494-4414184F9D8F}" srcId="{8435DC42-1784-4C09-8DB1-8FC2E9C5BFEF}" destId="{D3446943-3868-426D-84AF-735AC1F418BD}" srcOrd="4" destOrd="0" parTransId="{0BBFEAC8-5CF5-40F9-9BA7-2373C804AFEC}" sibTransId="{C1F548DC-F3AE-4797-A049-29C1B73F8992}"/>
    <dgm:cxn modelId="{7DFA622F-F5B2-4C94-91D8-366FF214DBA2}" type="presOf" srcId="{D2F529BB-F069-4EFD-B3D5-C724376BDBFB}" destId="{5CB8A786-64F2-4064-8AD3-55AD910992EB}" srcOrd="0" destOrd="3" presId="urn:microsoft.com/office/officeart/2005/8/layout/hList6"/>
    <dgm:cxn modelId="{B8F40B5C-4BBD-4AFE-B72E-4CB06B3E2882}" srcId="{8435DC42-1784-4C09-8DB1-8FC2E9C5BFEF}" destId="{D2F529BB-F069-4EFD-B3D5-C724376BDBFB}" srcOrd="2" destOrd="0" parTransId="{E269889F-208F-4A59-ABC8-BF3D988B38B3}" sibTransId="{D4C93780-5FC1-4611-8243-CFCE86CBEA70}"/>
    <dgm:cxn modelId="{D3866663-7E29-4050-91C4-C9562BEB7670}" srcId="{8435DC42-1784-4C09-8DB1-8FC2E9C5BFEF}" destId="{9CDEA8F8-EB7C-4028-BF23-1A867E53AF92}" srcOrd="0" destOrd="0" parTransId="{AF00B7C8-933F-4A4B-A3A4-7466D0FD130C}" sibTransId="{DC8499F9-5669-4228-BD6D-3C71B31207B4}"/>
    <dgm:cxn modelId="{95F07064-A5FF-4737-A306-5D6441A8043F}" type="presOf" srcId="{44B0D1FE-1980-4295-8FD4-060132DD86EA}" destId="{5CB8A786-64F2-4064-8AD3-55AD910992EB}" srcOrd="0" destOrd="4" presId="urn:microsoft.com/office/officeart/2005/8/layout/hList6"/>
    <dgm:cxn modelId="{6810A25A-A01D-424C-89BD-BE70403F7446}" type="presOf" srcId="{9CDEA8F8-EB7C-4028-BF23-1A867E53AF92}" destId="{5CB8A786-64F2-4064-8AD3-55AD910992EB}" srcOrd="0" destOrd="1" presId="urn:microsoft.com/office/officeart/2005/8/layout/hList6"/>
    <dgm:cxn modelId="{0BA72682-858B-4712-9A19-C6E8E8B3C95A}" type="presOf" srcId="{EB7EB3E0-6CA9-4851-A9B6-76FE9294E014}" destId="{5E3D6816-5F18-4A5B-BF15-2640CE3D591C}" srcOrd="0" destOrd="0" presId="urn:microsoft.com/office/officeart/2005/8/layout/hList6"/>
    <dgm:cxn modelId="{A305B595-0CDA-4E2A-B101-602D21050593}" srcId="{8435DC42-1784-4C09-8DB1-8FC2E9C5BFEF}" destId="{DF813B9E-647F-4A18-A976-F5B77091C076}" srcOrd="1" destOrd="0" parTransId="{DDB20A06-D89F-4059-8861-E08FD8CB583F}" sibTransId="{D14BE722-2B55-438A-B252-7B441DDFC7D9}"/>
    <dgm:cxn modelId="{F99F73A9-F113-46D7-B70F-86129D7ABA58}" type="presOf" srcId="{8435DC42-1784-4C09-8DB1-8FC2E9C5BFEF}" destId="{5CB8A786-64F2-4064-8AD3-55AD910992EB}" srcOrd="0" destOrd="0" presId="urn:microsoft.com/office/officeart/2005/8/layout/hList6"/>
    <dgm:cxn modelId="{EF54BFAE-4784-4768-BBC8-4C45CAA9408E}" type="presOf" srcId="{D3446943-3868-426D-84AF-735AC1F418BD}" destId="{5CB8A786-64F2-4064-8AD3-55AD910992EB}" srcOrd="0" destOrd="5" presId="urn:microsoft.com/office/officeart/2005/8/layout/hList6"/>
    <dgm:cxn modelId="{244C79AF-B0DA-4090-9F00-BF261A890804}" srcId="{EB7EB3E0-6CA9-4851-A9B6-76FE9294E014}" destId="{8435DC42-1784-4C09-8DB1-8FC2E9C5BFEF}" srcOrd="0" destOrd="0" parTransId="{C778A2DE-59C5-48CC-8156-8E2ACD3E81B5}" sibTransId="{F8D11AC7-B0F0-4970-B2DC-30518266A1D5}"/>
    <dgm:cxn modelId="{F46691F1-3F09-4047-9260-B03F77F62C24}" srcId="{8435DC42-1784-4C09-8DB1-8FC2E9C5BFEF}" destId="{44B0D1FE-1980-4295-8FD4-060132DD86EA}" srcOrd="3" destOrd="0" parTransId="{A0CB9F9B-36AD-4C4B-A9FB-438664F4EF1F}" sibTransId="{09562A72-42FA-40A6-BE27-56878B0FD840}"/>
    <dgm:cxn modelId="{5A1B9139-CA7E-47FF-8E8F-49076F3C117A}" type="presParOf" srcId="{5E3D6816-5F18-4A5B-BF15-2640CE3D591C}" destId="{5CB8A786-64F2-4064-8AD3-55AD910992EB}" srcOrd="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7EB3E0-6CA9-4851-A9B6-76FE9294E01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s-ES"/>
        </a:p>
      </dgm:t>
    </dgm:pt>
    <dgm:pt modelId="{8435DC42-1784-4C09-8DB1-8FC2E9C5BFEF}">
      <dgm:prSet phldrT="[Texto]" custT="1">
        <dgm:style>
          <a:lnRef idx="2">
            <a:schemeClr val="accent6"/>
          </a:lnRef>
          <a:fillRef idx="1">
            <a:schemeClr val="lt1"/>
          </a:fillRef>
          <a:effectRef idx="0">
            <a:schemeClr val="accent6"/>
          </a:effectRef>
          <a:fontRef idx="minor">
            <a:schemeClr val="dk1"/>
          </a:fontRef>
        </dgm:style>
      </dgm:prSet>
      <dgm:spPr/>
      <dgm:t>
        <a:bodyPr/>
        <a:lstStyle/>
        <a:p>
          <a:r>
            <a:rPr lang="es-ES" sz="2400"/>
            <a:t>El dueño de producto es el responsable de mantener la visión del producto que se va a construir maximizando la cantidad de valor entregado al finalizar cada Sprint.</a:t>
          </a:r>
          <a:endParaRPr lang="es-ES" sz="3200" b="1" dirty="0"/>
        </a:p>
      </dgm:t>
    </dgm:pt>
    <dgm:pt modelId="{C778A2DE-59C5-48CC-8156-8E2ACD3E81B5}" type="parTrans" cxnId="{244C79AF-B0DA-4090-9F00-BF261A890804}">
      <dgm:prSet/>
      <dgm:spPr/>
      <dgm:t>
        <a:bodyPr/>
        <a:lstStyle/>
        <a:p>
          <a:endParaRPr lang="es-ES"/>
        </a:p>
      </dgm:t>
    </dgm:pt>
    <dgm:pt modelId="{F8D11AC7-B0F0-4970-B2DC-30518266A1D5}" type="sibTrans" cxnId="{244C79AF-B0DA-4090-9F00-BF261A890804}">
      <dgm:prSet/>
      <dgm:spPr/>
      <dgm:t>
        <a:bodyPr/>
        <a:lstStyle/>
        <a:p>
          <a:endParaRPr lang="es-ES"/>
        </a:p>
      </dgm:t>
    </dgm:pt>
    <dgm:pt modelId="{3AABE5F1-3613-4571-A7DD-7923C257FEAB}">
      <dgm:prSet custT="1">
        <dgm:style>
          <a:lnRef idx="2">
            <a:schemeClr val="accent6"/>
          </a:lnRef>
          <a:fillRef idx="1">
            <a:schemeClr val="lt1"/>
          </a:fillRef>
          <a:effectRef idx="0">
            <a:schemeClr val="accent6"/>
          </a:effectRef>
          <a:fontRef idx="minor">
            <a:schemeClr val="dk1"/>
          </a:fontRef>
        </dgm:style>
      </dgm:prSet>
      <dgm:spPr/>
      <dgm:t>
        <a:bodyPr/>
        <a:lstStyle/>
        <a:p>
          <a:r>
            <a:rPr lang="es-ES" sz="2400" dirty="0"/>
            <a:t>Para mantener esa </a:t>
          </a:r>
          <a:r>
            <a:rPr lang="es-ES" sz="3600" b="1" dirty="0"/>
            <a:t>visión </a:t>
          </a:r>
          <a:r>
            <a:rPr lang="es-ES" sz="2400" dirty="0"/>
            <a:t>el dueño de producto tiene diferentes interlocutores a los que llamamos </a:t>
          </a:r>
          <a:r>
            <a:rPr lang="es-ES" sz="2400" dirty="0" err="1"/>
            <a:t>Stakeholders</a:t>
          </a:r>
          <a:r>
            <a:rPr lang="es-ES" sz="2400" dirty="0"/>
            <a:t> o interesados en el proyecto.</a:t>
          </a:r>
        </a:p>
      </dgm:t>
    </dgm:pt>
    <dgm:pt modelId="{62DCC851-D99F-433F-95EB-130B4F6579FC}" type="parTrans" cxnId="{BCFFA14A-5F31-4CAF-A0B3-5392EC091E78}">
      <dgm:prSet/>
      <dgm:spPr/>
      <dgm:t>
        <a:bodyPr/>
        <a:lstStyle/>
        <a:p>
          <a:endParaRPr lang="es-ES"/>
        </a:p>
      </dgm:t>
    </dgm:pt>
    <dgm:pt modelId="{09017499-1757-4144-BAA7-8DF3FB275FD7}" type="sibTrans" cxnId="{BCFFA14A-5F31-4CAF-A0B3-5392EC091E78}">
      <dgm:prSet/>
      <dgm:spPr/>
      <dgm:t>
        <a:bodyPr/>
        <a:lstStyle/>
        <a:p>
          <a:endParaRPr lang="es-ES"/>
        </a:p>
      </dgm:t>
    </dgm:pt>
    <dgm:pt modelId="{EA6F4BD5-44E6-4CDE-BD44-0024E0AE539A}">
      <dgm:prSet custT="1">
        <dgm:style>
          <a:lnRef idx="2">
            <a:schemeClr val="accent6"/>
          </a:lnRef>
          <a:fillRef idx="1">
            <a:schemeClr val="lt1"/>
          </a:fillRef>
          <a:effectRef idx="0">
            <a:schemeClr val="accent6"/>
          </a:effectRef>
          <a:fontRef idx="minor">
            <a:schemeClr val="dk1"/>
          </a:fontRef>
        </dgm:style>
      </dgm:prSet>
      <dgm:spPr/>
      <dgm:t>
        <a:bodyPr/>
        <a:lstStyle/>
        <a:p>
          <a:r>
            <a:rPr lang="es-ES" sz="2400" dirty="0"/>
            <a:t>Una de las funciones del dueño del producto es la de </a:t>
          </a:r>
          <a:r>
            <a:rPr lang="es-ES" sz="2800" b="1" dirty="0"/>
            <a:t>mantener la pila de producto o conjunto de funcionalidades actualizada y priorizada </a:t>
          </a:r>
          <a:r>
            <a:rPr lang="es-ES" sz="2400" dirty="0"/>
            <a:t>para que el equipo de construcción sepa en todo momento cuales son los elementos que aportan más valor a los usuarios.</a:t>
          </a:r>
        </a:p>
      </dgm:t>
    </dgm:pt>
    <dgm:pt modelId="{C839B7F3-7C48-428F-B75B-EC157278BDFE}" type="parTrans" cxnId="{F015D3D4-07DA-42FB-A878-DC6249947924}">
      <dgm:prSet/>
      <dgm:spPr/>
      <dgm:t>
        <a:bodyPr/>
        <a:lstStyle/>
        <a:p>
          <a:endParaRPr lang="es-ES"/>
        </a:p>
      </dgm:t>
    </dgm:pt>
    <dgm:pt modelId="{972844A9-A89B-404E-8DE5-4176BD36AF4F}" type="sibTrans" cxnId="{F015D3D4-07DA-42FB-A878-DC6249947924}">
      <dgm:prSet/>
      <dgm:spPr/>
      <dgm:t>
        <a:bodyPr/>
        <a:lstStyle/>
        <a:p>
          <a:endParaRPr lang="es-ES"/>
        </a:p>
      </dgm:t>
    </dgm:pt>
    <dgm:pt modelId="{5F0B7167-0BCA-40E1-AF90-104FE26E0907}">
      <dgm:prSet custT="1">
        <dgm:style>
          <a:lnRef idx="2">
            <a:schemeClr val="accent6"/>
          </a:lnRef>
          <a:fillRef idx="1">
            <a:schemeClr val="lt1"/>
          </a:fillRef>
          <a:effectRef idx="0">
            <a:schemeClr val="accent6"/>
          </a:effectRef>
          <a:fontRef idx="minor">
            <a:schemeClr val="dk1"/>
          </a:fontRef>
        </dgm:style>
      </dgm:prSet>
      <dgm:spPr/>
      <dgm:t>
        <a:bodyPr/>
        <a:lstStyle/>
        <a:p>
          <a:r>
            <a:rPr lang="es-ES" sz="2400" dirty="0"/>
            <a:t>Además, </a:t>
          </a:r>
          <a:r>
            <a:rPr lang="es-ES" sz="2800" b="1" dirty="0"/>
            <a:t>el dueño de producto asistirá a las reuniones de planificación y revisiones del sprint</a:t>
          </a:r>
          <a:r>
            <a:rPr lang="es-ES" sz="2400" dirty="0"/>
            <a:t> con el equipo de construcción para transmitir de una forma efectiva esta visión de producto a todos los implicados.</a:t>
          </a:r>
        </a:p>
      </dgm:t>
    </dgm:pt>
    <dgm:pt modelId="{F0D98790-7DAA-420C-8C86-8AADA91FB768}" type="parTrans" cxnId="{B6FA9F7C-3F3C-4EFD-A9D4-2E144D32C57B}">
      <dgm:prSet/>
      <dgm:spPr/>
      <dgm:t>
        <a:bodyPr/>
        <a:lstStyle/>
        <a:p>
          <a:endParaRPr lang="es-ES"/>
        </a:p>
      </dgm:t>
    </dgm:pt>
    <dgm:pt modelId="{97CB009D-7680-4E57-B8F0-9EB822BD6A26}" type="sibTrans" cxnId="{B6FA9F7C-3F3C-4EFD-A9D4-2E144D32C57B}">
      <dgm:prSet/>
      <dgm:spPr/>
      <dgm:t>
        <a:bodyPr/>
        <a:lstStyle/>
        <a:p>
          <a:endParaRPr lang="es-ES"/>
        </a:p>
      </dgm:t>
    </dgm:pt>
    <dgm:pt modelId="{5E3D6816-5F18-4A5B-BF15-2640CE3D591C}" type="pres">
      <dgm:prSet presAssocID="{EB7EB3E0-6CA9-4851-A9B6-76FE9294E014}" presName="Name0" presStyleCnt="0">
        <dgm:presLayoutVars>
          <dgm:dir/>
          <dgm:resizeHandles val="exact"/>
        </dgm:presLayoutVars>
      </dgm:prSet>
      <dgm:spPr/>
    </dgm:pt>
    <dgm:pt modelId="{5CB8A786-64F2-4064-8AD3-55AD910992EB}" type="pres">
      <dgm:prSet presAssocID="{8435DC42-1784-4C09-8DB1-8FC2E9C5BFEF}" presName="node" presStyleLbl="node1" presStyleIdx="0" presStyleCnt="1" custLinFactNeighborX="-9806" custLinFactNeighborY="-38535">
        <dgm:presLayoutVars>
          <dgm:bulletEnabled val="1"/>
        </dgm:presLayoutVars>
      </dgm:prSet>
      <dgm:spPr/>
    </dgm:pt>
  </dgm:ptLst>
  <dgm:cxnLst>
    <dgm:cxn modelId="{F750961D-81AF-4607-B9B8-2D2CD27FC78F}" type="presOf" srcId="{3AABE5F1-3613-4571-A7DD-7923C257FEAB}" destId="{5CB8A786-64F2-4064-8AD3-55AD910992EB}" srcOrd="0" destOrd="1" presId="urn:microsoft.com/office/officeart/2005/8/layout/hList6"/>
    <dgm:cxn modelId="{BCFFA14A-5F31-4CAF-A0B3-5392EC091E78}" srcId="{8435DC42-1784-4C09-8DB1-8FC2E9C5BFEF}" destId="{3AABE5F1-3613-4571-A7DD-7923C257FEAB}" srcOrd="0" destOrd="0" parTransId="{62DCC851-D99F-433F-95EB-130B4F6579FC}" sibTransId="{09017499-1757-4144-BAA7-8DF3FB275FD7}"/>
    <dgm:cxn modelId="{B6FA9F7C-3F3C-4EFD-A9D4-2E144D32C57B}" srcId="{8435DC42-1784-4C09-8DB1-8FC2E9C5BFEF}" destId="{5F0B7167-0BCA-40E1-AF90-104FE26E0907}" srcOrd="2" destOrd="0" parTransId="{F0D98790-7DAA-420C-8C86-8AADA91FB768}" sibTransId="{97CB009D-7680-4E57-B8F0-9EB822BD6A26}"/>
    <dgm:cxn modelId="{0BA72682-858B-4712-9A19-C6E8E8B3C95A}" type="presOf" srcId="{EB7EB3E0-6CA9-4851-A9B6-76FE9294E014}" destId="{5E3D6816-5F18-4A5B-BF15-2640CE3D591C}" srcOrd="0" destOrd="0" presId="urn:microsoft.com/office/officeart/2005/8/layout/hList6"/>
    <dgm:cxn modelId="{870F5B8A-71EE-487C-954A-D9BB6E3F5173}" type="presOf" srcId="{EA6F4BD5-44E6-4CDE-BD44-0024E0AE539A}" destId="{5CB8A786-64F2-4064-8AD3-55AD910992EB}" srcOrd="0" destOrd="2" presId="urn:microsoft.com/office/officeart/2005/8/layout/hList6"/>
    <dgm:cxn modelId="{F99F73A9-F113-46D7-B70F-86129D7ABA58}" type="presOf" srcId="{8435DC42-1784-4C09-8DB1-8FC2E9C5BFEF}" destId="{5CB8A786-64F2-4064-8AD3-55AD910992EB}" srcOrd="0" destOrd="0" presId="urn:microsoft.com/office/officeart/2005/8/layout/hList6"/>
    <dgm:cxn modelId="{244C79AF-B0DA-4090-9F00-BF261A890804}" srcId="{EB7EB3E0-6CA9-4851-A9B6-76FE9294E014}" destId="{8435DC42-1784-4C09-8DB1-8FC2E9C5BFEF}" srcOrd="0" destOrd="0" parTransId="{C778A2DE-59C5-48CC-8156-8E2ACD3E81B5}" sibTransId="{F8D11AC7-B0F0-4970-B2DC-30518266A1D5}"/>
    <dgm:cxn modelId="{658367C0-2613-4015-81E9-67A104D57FAA}" type="presOf" srcId="{5F0B7167-0BCA-40E1-AF90-104FE26E0907}" destId="{5CB8A786-64F2-4064-8AD3-55AD910992EB}" srcOrd="0" destOrd="3" presId="urn:microsoft.com/office/officeart/2005/8/layout/hList6"/>
    <dgm:cxn modelId="{F015D3D4-07DA-42FB-A878-DC6249947924}" srcId="{8435DC42-1784-4C09-8DB1-8FC2E9C5BFEF}" destId="{EA6F4BD5-44E6-4CDE-BD44-0024E0AE539A}" srcOrd="1" destOrd="0" parTransId="{C839B7F3-7C48-428F-B75B-EC157278BDFE}" sibTransId="{972844A9-A89B-404E-8DE5-4176BD36AF4F}"/>
    <dgm:cxn modelId="{5A1B9139-CA7E-47FF-8E8F-49076F3C117A}" type="presParOf" srcId="{5E3D6816-5F18-4A5B-BF15-2640CE3D591C}" destId="{5CB8A786-64F2-4064-8AD3-55AD910992EB}" srcOrd="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8C043A-8661-4A13-ABEF-3568F3977771}" type="doc">
      <dgm:prSet loTypeId="urn:microsoft.com/office/officeart/2005/8/layout/default" loCatId="list" qsTypeId="urn:microsoft.com/office/officeart/2005/8/quickstyle/simple5" qsCatId="simple" csTypeId="urn:microsoft.com/office/officeart/2005/8/colors/accent5_2" csCatId="accent5" phldr="1"/>
      <dgm:spPr/>
      <dgm:t>
        <a:bodyPr/>
        <a:lstStyle/>
        <a:p>
          <a:endParaRPr lang="es-ES"/>
        </a:p>
      </dgm:t>
    </dgm:pt>
    <dgm:pt modelId="{F5E429D4-FFB1-4562-9F3C-1432A5F62B5D}">
      <dgm:prSet phldrT="[Texto]"/>
      <dgm:spPr/>
      <dgm:t>
        <a:bodyPr/>
        <a:lstStyle/>
        <a:p>
          <a:r>
            <a:rPr lang="es-ES" dirty="0"/>
            <a:t>Comparaciones</a:t>
          </a:r>
        </a:p>
      </dgm:t>
    </dgm:pt>
    <dgm:pt modelId="{6824727D-4B03-4B68-8196-A4E0AFEFA84F}" type="parTrans" cxnId="{EB098B7D-D989-4783-9124-8E84607D206E}">
      <dgm:prSet/>
      <dgm:spPr/>
      <dgm:t>
        <a:bodyPr/>
        <a:lstStyle/>
        <a:p>
          <a:endParaRPr lang="es-ES"/>
        </a:p>
      </dgm:t>
    </dgm:pt>
    <dgm:pt modelId="{BE94B76E-D594-4C89-B8AF-6181120825EE}" type="sibTrans" cxnId="{EB098B7D-D989-4783-9124-8E84607D206E}">
      <dgm:prSet/>
      <dgm:spPr/>
      <dgm:t>
        <a:bodyPr/>
        <a:lstStyle/>
        <a:p>
          <a:endParaRPr lang="es-ES"/>
        </a:p>
      </dgm:t>
    </dgm:pt>
    <dgm:pt modelId="{3939A5C8-8D1F-42E0-8864-4298D84543F6}">
      <dgm:prSet phldrT="[Texto]"/>
      <dgm:spPr/>
      <dgm:t>
        <a:bodyPr/>
        <a:lstStyle/>
        <a:p>
          <a:r>
            <a:rPr lang="es-ES" dirty="0"/>
            <a:t>Registros históricos</a:t>
          </a:r>
        </a:p>
      </dgm:t>
    </dgm:pt>
    <dgm:pt modelId="{5A79CB54-054B-456C-94AC-110251CD3A90}" type="parTrans" cxnId="{7A94884C-A56A-4D9D-ABE0-64A7E46204D2}">
      <dgm:prSet/>
      <dgm:spPr/>
      <dgm:t>
        <a:bodyPr/>
        <a:lstStyle/>
        <a:p>
          <a:endParaRPr lang="es-ES"/>
        </a:p>
      </dgm:t>
    </dgm:pt>
    <dgm:pt modelId="{8EE479B8-37F3-4B9C-B0FB-747917CBD0EE}" type="sibTrans" cxnId="{7A94884C-A56A-4D9D-ABE0-64A7E46204D2}">
      <dgm:prSet/>
      <dgm:spPr/>
      <dgm:t>
        <a:bodyPr/>
        <a:lstStyle/>
        <a:p>
          <a:endParaRPr lang="es-ES"/>
        </a:p>
      </dgm:t>
    </dgm:pt>
    <dgm:pt modelId="{789FB1F5-4361-4D9F-964C-FA6DE23F1A20}">
      <dgm:prSet phldrT="[Texto]"/>
      <dgm:spPr/>
      <dgm:t>
        <a:bodyPr/>
        <a:lstStyle/>
        <a:p>
          <a:r>
            <a:rPr lang="es-ES" dirty="0"/>
            <a:t>Estimaciones</a:t>
          </a:r>
        </a:p>
      </dgm:t>
    </dgm:pt>
    <dgm:pt modelId="{9DCCE1F5-D1B9-4519-BCE9-AFFA7E21C665}" type="parTrans" cxnId="{84480EBE-8A05-40E9-BEE8-F03FB7426E89}">
      <dgm:prSet/>
      <dgm:spPr/>
      <dgm:t>
        <a:bodyPr/>
        <a:lstStyle/>
        <a:p>
          <a:endParaRPr lang="es-ES"/>
        </a:p>
      </dgm:t>
    </dgm:pt>
    <dgm:pt modelId="{31E916CD-AA21-480F-85CE-DF9F3C732E2C}" type="sibTrans" cxnId="{84480EBE-8A05-40E9-BEE8-F03FB7426E89}">
      <dgm:prSet/>
      <dgm:spPr/>
      <dgm:t>
        <a:bodyPr/>
        <a:lstStyle/>
        <a:p>
          <a:endParaRPr lang="es-ES"/>
        </a:p>
      </dgm:t>
    </dgm:pt>
    <dgm:pt modelId="{1028DB8C-6352-4920-B76C-D01184B003C4}">
      <dgm:prSet phldrT="[Texto]"/>
      <dgm:spPr/>
      <dgm:t>
        <a:bodyPr/>
        <a:lstStyle/>
        <a:p>
          <a:r>
            <a:rPr lang="es-ES" dirty="0"/>
            <a:t>Estudio de tiempos</a:t>
          </a:r>
        </a:p>
      </dgm:t>
    </dgm:pt>
    <dgm:pt modelId="{5D9DC619-A8D6-4710-8F85-D93AD04249E5}" type="parTrans" cxnId="{EF768C32-95FB-4DCB-882A-186171BD39C2}">
      <dgm:prSet/>
      <dgm:spPr/>
      <dgm:t>
        <a:bodyPr/>
        <a:lstStyle/>
        <a:p>
          <a:endParaRPr lang="es-ES"/>
        </a:p>
      </dgm:t>
    </dgm:pt>
    <dgm:pt modelId="{DFC27757-F113-4DB6-A143-19C6ADEEBD67}" type="sibTrans" cxnId="{EF768C32-95FB-4DCB-882A-186171BD39C2}">
      <dgm:prSet/>
      <dgm:spPr/>
      <dgm:t>
        <a:bodyPr/>
        <a:lstStyle/>
        <a:p>
          <a:endParaRPr lang="es-ES"/>
        </a:p>
      </dgm:t>
    </dgm:pt>
    <dgm:pt modelId="{D58DC4CE-F344-4EFC-B6BA-74287083B0B4}">
      <dgm:prSet phldrT="[Texto]"/>
      <dgm:spPr/>
      <dgm:t>
        <a:bodyPr/>
        <a:lstStyle/>
        <a:p>
          <a:r>
            <a:rPr lang="es-ES" dirty="0"/>
            <a:t>Muestreo de trabajo</a:t>
          </a:r>
        </a:p>
      </dgm:t>
    </dgm:pt>
    <dgm:pt modelId="{DC2C5DC4-C88C-4628-872F-6C2A25D5E859}" type="parTrans" cxnId="{69669AEB-5E7D-499D-84CD-A0103D623769}">
      <dgm:prSet/>
      <dgm:spPr/>
      <dgm:t>
        <a:bodyPr/>
        <a:lstStyle/>
        <a:p>
          <a:endParaRPr lang="es-ES"/>
        </a:p>
      </dgm:t>
    </dgm:pt>
    <dgm:pt modelId="{A037B80E-8C0B-49AD-A89C-A6D714384194}" type="sibTrans" cxnId="{69669AEB-5E7D-499D-84CD-A0103D623769}">
      <dgm:prSet/>
      <dgm:spPr/>
      <dgm:t>
        <a:bodyPr/>
        <a:lstStyle/>
        <a:p>
          <a:endParaRPr lang="es-ES"/>
        </a:p>
      </dgm:t>
    </dgm:pt>
    <dgm:pt modelId="{B5E9230A-63E2-4998-99F8-B56F50D83901}">
      <dgm:prSet phldrT="[Texto]"/>
      <dgm:spPr/>
      <dgm:t>
        <a:bodyPr/>
        <a:lstStyle/>
        <a:p>
          <a:r>
            <a:rPr lang="es-ES" dirty="0"/>
            <a:t>Estándares de tiempo predeterminados</a:t>
          </a:r>
        </a:p>
      </dgm:t>
    </dgm:pt>
    <dgm:pt modelId="{4D08422D-2562-40D8-A0DD-4857C9E90460}" type="parTrans" cxnId="{E1D0EEC0-F390-4C3B-9FBC-25D8CB7469D8}">
      <dgm:prSet/>
      <dgm:spPr/>
      <dgm:t>
        <a:bodyPr/>
        <a:lstStyle/>
        <a:p>
          <a:endParaRPr lang="es-ES"/>
        </a:p>
      </dgm:t>
    </dgm:pt>
    <dgm:pt modelId="{85629ED0-F907-44F3-8B27-700E4B522163}" type="sibTrans" cxnId="{E1D0EEC0-F390-4C3B-9FBC-25D8CB7469D8}">
      <dgm:prSet/>
      <dgm:spPr/>
      <dgm:t>
        <a:bodyPr/>
        <a:lstStyle/>
        <a:p>
          <a:endParaRPr lang="es-ES"/>
        </a:p>
      </dgm:t>
    </dgm:pt>
    <dgm:pt modelId="{8FFAA7E3-5BED-47A5-8DC3-757F0BCB0A0C}">
      <dgm:prSet phldrT="[Texto]"/>
      <dgm:spPr/>
      <dgm:t>
        <a:bodyPr/>
        <a:lstStyle/>
        <a:p>
          <a:r>
            <a:rPr lang="es-ES" dirty="0"/>
            <a:t>Enfoques estadísticos</a:t>
          </a:r>
        </a:p>
      </dgm:t>
    </dgm:pt>
    <dgm:pt modelId="{0675C77B-4688-4A3B-A6C8-76ED0C6D6951}" type="parTrans" cxnId="{4DA49F0F-C2B7-442D-8DE7-8AD619F9A416}">
      <dgm:prSet/>
      <dgm:spPr/>
      <dgm:t>
        <a:bodyPr/>
        <a:lstStyle/>
        <a:p>
          <a:endParaRPr lang="es-ES"/>
        </a:p>
      </dgm:t>
    </dgm:pt>
    <dgm:pt modelId="{B694769D-9D51-4A03-84C9-21F5BFF7BF7C}" type="sibTrans" cxnId="{4DA49F0F-C2B7-442D-8DE7-8AD619F9A416}">
      <dgm:prSet/>
      <dgm:spPr/>
      <dgm:t>
        <a:bodyPr/>
        <a:lstStyle/>
        <a:p>
          <a:endParaRPr lang="es-ES"/>
        </a:p>
      </dgm:t>
    </dgm:pt>
    <dgm:pt modelId="{425931B3-8E13-4A22-A606-3D0D57D1B5FE}" type="pres">
      <dgm:prSet presAssocID="{F48C043A-8661-4A13-ABEF-3568F3977771}" presName="diagram" presStyleCnt="0">
        <dgm:presLayoutVars>
          <dgm:dir/>
          <dgm:resizeHandles val="exact"/>
        </dgm:presLayoutVars>
      </dgm:prSet>
      <dgm:spPr/>
    </dgm:pt>
    <dgm:pt modelId="{F5862FE8-C57E-4C04-B174-DE6BCA8D3D1B}" type="pres">
      <dgm:prSet presAssocID="{F5E429D4-FFB1-4562-9F3C-1432A5F62B5D}" presName="node" presStyleLbl="node1" presStyleIdx="0" presStyleCnt="7">
        <dgm:presLayoutVars>
          <dgm:bulletEnabled val="1"/>
        </dgm:presLayoutVars>
      </dgm:prSet>
      <dgm:spPr/>
    </dgm:pt>
    <dgm:pt modelId="{E4ADC924-607F-4D3F-9AF4-9A7BEA65FC61}" type="pres">
      <dgm:prSet presAssocID="{BE94B76E-D594-4C89-B8AF-6181120825EE}" presName="sibTrans" presStyleCnt="0"/>
      <dgm:spPr/>
    </dgm:pt>
    <dgm:pt modelId="{5AB82244-A4D9-4759-8A65-617F10EA146D}" type="pres">
      <dgm:prSet presAssocID="{3939A5C8-8D1F-42E0-8864-4298D84543F6}" presName="node" presStyleLbl="node1" presStyleIdx="1" presStyleCnt="7">
        <dgm:presLayoutVars>
          <dgm:bulletEnabled val="1"/>
        </dgm:presLayoutVars>
      </dgm:prSet>
      <dgm:spPr/>
    </dgm:pt>
    <dgm:pt modelId="{6FDE0F8B-6A40-43D7-A6EA-B3BBA0AFAFC8}" type="pres">
      <dgm:prSet presAssocID="{8EE479B8-37F3-4B9C-B0FB-747917CBD0EE}" presName="sibTrans" presStyleCnt="0"/>
      <dgm:spPr/>
    </dgm:pt>
    <dgm:pt modelId="{35934B2B-A7D3-4205-9614-4A1C0191F72E}" type="pres">
      <dgm:prSet presAssocID="{789FB1F5-4361-4D9F-964C-FA6DE23F1A20}" presName="node" presStyleLbl="node1" presStyleIdx="2" presStyleCnt="7">
        <dgm:presLayoutVars>
          <dgm:bulletEnabled val="1"/>
        </dgm:presLayoutVars>
      </dgm:prSet>
      <dgm:spPr/>
    </dgm:pt>
    <dgm:pt modelId="{4C9F188B-977D-47F8-97F1-370A9FF7145E}" type="pres">
      <dgm:prSet presAssocID="{31E916CD-AA21-480F-85CE-DF9F3C732E2C}" presName="sibTrans" presStyleCnt="0"/>
      <dgm:spPr/>
    </dgm:pt>
    <dgm:pt modelId="{AD299912-9E1D-401D-A239-2CB966EA5216}" type="pres">
      <dgm:prSet presAssocID="{1028DB8C-6352-4920-B76C-D01184B003C4}" presName="node" presStyleLbl="node1" presStyleIdx="3" presStyleCnt="7">
        <dgm:presLayoutVars>
          <dgm:bulletEnabled val="1"/>
        </dgm:presLayoutVars>
      </dgm:prSet>
      <dgm:spPr/>
    </dgm:pt>
    <dgm:pt modelId="{1F1EB328-82B7-41DA-A12F-A5A5F92A36FA}" type="pres">
      <dgm:prSet presAssocID="{DFC27757-F113-4DB6-A143-19C6ADEEBD67}" presName="sibTrans" presStyleCnt="0"/>
      <dgm:spPr/>
    </dgm:pt>
    <dgm:pt modelId="{79637A47-1F26-4D1F-9589-E1BEF85A7978}" type="pres">
      <dgm:prSet presAssocID="{D58DC4CE-F344-4EFC-B6BA-74287083B0B4}" presName="node" presStyleLbl="node1" presStyleIdx="4" presStyleCnt="7">
        <dgm:presLayoutVars>
          <dgm:bulletEnabled val="1"/>
        </dgm:presLayoutVars>
      </dgm:prSet>
      <dgm:spPr/>
    </dgm:pt>
    <dgm:pt modelId="{C4612F26-8608-4F40-ACB3-E86810F39FEB}" type="pres">
      <dgm:prSet presAssocID="{A037B80E-8C0B-49AD-A89C-A6D714384194}" presName="sibTrans" presStyleCnt="0"/>
      <dgm:spPr/>
    </dgm:pt>
    <dgm:pt modelId="{5C235A5E-0727-4576-B467-31DEF3E1B17B}" type="pres">
      <dgm:prSet presAssocID="{B5E9230A-63E2-4998-99F8-B56F50D83901}" presName="node" presStyleLbl="node1" presStyleIdx="5" presStyleCnt="7">
        <dgm:presLayoutVars>
          <dgm:bulletEnabled val="1"/>
        </dgm:presLayoutVars>
      </dgm:prSet>
      <dgm:spPr/>
    </dgm:pt>
    <dgm:pt modelId="{48B3AD2A-D74C-495F-9EC1-F243383D1B45}" type="pres">
      <dgm:prSet presAssocID="{85629ED0-F907-44F3-8B27-700E4B522163}" presName="sibTrans" presStyleCnt="0"/>
      <dgm:spPr/>
    </dgm:pt>
    <dgm:pt modelId="{84AD1BEA-687F-47A9-8808-4C74CF4B5247}" type="pres">
      <dgm:prSet presAssocID="{8FFAA7E3-5BED-47A5-8DC3-757F0BCB0A0C}" presName="node" presStyleLbl="node1" presStyleIdx="6" presStyleCnt="7">
        <dgm:presLayoutVars>
          <dgm:bulletEnabled val="1"/>
        </dgm:presLayoutVars>
      </dgm:prSet>
      <dgm:spPr/>
    </dgm:pt>
  </dgm:ptLst>
  <dgm:cxnLst>
    <dgm:cxn modelId="{4DA49F0F-C2B7-442D-8DE7-8AD619F9A416}" srcId="{F48C043A-8661-4A13-ABEF-3568F3977771}" destId="{8FFAA7E3-5BED-47A5-8DC3-757F0BCB0A0C}" srcOrd="6" destOrd="0" parTransId="{0675C77B-4688-4A3B-A6C8-76ED0C6D6951}" sibTransId="{B694769D-9D51-4A03-84C9-21F5BFF7BF7C}"/>
    <dgm:cxn modelId="{C46B3611-C59B-47AC-A51A-A01F3BC4A717}" type="presOf" srcId="{B5E9230A-63E2-4998-99F8-B56F50D83901}" destId="{5C235A5E-0727-4576-B467-31DEF3E1B17B}" srcOrd="0" destOrd="0" presId="urn:microsoft.com/office/officeart/2005/8/layout/default"/>
    <dgm:cxn modelId="{7B574C11-CAF0-42BD-8CED-C8D1A01B8B14}" type="presOf" srcId="{F48C043A-8661-4A13-ABEF-3568F3977771}" destId="{425931B3-8E13-4A22-A606-3D0D57D1B5FE}" srcOrd="0" destOrd="0" presId="urn:microsoft.com/office/officeart/2005/8/layout/default"/>
    <dgm:cxn modelId="{3C1E7816-0C3B-494E-A35C-F0CCBD9AB221}" type="presOf" srcId="{1028DB8C-6352-4920-B76C-D01184B003C4}" destId="{AD299912-9E1D-401D-A239-2CB966EA5216}" srcOrd="0" destOrd="0" presId="urn:microsoft.com/office/officeart/2005/8/layout/default"/>
    <dgm:cxn modelId="{EF768C32-95FB-4DCB-882A-186171BD39C2}" srcId="{F48C043A-8661-4A13-ABEF-3568F3977771}" destId="{1028DB8C-6352-4920-B76C-D01184B003C4}" srcOrd="3" destOrd="0" parTransId="{5D9DC619-A8D6-4710-8F85-D93AD04249E5}" sibTransId="{DFC27757-F113-4DB6-A143-19C6ADEEBD67}"/>
    <dgm:cxn modelId="{7A94884C-A56A-4D9D-ABE0-64A7E46204D2}" srcId="{F48C043A-8661-4A13-ABEF-3568F3977771}" destId="{3939A5C8-8D1F-42E0-8864-4298D84543F6}" srcOrd="1" destOrd="0" parTransId="{5A79CB54-054B-456C-94AC-110251CD3A90}" sibTransId="{8EE479B8-37F3-4B9C-B0FB-747917CBD0EE}"/>
    <dgm:cxn modelId="{EB098B7D-D989-4783-9124-8E84607D206E}" srcId="{F48C043A-8661-4A13-ABEF-3568F3977771}" destId="{F5E429D4-FFB1-4562-9F3C-1432A5F62B5D}" srcOrd="0" destOrd="0" parTransId="{6824727D-4B03-4B68-8196-A4E0AFEFA84F}" sibTransId="{BE94B76E-D594-4C89-B8AF-6181120825EE}"/>
    <dgm:cxn modelId="{73633590-E09E-4F81-B61D-3DD63D4FF43B}" type="presOf" srcId="{3939A5C8-8D1F-42E0-8864-4298D84543F6}" destId="{5AB82244-A4D9-4759-8A65-617F10EA146D}" srcOrd="0" destOrd="0" presId="urn:microsoft.com/office/officeart/2005/8/layout/default"/>
    <dgm:cxn modelId="{F893D4A9-95EC-4D0D-B862-3BA8005D0F58}" type="presOf" srcId="{D58DC4CE-F344-4EFC-B6BA-74287083B0B4}" destId="{79637A47-1F26-4D1F-9589-E1BEF85A7978}" srcOrd="0" destOrd="0" presId="urn:microsoft.com/office/officeart/2005/8/layout/default"/>
    <dgm:cxn modelId="{3E5804BD-2800-4A36-BA71-E17E9AE9AEC0}" type="presOf" srcId="{F5E429D4-FFB1-4562-9F3C-1432A5F62B5D}" destId="{F5862FE8-C57E-4C04-B174-DE6BCA8D3D1B}" srcOrd="0" destOrd="0" presId="urn:microsoft.com/office/officeart/2005/8/layout/default"/>
    <dgm:cxn modelId="{84480EBE-8A05-40E9-BEE8-F03FB7426E89}" srcId="{F48C043A-8661-4A13-ABEF-3568F3977771}" destId="{789FB1F5-4361-4D9F-964C-FA6DE23F1A20}" srcOrd="2" destOrd="0" parTransId="{9DCCE1F5-D1B9-4519-BCE9-AFFA7E21C665}" sibTransId="{31E916CD-AA21-480F-85CE-DF9F3C732E2C}"/>
    <dgm:cxn modelId="{E1D0EEC0-F390-4C3B-9FBC-25D8CB7469D8}" srcId="{F48C043A-8661-4A13-ABEF-3568F3977771}" destId="{B5E9230A-63E2-4998-99F8-B56F50D83901}" srcOrd="5" destOrd="0" parTransId="{4D08422D-2562-40D8-A0DD-4857C9E90460}" sibTransId="{85629ED0-F907-44F3-8B27-700E4B522163}"/>
    <dgm:cxn modelId="{5C1970C9-2726-4A58-B794-E59F651F190E}" type="presOf" srcId="{789FB1F5-4361-4D9F-964C-FA6DE23F1A20}" destId="{35934B2B-A7D3-4205-9614-4A1C0191F72E}" srcOrd="0" destOrd="0" presId="urn:microsoft.com/office/officeart/2005/8/layout/default"/>
    <dgm:cxn modelId="{4EE174D5-A05F-4AE0-92BC-743DF5332D4C}" type="presOf" srcId="{8FFAA7E3-5BED-47A5-8DC3-757F0BCB0A0C}" destId="{84AD1BEA-687F-47A9-8808-4C74CF4B5247}" srcOrd="0" destOrd="0" presId="urn:microsoft.com/office/officeart/2005/8/layout/default"/>
    <dgm:cxn modelId="{69669AEB-5E7D-499D-84CD-A0103D623769}" srcId="{F48C043A-8661-4A13-ABEF-3568F3977771}" destId="{D58DC4CE-F344-4EFC-B6BA-74287083B0B4}" srcOrd="4" destOrd="0" parTransId="{DC2C5DC4-C88C-4628-872F-6C2A25D5E859}" sibTransId="{A037B80E-8C0B-49AD-A89C-A6D714384194}"/>
    <dgm:cxn modelId="{D7421370-4218-4083-BA85-47DC0C7B14D7}" type="presParOf" srcId="{425931B3-8E13-4A22-A606-3D0D57D1B5FE}" destId="{F5862FE8-C57E-4C04-B174-DE6BCA8D3D1B}" srcOrd="0" destOrd="0" presId="urn:microsoft.com/office/officeart/2005/8/layout/default"/>
    <dgm:cxn modelId="{82A46DB4-D3F5-45EF-8B58-437EE0FAB5AC}" type="presParOf" srcId="{425931B3-8E13-4A22-A606-3D0D57D1B5FE}" destId="{E4ADC924-607F-4D3F-9AF4-9A7BEA65FC61}" srcOrd="1" destOrd="0" presId="urn:microsoft.com/office/officeart/2005/8/layout/default"/>
    <dgm:cxn modelId="{B0C2BF8C-C63E-408D-BF21-E1DF5E8E8B74}" type="presParOf" srcId="{425931B3-8E13-4A22-A606-3D0D57D1B5FE}" destId="{5AB82244-A4D9-4759-8A65-617F10EA146D}" srcOrd="2" destOrd="0" presId="urn:microsoft.com/office/officeart/2005/8/layout/default"/>
    <dgm:cxn modelId="{6F3C980C-4A80-49C7-B5A5-A0D057BFBEF3}" type="presParOf" srcId="{425931B3-8E13-4A22-A606-3D0D57D1B5FE}" destId="{6FDE0F8B-6A40-43D7-A6EA-B3BBA0AFAFC8}" srcOrd="3" destOrd="0" presId="urn:microsoft.com/office/officeart/2005/8/layout/default"/>
    <dgm:cxn modelId="{88F30069-3869-4733-B78E-F91F6977E5B4}" type="presParOf" srcId="{425931B3-8E13-4A22-A606-3D0D57D1B5FE}" destId="{35934B2B-A7D3-4205-9614-4A1C0191F72E}" srcOrd="4" destOrd="0" presId="urn:microsoft.com/office/officeart/2005/8/layout/default"/>
    <dgm:cxn modelId="{9D2D7884-584B-4B64-A62E-375A708A0AC4}" type="presParOf" srcId="{425931B3-8E13-4A22-A606-3D0D57D1B5FE}" destId="{4C9F188B-977D-47F8-97F1-370A9FF7145E}" srcOrd="5" destOrd="0" presId="urn:microsoft.com/office/officeart/2005/8/layout/default"/>
    <dgm:cxn modelId="{9B6337E8-3DEA-47F1-A6BB-2F8F63BBAFE1}" type="presParOf" srcId="{425931B3-8E13-4A22-A606-3D0D57D1B5FE}" destId="{AD299912-9E1D-401D-A239-2CB966EA5216}" srcOrd="6" destOrd="0" presId="urn:microsoft.com/office/officeart/2005/8/layout/default"/>
    <dgm:cxn modelId="{07CE5855-7DA4-4DC1-858B-C037CB19E3D1}" type="presParOf" srcId="{425931B3-8E13-4A22-A606-3D0D57D1B5FE}" destId="{1F1EB328-82B7-41DA-A12F-A5A5F92A36FA}" srcOrd="7" destOrd="0" presId="urn:microsoft.com/office/officeart/2005/8/layout/default"/>
    <dgm:cxn modelId="{14A166D7-B305-4A0A-8D58-331D1E53689D}" type="presParOf" srcId="{425931B3-8E13-4A22-A606-3D0D57D1B5FE}" destId="{79637A47-1F26-4D1F-9589-E1BEF85A7978}" srcOrd="8" destOrd="0" presId="urn:microsoft.com/office/officeart/2005/8/layout/default"/>
    <dgm:cxn modelId="{A6A49A06-1077-44E1-8BA0-2BFB9BB09A5B}" type="presParOf" srcId="{425931B3-8E13-4A22-A606-3D0D57D1B5FE}" destId="{C4612F26-8608-4F40-ACB3-E86810F39FEB}" srcOrd="9" destOrd="0" presId="urn:microsoft.com/office/officeart/2005/8/layout/default"/>
    <dgm:cxn modelId="{A8EF21D7-7E7A-46C6-ADCE-618DBD3047E8}" type="presParOf" srcId="{425931B3-8E13-4A22-A606-3D0D57D1B5FE}" destId="{5C235A5E-0727-4576-B467-31DEF3E1B17B}" srcOrd="10" destOrd="0" presId="urn:microsoft.com/office/officeart/2005/8/layout/default"/>
    <dgm:cxn modelId="{5D3A81D6-A3D4-4150-BE0D-076F22ECDDDB}" type="presParOf" srcId="{425931B3-8E13-4A22-A606-3D0D57D1B5FE}" destId="{48B3AD2A-D74C-495F-9EC1-F243383D1B45}" srcOrd="11" destOrd="0" presId="urn:microsoft.com/office/officeart/2005/8/layout/default"/>
    <dgm:cxn modelId="{97F73376-B6AB-4FCC-93AC-0A7A06E24E36}" type="presParOf" srcId="{425931B3-8E13-4A22-A606-3D0D57D1B5FE}" destId="{84AD1BEA-687F-47A9-8808-4C74CF4B5247}"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95F8D32-2E5C-49B7-9C0E-4AF8E727A7A7}" type="doc">
      <dgm:prSet loTypeId="urn:microsoft.com/office/officeart/2005/8/layout/hProcess9" loCatId="process" qsTypeId="urn:microsoft.com/office/officeart/2005/8/quickstyle/3d1" qsCatId="3D" csTypeId="urn:microsoft.com/office/officeart/2005/8/colors/accent1_2" csCatId="accent1" phldr="1"/>
      <dgm:spPr/>
      <dgm:t>
        <a:bodyPr/>
        <a:lstStyle/>
        <a:p>
          <a:endParaRPr lang="es-ES"/>
        </a:p>
      </dgm:t>
    </dgm:pt>
    <dgm:pt modelId="{17374AD0-5C37-4FFA-B867-EFFD33278AAF}">
      <dgm:prSet phldrT="[Texto]"/>
      <dgm:spPr/>
      <dgm:t>
        <a:bodyPr/>
        <a:lstStyle/>
        <a:p>
          <a:pPr>
            <a:buFont typeface="Arial" panose="020B0604020202020204" pitchFamily="34" charset="0"/>
            <a:buChar char="•"/>
          </a:pPr>
          <a:r>
            <a:rPr lang="es-ES" b="1" i="0">
              <a:effectLst/>
              <a:latin typeface="Verdana" panose="020B0604030504040204" pitchFamily="34" charset="0"/>
              <a:ea typeface="Verdana" panose="020B0604030504040204" pitchFamily="34" charset="0"/>
            </a:rPr>
            <a:t>Objetivos (el qué):</a:t>
          </a:r>
          <a:r>
            <a:rPr lang="es-ES" b="0" i="0">
              <a:effectLst/>
              <a:latin typeface="Verdana" panose="020B0604030504040204" pitchFamily="34" charset="0"/>
              <a:ea typeface="Verdana" panose="020B0604030504040204" pitchFamily="34" charset="0"/>
            </a:rPr>
            <a:t> </a:t>
          </a:r>
          <a:endParaRPr lang="es-ES" dirty="0"/>
        </a:p>
      </dgm:t>
    </dgm:pt>
    <dgm:pt modelId="{E04A3F8B-C954-4CD0-AB10-0FE5B8F0A647}" type="parTrans" cxnId="{7B7C8495-FF95-493A-895D-1476320305E0}">
      <dgm:prSet/>
      <dgm:spPr/>
      <dgm:t>
        <a:bodyPr/>
        <a:lstStyle/>
        <a:p>
          <a:endParaRPr lang="es-ES"/>
        </a:p>
      </dgm:t>
    </dgm:pt>
    <dgm:pt modelId="{0EF70538-9559-4A5B-93BC-CACAB9B1FB6B}" type="sibTrans" cxnId="{7B7C8495-FF95-493A-895D-1476320305E0}">
      <dgm:prSet/>
      <dgm:spPr/>
      <dgm:t>
        <a:bodyPr/>
        <a:lstStyle/>
        <a:p>
          <a:endParaRPr lang="es-ES"/>
        </a:p>
      </dgm:t>
    </dgm:pt>
    <dgm:pt modelId="{8E61662C-16C6-44D6-A069-2AB60AB0B9C0}">
      <dgm:prSet/>
      <dgm:spPr/>
      <dgm:t>
        <a:bodyPr/>
        <a:lstStyle/>
        <a:p>
          <a:r>
            <a:rPr lang="es-ES" b="1" i="0">
              <a:effectLst/>
              <a:latin typeface="Verdana" panose="020B0604030504040204" pitchFamily="34" charset="0"/>
              <a:ea typeface="Verdana" panose="020B0604030504040204" pitchFamily="34" charset="0"/>
            </a:rPr>
            <a:t>Designación de actividades</a:t>
          </a:r>
          <a:r>
            <a:rPr lang="es-ES" b="0" i="0">
              <a:effectLst/>
              <a:latin typeface="Verdana" panose="020B0604030504040204" pitchFamily="34" charset="0"/>
              <a:ea typeface="Verdana" panose="020B0604030504040204" pitchFamily="34" charset="0"/>
            </a:rPr>
            <a:t>: </a:t>
          </a:r>
          <a:endParaRPr lang="es-ES" b="0" i="0" dirty="0">
            <a:effectLst/>
            <a:latin typeface="Verdana" panose="020B0604030504040204" pitchFamily="34" charset="0"/>
            <a:ea typeface="Verdana" panose="020B0604030504040204" pitchFamily="34" charset="0"/>
          </a:endParaRPr>
        </a:p>
      </dgm:t>
    </dgm:pt>
    <dgm:pt modelId="{BAAE7827-BABD-4D2B-92B6-EAB862D7710D}" type="parTrans" cxnId="{1B698EC9-6FA5-43BF-8935-24506B13997E}">
      <dgm:prSet/>
      <dgm:spPr/>
      <dgm:t>
        <a:bodyPr/>
        <a:lstStyle/>
        <a:p>
          <a:endParaRPr lang="es-ES"/>
        </a:p>
      </dgm:t>
    </dgm:pt>
    <dgm:pt modelId="{072B7E83-746A-4107-96E8-ED722606DC77}" type="sibTrans" cxnId="{1B698EC9-6FA5-43BF-8935-24506B13997E}">
      <dgm:prSet/>
      <dgm:spPr/>
      <dgm:t>
        <a:bodyPr/>
        <a:lstStyle/>
        <a:p>
          <a:endParaRPr lang="es-ES"/>
        </a:p>
      </dgm:t>
    </dgm:pt>
    <dgm:pt modelId="{7CF520E1-4226-47E2-8C8A-D5919A2EC48B}">
      <dgm:prSet/>
      <dgm:spPr/>
      <dgm:t>
        <a:bodyPr/>
        <a:lstStyle/>
        <a:p>
          <a:r>
            <a:rPr lang="es-ES" b="1" i="0">
              <a:effectLst/>
              <a:latin typeface="Verdana" panose="020B0604030504040204" pitchFamily="34" charset="0"/>
              <a:ea typeface="Verdana" panose="020B0604030504040204" pitchFamily="34" charset="0"/>
            </a:rPr>
            <a:t>El plan de Sprint</a:t>
          </a:r>
          <a:r>
            <a:rPr lang="es-ES" b="0" i="0">
              <a:effectLst/>
              <a:latin typeface="Verdana" panose="020B0604030504040204" pitchFamily="34" charset="0"/>
              <a:ea typeface="Verdana" panose="020B0604030504040204" pitchFamily="34" charset="0"/>
            </a:rPr>
            <a:t>: </a:t>
          </a:r>
          <a:endParaRPr lang="es-ES" b="0" i="0" dirty="0">
            <a:effectLst/>
            <a:latin typeface="Verdana" panose="020B0604030504040204" pitchFamily="34" charset="0"/>
            <a:ea typeface="Verdana" panose="020B0604030504040204" pitchFamily="34" charset="0"/>
          </a:endParaRPr>
        </a:p>
      </dgm:t>
    </dgm:pt>
    <dgm:pt modelId="{A2B8FB95-818B-4FA2-9B87-53761B1ED5AE}" type="parTrans" cxnId="{E706C010-FDF1-4553-AB48-2AD176B1125C}">
      <dgm:prSet/>
      <dgm:spPr/>
      <dgm:t>
        <a:bodyPr/>
        <a:lstStyle/>
        <a:p>
          <a:endParaRPr lang="es-ES"/>
        </a:p>
      </dgm:t>
    </dgm:pt>
    <dgm:pt modelId="{1FEFA22C-7262-402A-A83A-321799223F5F}" type="sibTrans" cxnId="{E706C010-FDF1-4553-AB48-2AD176B1125C}">
      <dgm:prSet/>
      <dgm:spPr/>
      <dgm:t>
        <a:bodyPr/>
        <a:lstStyle/>
        <a:p>
          <a:endParaRPr lang="es-ES"/>
        </a:p>
      </dgm:t>
    </dgm:pt>
    <dgm:pt modelId="{08A81756-A6A5-46BD-A71C-DBCE2B410C47}">
      <dgm:prSet/>
      <dgm:spPr/>
      <dgm:t>
        <a:bodyPr/>
        <a:lstStyle/>
        <a:p>
          <a:r>
            <a:rPr lang="es-ES" b="1" i="0" dirty="0">
              <a:effectLst/>
              <a:latin typeface="Verdana" panose="020B0604030504040204" pitchFamily="34" charset="0"/>
              <a:ea typeface="Verdana" panose="020B0604030504040204" pitchFamily="34" charset="0"/>
            </a:rPr>
            <a:t>Conclusión y compromiso</a:t>
          </a:r>
          <a:r>
            <a:rPr lang="es-ES" b="0" i="0" dirty="0">
              <a:effectLst/>
              <a:latin typeface="Verdana" panose="020B0604030504040204" pitchFamily="34" charset="0"/>
              <a:ea typeface="Verdana" panose="020B0604030504040204" pitchFamily="34" charset="0"/>
            </a:rPr>
            <a:t>: </a:t>
          </a:r>
        </a:p>
      </dgm:t>
    </dgm:pt>
    <dgm:pt modelId="{436D0A5E-2E01-4B1A-B6AA-CC94AF2E67A8}" type="parTrans" cxnId="{B3361CAA-E3A0-471A-9E85-AF37211F819A}">
      <dgm:prSet/>
      <dgm:spPr/>
      <dgm:t>
        <a:bodyPr/>
        <a:lstStyle/>
        <a:p>
          <a:endParaRPr lang="es-ES"/>
        </a:p>
      </dgm:t>
    </dgm:pt>
    <dgm:pt modelId="{A98B5C86-8474-4806-A1C5-E5ABB9D38A4B}" type="sibTrans" cxnId="{B3361CAA-E3A0-471A-9E85-AF37211F819A}">
      <dgm:prSet/>
      <dgm:spPr/>
      <dgm:t>
        <a:bodyPr/>
        <a:lstStyle/>
        <a:p>
          <a:endParaRPr lang="es-ES"/>
        </a:p>
      </dgm:t>
    </dgm:pt>
    <dgm:pt modelId="{A4F0ABC9-80CB-400E-866B-E368DB05245A}">
      <dgm:prSet phldrT="[Texto]"/>
      <dgm:spPr/>
      <dgm:t>
        <a:bodyPr/>
        <a:lstStyle/>
        <a:p>
          <a:pPr>
            <a:buFont typeface="Arial" panose="020B0604020202020204" pitchFamily="34" charset="0"/>
            <a:buChar char="•"/>
          </a:pPr>
          <a:r>
            <a:rPr lang="es-ES" b="1" i="0">
              <a:effectLst/>
              <a:latin typeface="Verdana" panose="020B0604030504040204" pitchFamily="34" charset="0"/>
              <a:ea typeface="Verdana" panose="020B0604030504040204" pitchFamily="34" charset="0"/>
            </a:rPr>
            <a:t>El desglose de tareas (el cómo)</a:t>
          </a:r>
          <a:r>
            <a:rPr lang="es-ES" b="0" i="0">
              <a:effectLst/>
              <a:latin typeface="Verdana" panose="020B0604030504040204" pitchFamily="34" charset="0"/>
              <a:ea typeface="Verdana" panose="020B0604030504040204" pitchFamily="34" charset="0"/>
            </a:rPr>
            <a:t>: </a:t>
          </a:r>
          <a:endParaRPr lang="es-ES" dirty="0"/>
        </a:p>
      </dgm:t>
    </dgm:pt>
    <dgm:pt modelId="{CE048E51-6A7B-462C-824A-7E8C16FC0437}" type="parTrans" cxnId="{9D18A851-3235-4912-BF1F-B5EA32A3098E}">
      <dgm:prSet/>
      <dgm:spPr/>
      <dgm:t>
        <a:bodyPr/>
        <a:lstStyle/>
        <a:p>
          <a:endParaRPr lang="es-ES"/>
        </a:p>
      </dgm:t>
    </dgm:pt>
    <dgm:pt modelId="{A5306FE6-5E0D-499F-BE1D-6FBEA26C8793}" type="sibTrans" cxnId="{9D18A851-3235-4912-BF1F-B5EA32A3098E}">
      <dgm:prSet/>
      <dgm:spPr/>
      <dgm:t>
        <a:bodyPr/>
        <a:lstStyle/>
        <a:p>
          <a:endParaRPr lang="es-ES"/>
        </a:p>
      </dgm:t>
    </dgm:pt>
    <dgm:pt modelId="{4B4DFF10-5B68-4B88-A431-1F6B4EA68C13}" type="pres">
      <dgm:prSet presAssocID="{F95F8D32-2E5C-49B7-9C0E-4AF8E727A7A7}" presName="CompostProcess" presStyleCnt="0">
        <dgm:presLayoutVars>
          <dgm:dir/>
          <dgm:resizeHandles val="exact"/>
        </dgm:presLayoutVars>
      </dgm:prSet>
      <dgm:spPr/>
    </dgm:pt>
    <dgm:pt modelId="{E3B0D877-87C9-429B-A6FC-096ED3698CFE}" type="pres">
      <dgm:prSet presAssocID="{F95F8D32-2E5C-49B7-9C0E-4AF8E727A7A7}" presName="arrow" presStyleLbl="bgShp" presStyleIdx="0" presStyleCnt="1"/>
      <dgm:spPr/>
    </dgm:pt>
    <dgm:pt modelId="{7969E1DD-68E1-42D5-ADBC-83DFE70B77F4}" type="pres">
      <dgm:prSet presAssocID="{F95F8D32-2E5C-49B7-9C0E-4AF8E727A7A7}" presName="linearProcess" presStyleCnt="0"/>
      <dgm:spPr/>
    </dgm:pt>
    <dgm:pt modelId="{DA444910-8936-45AB-B3BE-FB6C6173FCC8}" type="pres">
      <dgm:prSet presAssocID="{17374AD0-5C37-4FFA-B867-EFFD33278AAF}" presName="textNode" presStyleLbl="node1" presStyleIdx="0" presStyleCnt="5">
        <dgm:presLayoutVars>
          <dgm:bulletEnabled val="1"/>
        </dgm:presLayoutVars>
      </dgm:prSet>
      <dgm:spPr/>
    </dgm:pt>
    <dgm:pt modelId="{9FB761C4-7EC4-4DE4-8E49-225E697075DD}" type="pres">
      <dgm:prSet presAssocID="{0EF70538-9559-4A5B-93BC-CACAB9B1FB6B}" presName="sibTrans" presStyleCnt="0"/>
      <dgm:spPr/>
    </dgm:pt>
    <dgm:pt modelId="{6B334698-979F-4EC8-8ECC-F5566E30BD5B}" type="pres">
      <dgm:prSet presAssocID="{A4F0ABC9-80CB-400E-866B-E368DB05245A}" presName="textNode" presStyleLbl="node1" presStyleIdx="1" presStyleCnt="5">
        <dgm:presLayoutVars>
          <dgm:bulletEnabled val="1"/>
        </dgm:presLayoutVars>
      </dgm:prSet>
      <dgm:spPr/>
    </dgm:pt>
    <dgm:pt modelId="{7E0B15C5-07B2-4CB5-87F4-1DEEFBBC2374}" type="pres">
      <dgm:prSet presAssocID="{A5306FE6-5E0D-499F-BE1D-6FBEA26C8793}" presName="sibTrans" presStyleCnt="0"/>
      <dgm:spPr/>
    </dgm:pt>
    <dgm:pt modelId="{CF801B11-CDEC-47D0-96AC-1C331D7BEC1F}" type="pres">
      <dgm:prSet presAssocID="{8E61662C-16C6-44D6-A069-2AB60AB0B9C0}" presName="textNode" presStyleLbl="node1" presStyleIdx="2" presStyleCnt="5">
        <dgm:presLayoutVars>
          <dgm:bulletEnabled val="1"/>
        </dgm:presLayoutVars>
      </dgm:prSet>
      <dgm:spPr/>
    </dgm:pt>
    <dgm:pt modelId="{91171D17-F608-4D30-B197-0D877954CD2C}" type="pres">
      <dgm:prSet presAssocID="{072B7E83-746A-4107-96E8-ED722606DC77}" presName="sibTrans" presStyleCnt="0"/>
      <dgm:spPr/>
    </dgm:pt>
    <dgm:pt modelId="{F7DEB83D-ABB7-4E25-8FB3-ACFBA75CABEE}" type="pres">
      <dgm:prSet presAssocID="{7CF520E1-4226-47E2-8C8A-D5919A2EC48B}" presName="textNode" presStyleLbl="node1" presStyleIdx="3" presStyleCnt="5">
        <dgm:presLayoutVars>
          <dgm:bulletEnabled val="1"/>
        </dgm:presLayoutVars>
      </dgm:prSet>
      <dgm:spPr/>
    </dgm:pt>
    <dgm:pt modelId="{2119D4F4-9321-4A7F-9D5B-9CEBC462B602}" type="pres">
      <dgm:prSet presAssocID="{1FEFA22C-7262-402A-A83A-321799223F5F}" presName="sibTrans" presStyleCnt="0"/>
      <dgm:spPr/>
    </dgm:pt>
    <dgm:pt modelId="{E78F82D6-1743-49EB-A514-290C7F08B48F}" type="pres">
      <dgm:prSet presAssocID="{08A81756-A6A5-46BD-A71C-DBCE2B410C47}" presName="textNode" presStyleLbl="node1" presStyleIdx="4" presStyleCnt="5">
        <dgm:presLayoutVars>
          <dgm:bulletEnabled val="1"/>
        </dgm:presLayoutVars>
      </dgm:prSet>
      <dgm:spPr/>
    </dgm:pt>
  </dgm:ptLst>
  <dgm:cxnLst>
    <dgm:cxn modelId="{E706C010-FDF1-4553-AB48-2AD176B1125C}" srcId="{F95F8D32-2E5C-49B7-9C0E-4AF8E727A7A7}" destId="{7CF520E1-4226-47E2-8C8A-D5919A2EC48B}" srcOrd="3" destOrd="0" parTransId="{A2B8FB95-818B-4FA2-9B87-53761B1ED5AE}" sibTransId="{1FEFA22C-7262-402A-A83A-321799223F5F}"/>
    <dgm:cxn modelId="{636BC329-4888-4E2A-A972-B99E50886CE3}" type="presOf" srcId="{A4F0ABC9-80CB-400E-866B-E368DB05245A}" destId="{6B334698-979F-4EC8-8ECC-F5566E30BD5B}" srcOrd="0" destOrd="0" presId="urn:microsoft.com/office/officeart/2005/8/layout/hProcess9"/>
    <dgm:cxn modelId="{9D18A851-3235-4912-BF1F-B5EA32A3098E}" srcId="{F95F8D32-2E5C-49B7-9C0E-4AF8E727A7A7}" destId="{A4F0ABC9-80CB-400E-866B-E368DB05245A}" srcOrd="1" destOrd="0" parTransId="{CE048E51-6A7B-462C-824A-7E8C16FC0437}" sibTransId="{A5306FE6-5E0D-499F-BE1D-6FBEA26C8793}"/>
    <dgm:cxn modelId="{BB489956-39AF-45AC-A906-65B9D659F31F}" type="presOf" srcId="{08A81756-A6A5-46BD-A71C-DBCE2B410C47}" destId="{E78F82D6-1743-49EB-A514-290C7F08B48F}" srcOrd="0" destOrd="0" presId="urn:microsoft.com/office/officeart/2005/8/layout/hProcess9"/>
    <dgm:cxn modelId="{E14F6182-982F-4B65-8314-41BB81F4E655}" type="presOf" srcId="{F95F8D32-2E5C-49B7-9C0E-4AF8E727A7A7}" destId="{4B4DFF10-5B68-4B88-A431-1F6B4EA68C13}" srcOrd="0" destOrd="0" presId="urn:microsoft.com/office/officeart/2005/8/layout/hProcess9"/>
    <dgm:cxn modelId="{7B7C8495-FF95-493A-895D-1476320305E0}" srcId="{F95F8D32-2E5C-49B7-9C0E-4AF8E727A7A7}" destId="{17374AD0-5C37-4FFA-B867-EFFD33278AAF}" srcOrd="0" destOrd="0" parTransId="{E04A3F8B-C954-4CD0-AB10-0FE5B8F0A647}" sibTransId="{0EF70538-9559-4A5B-93BC-CACAB9B1FB6B}"/>
    <dgm:cxn modelId="{B3361CAA-E3A0-471A-9E85-AF37211F819A}" srcId="{F95F8D32-2E5C-49B7-9C0E-4AF8E727A7A7}" destId="{08A81756-A6A5-46BD-A71C-DBCE2B410C47}" srcOrd="4" destOrd="0" parTransId="{436D0A5E-2E01-4B1A-B6AA-CC94AF2E67A8}" sibTransId="{A98B5C86-8474-4806-A1C5-E5ABB9D38A4B}"/>
    <dgm:cxn modelId="{7E5602B0-29FB-4D7F-97DD-37A4B104CF4C}" type="presOf" srcId="{8E61662C-16C6-44D6-A069-2AB60AB0B9C0}" destId="{CF801B11-CDEC-47D0-96AC-1C331D7BEC1F}" srcOrd="0" destOrd="0" presId="urn:microsoft.com/office/officeart/2005/8/layout/hProcess9"/>
    <dgm:cxn modelId="{C599ACBA-3A98-4704-B361-DF2EEBC829FE}" type="presOf" srcId="{7CF520E1-4226-47E2-8C8A-D5919A2EC48B}" destId="{F7DEB83D-ABB7-4E25-8FB3-ACFBA75CABEE}" srcOrd="0" destOrd="0" presId="urn:microsoft.com/office/officeart/2005/8/layout/hProcess9"/>
    <dgm:cxn modelId="{1B698EC9-6FA5-43BF-8935-24506B13997E}" srcId="{F95F8D32-2E5C-49B7-9C0E-4AF8E727A7A7}" destId="{8E61662C-16C6-44D6-A069-2AB60AB0B9C0}" srcOrd="2" destOrd="0" parTransId="{BAAE7827-BABD-4D2B-92B6-EAB862D7710D}" sibTransId="{072B7E83-746A-4107-96E8-ED722606DC77}"/>
    <dgm:cxn modelId="{57D869D3-0CBB-41DA-BD50-97F746361D15}" type="presOf" srcId="{17374AD0-5C37-4FFA-B867-EFFD33278AAF}" destId="{DA444910-8936-45AB-B3BE-FB6C6173FCC8}" srcOrd="0" destOrd="0" presId="urn:microsoft.com/office/officeart/2005/8/layout/hProcess9"/>
    <dgm:cxn modelId="{0ADFE914-3DC6-47F3-A0BB-D2659ED46ECA}" type="presParOf" srcId="{4B4DFF10-5B68-4B88-A431-1F6B4EA68C13}" destId="{E3B0D877-87C9-429B-A6FC-096ED3698CFE}" srcOrd="0" destOrd="0" presId="urn:microsoft.com/office/officeart/2005/8/layout/hProcess9"/>
    <dgm:cxn modelId="{D7F0ED1D-63FB-41AB-9DDA-756E77BD14B7}" type="presParOf" srcId="{4B4DFF10-5B68-4B88-A431-1F6B4EA68C13}" destId="{7969E1DD-68E1-42D5-ADBC-83DFE70B77F4}" srcOrd="1" destOrd="0" presId="urn:microsoft.com/office/officeart/2005/8/layout/hProcess9"/>
    <dgm:cxn modelId="{B55D3BAC-BB35-45BC-9874-6C399CE0F98F}" type="presParOf" srcId="{7969E1DD-68E1-42D5-ADBC-83DFE70B77F4}" destId="{DA444910-8936-45AB-B3BE-FB6C6173FCC8}" srcOrd="0" destOrd="0" presId="urn:microsoft.com/office/officeart/2005/8/layout/hProcess9"/>
    <dgm:cxn modelId="{7EA99C0B-1A52-44F3-876A-9CE212EE89C2}" type="presParOf" srcId="{7969E1DD-68E1-42D5-ADBC-83DFE70B77F4}" destId="{9FB761C4-7EC4-4DE4-8E49-225E697075DD}" srcOrd="1" destOrd="0" presId="urn:microsoft.com/office/officeart/2005/8/layout/hProcess9"/>
    <dgm:cxn modelId="{90364675-EE08-41EA-9ECF-A7E3C64B8D62}" type="presParOf" srcId="{7969E1DD-68E1-42D5-ADBC-83DFE70B77F4}" destId="{6B334698-979F-4EC8-8ECC-F5566E30BD5B}" srcOrd="2" destOrd="0" presId="urn:microsoft.com/office/officeart/2005/8/layout/hProcess9"/>
    <dgm:cxn modelId="{176F2709-F275-4E70-987D-A709D8394704}" type="presParOf" srcId="{7969E1DD-68E1-42D5-ADBC-83DFE70B77F4}" destId="{7E0B15C5-07B2-4CB5-87F4-1DEEFBBC2374}" srcOrd="3" destOrd="0" presId="urn:microsoft.com/office/officeart/2005/8/layout/hProcess9"/>
    <dgm:cxn modelId="{E07DD942-E8A5-404F-B680-C094CB188777}" type="presParOf" srcId="{7969E1DD-68E1-42D5-ADBC-83DFE70B77F4}" destId="{CF801B11-CDEC-47D0-96AC-1C331D7BEC1F}" srcOrd="4" destOrd="0" presId="urn:microsoft.com/office/officeart/2005/8/layout/hProcess9"/>
    <dgm:cxn modelId="{C97731DC-2010-41FE-985B-40D2E59C42A2}" type="presParOf" srcId="{7969E1DD-68E1-42D5-ADBC-83DFE70B77F4}" destId="{91171D17-F608-4D30-B197-0D877954CD2C}" srcOrd="5" destOrd="0" presId="urn:microsoft.com/office/officeart/2005/8/layout/hProcess9"/>
    <dgm:cxn modelId="{AC8F84D2-9852-41B5-8191-B4A05AEEF0F6}" type="presParOf" srcId="{7969E1DD-68E1-42D5-ADBC-83DFE70B77F4}" destId="{F7DEB83D-ABB7-4E25-8FB3-ACFBA75CABEE}" srcOrd="6" destOrd="0" presId="urn:microsoft.com/office/officeart/2005/8/layout/hProcess9"/>
    <dgm:cxn modelId="{BAF7CB7C-9A66-40E4-B050-BD07D8FE38DA}" type="presParOf" srcId="{7969E1DD-68E1-42D5-ADBC-83DFE70B77F4}" destId="{2119D4F4-9321-4A7F-9D5B-9CEBC462B602}" srcOrd="7" destOrd="0" presId="urn:microsoft.com/office/officeart/2005/8/layout/hProcess9"/>
    <dgm:cxn modelId="{1128EEE9-11CB-459B-8298-A27A5C66C01C}" type="presParOf" srcId="{7969E1DD-68E1-42D5-ADBC-83DFE70B77F4}" destId="{E78F82D6-1743-49EB-A514-290C7F08B48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A953055-AC9A-414D-AE37-1717DD5CB3F3}" type="doc">
      <dgm:prSet loTypeId="urn:microsoft.com/office/officeart/2005/8/layout/default" loCatId="list" qsTypeId="urn:microsoft.com/office/officeart/2005/8/quickstyle/3d2" qsCatId="3D" csTypeId="urn:microsoft.com/office/officeart/2005/8/colors/colorful3" csCatId="colorful" phldr="1"/>
      <dgm:spPr/>
      <dgm:t>
        <a:bodyPr/>
        <a:lstStyle/>
        <a:p>
          <a:endParaRPr lang="es-ES"/>
        </a:p>
      </dgm:t>
    </dgm:pt>
    <dgm:pt modelId="{7F463614-274A-414D-9A2D-9875798D6A39}">
      <dgm:prSet phldrT="[Texto]"/>
      <dgm:spPr/>
      <dgm:t>
        <a:bodyPr/>
        <a:lstStyle/>
        <a:p>
          <a:r>
            <a:rPr lang="es-ES" dirty="0"/>
            <a:t>Falta de desafío organizacional</a:t>
          </a:r>
        </a:p>
      </dgm:t>
    </dgm:pt>
    <dgm:pt modelId="{FA778F82-9394-462E-A811-FA02D89BD44E}" type="parTrans" cxnId="{C1DF27A4-C8DB-4364-841A-4A832D02F53C}">
      <dgm:prSet/>
      <dgm:spPr/>
      <dgm:t>
        <a:bodyPr/>
        <a:lstStyle/>
        <a:p>
          <a:endParaRPr lang="es-ES"/>
        </a:p>
      </dgm:t>
    </dgm:pt>
    <dgm:pt modelId="{30A35235-7BC9-4A37-A856-7C1895F4AA93}" type="sibTrans" cxnId="{C1DF27A4-C8DB-4364-841A-4A832D02F53C}">
      <dgm:prSet/>
      <dgm:spPr/>
      <dgm:t>
        <a:bodyPr/>
        <a:lstStyle/>
        <a:p>
          <a:endParaRPr lang="es-ES"/>
        </a:p>
      </dgm:t>
    </dgm:pt>
    <dgm:pt modelId="{0FA70AD2-8FF6-472B-89AB-BFCFECB82F76}">
      <dgm:prSet phldrT="[Texto]"/>
      <dgm:spPr/>
      <dgm:t>
        <a:bodyPr/>
        <a:lstStyle/>
        <a:p>
          <a:r>
            <a:rPr lang="es-ES" dirty="0"/>
            <a:t>Carencia de confianza interna</a:t>
          </a:r>
        </a:p>
      </dgm:t>
    </dgm:pt>
    <dgm:pt modelId="{C5E99887-E780-4E3F-B3CF-88E646E4B2F0}" type="parTrans" cxnId="{C8C929DE-3A0D-4BB3-85A1-228D671A60EC}">
      <dgm:prSet/>
      <dgm:spPr/>
      <dgm:t>
        <a:bodyPr/>
        <a:lstStyle/>
        <a:p>
          <a:endParaRPr lang="es-ES"/>
        </a:p>
      </dgm:t>
    </dgm:pt>
    <dgm:pt modelId="{9D0497BE-A543-47A6-8930-3D55A708DB80}" type="sibTrans" cxnId="{C8C929DE-3A0D-4BB3-85A1-228D671A60EC}">
      <dgm:prSet/>
      <dgm:spPr/>
      <dgm:t>
        <a:bodyPr/>
        <a:lstStyle/>
        <a:p>
          <a:endParaRPr lang="es-ES"/>
        </a:p>
      </dgm:t>
    </dgm:pt>
    <dgm:pt modelId="{BCD542F6-3698-4A95-A015-007650AEC8F1}">
      <dgm:prSet phldrT="[Texto]"/>
      <dgm:spPr/>
      <dgm:t>
        <a:bodyPr/>
        <a:lstStyle/>
        <a:p>
          <a:r>
            <a:rPr lang="es-ES" dirty="0"/>
            <a:t>Creer que Scrum es solo un método de trabajo.</a:t>
          </a:r>
        </a:p>
      </dgm:t>
    </dgm:pt>
    <dgm:pt modelId="{BFDB304E-9FB5-4420-8A63-68336C40F38B}" type="parTrans" cxnId="{F28B36A5-55DA-41B3-833B-55F1A59995A3}">
      <dgm:prSet/>
      <dgm:spPr/>
      <dgm:t>
        <a:bodyPr/>
        <a:lstStyle/>
        <a:p>
          <a:endParaRPr lang="es-ES"/>
        </a:p>
      </dgm:t>
    </dgm:pt>
    <dgm:pt modelId="{E32C7BD9-5E7C-4E5A-B1EF-35BA2B3881DD}" type="sibTrans" cxnId="{F28B36A5-55DA-41B3-833B-55F1A59995A3}">
      <dgm:prSet/>
      <dgm:spPr/>
      <dgm:t>
        <a:bodyPr/>
        <a:lstStyle/>
        <a:p>
          <a:endParaRPr lang="es-ES"/>
        </a:p>
      </dgm:t>
    </dgm:pt>
    <dgm:pt modelId="{05C5A834-79C4-45FB-A516-E4EF46136772}">
      <dgm:prSet phldrT="[Texto]"/>
      <dgm:spPr/>
      <dgm:t>
        <a:bodyPr/>
        <a:lstStyle/>
        <a:p>
          <a:r>
            <a:rPr lang="es-ES" dirty="0"/>
            <a:t>Mala preparación de la empresa para implementarlo</a:t>
          </a:r>
        </a:p>
      </dgm:t>
    </dgm:pt>
    <dgm:pt modelId="{B3E90676-8315-4874-8BF7-1CCE345CAE71}" type="parTrans" cxnId="{CDBDB4F8-AA2B-4793-A64B-EC8235F68E6B}">
      <dgm:prSet/>
      <dgm:spPr/>
      <dgm:t>
        <a:bodyPr/>
        <a:lstStyle/>
        <a:p>
          <a:endParaRPr lang="es-ES"/>
        </a:p>
      </dgm:t>
    </dgm:pt>
    <dgm:pt modelId="{B1ED62B0-C32A-490B-BCAC-A54AA16F1C0A}" type="sibTrans" cxnId="{CDBDB4F8-AA2B-4793-A64B-EC8235F68E6B}">
      <dgm:prSet/>
      <dgm:spPr/>
      <dgm:t>
        <a:bodyPr/>
        <a:lstStyle/>
        <a:p>
          <a:endParaRPr lang="es-ES"/>
        </a:p>
      </dgm:t>
    </dgm:pt>
    <dgm:pt modelId="{C1467526-5CE3-4772-851D-A8ACE8611D57}">
      <dgm:prSet phldrT="[Texto]"/>
      <dgm:spPr/>
      <dgm:t>
        <a:bodyPr/>
        <a:lstStyle/>
        <a:p>
          <a:r>
            <a:rPr lang="es-ES" dirty="0"/>
            <a:t>Creer que Scrum es sencillo</a:t>
          </a:r>
        </a:p>
      </dgm:t>
    </dgm:pt>
    <dgm:pt modelId="{8D033563-11C1-46F8-A7D7-76D43B42126C}" type="parTrans" cxnId="{F305DE05-51DF-4F97-993F-29CE7501AFAE}">
      <dgm:prSet/>
      <dgm:spPr/>
      <dgm:t>
        <a:bodyPr/>
        <a:lstStyle/>
        <a:p>
          <a:endParaRPr lang="es-ES"/>
        </a:p>
      </dgm:t>
    </dgm:pt>
    <dgm:pt modelId="{A8F40404-C1B1-45DC-8150-B555A9C0D4EE}" type="sibTrans" cxnId="{F305DE05-51DF-4F97-993F-29CE7501AFAE}">
      <dgm:prSet/>
      <dgm:spPr/>
      <dgm:t>
        <a:bodyPr/>
        <a:lstStyle/>
        <a:p>
          <a:endParaRPr lang="es-ES"/>
        </a:p>
      </dgm:t>
    </dgm:pt>
    <dgm:pt modelId="{40E4066C-DABB-4682-AF9F-1209A6C23FDC}" type="pres">
      <dgm:prSet presAssocID="{8A953055-AC9A-414D-AE37-1717DD5CB3F3}" presName="diagram" presStyleCnt="0">
        <dgm:presLayoutVars>
          <dgm:dir/>
          <dgm:resizeHandles val="exact"/>
        </dgm:presLayoutVars>
      </dgm:prSet>
      <dgm:spPr/>
    </dgm:pt>
    <dgm:pt modelId="{1D010882-83CD-4B96-8557-DE7B7998285C}" type="pres">
      <dgm:prSet presAssocID="{7F463614-274A-414D-9A2D-9875798D6A39}" presName="node" presStyleLbl="node1" presStyleIdx="0" presStyleCnt="5">
        <dgm:presLayoutVars>
          <dgm:bulletEnabled val="1"/>
        </dgm:presLayoutVars>
      </dgm:prSet>
      <dgm:spPr/>
    </dgm:pt>
    <dgm:pt modelId="{FCF01E32-B397-4663-8C5B-8C9A348D3E8B}" type="pres">
      <dgm:prSet presAssocID="{30A35235-7BC9-4A37-A856-7C1895F4AA93}" presName="sibTrans" presStyleCnt="0"/>
      <dgm:spPr/>
    </dgm:pt>
    <dgm:pt modelId="{1301EA69-C739-4CBF-A7B6-F5C3C1DED4C6}" type="pres">
      <dgm:prSet presAssocID="{0FA70AD2-8FF6-472B-89AB-BFCFECB82F76}" presName="node" presStyleLbl="node1" presStyleIdx="1" presStyleCnt="5">
        <dgm:presLayoutVars>
          <dgm:bulletEnabled val="1"/>
        </dgm:presLayoutVars>
      </dgm:prSet>
      <dgm:spPr/>
    </dgm:pt>
    <dgm:pt modelId="{6B28AC6D-1971-4312-A20E-6E7B0209264A}" type="pres">
      <dgm:prSet presAssocID="{9D0497BE-A543-47A6-8930-3D55A708DB80}" presName="sibTrans" presStyleCnt="0"/>
      <dgm:spPr/>
    </dgm:pt>
    <dgm:pt modelId="{C5808FC8-A2B0-4173-83BC-9E1E0FEA1BFC}" type="pres">
      <dgm:prSet presAssocID="{BCD542F6-3698-4A95-A015-007650AEC8F1}" presName="node" presStyleLbl="node1" presStyleIdx="2" presStyleCnt="5">
        <dgm:presLayoutVars>
          <dgm:bulletEnabled val="1"/>
        </dgm:presLayoutVars>
      </dgm:prSet>
      <dgm:spPr/>
    </dgm:pt>
    <dgm:pt modelId="{78C6BD4C-1519-4E2B-BAA6-3B009D06ECDB}" type="pres">
      <dgm:prSet presAssocID="{E32C7BD9-5E7C-4E5A-B1EF-35BA2B3881DD}" presName="sibTrans" presStyleCnt="0"/>
      <dgm:spPr/>
    </dgm:pt>
    <dgm:pt modelId="{BABEC6D8-EDF1-4AE3-8ED0-7215676570BA}" type="pres">
      <dgm:prSet presAssocID="{05C5A834-79C4-45FB-A516-E4EF46136772}" presName="node" presStyleLbl="node1" presStyleIdx="3" presStyleCnt="5">
        <dgm:presLayoutVars>
          <dgm:bulletEnabled val="1"/>
        </dgm:presLayoutVars>
      </dgm:prSet>
      <dgm:spPr/>
    </dgm:pt>
    <dgm:pt modelId="{99FE40B6-3402-48D1-826C-B40E13C576DE}" type="pres">
      <dgm:prSet presAssocID="{B1ED62B0-C32A-490B-BCAC-A54AA16F1C0A}" presName="sibTrans" presStyleCnt="0"/>
      <dgm:spPr/>
    </dgm:pt>
    <dgm:pt modelId="{EBE343F0-77C8-4DA2-924B-D2B975389933}" type="pres">
      <dgm:prSet presAssocID="{C1467526-5CE3-4772-851D-A8ACE8611D57}" presName="node" presStyleLbl="node1" presStyleIdx="4" presStyleCnt="5">
        <dgm:presLayoutVars>
          <dgm:bulletEnabled val="1"/>
        </dgm:presLayoutVars>
      </dgm:prSet>
      <dgm:spPr/>
    </dgm:pt>
  </dgm:ptLst>
  <dgm:cxnLst>
    <dgm:cxn modelId="{F305DE05-51DF-4F97-993F-29CE7501AFAE}" srcId="{8A953055-AC9A-414D-AE37-1717DD5CB3F3}" destId="{C1467526-5CE3-4772-851D-A8ACE8611D57}" srcOrd="4" destOrd="0" parTransId="{8D033563-11C1-46F8-A7D7-76D43B42126C}" sibTransId="{A8F40404-C1B1-45DC-8150-B555A9C0D4EE}"/>
    <dgm:cxn modelId="{EC6A0815-5F80-4647-AFE0-8FE46D6CCF89}" type="presOf" srcId="{8A953055-AC9A-414D-AE37-1717DD5CB3F3}" destId="{40E4066C-DABB-4682-AF9F-1209A6C23FDC}" srcOrd="0" destOrd="0" presId="urn:microsoft.com/office/officeart/2005/8/layout/default"/>
    <dgm:cxn modelId="{F7838C64-0AC6-452B-8519-DE2F1A6C0A89}" type="presOf" srcId="{7F463614-274A-414D-9A2D-9875798D6A39}" destId="{1D010882-83CD-4B96-8557-DE7B7998285C}" srcOrd="0" destOrd="0" presId="urn:microsoft.com/office/officeart/2005/8/layout/default"/>
    <dgm:cxn modelId="{1D2C1E69-0048-4AD1-BD2E-508C47BB8AAA}" type="presOf" srcId="{BCD542F6-3698-4A95-A015-007650AEC8F1}" destId="{C5808FC8-A2B0-4173-83BC-9E1E0FEA1BFC}" srcOrd="0" destOrd="0" presId="urn:microsoft.com/office/officeart/2005/8/layout/default"/>
    <dgm:cxn modelId="{22886998-CF44-4EAF-9028-16491D944C81}" type="presOf" srcId="{05C5A834-79C4-45FB-A516-E4EF46136772}" destId="{BABEC6D8-EDF1-4AE3-8ED0-7215676570BA}" srcOrd="0" destOrd="0" presId="urn:microsoft.com/office/officeart/2005/8/layout/default"/>
    <dgm:cxn modelId="{C1DF27A4-C8DB-4364-841A-4A832D02F53C}" srcId="{8A953055-AC9A-414D-AE37-1717DD5CB3F3}" destId="{7F463614-274A-414D-9A2D-9875798D6A39}" srcOrd="0" destOrd="0" parTransId="{FA778F82-9394-462E-A811-FA02D89BD44E}" sibTransId="{30A35235-7BC9-4A37-A856-7C1895F4AA93}"/>
    <dgm:cxn modelId="{F28B36A5-55DA-41B3-833B-55F1A59995A3}" srcId="{8A953055-AC9A-414D-AE37-1717DD5CB3F3}" destId="{BCD542F6-3698-4A95-A015-007650AEC8F1}" srcOrd="2" destOrd="0" parTransId="{BFDB304E-9FB5-4420-8A63-68336C40F38B}" sibTransId="{E32C7BD9-5E7C-4E5A-B1EF-35BA2B3881DD}"/>
    <dgm:cxn modelId="{C8C929DE-3A0D-4BB3-85A1-228D671A60EC}" srcId="{8A953055-AC9A-414D-AE37-1717DD5CB3F3}" destId="{0FA70AD2-8FF6-472B-89AB-BFCFECB82F76}" srcOrd="1" destOrd="0" parTransId="{C5E99887-E780-4E3F-B3CF-88E646E4B2F0}" sibTransId="{9D0497BE-A543-47A6-8930-3D55A708DB80}"/>
    <dgm:cxn modelId="{9A3F6EE1-64FA-4097-942F-464AF73D41FC}" type="presOf" srcId="{C1467526-5CE3-4772-851D-A8ACE8611D57}" destId="{EBE343F0-77C8-4DA2-924B-D2B975389933}" srcOrd="0" destOrd="0" presId="urn:microsoft.com/office/officeart/2005/8/layout/default"/>
    <dgm:cxn modelId="{0C382DE4-728F-4029-9677-B7617C784129}" type="presOf" srcId="{0FA70AD2-8FF6-472B-89AB-BFCFECB82F76}" destId="{1301EA69-C739-4CBF-A7B6-F5C3C1DED4C6}" srcOrd="0" destOrd="0" presId="urn:microsoft.com/office/officeart/2005/8/layout/default"/>
    <dgm:cxn modelId="{CDBDB4F8-AA2B-4793-A64B-EC8235F68E6B}" srcId="{8A953055-AC9A-414D-AE37-1717DD5CB3F3}" destId="{05C5A834-79C4-45FB-A516-E4EF46136772}" srcOrd="3" destOrd="0" parTransId="{B3E90676-8315-4874-8BF7-1CCE345CAE71}" sibTransId="{B1ED62B0-C32A-490B-BCAC-A54AA16F1C0A}"/>
    <dgm:cxn modelId="{254859D7-5A97-4690-9D46-F6EEDC596287}" type="presParOf" srcId="{40E4066C-DABB-4682-AF9F-1209A6C23FDC}" destId="{1D010882-83CD-4B96-8557-DE7B7998285C}" srcOrd="0" destOrd="0" presId="urn:microsoft.com/office/officeart/2005/8/layout/default"/>
    <dgm:cxn modelId="{8DA491C1-70F8-4B01-9DF1-484EA1637B43}" type="presParOf" srcId="{40E4066C-DABB-4682-AF9F-1209A6C23FDC}" destId="{FCF01E32-B397-4663-8C5B-8C9A348D3E8B}" srcOrd="1" destOrd="0" presId="urn:microsoft.com/office/officeart/2005/8/layout/default"/>
    <dgm:cxn modelId="{89969855-CA38-46BB-9307-C7566E13705D}" type="presParOf" srcId="{40E4066C-DABB-4682-AF9F-1209A6C23FDC}" destId="{1301EA69-C739-4CBF-A7B6-F5C3C1DED4C6}" srcOrd="2" destOrd="0" presId="urn:microsoft.com/office/officeart/2005/8/layout/default"/>
    <dgm:cxn modelId="{AC65944D-F0FB-4D09-8C94-9C296971F46B}" type="presParOf" srcId="{40E4066C-DABB-4682-AF9F-1209A6C23FDC}" destId="{6B28AC6D-1971-4312-A20E-6E7B0209264A}" srcOrd="3" destOrd="0" presId="urn:microsoft.com/office/officeart/2005/8/layout/default"/>
    <dgm:cxn modelId="{374001A2-43B5-4DDC-AC07-3D148BDDA175}" type="presParOf" srcId="{40E4066C-DABB-4682-AF9F-1209A6C23FDC}" destId="{C5808FC8-A2B0-4173-83BC-9E1E0FEA1BFC}" srcOrd="4" destOrd="0" presId="urn:microsoft.com/office/officeart/2005/8/layout/default"/>
    <dgm:cxn modelId="{E2684FFF-B422-4787-A89E-102E591495E8}" type="presParOf" srcId="{40E4066C-DABB-4682-AF9F-1209A6C23FDC}" destId="{78C6BD4C-1519-4E2B-BAA6-3B009D06ECDB}" srcOrd="5" destOrd="0" presId="urn:microsoft.com/office/officeart/2005/8/layout/default"/>
    <dgm:cxn modelId="{D900F5B1-7BD0-4ECB-8912-F9FB29D5EF5B}" type="presParOf" srcId="{40E4066C-DABB-4682-AF9F-1209A6C23FDC}" destId="{BABEC6D8-EDF1-4AE3-8ED0-7215676570BA}" srcOrd="6" destOrd="0" presId="urn:microsoft.com/office/officeart/2005/8/layout/default"/>
    <dgm:cxn modelId="{305668F4-116C-401B-9D13-AE5FA4B4BB33}" type="presParOf" srcId="{40E4066C-DABB-4682-AF9F-1209A6C23FDC}" destId="{99FE40B6-3402-48D1-826C-B40E13C576DE}" srcOrd="7" destOrd="0" presId="urn:microsoft.com/office/officeart/2005/8/layout/default"/>
    <dgm:cxn modelId="{03C44A2B-F8F1-4E13-8691-14D8D8A83ED6}" type="presParOf" srcId="{40E4066C-DABB-4682-AF9F-1209A6C23FDC}" destId="{EBE343F0-77C8-4DA2-924B-D2B97538993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6F373EF-B244-4D9B-8B19-9D490FAB47E6}" type="doc">
      <dgm:prSet loTypeId="urn:microsoft.com/office/officeart/2005/8/layout/chevron1" loCatId="process" qsTypeId="urn:microsoft.com/office/officeart/2005/8/quickstyle/3d1" qsCatId="3D" csTypeId="urn:microsoft.com/office/officeart/2005/8/colors/accent1_2" csCatId="accent1" phldr="1"/>
      <dgm:spPr/>
      <dgm:t>
        <a:bodyPr/>
        <a:lstStyle/>
        <a:p>
          <a:endParaRPr lang="es-ES"/>
        </a:p>
      </dgm:t>
    </dgm:pt>
    <dgm:pt modelId="{74F0B195-FD18-4B9C-93B9-0FABA6EB7E1C}">
      <dgm:prSet phldrT="[Texto]"/>
      <dgm:spPr/>
      <dgm:t>
        <a:bodyPr/>
        <a:lstStyle/>
        <a:p>
          <a:r>
            <a:rPr lang="es-ES" b="1" i="0" dirty="0"/>
            <a:t>Métricas de productividad y efectividad de la entrega</a:t>
          </a:r>
          <a:endParaRPr lang="es-ES" dirty="0"/>
        </a:p>
      </dgm:t>
    </dgm:pt>
    <dgm:pt modelId="{7CDA3639-9A67-4485-842B-D382C57FCFE2}" type="parTrans" cxnId="{1D47794E-C1E8-44FB-A7FB-8D34F764319A}">
      <dgm:prSet/>
      <dgm:spPr/>
      <dgm:t>
        <a:bodyPr/>
        <a:lstStyle/>
        <a:p>
          <a:endParaRPr lang="es-ES"/>
        </a:p>
      </dgm:t>
    </dgm:pt>
    <dgm:pt modelId="{F5B129B4-96EF-4081-BEDE-D7C16D06BDF1}" type="sibTrans" cxnId="{1D47794E-C1E8-44FB-A7FB-8D34F764319A}">
      <dgm:prSet/>
      <dgm:spPr/>
      <dgm:t>
        <a:bodyPr/>
        <a:lstStyle/>
        <a:p>
          <a:endParaRPr lang="es-ES"/>
        </a:p>
      </dgm:t>
    </dgm:pt>
    <dgm:pt modelId="{C3CEC437-671F-4B65-BF62-8F2B0D87120A}">
      <dgm:prSet phldrT="[Texto]"/>
      <dgm:spPr/>
      <dgm:t>
        <a:bodyPr/>
        <a:lstStyle/>
        <a:p>
          <a:r>
            <a:rPr lang="es-ES" b="1" i="0" dirty="0"/>
            <a:t>Métricas de resultados del proyecto</a:t>
          </a:r>
          <a:endParaRPr lang="es-ES" dirty="0"/>
        </a:p>
      </dgm:t>
    </dgm:pt>
    <dgm:pt modelId="{29D4DACC-89B3-4DB4-A0BB-9B79B57A1A77}" type="parTrans" cxnId="{D5BA6810-2D03-45B9-BEE7-4AD3493EABBD}">
      <dgm:prSet/>
      <dgm:spPr/>
      <dgm:t>
        <a:bodyPr/>
        <a:lstStyle/>
        <a:p>
          <a:endParaRPr lang="es-ES"/>
        </a:p>
      </dgm:t>
    </dgm:pt>
    <dgm:pt modelId="{84064457-E135-4C56-BEEF-8EB5691A6EA0}" type="sibTrans" cxnId="{D5BA6810-2D03-45B9-BEE7-4AD3493EABBD}">
      <dgm:prSet/>
      <dgm:spPr/>
      <dgm:t>
        <a:bodyPr/>
        <a:lstStyle/>
        <a:p>
          <a:endParaRPr lang="es-ES"/>
        </a:p>
      </dgm:t>
    </dgm:pt>
    <dgm:pt modelId="{787683CD-450B-4564-8468-D10CAF9BD429}">
      <dgm:prSet phldrT="[Texto]"/>
      <dgm:spPr/>
      <dgm:t>
        <a:bodyPr/>
        <a:lstStyle/>
        <a:p>
          <a:r>
            <a:rPr lang="es-ES" b="1" i="0" dirty="0"/>
            <a:t>Métricas de situación financiera</a:t>
          </a:r>
          <a:endParaRPr lang="es-ES" dirty="0"/>
        </a:p>
      </dgm:t>
    </dgm:pt>
    <dgm:pt modelId="{E77A47C3-7304-4140-AE9B-A042F669BC66}" type="parTrans" cxnId="{95F7E1A5-2C95-466D-8990-302480CD8F03}">
      <dgm:prSet/>
      <dgm:spPr/>
      <dgm:t>
        <a:bodyPr/>
        <a:lstStyle/>
        <a:p>
          <a:endParaRPr lang="es-ES"/>
        </a:p>
      </dgm:t>
    </dgm:pt>
    <dgm:pt modelId="{106FEC65-1822-4A51-B666-A119C7137370}" type="sibTrans" cxnId="{95F7E1A5-2C95-466D-8990-302480CD8F03}">
      <dgm:prSet/>
      <dgm:spPr/>
      <dgm:t>
        <a:bodyPr/>
        <a:lstStyle/>
        <a:p>
          <a:endParaRPr lang="es-ES"/>
        </a:p>
      </dgm:t>
    </dgm:pt>
    <dgm:pt modelId="{94F6BA20-6CB0-4E53-A5D2-C89B85A57A63}">
      <dgm:prSet phldrT="[Texto]"/>
      <dgm:spPr/>
      <dgm:t>
        <a:bodyPr/>
        <a:lstStyle/>
        <a:p>
          <a:r>
            <a:rPr lang="es-ES" b="1" i="0" dirty="0"/>
            <a:t>Métricas de calidad</a:t>
          </a:r>
          <a:endParaRPr lang="es-ES" dirty="0"/>
        </a:p>
      </dgm:t>
    </dgm:pt>
    <dgm:pt modelId="{38F26C18-5B17-4C9D-B392-1627C9810FAD}" type="parTrans" cxnId="{5FCEE08C-A311-4A61-806F-9F9522CE64D1}">
      <dgm:prSet/>
      <dgm:spPr/>
      <dgm:t>
        <a:bodyPr/>
        <a:lstStyle/>
        <a:p>
          <a:endParaRPr lang="es-ES"/>
        </a:p>
      </dgm:t>
    </dgm:pt>
    <dgm:pt modelId="{D41B4CB1-A968-4E07-984E-5A599B2D3A22}" type="sibTrans" cxnId="{5FCEE08C-A311-4A61-806F-9F9522CE64D1}">
      <dgm:prSet/>
      <dgm:spPr/>
      <dgm:t>
        <a:bodyPr/>
        <a:lstStyle/>
        <a:p>
          <a:endParaRPr lang="es-ES"/>
        </a:p>
      </dgm:t>
    </dgm:pt>
    <dgm:pt modelId="{3D738169-0334-4E6A-B51F-28F866303D0C}">
      <dgm:prSet phldrT="[Texto]"/>
      <dgm:spPr/>
      <dgm:t>
        <a:bodyPr/>
        <a:lstStyle/>
        <a:p>
          <a:r>
            <a:rPr lang="es-ES" b="1" i="0" dirty="0"/>
            <a:t>Métricas de riesgos, impedimentos, proceso y mejora continua</a:t>
          </a:r>
          <a:endParaRPr lang="es-ES" dirty="0"/>
        </a:p>
      </dgm:t>
    </dgm:pt>
    <dgm:pt modelId="{A748FDB0-A219-4676-BA96-D3A31859A9CB}" type="parTrans" cxnId="{5DC104C6-0FCF-4E93-AC61-21E3999C2B76}">
      <dgm:prSet/>
      <dgm:spPr/>
      <dgm:t>
        <a:bodyPr/>
        <a:lstStyle/>
        <a:p>
          <a:endParaRPr lang="es-ES"/>
        </a:p>
      </dgm:t>
    </dgm:pt>
    <dgm:pt modelId="{61E833F1-404A-45DF-849F-4506937F3565}" type="sibTrans" cxnId="{5DC104C6-0FCF-4E93-AC61-21E3999C2B76}">
      <dgm:prSet/>
      <dgm:spPr/>
      <dgm:t>
        <a:bodyPr/>
        <a:lstStyle/>
        <a:p>
          <a:endParaRPr lang="es-ES"/>
        </a:p>
      </dgm:t>
    </dgm:pt>
    <dgm:pt modelId="{474CED5B-DAD1-45C5-B9CD-E1A3B4B106CB}" type="pres">
      <dgm:prSet presAssocID="{C6F373EF-B244-4D9B-8B19-9D490FAB47E6}" presName="Name0" presStyleCnt="0">
        <dgm:presLayoutVars>
          <dgm:dir/>
          <dgm:animLvl val="lvl"/>
          <dgm:resizeHandles val="exact"/>
        </dgm:presLayoutVars>
      </dgm:prSet>
      <dgm:spPr/>
    </dgm:pt>
    <dgm:pt modelId="{55D5AF13-CF6F-47D3-A09A-597C83271578}" type="pres">
      <dgm:prSet presAssocID="{74F0B195-FD18-4B9C-93B9-0FABA6EB7E1C}" presName="parTxOnly" presStyleLbl="node1" presStyleIdx="0" presStyleCnt="5" custLinFactNeighborX="3858" custLinFactNeighborY="6752">
        <dgm:presLayoutVars>
          <dgm:chMax val="0"/>
          <dgm:chPref val="0"/>
          <dgm:bulletEnabled val="1"/>
        </dgm:presLayoutVars>
      </dgm:prSet>
      <dgm:spPr/>
    </dgm:pt>
    <dgm:pt modelId="{61B66F85-BF21-4F22-B493-662B0B4ED2A8}" type="pres">
      <dgm:prSet presAssocID="{F5B129B4-96EF-4081-BEDE-D7C16D06BDF1}" presName="parTxOnlySpace" presStyleCnt="0"/>
      <dgm:spPr/>
    </dgm:pt>
    <dgm:pt modelId="{C79CF338-7541-4A8B-A912-008C2A3A1D9C}" type="pres">
      <dgm:prSet presAssocID="{C3CEC437-671F-4B65-BF62-8F2B0D87120A}" presName="parTxOnly" presStyleLbl="node1" presStyleIdx="1" presStyleCnt="5">
        <dgm:presLayoutVars>
          <dgm:chMax val="0"/>
          <dgm:chPref val="0"/>
          <dgm:bulletEnabled val="1"/>
        </dgm:presLayoutVars>
      </dgm:prSet>
      <dgm:spPr/>
    </dgm:pt>
    <dgm:pt modelId="{133D9A4C-7EA9-422E-980D-1C740F60D78D}" type="pres">
      <dgm:prSet presAssocID="{84064457-E135-4C56-BEEF-8EB5691A6EA0}" presName="parTxOnlySpace" presStyleCnt="0"/>
      <dgm:spPr/>
    </dgm:pt>
    <dgm:pt modelId="{F0E8AA5B-2185-46CD-8DD1-64A8F622AA87}" type="pres">
      <dgm:prSet presAssocID="{787683CD-450B-4564-8468-D10CAF9BD429}" presName="parTxOnly" presStyleLbl="node1" presStyleIdx="2" presStyleCnt="5">
        <dgm:presLayoutVars>
          <dgm:chMax val="0"/>
          <dgm:chPref val="0"/>
          <dgm:bulletEnabled val="1"/>
        </dgm:presLayoutVars>
      </dgm:prSet>
      <dgm:spPr/>
    </dgm:pt>
    <dgm:pt modelId="{C8FA8593-C98A-4528-9E61-F9772346D623}" type="pres">
      <dgm:prSet presAssocID="{106FEC65-1822-4A51-B666-A119C7137370}" presName="parTxOnlySpace" presStyleCnt="0"/>
      <dgm:spPr/>
    </dgm:pt>
    <dgm:pt modelId="{68EB2D9F-9117-46E1-974B-D5DE56D4418A}" type="pres">
      <dgm:prSet presAssocID="{94F6BA20-6CB0-4E53-A5D2-C89B85A57A63}" presName="parTxOnly" presStyleLbl="node1" presStyleIdx="3" presStyleCnt="5">
        <dgm:presLayoutVars>
          <dgm:chMax val="0"/>
          <dgm:chPref val="0"/>
          <dgm:bulletEnabled val="1"/>
        </dgm:presLayoutVars>
      </dgm:prSet>
      <dgm:spPr/>
    </dgm:pt>
    <dgm:pt modelId="{B2675EF6-E704-40BE-B5BF-6A9BEA2561E9}" type="pres">
      <dgm:prSet presAssocID="{D41B4CB1-A968-4E07-984E-5A599B2D3A22}" presName="parTxOnlySpace" presStyleCnt="0"/>
      <dgm:spPr/>
    </dgm:pt>
    <dgm:pt modelId="{B3A93B43-A28B-4374-9BFF-A182199D3F4F}" type="pres">
      <dgm:prSet presAssocID="{3D738169-0334-4E6A-B51F-28F866303D0C}" presName="parTxOnly" presStyleLbl="node1" presStyleIdx="4" presStyleCnt="5">
        <dgm:presLayoutVars>
          <dgm:chMax val="0"/>
          <dgm:chPref val="0"/>
          <dgm:bulletEnabled val="1"/>
        </dgm:presLayoutVars>
      </dgm:prSet>
      <dgm:spPr/>
    </dgm:pt>
  </dgm:ptLst>
  <dgm:cxnLst>
    <dgm:cxn modelId="{B4946209-F803-4957-9758-2571D8278440}" type="presOf" srcId="{74F0B195-FD18-4B9C-93B9-0FABA6EB7E1C}" destId="{55D5AF13-CF6F-47D3-A09A-597C83271578}" srcOrd="0" destOrd="0" presId="urn:microsoft.com/office/officeart/2005/8/layout/chevron1"/>
    <dgm:cxn modelId="{D5BA6810-2D03-45B9-BEE7-4AD3493EABBD}" srcId="{C6F373EF-B244-4D9B-8B19-9D490FAB47E6}" destId="{C3CEC437-671F-4B65-BF62-8F2B0D87120A}" srcOrd="1" destOrd="0" parTransId="{29D4DACC-89B3-4DB4-A0BB-9B79B57A1A77}" sibTransId="{84064457-E135-4C56-BEEF-8EB5691A6EA0}"/>
    <dgm:cxn modelId="{EDEFD628-418A-4A4E-AAC5-26AF02FAAA22}" type="presOf" srcId="{C6F373EF-B244-4D9B-8B19-9D490FAB47E6}" destId="{474CED5B-DAD1-45C5-B9CD-E1A3B4B106CB}" srcOrd="0" destOrd="0" presId="urn:microsoft.com/office/officeart/2005/8/layout/chevron1"/>
    <dgm:cxn modelId="{182BDD39-7A7D-4EB9-9E2F-49293EB7340C}" type="presOf" srcId="{3D738169-0334-4E6A-B51F-28F866303D0C}" destId="{B3A93B43-A28B-4374-9BFF-A182199D3F4F}" srcOrd="0" destOrd="0" presId="urn:microsoft.com/office/officeart/2005/8/layout/chevron1"/>
    <dgm:cxn modelId="{70A59A5E-D685-41F9-B03B-C867BE117071}" type="presOf" srcId="{94F6BA20-6CB0-4E53-A5D2-C89B85A57A63}" destId="{68EB2D9F-9117-46E1-974B-D5DE56D4418A}" srcOrd="0" destOrd="0" presId="urn:microsoft.com/office/officeart/2005/8/layout/chevron1"/>
    <dgm:cxn modelId="{1D47794E-C1E8-44FB-A7FB-8D34F764319A}" srcId="{C6F373EF-B244-4D9B-8B19-9D490FAB47E6}" destId="{74F0B195-FD18-4B9C-93B9-0FABA6EB7E1C}" srcOrd="0" destOrd="0" parTransId="{7CDA3639-9A67-4485-842B-D382C57FCFE2}" sibTransId="{F5B129B4-96EF-4081-BEDE-D7C16D06BDF1}"/>
    <dgm:cxn modelId="{9B38DD7E-74B3-47D4-9E19-DB4E42781B54}" type="presOf" srcId="{C3CEC437-671F-4B65-BF62-8F2B0D87120A}" destId="{C79CF338-7541-4A8B-A912-008C2A3A1D9C}" srcOrd="0" destOrd="0" presId="urn:microsoft.com/office/officeart/2005/8/layout/chevron1"/>
    <dgm:cxn modelId="{5FCEE08C-A311-4A61-806F-9F9522CE64D1}" srcId="{C6F373EF-B244-4D9B-8B19-9D490FAB47E6}" destId="{94F6BA20-6CB0-4E53-A5D2-C89B85A57A63}" srcOrd="3" destOrd="0" parTransId="{38F26C18-5B17-4C9D-B392-1627C9810FAD}" sibTransId="{D41B4CB1-A968-4E07-984E-5A599B2D3A22}"/>
    <dgm:cxn modelId="{95F7E1A5-2C95-466D-8990-302480CD8F03}" srcId="{C6F373EF-B244-4D9B-8B19-9D490FAB47E6}" destId="{787683CD-450B-4564-8468-D10CAF9BD429}" srcOrd="2" destOrd="0" parTransId="{E77A47C3-7304-4140-AE9B-A042F669BC66}" sibTransId="{106FEC65-1822-4A51-B666-A119C7137370}"/>
    <dgm:cxn modelId="{5DC104C6-0FCF-4E93-AC61-21E3999C2B76}" srcId="{C6F373EF-B244-4D9B-8B19-9D490FAB47E6}" destId="{3D738169-0334-4E6A-B51F-28F866303D0C}" srcOrd="4" destOrd="0" parTransId="{A748FDB0-A219-4676-BA96-D3A31859A9CB}" sibTransId="{61E833F1-404A-45DF-849F-4506937F3565}"/>
    <dgm:cxn modelId="{00121FDD-CE78-4275-9990-0B1B86C237CF}" type="presOf" srcId="{787683CD-450B-4564-8468-D10CAF9BD429}" destId="{F0E8AA5B-2185-46CD-8DD1-64A8F622AA87}" srcOrd="0" destOrd="0" presId="urn:microsoft.com/office/officeart/2005/8/layout/chevron1"/>
    <dgm:cxn modelId="{B175AF04-591D-4A5F-9087-1F7CD559E8E6}" type="presParOf" srcId="{474CED5B-DAD1-45C5-B9CD-E1A3B4B106CB}" destId="{55D5AF13-CF6F-47D3-A09A-597C83271578}" srcOrd="0" destOrd="0" presId="urn:microsoft.com/office/officeart/2005/8/layout/chevron1"/>
    <dgm:cxn modelId="{E6656D34-7207-453A-9E86-3C518D3F23C6}" type="presParOf" srcId="{474CED5B-DAD1-45C5-B9CD-E1A3B4B106CB}" destId="{61B66F85-BF21-4F22-B493-662B0B4ED2A8}" srcOrd="1" destOrd="0" presId="urn:microsoft.com/office/officeart/2005/8/layout/chevron1"/>
    <dgm:cxn modelId="{15331524-2915-466E-85C5-011A832E7E69}" type="presParOf" srcId="{474CED5B-DAD1-45C5-B9CD-E1A3B4B106CB}" destId="{C79CF338-7541-4A8B-A912-008C2A3A1D9C}" srcOrd="2" destOrd="0" presId="urn:microsoft.com/office/officeart/2005/8/layout/chevron1"/>
    <dgm:cxn modelId="{60F17955-7403-448D-B2B1-198FE54F5B9B}" type="presParOf" srcId="{474CED5B-DAD1-45C5-B9CD-E1A3B4B106CB}" destId="{133D9A4C-7EA9-422E-980D-1C740F60D78D}" srcOrd="3" destOrd="0" presId="urn:microsoft.com/office/officeart/2005/8/layout/chevron1"/>
    <dgm:cxn modelId="{683D7C96-DB12-44CD-B95E-C3DCBAE8F383}" type="presParOf" srcId="{474CED5B-DAD1-45C5-B9CD-E1A3B4B106CB}" destId="{F0E8AA5B-2185-46CD-8DD1-64A8F622AA87}" srcOrd="4" destOrd="0" presId="urn:microsoft.com/office/officeart/2005/8/layout/chevron1"/>
    <dgm:cxn modelId="{2EB22836-2E4C-4975-AB24-D3C9E49CAA37}" type="presParOf" srcId="{474CED5B-DAD1-45C5-B9CD-E1A3B4B106CB}" destId="{C8FA8593-C98A-4528-9E61-F9772346D623}" srcOrd="5" destOrd="0" presId="urn:microsoft.com/office/officeart/2005/8/layout/chevron1"/>
    <dgm:cxn modelId="{178017CD-1B23-400B-B638-3E35A741A269}" type="presParOf" srcId="{474CED5B-DAD1-45C5-B9CD-E1A3B4B106CB}" destId="{68EB2D9F-9117-46E1-974B-D5DE56D4418A}" srcOrd="6" destOrd="0" presId="urn:microsoft.com/office/officeart/2005/8/layout/chevron1"/>
    <dgm:cxn modelId="{1C945771-3E26-4238-B80F-C7C7D03FC792}" type="presParOf" srcId="{474CED5B-DAD1-45C5-B9CD-E1A3B4B106CB}" destId="{B2675EF6-E704-40BE-B5BF-6A9BEA2561E9}" srcOrd="7" destOrd="0" presId="urn:microsoft.com/office/officeart/2005/8/layout/chevron1"/>
    <dgm:cxn modelId="{C09E5972-EEE3-4960-B660-74BE8D267D07}" type="presParOf" srcId="{474CED5B-DAD1-45C5-B9CD-E1A3B4B106CB}" destId="{B3A93B43-A28B-4374-9BFF-A182199D3F4F}"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B7026AF-242C-4590-AAFB-A1FE5DBAD9C0}" type="doc">
      <dgm:prSet loTypeId="urn:microsoft.com/office/officeart/2008/layout/HorizontalMultiLevelHierarchy" loCatId="hierarchy" qsTypeId="urn:microsoft.com/office/officeart/2005/8/quickstyle/3d2" qsCatId="3D" csTypeId="urn:microsoft.com/office/officeart/2005/8/colors/colorful2" csCatId="colorful" phldr="1"/>
      <dgm:spPr/>
      <dgm:t>
        <a:bodyPr/>
        <a:lstStyle/>
        <a:p>
          <a:endParaRPr lang="es-ES"/>
        </a:p>
      </dgm:t>
    </dgm:pt>
    <dgm:pt modelId="{4C0F7336-4918-4464-A606-634C2B766176}">
      <dgm:prSet phldrT="[Texto]"/>
      <dgm:spPr/>
      <dgm:t>
        <a:bodyPr/>
        <a:lstStyle/>
        <a:p>
          <a:r>
            <a:rPr lang="es-ES" b="1" i="0" dirty="0">
              <a:effectLst/>
              <a:latin typeface="Charlie Text"/>
            </a:rPr>
            <a:t>propietario principal del producto </a:t>
          </a:r>
          <a:endParaRPr lang="es-ES" dirty="0"/>
        </a:p>
      </dgm:t>
    </dgm:pt>
    <dgm:pt modelId="{A9FFB8D0-4AD2-4F8D-AE03-73D89D918AAF}" type="parTrans" cxnId="{F7999C7C-6F0E-4D49-8E88-4223711C8338}">
      <dgm:prSet/>
      <dgm:spPr/>
      <dgm:t>
        <a:bodyPr/>
        <a:lstStyle/>
        <a:p>
          <a:endParaRPr lang="es-ES"/>
        </a:p>
      </dgm:t>
    </dgm:pt>
    <dgm:pt modelId="{A10E4D3C-1AB1-4AA4-9A97-AB9BC43150DB}" type="sibTrans" cxnId="{F7999C7C-6F0E-4D49-8E88-4223711C8338}">
      <dgm:prSet/>
      <dgm:spPr/>
      <dgm:t>
        <a:bodyPr/>
        <a:lstStyle/>
        <a:p>
          <a:endParaRPr lang="es-ES"/>
        </a:p>
      </dgm:t>
    </dgm:pt>
    <dgm:pt modelId="{7F14B8EF-0694-4395-A792-5AC15660CEB7}">
      <dgm:prSet phldrT="[Texto]"/>
      <dgm:spPr/>
      <dgm:t>
        <a:bodyPr/>
        <a:lstStyle/>
        <a:p>
          <a:r>
            <a:rPr lang="es-ES" dirty="0"/>
            <a:t>PRODUCT OWNER 1</a:t>
          </a:r>
        </a:p>
      </dgm:t>
    </dgm:pt>
    <dgm:pt modelId="{8112C37C-437C-40C5-A992-0CD3432E2BC6}" type="parTrans" cxnId="{8FC3FE61-4ED7-4E65-AB7F-D8075AF1BFE9}">
      <dgm:prSet/>
      <dgm:spPr/>
      <dgm:t>
        <a:bodyPr/>
        <a:lstStyle/>
        <a:p>
          <a:endParaRPr lang="es-ES"/>
        </a:p>
      </dgm:t>
    </dgm:pt>
    <dgm:pt modelId="{1B11A536-CC8E-4822-B982-6286F58F1D71}" type="sibTrans" cxnId="{8FC3FE61-4ED7-4E65-AB7F-D8075AF1BFE9}">
      <dgm:prSet/>
      <dgm:spPr/>
      <dgm:t>
        <a:bodyPr/>
        <a:lstStyle/>
        <a:p>
          <a:endParaRPr lang="es-ES"/>
        </a:p>
      </dgm:t>
    </dgm:pt>
    <dgm:pt modelId="{683F055B-8F5C-4DA7-B518-0D687BB7177A}">
      <dgm:prSet phldrT="[Texto]"/>
      <dgm:spPr/>
      <dgm:t>
        <a:bodyPr/>
        <a:lstStyle/>
        <a:p>
          <a:r>
            <a:rPr lang="es-ES" dirty="0"/>
            <a:t>PRODUCT OWNER 2</a:t>
          </a:r>
        </a:p>
      </dgm:t>
    </dgm:pt>
    <dgm:pt modelId="{39BCB8AA-5D5D-4F7B-BF8D-C3FD41382BEA}" type="parTrans" cxnId="{4F536BBF-865A-4D95-B50F-51DE86B9FEA7}">
      <dgm:prSet/>
      <dgm:spPr/>
      <dgm:t>
        <a:bodyPr/>
        <a:lstStyle/>
        <a:p>
          <a:endParaRPr lang="es-ES"/>
        </a:p>
      </dgm:t>
    </dgm:pt>
    <dgm:pt modelId="{570ED5D6-7A3B-465B-B348-E215D83C3F5A}" type="sibTrans" cxnId="{4F536BBF-865A-4D95-B50F-51DE86B9FEA7}">
      <dgm:prSet/>
      <dgm:spPr/>
      <dgm:t>
        <a:bodyPr/>
        <a:lstStyle/>
        <a:p>
          <a:endParaRPr lang="es-ES"/>
        </a:p>
      </dgm:t>
    </dgm:pt>
    <dgm:pt modelId="{EDC20E24-2B2C-4BEA-9C84-7B4CBB8DFAA0}">
      <dgm:prSet phldrT="[Texto]"/>
      <dgm:spPr/>
      <dgm:t>
        <a:bodyPr/>
        <a:lstStyle/>
        <a:p>
          <a:r>
            <a:rPr lang="es-ES" dirty="0"/>
            <a:t>PRODUCT OWNER 3</a:t>
          </a:r>
        </a:p>
      </dgm:t>
    </dgm:pt>
    <dgm:pt modelId="{835DA47D-5C00-43E7-B8EC-0C3253295C99}" type="parTrans" cxnId="{302B3E5C-4BCE-4C83-9298-2E1DC17FBA0C}">
      <dgm:prSet/>
      <dgm:spPr/>
      <dgm:t>
        <a:bodyPr/>
        <a:lstStyle/>
        <a:p>
          <a:endParaRPr lang="es-ES"/>
        </a:p>
      </dgm:t>
    </dgm:pt>
    <dgm:pt modelId="{8442B73C-E81C-49D5-BF18-7C891870287D}" type="sibTrans" cxnId="{302B3E5C-4BCE-4C83-9298-2E1DC17FBA0C}">
      <dgm:prSet/>
      <dgm:spPr/>
      <dgm:t>
        <a:bodyPr/>
        <a:lstStyle/>
        <a:p>
          <a:endParaRPr lang="es-ES"/>
        </a:p>
      </dgm:t>
    </dgm:pt>
    <dgm:pt modelId="{0D4E1479-8A71-4754-8BD5-59817FD82B67}" type="pres">
      <dgm:prSet presAssocID="{2B7026AF-242C-4590-AAFB-A1FE5DBAD9C0}" presName="Name0" presStyleCnt="0">
        <dgm:presLayoutVars>
          <dgm:chPref val="1"/>
          <dgm:dir/>
          <dgm:animOne val="branch"/>
          <dgm:animLvl val="lvl"/>
          <dgm:resizeHandles val="exact"/>
        </dgm:presLayoutVars>
      </dgm:prSet>
      <dgm:spPr/>
    </dgm:pt>
    <dgm:pt modelId="{9101A1F9-A4FE-4EBB-96A5-DAD130BA6C58}" type="pres">
      <dgm:prSet presAssocID="{4C0F7336-4918-4464-A606-634C2B766176}" presName="root1" presStyleCnt="0"/>
      <dgm:spPr/>
    </dgm:pt>
    <dgm:pt modelId="{F68C4562-72E5-46D0-99B0-9FA158F3FD5D}" type="pres">
      <dgm:prSet presAssocID="{4C0F7336-4918-4464-A606-634C2B766176}" presName="LevelOneTextNode" presStyleLbl="node0" presStyleIdx="0" presStyleCnt="1">
        <dgm:presLayoutVars>
          <dgm:chPref val="3"/>
        </dgm:presLayoutVars>
      </dgm:prSet>
      <dgm:spPr/>
    </dgm:pt>
    <dgm:pt modelId="{B9626FAC-4057-4B40-A32C-5D9758A81D60}" type="pres">
      <dgm:prSet presAssocID="{4C0F7336-4918-4464-A606-634C2B766176}" presName="level2hierChild" presStyleCnt="0"/>
      <dgm:spPr/>
    </dgm:pt>
    <dgm:pt modelId="{E18CDF83-720B-4CE1-A8A9-9BD60328817A}" type="pres">
      <dgm:prSet presAssocID="{8112C37C-437C-40C5-A992-0CD3432E2BC6}" presName="conn2-1" presStyleLbl="parChTrans1D2" presStyleIdx="0" presStyleCnt="3"/>
      <dgm:spPr/>
    </dgm:pt>
    <dgm:pt modelId="{3E268477-D611-4630-B483-4312CF9B0A53}" type="pres">
      <dgm:prSet presAssocID="{8112C37C-437C-40C5-A992-0CD3432E2BC6}" presName="connTx" presStyleLbl="parChTrans1D2" presStyleIdx="0" presStyleCnt="3"/>
      <dgm:spPr/>
    </dgm:pt>
    <dgm:pt modelId="{78BD079A-375D-482D-B78F-AFCFAE1E3626}" type="pres">
      <dgm:prSet presAssocID="{7F14B8EF-0694-4395-A792-5AC15660CEB7}" presName="root2" presStyleCnt="0"/>
      <dgm:spPr/>
    </dgm:pt>
    <dgm:pt modelId="{37156099-FD93-45A2-886B-CBB1762D6BB4}" type="pres">
      <dgm:prSet presAssocID="{7F14B8EF-0694-4395-A792-5AC15660CEB7}" presName="LevelTwoTextNode" presStyleLbl="node2" presStyleIdx="0" presStyleCnt="3">
        <dgm:presLayoutVars>
          <dgm:chPref val="3"/>
        </dgm:presLayoutVars>
      </dgm:prSet>
      <dgm:spPr/>
    </dgm:pt>
    <dgm:pt modelId="{B2DC814E-A4E4-446B-969D-3518CCD022DC}" type="pres">
      <dgm:prSet presAssocID="{7F14B8EF-0694-4395-A792-5AC15660CEB7}" presName="level3hierChild" presStyleCnt="0"/>
      <dgm:spPr/>
    </dgm:pt>
    <dgm:pt modelId="{A7425F5C-874F-4E7B-BA1B-75503563EA46}" type="pres">
      <dgm:prSet presAssocID="{39BCB8AA-5D5D-4F7B-BF8D-C3FD41382BEA}" presName="conn2-1" presStyleLbl="parChTrans1D2" presStyleIdx="1" presStyleCnt="3"/>
      <dgm:spPr/>
    </dgm:pt>
    <dgm:pt modelId="{36E822FC-A77D-4BB7-8442-F38629F76113}" type="pres">
      <dgm:prSet presAssocID="{39BCB8AA-5D5D-4F7B-BF8D-C3FD41382BEA}" presName="connTx" presStyleLbl="parChTrans1D2" presStyleIdx="1" presStyleCnt="3"/>
      <dgm:spPr/>
    </dgm:pt>
    <dgm:pt modelId="{2DD299E0-EEFE-4688-97F1-A5433980ADC6}" type="pres">
      <dgm:prSet presAssocID="{683F055B-8F5C-4DA7-B518-0D687BB7177A}" presName="root2" presStyleCnt="0"/>
      <dgm:spPr/>
    </dgm:pt>
    <dgm:pt modelId="{E034D86E-B14C-42ED-8402-70749E7C6432}" type="pres">
      <dgm:prSet presAssocID="{683F055B-8F5C-4DA7-B518-0D687BB7177A}" presName="LevelTwoTextNode" presStyleLbl="node2" presStyleIdx="1" presStyleCnt="3">
        <dgm:presLayoutVars>
          <dgm:chPref val="3"/>
        </dgm:presLayoutVars>
      </dgm:prSet>
      <dgm:spPr/>
    </dgm:pt>
    <dgm:pt modelId="{EF946977-5B63-41A3-AD02-CCD078F64724}" type="pres">
      <dgm:prSet presAssocID="{683F055B-8F5C-4DA7-B518-0D687BB7177A}" presName="level3hierChild" presStyleCnt="0"/>
      <dgm:spPr/>
    </dgm:pt>
    <dgm:pt modelId="{6B40A2D4-A404-4F70-8BAF-2DCD474A75B9}" type="pres">
      <dgm:prSet presAssocID="{835DA47D-5C00-43E7-B8EC-0C3253295C99}" presName="conn2-1" presStyleLbl="parChTrans1D2" presStyleIdx="2" presStyleCnt="3"/>
      <dgm:spPr/>
    </dgm:pt>
    <dgm:pt modelId="{1BA7D1DF-FE87-48D8-A3FE-90BA082490D8}" type="pres">
      <dgm:prSet presAssocID="{835DA47D-5C00-43E7-B8EC-0C3253295C99}" presName="connTx" presStyleLbl="parChTrans1D2" presStyleIdx="2" presStyleCnt="3"/>
      <dgm:spPr/>
    </dgm:pt>
    <dgm:pt modelId="{30E378A9-C0B9-43DD-9F61-0C665C09EF85}" type="pres">
      <dgm:prSet presAssocID="{EDC20E24-2B2C-4BEA-9C84-7B4CBB8DFAA0}" presName="root2" presStyleCnt="0"/>
      <dgm:spPr/>
    </dgm:pt>
    <dgm:pt modelId="{E45B7DC3-2BBD-45BF-8656-8BF8BDF58D2B}" type="pres">
      <dgm:prSet presAssocID="{EDC20E24-2B2C-4BEA-9C84-7B4CBB8DFAA0}" presName="LevelTwoTextNode" presStyleLbl="node2" presStyleIdx="2" presStyleCnt="3">
        <dgm:presLayoutVars>
          <dgm:chPref val="3"/>
        </dgm:presLayoutVars>
      </dgm:prSet>
      <dgm:spPr/>
    </dgm:pt>
    <dgm:pt modelId="{0834B4B3-A9DA-4B14-A7DB-A2144DA619B5}" type="pres">
      <dgm:prSet presAssocID="{EDC20E24-2B2C-4BEA-9C84-7B4CBB8DFAA0}" presName="level3hierChild" presStyleCnt="0"/>
      <dgm:spPr/>
    </dgm:pt>
  </dgm:ptLst>
  <dgm:cxnLst>
    <dgm:cxn modelId="{C8E55401-B8D9-42C5-AE52-13A747731503}" type="presOf" srcId="{39BCB8AA-5D5D-4F7B-BF8D-C3FD41382BEA}" destId="{36E822FC-A77D-4BB7-8442-F38629F76113}" srcOrd="1" destOrd="0" presId="urn:microsoft.com/office/officeart/2008/layout/HorizontalMultiLevelHierarchy"/>
    <dgm:cxn modelId="{F2595813-EA54-4F31-A004-A136DCFA412A}" type="presOf" srcId="{8112C37C-437C-40C5-A992-0CD3432E2BC6}" destId="{E18CDF83-720B-4CE1-A8A9-9BD60328817A}" srcOrd="0" destOrd="0" presId="urn:microsoft.com/office/officeart/2008/layout/HorizontalMultiLevelHierarchy"/>
    <dgm:cxn modelId="{BE36DF29-FBA0-4B45-A813-74D6D5B3D1F1}" type="presOf" srcId="{EDC20E24-2B2C-4BEA-9C84-7B4CBB8DFAA0}" destId="{E45B7DC3-2BBD-45BF-8656-8BF8BDF58D2B}" srcOrd="0" destOrd="0" presId="urn:microsoft.com/office/officeart/2008/layout/HorizontalMultiLevelHierarchy"/>
    <dgm:cxn modelId="{302B3E5C-4BCE-4C83-9298-2E1DC17FBA0C}" srcId="{4C0F7336-4918-4464-A606-634C2B766176}" destId="{EDC20E24-2B2C-4BEA-9C84-7B4CBB8DFAA0}" srcOrd="2" destOrd="0" parTransId="{835DA47D-5C00-43E7-B8EC-0C3253295C99}" sibTransId="{8442B73C-E81C-49D5-BF18-7C891870287D}"/>
    <dgm:cxn modelId="{33632060-CF2D-4DED-9430-E472170D06AC}" type="presOf" srcId="{683F055B-8F5C-4DA7-B518-0D687BB7177A}" destId="{E034D86E-B14C-42ED-8402-70749E7C6432}" srcOrd="0" destOrd="0" presId="urn:microsoft.com/office/officeart/2008/layout/HorizontalMultiLevelHierarchy"/>
    <dgm:cxn modelId="{8FC3FE61-4ED7-4E65-AB7F-D8075AF1BFE9}" srcId="{4C0F7336-4918-4464-A606-634C2B766176}" destId="{7F14B8EF-0694-4395-A792-5AC15660CEB7}" srcOrd="0" destOrd="0" parTransId="{8112C37C-437C-40C5-A992-0CD3432E2BC6}" sibTransId="{1B11A536-CC8E-4822-B982-6286F58F1D71}"/>
    <dgm:cxn modelId="{F7999C7C-6F0E-4D49-8E88-4223711C8338}" srcId="{2B7026AF-242C-4590-AAFB-A1FE5DBAD9C0}" destId="{4C0F7336-4918-4464-A606-634C2B766176}" srcOrd="0" destOrd="0" parTransId="{A9FFB8D0-4AD2-4F8D-AE03-73D89D918AAF}" sibTransId="{A10E4D3C-1AB1-4AA4-9A97-AB9BC43150DB}"/>
    <dgm:cxn modelId="{290DD08C-1D67-4352-8057-305D2DE23A92}" type="presOf" srcId="{835DA47D-5C00-43E7-B8EC-0C3253295C99}" destId="{6B40A2D4-A404-4F70-8BAF-2DCD474A75B9}" srcOrd="0" destOrd="0" presId="urn:microsoft.com/office/officeart/2008/layout/HorizontalMultiLevelHierarchy"/>
    <dgm:cxn modelId="{DDEF6097-7663-420D-9A31-46C9AA086BA9}" type="presOf" srcId="{4C0F7336-4918-4464-A606-634C2B766176}" destId="{F68C4562-72E5-46D0-99B0-9FA158F3FD5D}" srcOrd="0" destOrd="0" presId="urn:microsoft.com/office/officeart/2008/layout/HorizontalMultiLevelHierarchy"/>
    <dgm:cxn modelId="{9BA1C7A8-5E79-4644-8543-4834F5BE565F}" type="presOf" srcId="{7F14B8EF-0694-4395-A792-5AC15660CEB7}" destId="{37156099-FD93-45A2-886B-CBB1762D6BB4}" srcOrd="0" destOrd="0" presId="urn:microsoft.com/office/officeart/2008/layout/HorizontalMultiLevelHierarchy"/>
    <dgm:cxn modelId="{5A96B0BB-9F33-44AA-A63C-E615CF01A7ED}" type="presOf" srcId="{39BCB8AA-5D5D-4F7B-BF8D-C3FD41382BEA}" destId="{A7425F5C-874F-4E7B-BA1B-75503563EA46}" srcOrd="0" destOrd="0" presId="urn:microsoft.com/office/officeart/2008/layout/HorizontalMultiLevelHierarchy"/>
    <dgm:cxn modelId="{4F536BBF-865A-4D95-B50F-51DE86B9FEA7}" srcId="{4C0F7336-4918-4464-A606-634C2B766176}" destId="{683F055B-8F5C-4DA7-B518-0D687BB7177A}" srcOrd="1" destOrd="0" parTransId="{39BCB8AA-5D5D-4F7B-BF8D-C3FD41382BEA}" sibTransId="{570ED5D6-7A3B-465B-B348-E215D83C3F5A}"/>
    <dgm:cxn modelId="{74E361D4-41DC-4ADD-9601-49CCA77D3669}" type="presOf" srcId="{8112C37C-437C-40C5-A992-0CD3432E2BC6}" destId="{3E268477-D611-4630-B483-4312CF9B0A53}" srcOrd="1" destOrd="0" presId="urn:microsoft.com/office/officeart/2008/layout/HorizontalMultiLevelHierarchy"/>
    <dgm:cxn modelId="{B04B88DD-18D3-411F-9FF4-6E3D2FFA2679}" type="presOf" srcId="{835DA47D-5C00-43E7-B8EC-0C3253295C99}" destId="{1BA7D1DF-FE87-48D8-A3FE-90BA082490D8}" srcOrd="1" destOrd="0" presId="urn:microsoft.com/office/officeart/2008/layout/HorizontalMultiLevelHierarchy"/>
    <dgm:cxn modelId="{7AB44AFE-B829-4022-B680-A5912956AB6B}" type="presOf" srcId="{2B7026AF-242C-4590-AAFB-A1FE5DBAD9C0}" destId="{0D4E1479-8A71-4754-8BD5-59817FD82B67}" srcOrd="0" destOrd="0" presId="urn:microsoft.com/office/officeart/2008/layout/HorizontalMultiLevelHierarchy"/>
    <dgm:cxn modelId="{7C5119D3-1E74-4AE2-96C1-6B463443D6CA}" type="presParOf" srcId="{0D4E1479-8A71-4754-8BD5-59817FD82B67}" destId="{9101A1F9-A4FE-4EBB-96A5-DAD130BA6C58}" srcOrd="0" destOrd="0" presId="urn:microsoft.com/office/officeart/2008/layout/HorizontalMultiLevelHierarchy"/>
    <dgm:cxn modelId="{2BCF5A8A-1A83-4790-940D-CD1CA8082EED}" type="presParOf" srcId="{9101A1F9-A4FE-4EBB-96A5-DAD130BA6C58}" destId="{F68C4562-72E5-46D0-99B0-9FA158F3FD5D}" srcOrd="0" destOrd="0" presId="urn:microsoft.com/office/officeart/2008/layout/HorizontalMultiLevelHierarchy"/>
    <dgm:cxn modelId="{B1E3ABBB-7FBF-4E09-ACDF-81D7A0AD3899}" type="presParOf" srcId="{9101A1F9-A4FE-4EBB-96A5-DAD130BA6C58}" destId="{B9626FAC-4057-4B40-A32C-5D9758A81D60}" srcOrd="1" destOrd="0" presId="urn:microsoft.com/office/officeart/2008/layout/HorizontalMultiLevelHierarchy"/>
    <dgm:cxn modelId="{47060FB6-D25B-423F-BFFD-22391D39634E}" type="presParOf" srcId="{B9626FAC-4057-4B40-A32C-5D9758A81D60}" destId="{E18CDF83-720B-4CE1-A8A9-9BD60328817A}" srcOrd="0" destOrd="0" presId="urn:microsoft.com/office/officeart/2008/layout/HorizontalMultiLevelHierarchy"/>
    <dgm:cxn modelId="{0197B33D-D3F7-4DF9-B975-782B842992A5}" type="presParOf" srcId="{E18CDF83-720B-4CE1-A8A9-9BD60328817A}" destId="{3E268477-D611-4630-B483-4312CF9B0A53}" srcOrd="0" destOrd="0" presId="urn:microsoft.com/office/officeart/2008/layout/HorizontalMultiLevelHierarchy"/>
    <dgm:cxn modelId="{66ED995D-292B-49C4-9953-E6BB5C1778AE}" type="presParOf" srcId="{B9626FAC-4057-4B40-A32C-5D9758A81D60}" destId="{78BD079A-375D-482D-B78F-AFCFAE1E3626}" srcOrd="1" destOrd="0" presId="urn:microsoft.com/office/officeart/2008/layout/HorizontalMultiLevelHierarchy"/>
    <dgm:cxn modelId="{2D5F65DF-FCA0-4F7F-81B9-49C0156AE362}" type="presParOf" srcId="{78BD079A-375D-482D-B78F-AFCFAE1E3626}" destId="{37156099-FD93-45A2-886B-CBB1762D6BB4}" srcOrd="0" destOrd="0" presId="urn:microsoft.com/office/officeart/2008/layout/HorizontalMultiLevelHierarchy"/>
    <dgm:cxn modelId="{BBE595CE-919D-4658-AF05-66FBF9A8F610}" type="presParOf" srcId="{78BD079A-375D-482D-B78F-AFCFAE1E3626}" destId="{B2DC814E-A4E4-446B-969D-3518CCD022DC}" srcOrd="1" destOrd="0" presId="urn:microsoft.com/office/officeart/2008/layout/HorizontalMultiLevelHierarchy"/>
    <dgm:cxn modelId="{8D869D94-5EA1-44A4-85E3-78D45C2142EE}" type="presParOf" srcId="{B9626FAC-4057-4B40-A32C-5D9758A81D60}" destId="{A7425F5C-874F-4E7B-BA1B-75503563EA46}" srcOrd="2" destOrd="0" presId="urn:microsoft.com/office/officeart/2008/layout/HorizontalMultiLevelHierarchy"/>
    <dgm:cxn modelId="{96CCADAB-15BC-480E-AB59-494FDA967765}" type="presParOf" srcId="{A7425F5C-874F-4E7B-BA1B-75503563EA46}" destId="{36E822FC-A77D-4BB7-8442-F38629F76113}" srcOrd="0" destOrd="0" presId="urn:microsoft.com/office/officeart/2008/layout/HorizontalMultiLevelHierarchy"/>
    <dgm:cxn modelId="{9BF015A6-D054-4252-9ADD-0ABF914A3354}" type="presParOf" srcId="{B9626FAC-4057-4B40-A32C-5D9758A81D60}" destId="{2DD299E0-EEFE-4688-97F1-A5433980ADC6}" srcOrd="3" destOrd="0" presId="urn:microsoft.com/office/officeart/2008/layout/HorizontalMultiLevelHierarchy"/>
    <dgm:cxn modelId="{6763D452-348D-47F9-9AEF-104157A55BDA}" type="presParOf" srcId="{2DD299E0-EEFE-4688-97F1-A5433980ADC6}" destId="{E034D86E-B14C-42ED-8402-70749E7C6432}" srcOrd="0" destOrd="0" presId="urn:microsoft.com/office/officeart/2008/layout/HorizontalMultiLevelHierarchy"/>
    <dgm:cxn modelId="{7BB18262-89BB-44FD-B7A9-340E8E1BED7D}" type="presParOf" srcId="{2DD299E0-EEFE-4688-97F1-A5433980ADC6}" destId="{EF946977-5B63-41A3-AD02-CCD078F64724}" srcOrd="1" destOrd="0" presId="urn:microsoft.com/office/officeart/2008/layout/HorizontalMultiLevelHierarchy"/>
    <dgm:cxn modelId="{1E6DC892-1BAE-449B-BBDF-673BD9C1E3DF}" type="presParOf" srcId="{B9626FAC-4057-4B40-A32C-5D9758A81D60}" destId="{6B40A2D4-A404-4F70-8BAF-2DCD474A75B9}" srcOrd="4" destOrd="0" presId="urn:microsoft.com/office/officeart/2008/layout/HorizontalMultiLevelHierarchy"/>
    <dgm:cxn modelId="{FED53EF8-2CC1-4561-88B3-F144889F5873}" type="presParOf" srcId="{6B40A2D4-A404-4F70-8BAF-2DCD474A75B9}" destId="{1BA7D1DF-FE87-48D8-A3FE-90BA082490D8}" srcOrd="0" destOrd="0" presId="urn:microsoft.com/office/officeart/2008/layout/HorizontalMultiLevelHierarchy"/>
    <dgm:cxn modelId="{30DA92EE-1A07-4B82-B0A4-9DA512C2E187}" type="presParOf" srcId="{B9626FAC-4057-4B40-A32C-5D9758A81D60}" destId="{30E378A9-C0B9-43DD-9F61-0C665C09EF85}" srcOrd="5" destOrd="0" presId="urn:microsoft.com/office/officeart/2008/layout/HorizontalMultiLevelHierarchy"/>
    <dgm:cxn modelId="{A271AFFC-EAED-4594-B568-190CA94A7FFB}" type="presParOf" srcId="{30E378A9-C0B9-43DD-9F61-0C665C09EF85}" destId="{E45B7DC3-2BBD-45BF-8656-8BF8BDF58D2B}" srcOrd="0" destOrd="0" presId="urn:microsoft.com/office/officeart/2008/layout/HorizontalMultiLevelHierarchy"/>
    <dgm:cxn modelId="{B38C23DC-5AC2-4099-85CB-F13630A39E08}" type="presParOf" srcId="{30E378A9-C0B9-43DD-9F61-0C665C09EF85}" destId="{0834B4B3-A9DA-4B14-A7DB-A2144DA619B5}"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B7026AF-242C-4590-AAFB-A1FE5DBAD9C0}" type="doc">
      <dgm:prSet loTypeId="urn:microsoft.com/office/officeart/2008/layout/HorizontalMultiLevelHierarchy" loCatId="hierarchy" qsTypeId="urn:microsoft.com/office/officeart/2005/8/quickstyle/3d2" qsCatId="3D" csTypeId="urn:microsoft.com/office/officeart/2005/8/colors/colorful2" csCatId="colorful" phldr="1"/>
      <dgm:spPr/>
      <dgm:t>
        <a:bodyPr/>
        <a:lstStyle/>
        <a:p>
          <a:endParaRPr lang="es-ES"/>
        </a:p>
      </dgm:t>
    </dgm:pt>
    <dgm:pt modelId="{4C0F7336-4918-4464-A606-634C2B766176}">
      <dgm:prSet phldrT="[Texto]"/>
      <dgm:spPr/>
      <dgm:t>
        <a:bodyPr/>
        <a:lstStyle/>
        <a:p>
          <a:r>
            <a:rPr lang="es-ES" b="1" i="0" dirty="0">
              <a:effectLst/>
              <a:latin typeface="Charlie Text"/>
            </a:rPr>
            <a:t>EXPERTO EN SCRUM DE SCRUM</a:t>
          </a:r>
          <a:endParaRPr lang="es-ES" dirty="0"/>
        </a:p>
      </dgm:t>
    </dgm:pt>
    <dgm:pt modelId="{A9FFB8D0-4AD2-4F8D-AE03-73D89D918AAF}" type="parTrans" cxnId="{F7999C7C-6F0E-4D49-8E88-4223711C8338}">
      <dgm:prSet/>
      <dgm:spPr/>
      <dgm:t>
        <a:bodyPr/>
        <a:lstStyle/>
        <a:p>
          <a:endParaRPr lang="es-ES"/>
        </a:p>
      </dgm:t>
    </dgm:pt>
    <dgm:pt modelId="{A10E4D3C-1AB1-4AA4-9A97-AB9BC43150DB}" type="sibTrans" cxnId="{F7999C7C-6F0E-4D49-8E88-4223711C8338}">
      <dgm:prSet/>
      <dgm:spPr/>
      <dgm:t>
        <a:bodyPr/>
        <a:lstStyle/>
        <a:p>
          <a:endParaRPr lang="es-ES"/>
        </a:p>
      </dgm:t>
    </dgm:pt>
    <dgm:pt modelId="{7F14B8EF-0694-4395-A792-5AC15660CEB7}">
      <dgm:prSet phldrT="[Texto]"/>
      <dgm:spPr/>
      <dgm:t>
        <a:bodyPr/>
        <a:lstStyle/>
        <a:p>
          <a:r>
            <a:rPr lang="es-ES" dirty="0"/>
            <a:t>SCRUM 1</a:t>
          </a:r>
        </a:p>
      </dgm:t>
    </dgm:pt>
    <dgm:pt modelId="{8112C37C-437C-40C5-A992-0CD3432E2BC6}" type="parTrans" cxnId="{8FC3FE61-4ED7-4E65-AB7F-D8075AF1BFE9}">
      <dgm:prSet/>
      <dgm:spPr/>
      <dgm:t>
        <a:bodyPr/>
        <a:lstStyle/>
        <a:p>
          <a:endParaRPr lang="es-ES"/>
        </a:p>
      </dgm:t>
    </dgm:pt>
    <dgm:pt modelId="{1B11A536-CC8E-4822-B982-6286F58F1D71}" type="sibTrans" cxnId="{8FC3FE61-4ED7-4E65-AB7F-D8075AF1BFE9}">
      <dgm:prSet/>
      <dgm:spPr/>
      <dgm:t>
        <a:bodyPr/>
        <a:lstStyle/>
        <a:p>
          <a:endParaRPr lang="es-ES"/>
        </a:p>
      </dgm:t>
    </dgm:pt>
    <dgm:pt modelId="{683F055B-8F5C-4DA7-B518-0D687BB7177A}">
      <dgm:prSet phldrT="[Texto]"/>
      <dgm:spPr/>
      <dgm:t>
        <a:bodyPr/>
        <a:lstStyle/>
        <a:p>
          <a:r>
            <a:rPr lang="es-ES" dirty="0"/>
            <a:t>SCRUM 2</a:t>
          </a:r>
        </a:p>
      </dgm:t>
    </dgm:pt>
    <dgm:pt modelId="{39BCB8AA-5D5D-4F7B-BF8D-C3FD41382BEA}" type="parTrans" cxnId="{4F536BBF-865A-4D95-B50F-51DE86B9FEA7}">
      <dgm:prSet/>
      <dgm:spPr/>
      <dgm:t>
        <a:bodyPr/>
        <a:lstStyle/>
        <a:p>
          <a:endParaRPr lang="es-ES"/>
        </a:p>
      </dgm:t>
    </dgm:pt>
    <dgm:pt modelId="{570ED5D6-7A3B-465B-B348-E215D83C3F5A}" type="sibTrans" cxnId="{4F536BBF-865A-4D95-B50F-51DE86B9FEA7}">
      <dgm:prSet/>
      <dgm:spPr/>
      <dgm:t>
        <a:bodyPr/>
        <a:lstStyle/>
        <a:p>
          <a:endParaRPr lang="es-ES"/>
        </a:p>
      </dgm:t>
    </dgm:pt>
    <dgm:pt modelId="{EDC20E24-2B2C-4BEA-9C84-7B4CBB8DFAA0}">
      <dgm:prSet phldrT="[Texto]"/>
      <dgm:spPr/>
      <dgm:t>
        <a:bodyPr/>
        <a:lstStyle/>
        <a:p>
          <a:r>
            <a:rPr lang="es-ES" dirty="0"/>
            <a:t>SCRUM 3</a:t>
          </a:r>
        </a:p>
      </dgm:t>
    </dgm:pt>
    <dgm:pt modelId="{835DA47D-5C00-43E7-B8EC-0C3253295C99}" type="parTrans" cxnId="{302B3E5C-4BCE-4C83-9298-2E1DC17FBA0C}">
      <dgm:prSet/>
      <dgm:spPr/>
      <dgm:t>
        <a:bodyPr/>
        <a:lstStyle/>
        <a:p>
          <a:endParaRPr lang="es-ES"/>
        </a:p>
      </dgm:t>
    </dgm:pt>
    <dgm:pt modelId="{8442B73C-E81C-49D5-BF18-7C891870287D}" type="sibTrans" cxnId="{302B3E5C-4BCE-4C83-9298-2E1DC17FBA0C}">
      <dgm:prSet/>
      <dgm:spPr/>
      <dgm:t>
        <a:bodyPr/>
        <a:lstStyle/>
        <a:p>
          <a:endParaRPr lang="es-ES"/>
        </a:p>
      </dgm:t>
    </dgm:pt>
    <dgm:pt modelId="{0D4E1479-8A71-4754-8BD5-59817FD82B67}" type="pres">
      <dgm:prSet presAssocID="{2B7026AF-242C-4590-AAFB-A1FE5DBAD9C0}" presName="Name0" presStyleCnt="0">
        <dgm:presLayoutVars>
          <dgm:chPref val="1"/>
          <dgm:dir/>
          <dgm:animOne val="branch"/>
          <dgm:animLvl val="lvl"/>
          <dgm:resizeHandles val="exact"/>
        </dgm:presLayoutVars>
      </dgm:prSet>
      <dgm:spPr/>
    </dgm:pt>
    <dgm:pt modelId="{9101A1F9-A4FE-4EBB-96A5-DAD130BA6C58}" type="pres">
      <dgm:prSet presAssocID="{4C0F7336-4918-4464-A606-634C2B766176}" presName="root1" presStyleCnt="0"/>
      <dgm:spPr/>
    </dgm:pt>
    <dgm:pt modelId="{F68C4562-72E5-46D0-99B0-9FA158F3FD5D}" type="pres">
      <dgm:prSet presAssocID="{4C0F7336-4918-4464-A606-634C2B766176}" presName="LevelOneTextNode" presStyleLbl="node0" presStyleIdx="0" presStyleCnt="1">
        <dgm:presLayoutVars>
          <dgm:chPref val="3"/>
        </dgm:presLayoutVars>
      </dgm:prSet>
      <dgm:spPr/>
    </dgm:pt>
    <dgm:pt modelId="{B9626FAC-4057-4B40-A32C-5D9758A81D60}" type="pres">
      <dgm:prSet presAssocID="{4C0F7336-4918-4464-A606-634C2B766176}" presName="level2hierChild" presStyleCnt="0"/>
      <dgm:spPr/>
    </dgm:pt>
    <dgm:pt modelId="{E18CDF83-720B-4CE1-A8A9-9BD60328817A}" type="pres">
      <dgm:prSet presAssocID="{8112C37C-437C-40C5-A992-0CD3432E2BC6}" presName="conn2-1" presStyleLbl="parChTrans1D2" presStyleIdx="0" presStyleCnt="3"/>
      <dgm:spPr/>
    </dgm:pt>
    <dgm:pt modelId="{3E268477-D611-4630-B483-4312CF9B0A53}" type="pres">
      <dgm:prSet presAssocID="{8112C37C-437C-40C5-A992-0CD3432E2BC6}" presName="connTx" presStyleLbl="parChTrans1D2" presStyleIdx="0" presStyleCnt="3"/>
      <dgm:spPr/>
    </dgm:pt>
    <dgm:pt modelId="{78BD079A-375D-482D-B78F-AFCFAE1E3626}" type="pres">
      <dgm:prSet presAssocID="{7F14B8EF-0694-4395-A792-5AC15660CEB7}" presName="root2" presStyleCnt="0"/>
      <dgm:spPr/>
    </dgm:pt>
    <dgm:pt modelId="{37156099-FD93-45A2-886B-CBB1762D6BB4}" type="pres">
      <dgm:prSet presAssocID="{7F14B8EF-0694-4395-A792-5AC15660CEB7}" presName="LevelTwoTextNode" presStyleLbl="node2" presStyleIdx="0" presStyleCnt="3">
        <dgm:presLayoutVars>
          <dgm:chPref val="3"/>
        </dgm:presLayoutVars>
      </dgm:prSet>
      <dgm:spPr/>
    </dgm:pt>
    <dgm:pt modelId="{B2DC814E-A4E4-446B-969D-3518CCD022DC}" type="pres">
      <dgm:prSet presAssocID="{7F14B8EF-0694-4395-A792-5AC15660CEB7}" presName="level3hierChild" presStyleCnt="0"/>
      <dgm:spPr/>
    </dgm:pt>
    <dgm:pt modelId="{A7425F5C-874F-4E7B-BA1B-75503563EA46}" type="pres">
      <dgm:prSet presAssocID="{39BCB8AA-5D5D-4F7B-BF8D-C3FD41382BEA}" presName="conn2-1" presStyleLbl="parChTrans1D2" presStyleIdx="1" presStyleCnt="3"/>
      <dgm:spPr/>
    </dgm:pt>
    <dgm:pt modelId="{36E822FC-A77D-4BB7-8442-F38629F76113}" type="pres">
      <dgm:prSet presAssocID="{39BCB8AA-5D5D-4F7B-BF8D-C3FD41382BEA}" presName="connTx" presStyleLbl="parChTrans1D2" presStyleIdx="1" presStyleCnt="3"/>
      <dgm:spPr/>
    </dgm:pt>
    <dgm:pt modelId="{2DD299E0-EEFE-4688-97F1-A5433980ADC6}" type="pres">
      <dgm:prSet presAssocID="{683F055B-8F5C-4DA7-B518-0D687BB7177A}" presName="root2" presStyleCnt="0"/>
      <dgm:spPr/>
    </dgm:pt>
    <dgm:pt modelId="{E034D86E-B14C-42ED-8402-70749E7C6432}" type="pres">
      <dgm:prSet presAssocID="{683F055B-8F5C-4DA7-B518-0D687BB7177A}" presName="LevelTwoTextNode" presStyleLbl="node2" presStyleIdx="1" presStyleCnt="3">
        <dgm:presLayoutVars>
          <dgm:chPref val="3"/>
        </dgm:presLayoutVars>
      </dgm:prSet>
      <dgm:spPr/>
    </dgm:pt>
    <dgm:pt modelId="{EF946977-5B63-41A3-AD02-CCD078F64724}" type="pres">
      <dgm:prSet presAssocID="{683F055B-8F5C-4DA7-B518-0D687BB7177A}" presName="level3hierChild" presStyleCnt="0"/>
      <dgm:spPr/>
    </dgm:pt>
    <dgm:pt modelId="{6B40A2D4-A404-4F70-8BAF-2DCD474A75B9}" type="pres">
      <dgm:prSet presAssocID="{835DA47D-5C00-43E7-B8EC-0C3253295C99}" presName="conn2-1" presStyleLbl="parChTrans1D2" presStyleIdx="2" presStyleCnt="3"/>
      <dgm:spPr/>
    </dgm:pt>
    <dgm:pt modelId="{1BA7D1DF-FE87-48D8-A3FE-90BA082490D8}" type="pres">
      <dgm:prSet presAssocID="{835DA47D-5C00-43E7-B8EC-0C3253295C99}" presName="connTx" presStyleLbl="parChTrans1D2" presStyleIdx="2" presStyleCnt="3"/>
      <dgm:spPr/>
    </dgm:pt>
    <dgm:pt modelId="{30E378A9-C0B9-43DD-9F61-0C665C09EF85}" type="pres">
      <dgm:prSet presAssocID="{EDC20E24-2B2C-4BEA-9C84-7B4CBB8DFAA0}" presName="root2" presStyleCnt="0"/>
      <dgm:spPr/>
    </dgm:pt>
    <dgm:pt modelId="{E45B7DC3-2BBD-45BF-8656-8BF8BDF58D2B}" type="pres">
      <dgm:prSet presAssocID="{EDC20E24-2B2C-4BEA-9C84-7B4CBB8DFAA0}" presName="LevelTwoTextNode" presStyleLbl="node2" presStyleIdx="2" presStyleCnt="3">
        <dgm:presLayoutVars>
          <dgm:chPref val="3"/>
        </dgm:presLayoutVars>
      </dgm:prSet>
      <dgm:spPr/>
    </dgm:pt>
    <dgm:pt modelId="{0834B4B3-A9DA-4B14-A7DB-A2144DA619B5}" type="pres">
      <dgm:prSet presAssocID="{EDC20E24-2B2C-4BEA-9C84-7B4CBB8DFAA0}" presName="level3hierChild" presStyleCnt="0"/>
      <dgm:spPr/>
    </dgm:pt>
  </dgm:ptLst>
  <dgm:cxnLst>
    <dgm:cxn modelId="{C8E55401-B8D9-42C5-AE52-13A747731503}" type="presOf" srcId="{39BCB8AA-5D5D-4F7B-BF8D-C3FD41382BEA}" destId="{36E822FC-A77D-4BB7-8442-F38629F76113}" srcOrd="1" destOrd="0" presId="urn:microsoft.com/office/officeart/2008/layout/HorizontalMultiLevelHierarchy"/>
    <dgm:cxn modelId="{F2595813-EA54-4F31-A004-A136DCFA412A}" type="presOf" srcId="{8112C37C-437C-40C5-A992-0CD3432E2BC6}" destId="{E18CDF83-720B-4CE1-A8A9-9BD60328817A}" srcOrd="0" destOrd="0" presId="urn:microsoft.com/office/officeart/2008/layout/HorizontalMultiLevelHierarchy"/>
    <dgm:cxn modelId="{BE36DF29-FBA0-4B45-A813-74D6D5B3D1F1}" type="presOf" srcId="{EDC20E24-2B2C-4BEA-9C84-7B4CBB8DFAA0}" destId="{E45B7DC3-2BBD-45BF-8656-8BF8BDF58D2B}" srcOrd="0" destOrd="0" presId="urn:microsoft.com/office/officeart/2008/layout/HorizontalMultiLevelHierarchy"/>
    <dgm:cxn modelId="{302B3E5C-4BCE-4C83-9298-2E1DC17FBA0C}" srcId="{4C0F7336-4918-4464-A606-634C2B766176}" destId="{EDC20E24-2B2C-4BEA-9C84-7B4CBB8DFAA0}" srcOrd="2" destOrd="0" parTransId="{835DA47D-5C00-43E7-B8EC-0C3253295C99}" sibTransId="{8442B73C-E81C-49D5-BF18-7C891870287D}"/>
    <dgm:cxn modelId="{33632060-CF2D-4DED-9430-E472170D06AC}" type="presOf" srcId="{683F055B-8F5C-4DA7-B518-0D687BB7177A}" destId="{E034D86E-B14C-42ED-8402-70749E7C6432}" srcOrd="0" destOrd="0" presId="urn:microsoft.com/office/officeart/2008/layout/HorizontalMultiLevelHierarchy"/>
    <dgm:cxn modelId="{8FC3FE61-4ED7-4E65-AB7F-D8075AF1BFE9}" srcId="{4C0F7336-4918-4464-A606-634C2B766176}" destId="{7F14B8EF-0694-4395-A792-5AC15660CEB7}" srcOrd="0" destOrd="0" parTransId="{8112C37C-437C-40C5-A992-0CD3432E2BC6}" sibTransId="{1B11A536-CC8E-4822-B982-6286F58F1D71}"/>
    <dgm:cxn modelId="{F7999C7C-6F0E-4D49-8E88-4223711C8338}" srcId="{2B7026AF-242C-4590-AAFB-A1FE5DBAD9C0}" destId="{4C0F7336-4918-4464-A606-634C2B766176}" srcOrd="0" destOrd="0" parTransId="{A9FFB8D0-4AD2-4F8D-AE03-73D89D918AAF}" sibTransId="{A10E4D3C-1AB1-4AA4-9A97-AB9BC43150DB}"/>
    <dgm:cxn modelId="{290DD08C-1D67-4352-8057-305D2DE23A92}" type="presOf" srcId="{835DA47D-5C00-43E7-B8EC-0C3253295C99}" destId="{6B40A2D4-A404-4F70-8BAF-2DCD474A75B9}" srcOrd="0" destOrd="0" presId="urn:microsoft.com/office/officeart/2008/layout/HorizontalMultiLevelHierarchy"/>
    <dgm:cxn modelId="{DDEF6097-7663-420D-9A31-46C9AA086BA9}" type="presOf" srcId="{4C0F7336-4918-4464-A606-634C2B766176}" destId="{F68C4562-72E5-46D0-99B0-9FA158F3FD5D}" srcOrd="0" destOrd="0" presId="urn:microsoft.com/office/officeart/2008/layout/HorizontalMultiLevelHierarchy"/>
    <dgm:cxn modelId="{9BA1C7A8-5E79-4644-8543-4834F5BE565F}" type="presOf" srcId="{7F14B8EF-0694-4395-A792-5AC15660CEB7}" destId="{37156099-FD93-45A2-886B-CBB1762D6BB4}" srcOrd="0" destOrd="0" presId="urn:microsoft.com/office/officeart/2008/layout/HorizontalMultiLevelHierarchy"/>
    <dgm:cxn modelId="{5A96B0BB-9F33-44AA-A63C-E615CF01A7ED}" type="presOf" srcId="{39BCB8AA-5D5D-4F7B-BF8D-C3FD41382BEA}" destId="{A7425F5C-874F-4E7B-BA1B-75503563EA46}" srcOrd="0" destOrd="0" presId="urn:microsoft.com/office/officeart/2008/layout/HorizontalMultiLevelHierarchy"/>
    <dgm:cxn modelId="{4F536BBF-865A-4D95-B50F-51DE86B9FEA7}" srcId="{4C0F7336-4918-4464-A606-634C2B766176}" destId="{683F055B-8F5C-4DA7-B518-0D687BB7177A}" srcOrd="1" destOrd="0" parTransId="{39BCB8AA-5D5D-4F7B-BF8D-C3FD41382BEA}" sibTransId="{570ED5D6-7A3B-465B-B348-E215D83C3F5A}"/>
    <dgm:cxn modelId="{74E361D4-41DC-4ADD-9601-49CCA77D3669}" type="presOf" srcId="{8112C37C-437C-40C5-A992-0CD3432E2BC6}" destId="{3E268477-D611-4630-B483-4312CF9B0A53}" srcOrd="1" destOrd="0" presId="urn:microsoft.com/office/officeart/2008/layout/HorizontalMultiLevelHierarchy"/>
    <dgm:cxn modelId="{B04B88DD-18D3-411F-9FF4-6E3D2FFA2679}" type="presOf" srcId="{835DA47D-5C00-43E7-B8EC-0C3253295C99}" destId="{1BA7D1DF-FE87-48D8-A3FE-90BA082490D8}" srcOrd="1" destOrd="0" presId="urn:microsoft.com/office/officeart/2008/layout/HorizontalMultiLevelHierarchy"/>
    <dgm:cxn modelId="{7AB44AFE-B829-4022-B680-A5912956AB6B}" type="presOf" srcId="{2B7026AF-242C-4590-AAFB-A1FE5DBAD9C0}" destId="{0D4E1479-8A71-4754-8BD5-59817FD82B67}" srcOrd="0" destOrd="0" presId="urn:microsoft.com/office/officeart/2008/layout/HorizontalMultiLevelHierarchy"/>
    <dgm:cxn modelId="{7C5119D3-1E74-4AE2-96C1-6B463443D6CA}" type="presParOf" srcId="{0D4E1479-8A71-4754-8BD5-59817FD82B67}" destId="{9101A1F9-A4FE-4EBB-96A5-DAD130BA6C58}" srcOrd="0" destOrd="0" presId="urn:microsoft.com/office/officeart/2008/layout/HorizontalMultiLevelHierarchy"/>
    <dgm:cxn modelId="{2BCF5A8A-1A83-4790-940D-CD1CA8082EED}" type="presParOf" srcId="{9101A1F9-A4FE-4EBB-96A5-DAD130BA6C58}" destId="{F68C4562-72E5-46D0-99B0-9FA158F3FD5D}" srcOrd="0" destOrd="0" presId="urn:microsoft.com/office/officeart/2008/layout/HorizontalMultiLevelHierarchy"/>
    <dgm:cxn modelId="{B1E3ABBB-7FBF-4E09-ACDF-81D7A0AD3899}" type="presParOf" srcId="{9101A1F9-A4FE-4EBB-96A5-DAD130BA6C58}" destId="{B9626FAC-4057-4B40-A32C-5D9758A81D60}" srcOrd="1" destOrd="0" presId="urn:microsoft.com/office/officeart/2008/layout/HorizontalMultiLevelHierarchy"/>
    <dgm:cxn modelId="{47060FB6-D25B-423F-BFFD-22391D39634E}" type="presParOf" srcId="{B9626FAC-4057-4B40-A32C-5D9758A81D60}" destId="{E18CDF83-720B-4CE1-A8A9-9BD60328817A}" srcOrd="0" destOrd="0" presId="urn:microsoft.com/office/officeart/2008/layout/HorizontalMultiLevelHierarchy"/>
    <dgm:cxn modelId="{0197B33D-D3F7-4DF9-B975-782B842992A5}" type="presParOf" srcId="{E18CDF83-720B-4CE1-A8A9-9BD60328817A}" destId="{3E268477-D611-4630-B483-4312CF9B0A53}" srcOrd="0" destOrd="0" presId="urn:microsoft.com/office/officeart/2008/layout/HorizontalMultiLevelHierarchy"/>
    <dgm:cxn modelId="{66ED995D-292B-49C4-9953-E6BB5C1778AE}" type="presParOf" srcId="{B9626FAC-4057-4B40-A32C-5D9758A81D60}" destId="{78BD079A-375D-482D-B78F-AFCFAE1E3626}" srcOrd="1" destOrd="0" presId="urn:microsoft.com/office/officeart/2008/layout/HorizontalMultiLevelHierarchy"/>
    <dgm:cxn modelId="{2D5F65DF-FCA0-4F7F-81B9-49C0156AE362}" type="presParOf" srcId="{78BD079A-375D-482D-B78F-AFCFAE1E3626}" destId="{37156099-FD93-45A2-886B-CBB1762D6BB4}" srcOrd="0" destOrd="0" presId="urn:microsoft.com/office/officeart/2008/layout/HorizontalMultiLevelHierarchy"/>
    <dgm:cxn modelId="{BBE595CE-919D-4658-AF05-66FBF9A8F610}" type="presParOf" srcId="{78BD079A-375D-482D-B78F-AFCFAE1E3626}" destId="{B2DC814E-A4E4-446B-969D-3518CCD022DC}" srcOrd="1" destOrd="0" presId="urn:microsoft.com/office/officeart/2008/layout/HorizontalMultiLevelHierarchy"/>
    <dgm:cxn modelId="{8D869D94-5EA1-44A4-85E3-78D45C2142EE}" type="presParOf" srcId="{B9626FAC-4057-4B40-A32C-5D9758A81D60}" destId="{A7425F5C-874F-4E7B-BA1B-75503563EA46}" srcOrd="2" destOrd="0" presId="urn:microsoft.com/office/officeart/2008/layout/HorizontalMultiLevelHierarchy"/>
    <dgm:cxn modelId="{96CCADAB-15BC-480E-AB59-494FDA967765}" type="presParOf" srcId="{A7425F5C-874F-4E7B-BA1B-75503563EA46}" destId="{36E822FC-A77D-4BB7-8442-F38629F76113}" srcOrd="0" destOrd="0" presId="urn:microsoft.com/office/officeart/2008/layout/HorizontalMultiLevelHierarchy"/>
    <dgm:cxn modelId="{9BF015A6-D054-4252-9ADD-0ABF914A3354}" type="presParOf" srcId="{B9626FAC-4057-4B40-A32C-5D9758A81D60}" destId="{2DD299E0-EEFE-4688-97F1-A5433980ADC6}" srcOrd="3" destOrd="0" presId="urn:microsoft.com/office/officeart/2008/layout/HorizontalMultiLevelHierarchy"/>
    <dgm:cxn modelId="{6763D452-348D-47F9-9AEF-104157A55BDA}" type="presParOf" srcId="{2DD299E0-EEFE-4688-97F1-A5433980ADC6}" destId="{E034D86E-B14C-42ED-8402-70749E7C6432}" srcOrd="0" destOrd="0" presId="urn:microsoft.com/office/officeart/2008/layout/HorizontalMultiLevelHierarchy"/>
    <dgm:cxn modelId="{7BB18262-89BB-44FD-B7A9-340E8E1BED7D}" type="presParOf" srcId="{2DD299E0-EEFE-4688-97F1-A5433980ADC6}" destId="{EF946977-5B63-41A3-AD02-CCD078F64724}" srcOrd="1" destOrd="0" presId="urn:microsoft.com/office/officeart/2008/layout/HorizontalMultiLevelHierarchy"/>
    <dgm:cxn modelId="{1E6DC892-1BAE-449B-BBDF-673BD9C1E3DF}" type="presParOf" srcId="{B9626FAC-4057-4B40-A32C-5D9758A81D60}" destId="{6B40A2D4-A404-4F70-8BAF-2DCD474A75B9}" srcOrd="4" destOrd="0" presId="urn:microsoft.com/office/officeart/2008/layout/HorizontalMultiLevelHierarchy"/>
    <dgm:cxn modelId="{FED53EF8-2CC1-4561-88B3-F144889F5873}" type="presParOf" srcId="{6B40A2D4-A404-4F70-8BAF-2DCD474A75B9}" destId="{1BA7D1DF-FE87-48D8-A3FE-90BA082490D8}" srcOrd="0" destOrd="0" presId="urn:microsoft.com/office/officeart/2008/layout/HorizontalMultiLevelHierarchy"/>
    <dgm:cxn modelId="{30DA92EE-1A07-4B82-B0A4-9DA512C2E187}" type="presParOf" srcId="{B9626FAC-4057-4B40-A32C-5D9758A81D60}" destId="{30E378A9-C0B9-43DD-9F61-0C665C09EF85}" srcOrd="5" destOrd="0" presId="urn:microsoft.com/office/officeart/2008/layout/HorizontalMultiLevelHierarchy"/>
    <dgm:cxn modelId="{A271AFFC-EAED-4594-B568-190CA94A7FFB}" type="presParOf" srcId="{30E378A9-C0B9-43DD-9F61-0C665C09EF85}" destId="{E45B7DC3-2BBD-45BF-8656-8BF8BDF58D2B}" srcOrd="0" destOrd="0" presId="urn:microsoft.com/office/officeart/2008/layout/HorizontalMultiLevelHierarchy"/>
    <dgm:cxn modelId="{B38C23DC-5AC2-4099-85CB-F13630A39E08}" type="presParOf" srcId="{30E378A9-C0B9-43DD-9F61-0C665C09EF85}" destId="{0834B4B3-A9DA-4B14-A7DB-A2144DA619B5}" srcOrd="1" destOrd="0" presId="urn:microsoft.com/office/officeart/2008/layout/HorizontalMultiLevelHierarchy"/>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51721C-CE54-49BB-9B7F-FE3C381F1D25}">
      <dsp:nvSpPr>
        <dsp:cNvPr id="0" name=""/>
        <dsp:cNvSpPr/>
      </dsp:nvSpPr>
      <dsp:spPr>
        <a:xfrm>
          <a:off x="0" y="69893"/>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Gestión regular de las expectativas del cliente</a:t>
          </a:r>
        </a:p>
      </dsp:txBody>
      <dsp:txXfrm>
        <a:off x="0" y="69893"/>
        <a:ext cx="2863979" cy="1718387"/>
      </dsp:txXfrm>
    </dsp:sp>
    <dsp:sp modelId="{1B912BD5-87C9-4653-A9FB-E2274DEA5450}">
      <dsp:nvSpPr>
        <dsp:cNvPr id="0" name=""/>
        <dsp:cNvSpPr/>
      </dsp:nvSpPr>
      <dsp:spPr>
        <a:xfrm>
          <a:off x="3130272" y="101872"/>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Resultados anticipados</a:t>
          </a:r>
        </a:p>
      </dsp:txBody>
      <dsp:txXfrm>
        <a:off x="3130272" y="101872"/>
        <a:ext cx="2863979" cy="1718387"/>
      </dsp:txXfrm>
    </dsp:sp>
    <dsp:sp modelId="{D77B6031-0581-434C-842E-C81CFC5180CB}">
      <dsp:nvSpPr>
        <dsp:cNvPr id="0" name=""/>
        <dsp:cNvSpPr/>
      </dsp:nvSpPr>
      <dsp:spPr>
        <a:xfrm>
          <a:off x="6300755" y="140261"/>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Flexibilidad y adaptación</a:t>
          </a:r>
        </a:p>
      </dsp:txBody>
      <dsp:txXfrm>
        <a:off x="6300755" y="140261"/>
        <a:ext cx="2863979" cy="1718387"/>
      </dsp:txXfrm>
    </dsp:sp>
    <dsp:sp modelId="{25EADC44-4B59-4F08-B9D8-3D0FB4D7755A}">
      <dsp:nvSpPr>
        <dsp:cNvPr id="0" name=""/>
        <dsp:cNvSpPr/>
      </dsp:nvSpPr>
      <dsp:spPr>
        <a:xfrm>
          <a:off x="0" y="2074679"/>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Retorno de inversión</a:t>
          </a:r>
        </a:p>
      </dsp:txBody>
      <dsp:txXfrm>
        <a:off x="0" y="2074679"/>
        <a:ext cx="2863979" cy="1718387"/>
      </dsp:txXfrm>
    </dsp:sp>
    <dsp:sp modelId="{A464B20C-8FF7-4E0F-B826-66B596B06ED0}">
      <dsp:nvSpPr>
        <dsp:cNvPr id="0" name=""/>
        <dsp:cNvSpPr/>
      </dsp:nvSpPr>
      <dsp:spPr>
        <a:xfrm>
          <a:off x="3150377" y="2074679"/>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Disminución del riesgo</a:t>
          </a:r>
        </a:p>
      </dsp:txBody>
      <dsp:txXfrm>
        <a:off x="3150377" y="2074679"/>
        <a:ext cx="2863979" cy="1718387"/>
      </dsp:txXfrm>
    </dsp:sp>
    <dsp:sp modelId="{240B7A5C-F644-46F7-A90F-75A6C8925EC8}">
      <dsp:nvSpPr>
        <dsp:cNvPr id="0" name=""/>
        <dsp:cNvSpPr/>
      </dsp:nvSpPr>
      <dsp:spPr>
        <a:xfrm>
          <a:off x="6300755" y="2074679"/>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Alineamiento entre cliente y equipo</a:t>
          </a:r>
        </a:p>
      </dsp:txBody>
      <dsp:txXfrm>
        <a:off x="6300755" y="2074679"/>
        <a:ext cx="2863979" cy="1718387"/>
      </dsp:txXfrm>
    </dsp:sp>
    <dsp:sp modelId="{D29C4FBB-A2A4-457E-B554-5C35666752A2}">
      <dsp:nvSpPr>
        <dsp:cNvPr id="0" name=""/>
        <dsp:cNvSpPr/>
      </dsp:nvSpPr>
      <dsp:spPr>
        <a:xfrm>
          <a:off x="3150377" y="4079464"/>
          <a:ext cx="2863979" cy="171838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Equipo motivado</a:t>
          </a:r>
        </a:p>
      </dsp:txBody>
      <dsp:txXfrm>
        <a:off x="3150377" y="4079464"/>
        <a:ext cx="2863979" cy="17183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CC551-E411-4B32-999F-AC7D18AF1A90}">
      <dsp:nvSpPr>
        <dsp:cNvPr id="0" name=""/>
        <dsp:cNvSpPr/>
      </dsp:nvSpPr>
      <dsp:spPr>
        <a:xfrm>
          <a:off x="3516" y="323885"/>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mj-lt"/>
            <a:buNone/>
          </a:pPr>
          <a:r>
            <a:rPr lang="es-ES" sz="2400" b="0" i="0" u="none" strike="noStrike" kern="1200" baseline="0" dirty="0">
              <a:latin typeface="Raleway-Light"/>
            </a:rPr>
            <a:t>Entrega demos operativas entre 2 semanas y 2 meses.</a:t>
          </a:r>
          <a:endParaRPr lang="es-ES" sz="2400" kern="1200" dirty="0"/>
        </a:p>
      </dsp:txBody>
      <dsp:txXfrm>
        <a:off x="3516" y="323885"/>
        <a:ext cx="2789780" cy="1673868"/>
      </dsp:txXfrm>
    </dsp:sp>
    <dsp:sp modelId="{2F201847-68E6-4574-8EC0-2647E9E24020}">
      <dsp:nvSpPr>
        <dsp:cNvPr id="0" name=""/>
        <dsp:cNvSpPr/>
      </dsp:nvSpPr>
      <dsp:spPr>
        <a:xfrm>
          <a:off x="3072274" y="323885"/>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1" i="0" u="none" strike="noStrike" kern="1200" baseline="0" dirty="0">
              <a:latin typeface="Raleway-Light"/>
            </a:rPr>
            <a:t>Adáptate al cambio</a:t>
          </a:r>
          <a:endParaRPr lang="es-ES" sz="2400" b="0" i="0" u="none" strike="noStrike" kern="1200" baseline="0" dirty="0">
            <a:latin typeface="Raleway-Light"/>
          </a:endParaRPr>
        </a:p>
      </dsp:txBody>
      <dsp:txXfrm>
        <a:off x="3072274" y="323885"/>
        <a:ext cx="2789780" cy="1673868"/>
      </dsp:txXfrm>
    </dsp:sp>
    <dsp:sp modelId="{B9AEB8D4-4F52-4C1F-BCAF-3B8E5ABA5C4D}">
      <dsp:nvSpPr>
        <dsp:cNvPr id="0" name=""/>
        <dsp:cNvSpPr/>
      </dsp:nvSpPr>
      <dsp:spPr>
        <a:xfrm>
          <a:off x="6141033" y="323885"/>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dirty="0">
              <a:latin typeface="Raleway-Light"/>
            </a:rPr>
            <a:t>Trabajar juntos, área de negocio y desarrollo.</a:t>
          </a:r>
        </a:p>
      </dsp:txBody>
      <dsp:txXfrm>
        <a:off x="6141033" y="323885"/>
        <a:ext cx="2789780" cy="1673868"/>
      </dsp:txXfrm>
    </dsp:sp>
    <dsp:sp modelId="{BEA98013-77E4-4126-AEE6-6F5F3C4FD490}">
      <dsp:nvSpPr>
        <dsp:cNvPr id="0" name=""/>
        <dsp:cNvSpPr/>
      </dsp:nvSpPr>
      <dsp:spPr>
        <a:xfrm>
          <a:off x="9209791" y="323885"/>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Motivación al equipo.</a:t>
          </a:r>
          <a:endParaRPr lang="es-ES" sz="2400" b="0" i="0" u="none" strike="noStrike" kern="1200" baseline="0" dirty="0">
            <a:latin typeface="Raleway-Light"/>
          </a:endParaRPr>
        </a:p>
      </dsp:txBody>
      <dsp:txXfrm>
        <a:off x="9209791" y="323885"/>
        <a:ext cx="2789780" cy="1673868"/>
      </dsp:txXfrm>
    </dsp:sp>
    <dsp:sp modelId="{59B28460-67BE-466A-A778-733F16784158}">
      <dsp:nvSpPr>
        <dsp:cNvPr id="0" name=""/>
        <dsp:cNvSpPr/>
      </dsp:nvSpPr>
      <dsp:spPr>
        <a:xfrm>
          <a:off x="3516" y="2276731"/>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Conversaciones cara a cara.</a:t>
          </a:r>
          <a:endParaRPr lang="es-ES" sz="2400" b="0" i="0" u="none" strike="noStrike" kern="1200" baseline="0" dirty="0">
            <a:latin typeface="Raleway-Light"/>
          </a:endParaRPr>
        </a:p>
      </dsp:txBody>
      <dsp:txXfrm>
        <a:off x="3516" y="2276731"/>
        <a:ext cx="2789780" cy="1673868"/>
      </dsp:txXfrm>
    </dsp:sp>
    <dsp:sp modelId="{1EC58B0F-6999-4A68-B6A9-6A120FFDBB5F}">
      <dsp:nvSpPr>
        <dsp:cNvPr id="0" name=""/>
        <dsp:cNvSpPr/>
      </dsp:nvSpPr>
      <dsp:spPr>
        <a:xfrm>
          <a:off x="3072274" y="2276731"/>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Software operativo.</a:t>
          </a:r>
          <a:endParaRPr lang="es-ES" sz="2400" kern="1200" dirty="0">
            <a:latin typeface="Raleway-Light"/>
          </a:endParaRPr>
        </a:p>
      </dsp:txBody>
      <dsp:txXfrm>
        <a:off x="3072274" y="2276731"/>
        <a:ext cx="2789780" cy="1673868"/>
      </dsp:txXfrm>
    </dsp:sp>
    <dsp:sp modelId="{9EAEB7BD-0528-43B6-8651-8C49EFEE9465}">
      <dsp:nvSpPr>
        <dsp:cNvPr id="0" name=""/>
        <dsp:cNvSpPr/>
      </dsp:nvSpPr>
      <dsp:spPr>
        <a:xfrm>
          <a:off x="6141033" y="2276731"/>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Ritmo constante.</a:t>
          </a:r>
          <a:endParaRPr lang="es-ES" sz="2400" b="0" i="0" u="none" strike="noStrike" kern="1200" baseline="0" dirty="0">
            <a:latin typeface="Raleway-Light"/>
          </a:endParaRPr>
        </a:p>
      </dsp:txBody>
      <dsp:txXfrm>
        <a:off x="6141033" y="2276731"/>
        <a:ext cx="2789780" cy="1673868"/>
      </dsp:txXfrm>
    </dsp:sp>
    <dsp:sp modelId="{F865283B-7474-4703-B2AF-D053CD700BE0}">
      <dsp:nvSpPr>
        <dsp:cNvPr id="0" name=""/>
        <dsp:cNvSpPr/>
      </dsp:nvSpPr>
      <dsp:spPr>
        <a:xfrm>
          <a:off x="9209791" y="2276731"/>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Excelencia técnica.</a:t>
          </a:r>
          <a:endParaRPr lang="es-ES" sz="2400" b="0" i="0" u="none" strike="noStrike" kern="1200" baseline="0" dirty="0">
            <a:latin typeface="Raleway-Light"/>
          </a:endParaRPr>
        </a:p>
      </dsp:txBody>
      <dsp:txXfrm>
        <a:off x="9209791" y="2276731"/>
        <a:ext cx="2789780" cy="1673868"/>
      </dsp:txXfrm>
    </dsp:sp>
    <dsp:sp modelId="{080530D0-BE4D-4129-A965-81E5F7DB3D33}">
      <dsp:nvSpPr>
        <dsp:cNvPr id="0" name=""/>
        <dsp:cNvSpPr/>
      </dsp:nvSpPr>
      <dsp:spPr>
        <a:xfrm>
          <a:off x="3072274" y="4229577"/>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Autoorganización.</a:t>
          </a:r>
          <a:endParaRPr lang="es-ES" sz="2400" b="0" i="0" u="none" strike="noStrike" kern="1200" baseline="0" dirty="0">
            <a:latin typeface="Raleway-Light"/>
          </a:endParaRPr>
        </a:p>
      </dsp:txBody>
      <dsp:txXfrm>
        <a:off x="3072274" y="4229577"/>
        <a:ext cx="2789780" cy="1673868"/>
      </dsp:txXfrm>
    </dsp:sp>
    <dsp:sp modelId="{58D569C4-B23F-43D4-813F-D12EE63CB55A}">
      <dsp:nvSpPr>
        <dsp:cNvPr id="0" name=""/>
        <dsp:cNvSpPr/>
      </dsp:nvSpPr>
      <dsp:spPr>
        <a:xfrm>
          <a:off x="6141033" y="4229577"/>
          <a:ext cx="2789780" cy="167386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b="0" i="0" u="none" strike="noStrike" kern="1200" baseline="0">
              <a:latin typeface="Raleway-Light"/>
            </a:rPr>
            <a:t>Reflexión constante.</a:t>
          </a:r>
          <a:endParaRPr lang="es-ES" sz="2400" b="0" i="0" u="none" strike="noStrike" kern="1200" baseline="0" dirty="0">
            <a:latin typeface="Raleway-Light"/>
          </a:endParaRPr>
        </a:p>
      </dsp:txBody>
      <dsp:txXfrm>
        <a:off x="6141033" y="4229577"/>
        <a:ext cx="2789780" cy="16738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4C1D7-4745-47E6-8665-2ECA3F2C7158}">
      <dsp:nvSpPr>
        <dsp:cNvPr id="0" name=""/>
        <dsp:cNvSpPr/>
      </dsp:nvSpPr>
      <dsp:spPr>
        <a:xfrm>
          <a:off x="818435" y="0"/>
          <a:ext cx="9275603" cy="4629150"/>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898610-8101-4E12-A518-E6E472BA23BD}">
      <dsp:nvSpPr>
        <dsp:cNvPr id="0" name=""/>
        <dsp:cNvSpPr/>
      </dsp:nvSpPr>
      <dsp:spPr>
        <a:xfrm>
          <a:off x="1665" y="1388745"/>
          <a:ext cx="2088049" cy="18516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s-ES" sz="2000" b="0" i="0" kern="1200"/>
            <a:t>Inicio.</a:t>
          </a:r>
        </a:p>
      </dsp:txBody>
      <dsp:txXfrm>
        <a:off x="92056" y="1479136"/>
        <a:ext cx="1907267" cy="1670878"/>
      </dsp:txXfrm>
    </dsp:sp>
    <dsp:sp modelId="{D26B7A6D-78F0-4152-8006-3D2128E5B3E1}">
      <dsp:nvSpPr>
        <dsp:cNvPr id="0" name=""/>
        <dsp:cNvSpPr/>
      </dsp:nvSpPr>
      <dsp:spPr>
        <a:xfrm>
          <a:off x="2206938" y="1388745"/>
          <a:ext cx="2088049" cy="18516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s-ES" sz="2000" b="0" i="0" kern="1200"/>
            <a:t>Planificación y estimación.</a:t>
          </a:r>
        </a:p>
      </dsp:txBody>
      <dsp:txXfrm>
        <a:off x="2297329" y="1479136"/>
        <a:ext cx="1907267" cy="1670878"/>
      </dsp:txXfrm>
    </dsp:sp>
    <dsp:sp modelId="{613F9FB9-1738-47EE-BCE7-0C9A8C600F46}">
      <dsp:nvSpPr>
        <dsp:cNvPr id="0" name=""/>
        <dsp:cNvSpPr/>
      </dsp:nvSpPr>
      <dsp:spPr>
        <a:xfrm>
          <a:off x="4412212" y="1388745"/>
          <a:ext cx="2088049" cy="18516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s-ES" sz="2000" b="0" i="0" kern="1200"/>
            <a:t>Implementación.</a:t>
          </a:r>
        </a:p>
      </dsp:txBody>
      <dsp:txXfrm>
        <a:off x="4502603" y="1479136"/>
        <a:ext cx="1907267" cy="1670878"/>
      </dsp:txXfrm>
    </dsp:sp>
    <dsp:sp modelId="{FFD02704-A03C-4B25-911B-EC9955EA6934}">
      <dsp:nvSpPr>
        <dsp:cNvPr id="0" name=""/>
        <dsp:cNvSpPr/>
      </dsp:nvSpPr>
      <dsp:spPr>
        <a:xfrm>
          <a:off x="6617486" y="1388745"/>
          <a:ext cx="2088049" cy="18516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s-ES" sz="2000" b="0" i="0" kern="1200"/>
            <a:t>Revisión y retrospectiva.</a:t>
          </a:r>
        </a:p>
      </dsp:txBody>
      <dsp:txXfrm>
        <a:off x="6707877" y="1479136"/>
        <a:ext cx="1907267" cy="1670878"/>
      </dsp:txXfrm>
    </dsp:sp>
    <dsp:sp modelId="{BFB03B47-5D03-4EEF-A1C9-680239D7E62F}">
      <dsp:nvSpPr>
        <dsp:cNvPr id="0" name=""/>
        <dsp:cNvSpPr/>
      </dsp:nvSpPr>
      <dsp:spPr>
        <a:xfrm>
          <a:off x="8822760" y="1388745"/>
          <a:ext cx="2088049" cy="18516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s-ES" sz="2000" b="0" i="0" kern="1200"/>
            <a:t>Lanzamiento.</a:t>
          </a:r>
        </a:p>
      </dsp:txBody>
      <dsp:txXfrm>
        <a:off x="8913151" y="1479136"/>
        <a:ext cx="1907267" cy="16708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B8A786-64F2-4064-8AD3-55AD910992EB}">
      <dsp:nvSpPr>
        <dsp:cNvPr id="0" name=""/>
        <dsp:cNvSpPr/>
      </dsp:nvSpPr>
      <dsp:spPr>
        <a:xfrm rot="16200000">
          <a:off x="3944428" y="-3932522"/>
          <a:ext cx="4315049" cy="12180093"/>
        </a:xfrm>
        <a:prstGeom prst="flowChartManualOperati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203200" tIns="0" rIns="203200" bIns="0" numCol="1" spcCol="1270" anchor="t" anchorCtr="0">
          <a:noAutofit/>
        </a:bodyPr>
        <a:lstStyle/>
        <a:p>
          <a:pPr marL="0" lvl="0" indent="0" algn="l" defTabSz="1422400">
            <a:lnSpc>
              <a:spcPct val="90000"/>
            </a:lnSpc>
            <a:spcBef>
              <a:spcPct val="0"/>
            </a:spcBef>
            <a:spcAft>
              <a:spcPct val="35000"/>
            </a:spcAft>
            <a:buNone/>
          </a:pPr>
          <a:endParaRPr lang="es-ES" sz="3200" b="1" kern="1200" dirty="0"/>
        </a:p>
        <a:p>
          <a:pPr marL="285750" lvl="1" indent="0" algn="l" defTabSz="1244600">
            <a:lnSpc>
              <a:spcPct val="90000"/>
            </a:lnSpc>
            <a:spcBef>
              <a:spcPct val="0"/>
            </a:spcBef>
            <a:spcAft>
              <a:spcPct val="15000"/>
            </a:spcAft>
            <a:buNone/>
          </a:pPr>
          <a:r>
            <a:rPr lang="es-ES" sz="2800" b="0" kern="1200" dirty="0"/>
            <a:t>El Scrum Master es un rol con un conjunto de responsabilidades muy variadas.</a:t>
          </a:r>
        </a:p>
        <a:p>
          <a:pPr marL="0" lvl="1" indent="0" algn="l" defTabSz="1244600">
            <a:lnSpc>
              <a:spcPct val="90000"/>
            </a:lnSpc>
            <a:spcBef>
              <a:spcPct val="0"/>
            </a:spcBef>
            <a:spcAft>
              <a:spcPct val="15000"/>
            </a:spcAft>
            <a:buNone/>
          </a:pPr>
          <a:r>
            <a:rPr lang="es-ES" sz="2800" b="0" kern="1200" dirty="0"/>
            <a:t>Realiza labores de facilitador de reuniones, así como acompañante del equipo para ayudarle a resolver las problemáticas que se vaya encontrando a lo largo del proyecto. </a:t>
          </a:r>
        </a:p>
        <a:p>
          <a:pPr marL="0" lvl="1" indent="0" algn="l" defTabSz="1244600">
            <a:lnSpc>
              <a:spcPct val="90000"/>
            </a:lnSpc>
            <a:spcBef>
              <a:spcPct val="0"/>
            </a:spcBef>
            <a:spcAft>
              <a:spcPct val="15000"/>
            </a:spcAft>
            <a:buNone/>
          </a:pPr>
          <a:r>
            <a:rPr lang="es-ES" sz="2800" b="0" kern="1200" dirty="0"/>
            <a:t>El scrum master es el vigía del proceso que vela porque este se lleve a cabo sin olvidar que está pendiente de las personas que conforman el equipo. También debe tener una visión de la organización y buenas dotes de comunicación y gestión de conflictos que ayuden al equipo a mejorar.</a:t>
          </a:r>
        </a:p>
        <a:p>
          <a:pPr marL="0" lvl="1" indent="0" algn="l" defTabSz="1244600">
            <a:lnSpc>
              <a:spcPct val="90000"/>
            </a:lnSpc>
            <a:spcBef>
              <a:spcPct val="0"/>
            </a:spcBef>
            <a:spcAft>
              <a:spcPct val="15000"/>
            </a:spcAft>
            <a:buNone/>
          </a:pPr>
          <a:endParaRPr lang="es-ES" sz="2800" b="0" kern="1200" dirty="0"/>
        </a:p>
        <a:p>
          <a:pPr marL="0" lvl="1" indent="0" algn="l" defTabSz="1244600">
            <a:lnSpc>
              <a:spcPct val="90000"/>
            </a:lnSpc>
            <a:spcBef>
              <a:spcPct val="0"/>
            </a:spcBef>
            <a:spcAft>
              <a:spcPct val="15000"/>
            </a:spcAft>
            <a:buNone/>
          </a:pPr>
          <a:endParaRPr lang="es-ES" sz="2800" b="0" kern="1200" dirty="0"/>
        </a:p>
      </dsp:txBody>
      <dsp:txXfrm rot="5400000">
        <a:off x="11906" y="863010"/>
        <a:ext cx="12180093" cy="25890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B8A786-64F2-4064-8AD3-55AD910992EB}">
      <dsp:nvSpPr>
        <dsp:cNvPr id="0" name=""/>
        <dsp:cNvSpPr/>
      </dsp:nvSpPr>
      <dsp:spPr>
        <a:xfrm rot="16200000">
          <a:off x="3370370" y="-3370370"/>
          <a:ext cx="3567374" cy="10308114"/>
        </a:xfrm>
        <a:prstGeom prst="flowChartManualOperati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52400" tIns="0" rIns="152400" bIns="0" numCol="1" spcCol="1270" anchor="t" anchorCtr="0">
          <a:noAutofit/>
        </a:bodyPr>
        <a:lstStyle/>
        <a:p>
          <a:pPr marL="0" lvl="0" indent="0" algn="l" defTabSz="1066800">
            <a:lnSpc>
              <a:spcPct val="90000"/>
            </a:lnSpc>
            <a:spcBef>
              <a:spcPct val="0"/>
            </a:spcBef>
            <a:spcAft>
              <a:spcPct val="35000"/>
            </a:spcAft>
            <a:buNone/>
          </a:pPr>
          <a:r>
            <a:rPr lang="es-ES" sz="2400" kern="1200"/>
            <a:t>El dueño de producto es el responsable de mantener la visión del producto que se va a construir maximizando la cantidad de valor entregado al finalizar cada Sprint.</a:t>
          </a:r>
          <a:endParaRPr lang="es-ES" sz="3200" b="1" kern="1200" dirty="0"/>
        </a:p>
        <a:p>
          <a:pPr marL="228600" lvl="1" indent="-228600" algn="l" defTabSz="1066800">
            <a:lnSpc>
              <a:spcPct val="90000"/>
            </a:lnSpc>
            <a:spcBef>
              <a:spcPct val="0"/>
            </a:spcBef>
            <a:spcAft>
              <a:spcPct val="15000"/>
            </a:spcAft>
            <a:buChar char="•"/>
          </a:pPr>
          <a:r>
            <a:rPr lang="es-ES" sz="2400" kern="1200" dirty="0"/>
            <a:t>Para mantener esa </a:t>
          </a:r>
          <a:r>
            <a:rPr lang="es-ES" sz="3600" b="1" kern="1200" dirty="0"/>
            <a:t>visión </a:t>
          </a:r>
          <a:r>
            <a:rPr lang="es-ES" sz="2400" kern="1200" dirty="0"/>
            <a:t>el dueño de producto tiene diferentes interlocutores a los que llamamos </a:t>
          </a:r>
          <a:r>
            <a:rPr lang="es-ES" sz="2400" kern="1200" dirty="0" err="1"/>
            <a:t>Stakeholders</a:t>
          </a:r>
          <a:r>
            <a:rPr lang="es-ES" sz="2400" kern="1200" dirty="0"/>
            <a:t> o interesados en el proyecto.</a:t>
          </a:r>
        </a:p>
        <a:p>
          <a:pPr marL="228600" lvl="1" indent="-228600" algn="l" defTabSz="1066800">
            <a:lnSpc>
              <a:spcPct val="90000"/>
            </a:lnSpc>
            <a:spcBef>
              <a:spcPct val="0"/>
            </a:spcBef>
            <a:spcAft>
              <a:spcPct val="15000"/>
            </a:spcAft>
            <a:buChar char="•"/>
          </a:pPr>
          <a:r>
            <a:rPr lang="es-ES" sz="2400" kern="1200" dirty="0"/>
            <a:t>Una de las funciones del dueño del producto es la de </a:t>
          </a:r>
          <a:r>
            <a:rPr lang="es-ES" sz="2800" b="1" kern="1200" dirty="0"/>
            <a:t>mantener la pila de producto o conjunto de funcionalidades actualizada y priorizada </a:t>
          </a:r>
          <a:r>
            <a:rPr lang="es-ES" sz="2400" kern="1200" dirty="0"/>
            <a:t>para que el equipo de construcción sepa en todo momento cuales son los elementos que aportan más valor a los usuarios.</a:t>
          </a:r>
        </a:p>
        <a:p>
          <a:pPr marL="228600" lvl="1" indent="-228600" algn="l" defTabSz="1066800">
            <a:lnSpc>
              <a:spcPct val="90000"/>
            </a:lnSpc>
            <a:spcBef>
              <a:spcPct val="0"/>
            </a:spcBef>
            <a:spcAft>
              <a:spcPct val="15000"/>
            </a:spcAft>
            <a:buChar char="•"/>
          </a:pPr>
          <a:r>
            <a:rPr lang="es-ES" sz="2400" kern="1200" dirty="0"/>
            <a:t>Además, </a:t>
          </a:r>
          <a:r>
            <a:rPr lang="es-ES" sz="2800" b="1" kern="1200" dirty="0"/>
            <a:t>el dueño de producto asistirá a las reuniones de planificación y revisiones del sprint</a:t>
          </a:r>
          <a:r>
            <a:rPr lang="es-ES" sz="2400" kern="1200" dirty="0"/>
            <a:t> con el equipo de construcción para transmitir de una forma efectiva esta visión de producto a todos los implicados.</a:t>
          </a:r>
        </a:p>
      </dsp:txBody>
      <dsp:txXfrm rot="5400000">
        <a:off x="0" y="713475"/>
        <a:ext cx="10308114" cy="21404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862FE8-C57E-4C04-B174-DE6BCA8D3D1B}">
      <dsp:nvSpPr>
        <dsp:cNvPr id="0" name=""/>
        <dsp:cNvSpPr/>
      </dsp:nvSpPr>
      <dsp:spPr>
        <a:xfrm>
          <a:off x="977622" y="2207"/>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Comparaciones</a:t>
          </a:r>
        </a:p>
      </dsp:txBody>
      <dsp:txXfrm>
        <a:off x="977622" y="2207"/>
        <a:ext cx="2675111" cy="1605066"/>
      </dsp:txXfrm>
    </dsp:sp>
    <dsp:sp modelId="{5AB82244-A4D9-4759-8A65-617F10EA146D}">
      <dsp:nvSpPr>
        <dsp:cNvPr id="0" name=""/>
        <dsp:cNvSpPr/>
      </dsp:nvSpPr>
      <dsp:spPr>
        <a:xfrm>
          <a:off x="3920244" y="2207"/>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Registros históricos</a:t>
          </a:r>
        </a:p>
      </dsp:txBody>
      <dsp:txXfrm>
        <a:off x="3920244" y="2207"/>
        <a:ext cx="2675111" cy="1605066"/>
      </dsp:txXfrm>
    </dsp:sp>
    <dsp:sp modelId="{35934B2B-A7D3-4205-9614-4A1C0191F72E}">
      <dsp:nvSpPr>
        <dsp:cNvPr id="0" name=""/>
        <dsp:cNvSpPr/>
      </dsp:nvSpPr>
      <dsp:spPr>
        <a:xfrm>
          <a:off x="6862866" y="2207"/>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Estimaciones</a:t>
          </a:r>
        </a:p>
      </dsp:txBody>
      <dsp:txXfrm>
        <a:off x="6862866" y="2207"/>
        <a:ext cx="2675111" cy="1605066"/>
      </dsp:txXfrm>
    </dsp:sp>
    <dsp:sp modelId="{AD299912-9E1D-401D-A239-2CB966EA5216}">
      <dsp:nvSpPr>
        <dsp:cNvPr id="0" name=""/>
        <dsp:cNvSpPr/>
      </dsp:nvSpPr>
      <dsp:spPr>
        <a:xfrm>
          <a:off x="977622" y="1874785"/>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Estudio de tiempos</a:t>
          </a:r>
        </a:p>
      </dsp:txBody>
      <dsp:txXfrm>
        <a:off x="977622" y="1874785"/>
        <a:ext cx="2675111" cy="1605066"/>
      </dsp:txXfrm>
    </dsp:sp>
    <dsp:sp modelId="{79637A47-1F26-4D1F-9589-E1BEF85A7978}">
      <dsp:nvSpPr>
        <dsp:cNvPr id="0" name=""/>
        <dsp:cNvSpPr/>
      </dsp:nvSpPr>
      <dsp:spPr>
        <a:xfrm>
          <a:off x="3920244" y="1874785"/>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Muestreo de trabajo</a:t>
          </a:r>
        </a:p>
      </dsp:txBody>
      <dsp:txXfrm>
        <a:off x="3920244" y="1874785"/>
        <a:ext cx="2675111" cy="1605066"/>
      </dsp:txXfrm>
    </dsp:sp>
    <dsp:sp modelId="{5C235A5E-0727-4576-B467-31DEF3E1B17B}">
      <dsp:nvSpPr>
        <dsp:cNvPr id="0" name=""/>
        <dsp:cNvSpPr/>
      </dsp:nvSpPr>
      <dsp:spPr>
        <a:xfrm>
          <a:off x="6862866" y="1874785"/>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Estándares de tiempo predeterminados</a:t>
          </a:r>
        </a:p>
      </dsp:txBody>
      <dsp:txXfrm>
        <a:off x="6862866" y="1874785"/>
        <a:ext cx="2675111" cy="1605066"/>
      </dsp:txXfrm>
    </dsp:sp>
    <dsp:sp modelId="{84AD1BEA-687F-47A9-8808-4C74CF4B5247}">
      <dsp:nvSpPr>
        <dsp:cNvPr id="0" name=""/>
        <dsp:cNvSpPr/>
      </dsp:nvSpPr>
      <dsp:spPr>
        <a:xfrm>
          <a:off x="3920244" y="3747363"/>
          <a:ext cx="2675111" cy="160506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dirty="0"/>
            <a:t>Enfoques estadísticos</a:t>
          </a:r>
        </a:p>
      </dsp:txBody>
      <dsp:txXfrm>
        <a:off x="3920244" y="3747363"/>
        <a:ext cx="2675111" cy="16050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B0D877-87C9-429B-A6FC-096ED3698CFE}">
      <dsp:nvSpPr>
        <dsp:cNvPr id="0" name=""/>
        <dsp:cNvSpPr/>
      </dsp:nvSpPr>
      <dsp:spPr>
        <a:xfrm>
          <a:off x="680421" y="0"/>
          <a:ext cx="7711439" cy="2052919"/>
        </a:xfrm>
        <a:prstGeom prst="rightArrow">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DA444910-8936-45AB-B3BE-FB6C6173FCC8}">
      <dsp:nvSpPr>
        <dsp:cNvPr id="0" name=""/>
        <dsp:cNvSpPr/>
      </dsp:nvSpPr>
      <dsp:spPr>
        <a:xfrm>
          <a:off x="3986" y="615875"/>
          <a:ext cx="1743136" cy="8211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s-ES" sz="1400" b="1" i="0" kern="1200">
              <a:effectLst/>
              <a:latin typeface="Verdana" panose="020B0604030504040204" pitchFamily="34" charset="0"/>
              <a:ea typeface="Verdana" panose="020B0604030504040204" pitchFamily="34" charset="0"/>
            </a:rPr>
            <a:t>Objetivos (el qué):</a:t>
          </a:r>
          <a:r>
            <a:rPr lang="es-ES" sz="1400" b="0" i="0" kern="1200">
              <a:effectLst/>
              <a:latin typeface="Verdana" panose="020B0604030504040204" pitchFamily="34" charset="0"/>
              <a:ea typeface="Verdana" panose="020B0604030504040204" pitchFamily="34" charset="0"/>
            </a:rPr>
            <a:t> </a:t>
          </a:r>
          <a:endParaRPr lang="es-ES" sz="1400" kern="1200" dirty="0"/>
        </a:p>
      </dsp:txBody>
      <dsp:txXfrm>
        <a:off x="44072" y="655961"/>
        <a:ext cx="1662964" cy="740995"/>
      </dsp:txXfrm>
    </dsp:sp>
    <dsp:sp modelId="{6B334698-979F-4EC8-8ECC-F5566E30BD5B}">
      <dsp:nvSpPr>
        <dsp:cNvPr id="0" name=""/>
        <dsp:cNvSpPr/>
      </dsp:nvSpPr>
      <dsp:spPr>
        <a:xfrm>
          <a:off x="1834279" y="615875"/>
          <a:ext cx="1743136" cy="8211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s-ES" sz="1400" b="1" i="0" kern="1200">
              <a:effectLst/>
              <a:latin typeface="Verdana" panose="020B0604030504040204" pitchFamily="34" charset="0"/>
              <a:ea typeface="Verdana" panose="020B0604030504040204" pitchFamily="34" charset="0"/>
            </a:rPr>
            <a:t>El desglose de tareas (el cómo)</a:t>
          </a:r>
          <a:r>
            <a:rPr lang="es-ES" sz="1400" b="0" i="0" kern="1200">
              <a:effectLst/>
              <a:latin typeface="Verdana" panose="020B0604030504040204" pitchFamily="34" charset="0"/>
              <a:ea typeface="Verdana" panose="020B0604030504040204" pitchFamily="34" charset="0"/>
            </a:rPr>
            <a:t>: </a:t>
          </a:r>
          <a:endParaRPr lang="es-ES" sz="1400" kern="1200" dirty="0"/>
        </a:p>
      </dsp:txBody>
      <dsp:txXfrm>
        <a:off x="1874365" y="655961"/>
        <a:ext cx="1662964" cy="740995"/>
      </dsp:txXfrm>
    </dsp:sp>
    <dsp:sp modelId="{CF801B11-CDEC-47D0-96AC-1C331D7BEC1F}">
      <dsp:nvSpPr>
        <dsp:cNvPr id="0" name=""/>
        <dsp:cNvSpPr/>
      </dsp:nvSpPr>
      <dsp:spPr>
        <a:xfrm>
          <a:off x="3664572" y="615875"/>
          <a:ext cx="1743136" cy="8211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i="0" kern="1200">
              <a:effectLst/>
              <a:latin typeface="Verdana" panose="020B0604030504040204" pitchFamily="34" charset="0"/>
              <a:ea typeface="Verdana" panose="020B0604030504040204" pitchFamily="34" charset="0"/>
            </a:rPr>
            <a:t>Designación de actividades</a:t>
          </a:r>
          <a:r>
            <a:rPr lang="es-ES" sz="1400" b="0" i="0" kern="1200">
              <a:effectLst/>
              <a:latin typeface="Verdana" panose="020B0604030504040204" pitchFamily="34" charset="0"/>
              <a:ea typeface="Verdana" panose="020B0604030504040204" pitchFamily="34" charset="0"/>
            </a:rPr>
            <a:t>: </a:t>
          </a:r>
          <a:endParaRPr lang="es-ES" sz="1400" b="0" i="0" kern="1200" dirty="0">
            <a:effectLst/>
            <a:latin typeface="Verdana" panose="020B0604030504040204" pitchFamily="34" charset="0"/>
            <a:ea typeface="Verdana" panose="020B0604030504040204" pitchFamily="34" charset="0"/>
          </a:endParaRPr>
        </a:p>
      </dsp:txBody>
      <dsp:txXfrm>
        <a:off x="3704658" y="655961"/>
        <a:ext cx="1662964" cy="740995"/>
      </dsp:txXfrm>
    </dsp:sp>
    <dsp:sp modelId="{F7DEB83D-ABB7-4E25-8FB3-ACFBA75CABEE}">
      <dsp:nvSpPr>
        <dsp:cNvPr id="0" name=""/>
        <dsp:cNvSpPr/>
      </dsp:nvSpPr>
      <dsp:spPr>
        <a:xfrm>
          <a:off x="5494865" y="615875"/>
          <a:ext cx="1743136" cy="8211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i="0" kern="1200">
              <a:effectLst/>
              <a:latin typeface="Verdana" panose="020B0604030504040204" pitchFamily="34" charset="0"/>
              <a:ea typeface="Verdana" panose="020B0604030504040204" pitchFamily="34" charset="0"/>
            </a:rPr>
            <a:t>El plan de Sprint</a:t>
          </a:r>
          <a:r>
            <a:rPr lang="es-ES" sz="1400" b="0" i="0" kern="1200">
              <a:effectLst/>
              <a:latin typeface="Verdana" panose="020B0604030504040204" pitchFamily="34" charset="0"/>
              <a:ea typeface="Verdana" panose="020B0604030504040204" pitchFamily="34" charset="0"/>
            </a:rPr>
            <a:t>: </a:t>
          </a:r>
          <a:endParaRPr lang="es-ES" sz="1400" b="0" i="0" kern="1200" dirty="0">
            <a:effectLst/>
            <a:latin typeface="Verdana" panose="020B0604030504040204" pitchFamily="34" charset="0"/>
            <a:ea typeface="Verdana" panose="020B0604030504040204" pitchFamily="34" charset="0"/>
          </a:endParaRPr>
        </a:p>
      </dsp:txBody>
      <dsp:txXfrm>
        <a:off x="5534951" y="655961"/>
        <a:ext cx="1662964" cy="740995"/>
      </dsp:txXfrm>
    </dsp:sp>
    <dsp:sp modelId="{E78F82D6-1743-49EB-A514-290C7F08B48F}">
      <dsp:nvSpPr>
        <dsp:cNvPr id="0" name=""/>
        <dsp:cNvSpPr/>
      </dsp:nvSpPr>
      <dsp:spPr>
        <a:xfrm>
          <a:off x="7325158" y="615875"/>
          <a:ext cx="1743136" cy="82116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i="0" kern="1200" dirty="0">
              <a:effectLst/>
              <a:latin typeface="Verdana" panose="020B0604030504040204" pitchFamily="34" charset="0"/>
              <a:ea typeface="Verdana" panose="020B0604030504040204" pitchFamily="34" charset="0"/>
            </a:rPr>
            <a:t>Conclusión y compromiso</a:t>
          </a:r>
          <a:r>
            <a:rPr lang="es-ES" sz="1400" b="0" i="0" kern="1200" dirty="0">
              <a:effectLst/>
              <a:latin typeface="Verdana" panose="020B0604030504040204" pitchFamily="34" charset="0"/>
              <a:ea typeface="Verdana" panose="020B0604030504040204" pitchFamily="34" charset="0"/>
            </a:rPr>
            <a:t>: </a:t>
          </a:r>
        </a:p>
      </dsp:txBody>
      <dsp:txXfrm>
        <a:off x="7365244" y="655961"/>
        <a:ext cx="1662964" cy="7409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10882-83CD-4B96-8557-DE7B7998285C}">
      <dsp:nvSpPr>
        <dsp:cNvPr id="0" name=""/>
        <dsp:cNvSpPr/>
      </dsp:nvSpPr>
      <dsp:spPr>
        <a:xfrm>
          <a:off x="1221978" y="2645"/>
          <a:ext cx="2706687" cy="162401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Falta de desafío organizacional</a:t>
          </a:r>
        </a:p>
      </dsp:txBody>
      <dsp:txXfrm>
        <a:off x="1221978" y="2645"/>
        <a:ext cx="2706687" cy="1624012"/>
      </dsp:txXfrm>
    </dsp:sp>
    <dsp:sp modelId="{1301EA69-C739-4CBF-A7B6-F5C3C1DED4C6}">
      <dsp:nvSpPr>
        <dsp:cNvPr id="0" name=""/>
        <dsp:cNvSpPr/>
      </dsp:nvSpPr>
      <dsp:spPr>
        <a:xfrm>
          <a:off x="4199334" y="2645"/>
          <a:ext cx="2706687" cy="1624012"/>
        </a:xfrm>
        <a:prstGeom prst="rect">
          <a:avLst/>
        </a:prstGeom>
        <a:gradFill rotWithShape="0">
          <a:gsLst>
            <a:gs pos="0">
              <a:schemeClr val="accent3">
                <a:hueOff val="677650"/>
                <a:satOff val="25000"/>
                <a:lumOff val="-3676"/>
                <a:alphaOff val="0"/>
                <a:satMod val="103000"/>
                <a:lumMod val="102000"/>
                <a:tint val="94000"/>
              </a:schemeClr>
            </a:gs>
            <a:gs pos="50000">
              <a:schemeClr val="accent3">
                <a:hueOff val="677650"/>
                <a:satOff val="25000"/>
                <a:lumOff val="-3676"/>
                <a:alphaOff val="0"/>
                <a:satMod val="110000"/>
                <a:lumMod val="100000"/>
                <a:shade val="100000"/>
              </a:schemeClr>
            </a:gs>
            <a:gs pos="100000">
              <a:schemeClr val="accent3">
                <a:hueOff val="677650"/>
                <a:satOff val="25000"/>
                <a:lumOff val="-367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Carencia de confianza interna</a:t>
          </a:r>
        </a:p>
      </dsp:txBody>
      <dsp:txXfrm>
        <a:off x="4199334" y="2645"/>
        <a:ext cx="2706687" cy="1624012"/>
      </dsp:txXfrm>
    </dsp:sp>
    <dsp:sp modelId="{C5808FC8-A2B0-4173-83BC-9E1E0FEA1BFC}">
      <dsp:nvSpPr>
        <dsp:cNvPr id="0" name=""/>
        <dsp:cNvSpPr/>
      </dsp:nvSpPr>
      <dsp:spPr>
        <a:xfrm>
          <a:off x="1221978" y="1897327"/>
          <a:ext cx="2706687" cy="1624012"/>
        </a:xfrm>
        <a:prstGeom prst="rect">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Creer que Scrum es solo un método de trabajo.</a:t>
          </a:r>
        </a:p>
      </dsp:txBody>
      <dsp:txXfrm>
        <a:off x="1221978" y="1897327"/>
        <a:ext cx="2706687" cy="1624012"/>
      </dsp:txXfrm>
    </dsp:sp>
    <dsp:sp modelId="{BABEC6D8-EDF1-4AE3-8ED0-7215676570BA}">
      <dsp:nvSpPr>
        <dsp:cNvPr id="0" name=""/>
        <dsp:cNvSpPr/>
      </dsp:nvSpPr>
      <dsp:spPr>
        <a:xfrm>
          <a:off x="4199334" y="1897327"/>
          <a:ext cx="2706687" cy="1624012"/>
        </a:xfrm>
        <a:prstGeom prst="rect">
          <a:avLst/>
        </a:prstGeom>
        <a:gradFill rotWithShape="0">
          <a:gsLst>
            <a:gs pos="0">
              <a:schemeClr val="accent3">
                <a:hueOff val="2032949"/>
                <a:satOff val="75000"/>
                <a:lumOff val="-11029"/>
                <a:alphaOff val="0"/>
                <a:satMod val="103000"/>
                <a:lumMod val="102000"/>
                <a:tint val="94000"/>
              </a:schemeClr>
            </a:gs>
            <a:gs pos="50000">
              <a:schemeClr val="accent3">
                <a:hueOff val="2032949"/>
                <a:satOff val="75000"/>
                <a:lumOff val="-11029"/>
                <a:alphaOff val="0"/>
                <a:satMod val="110000"/>
                <a:lumMod val="100000"/>
                <a:shade val="100000"/>
              </a:schemeClr>
            </a:gs>
            <a:gs pos="100000">
              <a:schemeClr val="accent3">
                <a:hueOff val="2032949"/>
                <a:satOff val="75000"/>
                <a:lumOff val="-11029"/>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Mala preparación de la empresa para implementarlo</a:t>
          </a:r>
        </a:p>
      </dsp:txBody>
      <dsp:txXfrm>
        <a:off x="4199334" y="1897327"/>
        <a:ext cx="2706687" cy="1624012"/>
      </dsp:txXfrm>
    </dsp:sp>
    <dsp:sp modelId="{EBE343F0-77C8-4DA2-924B-D2B975389933}">
      <dsp:nvSpPr>
        <dsp:cNvPr id="0" name=""/>
        <dsp:cNvSpPr/>
      </dsp:nvSpPr>
      <dsp:spPr>
        <a:xfrm>
          <a:off x="2710656" y="3792008"/>
          <a:ext cx="2706687" cy="1624012"/>
        </a:xfrm>
        <a:prstGeom prst="rect">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s-ES" sz="2500" kern="1200" dirty="0"/>
            <a:t>Creer que Scrum es sencillo</a:t>
          </a:r>
        </a:p>
      </dsp:txBody>
      <dsp:txXfrm>
        <a:off x="2710656" y="3792008"/>
        <a:ext cx="2706687" cy="16240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5AF13-CF6F-47D3-A09A-597C83271578}">
      <dsp:nvSpPr>
        <dsp:cNvPr id="0" name=""/>
        <dsp:cNvSpPr/>
      </dsp:nvSpPr>
      <dsp:spPr>
        <a:xfrm>
          <a:off x="12973" y="198165"/>
          <a:ext cx="2604339" cy="104173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b="1" i="0" kern="1200" dirty="0"/>
            <a:t>Métricas de productividad y efectividad de la entrega</a:t>
          </a:r>
          <a:endParaRPr lang="es-ES" sz="1400" kern="1200" dirty="0"/>
        </a:p>
      </dsp:txBody>
      <dsp:txXfrm>
        <a:off x="533841" y="198165"/>
        <a:ext cx="1562604" cy="1041735"/>
      </dsp:txXfrm>
    </dsp:sp>
    <dsp:sp modelId="{C79CF338-7541-4A8B-A912-008C2A3A1D9C}">
      <dsp:nvSpPr>
        <dsp:cNvPr id="0" name=""/>
        <dsp:cNvSpPr/>
      </dsp:nvSpPr>
      <dsp:spPr>
        <a:xfrm>
          <a:off x="2346831" y="127827"/>
          <a:ext cx="2604339" cy="104173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b="1" i="0" kern="1200" dirty="0"/>
            <a:t>Métricas de resultados del proyecto</a:t>
          </a:r>
          <a:endParaRPr lang="es-ES" sz="1400" kern="1200" dirty="0"/>
        </a:p>
      </dsp:txBody>
      <dsp:txXfrm>
        <a:off x="2867699" y="127827"/>
        <a:ext cx="1562604" cy="1041735"/>
      </dsp:txXfrm>
    </dsp:sp>
    <dsp:sp modelId="{F0E8AA5B-2185-46CD-8DD1-64A8F622AA87}">
      <dsp:nvSpPr>
        <dsp:cNvPr id="0" name=""/>
        <dsp:cNvSpPr/>
      </dsp:nvSpPr>
      <dsp:spPr>
        <a:xfrm>
          <a:off x="4690736" y="127827"/>
          <a:ext cx="2604339" cy="104173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b="1" i="0" kern="1200" dirty="0"/>
            <a:t>Métricas de situación financiera</a:t>
          </a:r>
          <a:endParaRPr lang="es-ES" sz="1400" kern="1200" dirty="0"/>
        </a:p>
      </dsp:txBody>
      <dsp:txXfrm>
        <a:off x="5211604" y="127827"/>
        <a:ext cx="1562604" cy="1041735"/>
      </dsp:txXfrm>
    </dsp:sp>
    <dsp:sp modelId="{68EB2D9F-9117-46E1-974B-D5DE56D4418A}">
      <dsp:nvSpPr>
        <dsp:cNvPr id="0" name=""/>
        <dsp:cNvSpPr/>
      </dsp:nvSpPr>
      <dsp:spPr>
        <a:xfrm>
          <a:off x="7034641" y="127827"/>
          <a:ext cx="2604339" cy="104173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b="1" i="0" kern="1200" dirty="0"/>
            <a:t>Métricas de calidad</a:t>
          </a:r>
          <a:endParaRPr lang="es-ES" sz="1400" kern="1200" dirty="0"/>
        </a:p>
      </dsp:txBody>
      <dsp:txXfrm>
        <a:off x="7555509" y="127827"/>
        <a:ext cx="1562604" cy="1041735"/>
      </dsp:txXfrm>
    </dsp:sp>
    <dsp:sp modelId="{B3A93B43-A28B-4374-9BFF-A182199D3F4F}">
      <dsp:nvSpPr>
        <dsp:cNvPr id="0" name=""/>
        <dsp:cNvSpPr/>
      </dsp:nvSpPr>
      <dsp:spPr>
        <a:xfrm>
          <a:off x="9378546" y="127827"/>
          <a:ext cx="2604339" cy="1041735"/>
        </a:xfrm>
        <a:prstGeom prst="chevr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b="1" i="0" kern="1200" dirty="0"/>
            <a:t>Métricas de riesgos, impedimentos, proceso y mejora continua</a:t>
          </a:r>
          <a:endParaRPr lang="es-ES" sz="1400" kern="1200" dirty="0"/>
        </a:p>
      </dsp:txBody>
      <dsp:txXfrm>
        <a:off x="9899414" y="127827"/>
        <a:ext cx="1562604" cy="10417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0A2D4-A404-4F70-8BAF-2DCD474A75B9}">
      <dsp:nvSpPr>
        <dsp:cNvPr id="0" name=""/>
        <dsp:cNvSpPr/>
      </dsp:nvSpPr>
      <dsp:spPr>
        <a:xfrm>
          <a:off x="2796350" y="2175668"/>
          <a:ext cx="542350" cy="1033442"/>
        </a:xfrm>
        <a:custGeom>
          <a:avLst/>
          <a:gdLst/>
          <a:ahLst/>
          <a:cxnLst/>
          <a:rect l="0" t="0" r="0" b="0"/>
          <a:pathLst>
            <a:path>
              <a:moveTo>
                <a:pt x="0" y="0"/>
              </a:moveTo>
              <a:lnTo>
                <a:pt x="271175" y="0"/>
              </a:lnTo>
              <a:lnTo>
                <a:pt x="271175" y="1033442"/>
              </a:lnTo>
              <a:lnTo>
                <a:pt x="542350" y="1033442"/>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38347" y="2663211"/>
        <a:ext cx="58355" cy="58355"/>
      </dsp:txXfrm>
    </dsp:sp>
    <dsp:sp modelId="{A7425F5C-874F-4E7B-BA1B-75503563EA46}">
      <dsp:nvSpPr>
        <dsp:cNvPr id="0" name=""/>
        <dsp:cNvSpPr/>
      </dsp:nvSpPr>
      <dsp:spPr>
        <a:xfrm>
          <a:off x="2796350" y="2129948"/>
          <a:ext cx="542350" cy="91440"/>
        </a:xfrm>
        <a:custGeom>
          <a:avLst/>
          <a:gdLst/>
          <a:ahLst/>
          <a:cxnLst/>
          <a:rect l="0" t="0" r="0" b="0"/>
          <a:pathLst>
            <a:path>
              <a:moveTo>
                <a:pt x="0" y="45720"/>
              </a:moveTo>
              <a:lnTo>
                <a:pt x="542350" y="4572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53966" y="2162109"/>
        <a:ext cx="27117" cy="27117"/>
      </dsp:txXfrm>
    </dsp:sp>
    <dsp:sp modelId="{E18CDF83-720B-4CE1-A8A9-9BD60328817A}">
      <dsp:nvSpPr>
        <dsp:cNvPr id="0" name=""/>
        <dsp:cNvSpPr/>
      </dsp:nvSpPr>
      <dsp:spPr>
        <a:xfrm>
          <a:off x="2796350" y="1142225"/>
          <a:ext cx="542350" cy="1033442"/>
        </a:xfrm>
        <a:custGeom>
          <a:avLst/>
          <a:gdLst/>
          <a:ahLst/>
          <a:cxnLst/>
          <a:rect l="0" t="0" r="0" b="0"/>
          <a:pathLst>
            <a:path>
              <a:moveTo>
                <a:pt x="0" y="1033442"/>
              </a:moveTo>
              <a:lnTo>
                <a:pt x="271175" y="1033442"/>
              </a:lnTo>
              <a:lnTo>
                <a:pt x="271175" y="0"/>
              </a:lnTo>
              <a:lnTo>
                <a:pt x="542350" y="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38347" y="1629769"/>
        <a:ext cx="58355" cy="58355"/>
      </dsp:txXfrm>
    </dsp:sp>
    <dsp:sp modelId="{F68C4562-72E5-46D0-99B0-9FA158F3FD5D}">
      <dsp:nvSpPr>
        <dsp:cNvPr id="0" name=""/>
        <dsp:cNvSpPr/>
      </dsp:nvSpPr>
      <dsp:spPr>
        <a:xfrm rot="16200000">
          <a:off x="207304" y="1762291"/>
          <a:ext cx="4351337" cy="8267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b="1" i="0" kern="1200" dirty="0">
              <a:effectLst/>
              <a:latin typeface="Charlie Text"/>
            </a:rPr>
            <a:t>propietario principal del producto </a:t>
          </a:r>
          <a:endParaRPr lang="es-ES" sz="2800" kern="1200" dirty="0"/>
        </a:p>
      </dsp:txBody>
      <dsp:txXfrm>
        <a:off x="207304" y="1762291"/>
        <a:ext cx="4351337" cy="826754"/>
      </dsp:txXfrm>
    </dsp:sp>
    <dsp:sp modelId="{37156099-FD93-45A2-886B-CBB1762D6BB4}">
      <dsp:nvSpPr>
        <dsp:cNvPr id="0" name=""/>
        <dsp:cNvSpPr/>
      </dsp:nvSpPr>
      <dsp:spPr>
        <a:xfrm>
          <a:off x="3338700" y="728848"/>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PRODUCT OWNER 1</a:t>
          </a:r>
        </a:p>
      </dsp:txBody>
      <dsp:txXfrm>
        <a:off x="3338700" y="728848"/>
        <a:ext cx="2711753" cy="826754"/>
      </dsp:txXfrm>
    </dsp:sp>
    <dsp:sp modelId="{E034D86E-B14C-42ED-8402-70749E7C6432}">
      <dsp:nvSpPr>
        <dsp:cNvPr id="0" name=""/>
        <dsp:cNvSpPr/>
      </dsp:nvSpPr>
      <dsp:spPr>
        <a:xfrm>
          <a:off x="3338700" y="1762291"/>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PRODUCT OWNER 2</a:t>
          </a:r>
        </a:p>
      </dsp:txBody>
      <dsp:txXfrm>
        <a:off x="3338700" y="1762291"/>
        <a:ext cx="2711753" cy="826754"/>
      </dsp:txXfrm>
    </dsp:sp>
    <dsp:sp modelId="{E45B7DC3-2BBD-45BF-8656-8BF8BDF58D2B}">
      <dsp:nvSpPr>
        <dsp:cNvPr id="0" name=""/>
        <dsp:cNvSpPr/>
      </dsp:nvSpPr>
      <dsp:spPr>
        <a:xfrm>
          <a:off x="3338700" y="2795734"/>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PRODUCT OWNER 3</a:t>
          </a:r>
        </a:p>
      </dsp:txBody>
      <dsp:txXfrm>
        <a:off x="3338700" y="2795734"/>
        <a:ext cx="2711753" cy="8267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0A2D4-A404-4F70-8BAF-2DCD474A75B9}">
      <dsp:nvSpPr>
        <dsp:cNvPr id="0" name=""/>
        <dsp:cNvSpPr/>
      </dsp:nvSpPr>
      <dsp:spPr>
        <a:xfrm>
          <a:off x="2796196" y="2175669"/>
          <a:ext cx="542350" cy="1033442"/>
        </a:xfrm>
        <a:custGeom>
          <a:avLst/>
          <a:gdLst/>
          <a:ahLst/>
          <a:cxnLst/>
          <a:rect l="0" t="0" r="0" b="0"/>
          <a:pathLst>
            <a:path>
              <a:moveTo>
                <a:pt x="0" y="0"/>
              </a:moveTo>
              <a:lnTo>
                <a:pt x="271175" y="0"/>
              </a:lnTo>
              <a:lnTo>
                <a:pt x="271175" y="1033442"/>
              </a:lnTo>
              <a:lnTo>
                <a:pt x="542350" y="1033442"/>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38194" y="2663212"/>
        <a:ext cx="58355" cy="58355"/>
      </dsp:txXfrm>
    </dsp:sp>
    <dsp:sp modelId="{A7425F5C-874F-4E7B-BA1B-75503563EA46}">
      <dsp:nvSpPr>
        <dsp:cNvPr id="0" name=""/>
        <dsp:cNvSpPr/>
      </dsp:nvSpPr>
      <dsp:spPr>
        <a:xfrm>
          <a:off x="2796196" y="2129948"/>
          <a:ext cx="542350" cy="91440"/>
        </a:xfrm>
        <a:custGeom>
          <a:avLst/>
          <a:gdLst/>
          <a:ahLst/>
          <a:cxnLst/>
          <a:rect l="0" t="0" r="0" b="0"/>
          <a:pathLst>
            <a:path>
              <a:moveTo>
                <a:pt x="0" y="45720"/>
              </a:moveTo>
              <a:lnTo>
                <a:pt x="542350" y="4572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53813" y="2162110"/>
        <a:ext cx="27117" cy="27117"/>
      </dsp:txXfrm>
    </dsp:sp>
    <dsp:sp modelId="{E18CDF83-720B-4CE1-A8A9-9BD60328817A}">
      <dsp:nvSpPr>
        <dsp:cNvPr id="0" name=""/>
        <dsp:cNvSpPr/>
      </dsp:nvSpPr>
      <dsp:spPr>
        <a:xfrm>
          <a:off x="2796196" y="1142226"/>
          <a:ext cx="542350" cy="1033442"/>
        </a:xfrm>
        <a:custGeom>
          <a:avLst/>
          <a:gdLst/>
          <a:ahLst/>
          <a:cxnLst/>
          <a:rect l="0" t="0" r="0" b="0"/>
          <a:pathLst>
            <a:path>
              <a:moveTo>
                <a:pt x="0" y="1033442"/>
              </a:moveTo>
              <a:lnTo>
                <a:pt x="271175" y="1033442"/>
              </a:lnTo>
              <a:lnTo>
                <a:pt x="271175" y="0"/>
              </a:lnTo>
              <a:lnTo>
                <a:pt x="542350" y="0"/>
              </a:lnTo>
            </a:path>
          </a:pathLst>
        </a:custGeom>
        <a:noFill/>
        <a:ln w="1270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ES" sz="500" kern="1200"/>
        </a:p>
      </dsp:txBody>
      <dsp:txXfrm>
        <a:off x="3038194" y="1629769"/>
        <a:ext cx="58355" cy="58355"/>
      </dsp:txXfrm>
    </dsp:sp>
    <dsp:sp modelId="{F68C4562-72E5-46D0-99B0-9FA158F3FD5D}">
      <dsp:nvSpPr>
        <dsp:cNvPr id="0" name=""/>
        <dsp:cNvSpPr/>
      </dsp:nvSpPr>
      <dsp:spPr>
        <a:xfrm rot="16200000">
          <a:off x="207150" y="1762291"/>
          <a:ext cx="4351338" cy="82675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b="1" i="0" kern="1200" dirty="0">
              <a:effectLst/>
              <a:latin typeface="Charlie Text"/>
            </a:rPr>
            <a:t>EXPERTO EN SCRUM DE SCRUM</a:t>
          </a:r>
          <a:endParaRPr lang="es-ES" sz="2800" kern="1200" dirty="0"/>
        </a:p>
      </dsp:txBody>
      <dsp:txXfrm>
        <a:off x="207150" y="1762291"/>
        <a:ext cx="4351338" cy="826754"/>
      </dsp:txXfrm>
    </dsp:sp>
    <dsp:sp modelId="{37156099-FD93-45A2-886B-CBB1762D6BB4}">
      <dsp:nvSpPr>
        <dsp:cNvPr id="0" name=""/>
        <dsp:cNvSpPr/>
      </dsp:nvSpPr>
      <dsp:spPr>
        <a:xfrm>
          <a:off x="3338547" y="728849"/>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SCRUM 1</a:t>
          </a:r>
        </a:p>
      </dsp:txBody>
      <dsp:txXfrm>
        <a:off x="3338547" y="728849"/>
        <a:ext cx="2711753" cy="826754"/>
      </dsp:txXfrm>
    </dsp:sp>
    <dsp:sp modelId="{E034D86E-B14C-42ED-8402-70749E7C6432}">
      <dsp:nvSpPr>
        <dsp:cNvPr id="0" name=""/>
        <dsp:cNvSpPr/>
      </dsp:nvSpPr>
      <dsp:spPr>
        <a:xfrm>
          <a:off x="3338547" y="1762291"/>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SCRUM 2</a:t>
          </a:r>
        </a:p>
      </dsp:txBody>
      <dsp:txXfrm>
        <a:off x="3338547" y="1762291"/>
        <a:ext cx="2711753" cy="826754"/>
      </dsp:txXfrm>
    </dsp:sp>
    <dsp:sp modelId="{E45B7DC3-2BBD-45BF-8656-8BF8BDF58D2B}">
      <dsp:nvSpPr>
        <dsp:cNvPr id="0" name=""/>
        <dsp:cNvSpPr/>
      </dsp:nvSpPr>
      <dsp:spPr>
        <a:xfrm>
          <a:off x="3338547" y="2795734"/>
          <a:ext cx="2711753" cy="82675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SCRUM 3</a:t>
          </a:r>
        </a:p>
      </dsp:txBody>
      <dsp:txXfrm>
        <a:off x="3338547" y="2795734"/>
        <a:ext cx="2711753" cy="82675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Marcador de número de diapositiva 4"/>
          <p:cNvSpPr>
            <a:spLocks noGrp="1"/>
          </p:cNvSpPr>
          <p:nvPr>
            <p:ph type="sldNum" sz="quarter" idx="3"/>
          </p:nvPr>
        </p:nvSpPr>
        <p:spPr>
          <a:xfrm>
            <a:off x="457199" y="8485921"/>
            <a:ext cx="1768597" cy="482233"/>
          </a:xfrm>
          <a:prstGeom prst="rect">
            <a:avLst/>
          </a:prstGeom>
        </p:spPr>
        <p:txBody>
          <a:bodyPr vert="horz" lIns="91440" tIns="45720" rIns="91440" bIns="45720" rtlCol="0" anchor="b"/>
          <a:lstStyle>
            <a:lvl1pPr algn="r">
              <a:defRPr sz="1200"/>
            </a:lvl1pPr>
          </a:lstStyle>
          <a:p>
            <a:pPr algn="l"/>
            <a:r>
              <a:rPr lang="es-ES" sz="900" dirty="0">
                <a:ea typeface="Verdana" panose="020B0604030504040204" pitchFamily="34" charset="0"/>
              </a:rPr>
              <a:t>Pg. </a:t>
            </a:r>
            <a:fld id="{1D3E2496-E28C-4AEA-99B1-ACC0F1C90546}" type="slidenum">
              <a:rPr lang="es-ES" sz="900" smtClean="0">
                <a:ea typeface="Verdana" panose="020B0604030504040204" pitchFamily="34" charset="0"/>
              </a:rPr>
              <a:pPr algn="l"/>
              <a:t>‹Nº›</a:t>
            </a:fld>
            <a:endParaRPr lang="es-ES" sz="900" dirty="0">
              <a:ea typeface="Verdana" panose="020B0604030504040204" pitchFamily="34" charset="0"/>
            </a:endParaRPr>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6737" y="8664714"/>
            <a:ext cx="1092383" cy="303440"/>
          </a:xfrm>
          <a:prstGeom prst="rect">
            <a:avLst/>
          </a:prstGeom>
        </p:spPr>
      </p:pic>
    </p:spTree>
    <p:extLst>
      <p:ext uri="{BB962C8B-B14F-4D97-AF65-F5344CB8AC3E}">
        <p14:creationId xmlns:p14="http://schemas.microsoft.com/office/powerpoint/2010/main" val="3412521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Marcador de imagen de diapositiva 3"/>
          <p:cNvSpPr>
            <a:spLocks noGrp="1" noRot="1" noChangeAspect="1"/>
          </p:cNvSpPr>
          <p:nvPr>
            <p:ph type="sldImg" idx="2"/>
          </p:nvPr>
        </p:nvSpPr>
        <p:spPr>
          <a:xfrm>
            <a:off x="685800" y="978877"/>
            <a:ext cx="5486400" cy="3086100"/>
          </a:xfrm>
          <a:prstGeom prst="rect">
            <a:avLst/>
          </a:prstGeom>
          <a:noFill/>
          <a:ln w="12700">
            <a:no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064977"/>
            <a:ext cx="5486400" cy="4431323"/>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número de diapositiva 6"/>
          <p:cNvSpPr>
            <a:spLocks noGrp="1"/>
          </p:cNvSpPr>
          <p:nvPr>
            <p:ph type="sldNum" sz="quarter" idx="5"/>
          </p:nvPr>
        </p:nvSpPr>
        <p:spPr>
          <a:xfrm>
            <a:off x="685800" y="8576243"/>
            <a:ext cx="1264505" cy="422031"/>
          </a:xfrm>
          <a:prstGeom prst="rect">
            <a:avLst/>
          </a:prstGeom>
        </p:spPr>
        <p:txBody>
          <a:bodyPr vert="horz" lIns="91440" tIns="45720" rIns="91440" bIns="45720" rtlCol="0" anchor="b"/>
          <a:lstStyle>
            <a:lvl1pPr algn="l">
              <a:defRPr sz="900">
                <a:latin typeface="+mn-lt"/>
                <a:ea typeface="Verdana" panose="020B0604030504040204" pitchFamily="34" charset="0"/>
              </a:defRPr>
            </a:lvl1pPr>
          </a:lstStyle>
          <a:p>
            <a:r>
              <a:rPr lang="es-ES"/>
              <a:t>Pg. </a:t>
            </a:r>
            <a:fld id="{7D839B72-CA98-41CC-9DBA-C401034FA6A2}" type="slidenum">
              <a:rPr lang="es-ES" smtClean="0"/>
              <a:pPr/>
              <a:t>‹Nº›</a:t>
            </a:fld>
            <a:endParaRPr lang="es-ES" dirty="0"/>
          </a:p>
        </p:txBody>
      </p:sp>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9636" y="8698523"/>
            <a:ext cx="1079102" cy="299751"/>
          </a:xfrm>
          <a:prstGeom prst="rect">
            <a:avLst/>
          </a:prstGeom>
        </p:spPr>
      </p:pic>
    </p:spTree>
    <p:extLst>
      <p:ext uri="{BB962C8B-B14F-4D97-AF65-F5344CB8AC3E}">
        <p14:creationId xmlns:p14="http://schemas.microsoft.com/office/powerpoint/2010/main" val="1578984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Verdana" panose="020B0604030504040204" pitchFamily="34" charset="0"/>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r>
              <a:rPr lang="es-ES"/>
              <a:t>Pg. </a:t>
            </a:r>
            <a:fld id="{7D839B72-CA98-41CC-9DBA-C401034FA6A2}" type="slidenum">
              <a:rPr lang="es-ES" smtClean="0"/>
              <a:pPr/>
              <a:t>1</a:t>
            </a:fld>
            <a:endParaRPr lang="es-ES" dirty="0"/>
          </a:p>
        </p:txBody>
      </p:sp>
    </p:spTree>
    <p:extLst>
      <p:ext uri="{BB962C8B-B14F-4D97-AF65-F5344CB8AC3E}">
        <p14:creationId xmlns:p14="http://schemas.microsoft.com/office/powerpoint/2010/main" val="139223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pPr marL="0" indent="0">
              <a:lnSpc>
                <a:spcPct val="120000"/>
              </a:lnSpc>
              <a:buNone/>
            </a:pPr>
            <a:r>
              <a:rPr lang="es-ES" sz="1200" b="1" dirty="0">
                <a:solidFill>
                  <a:srgbClr val="202124"/>
                </a:solidFill>
                <a:latin typeface="Verdana" panose="020B0604030504040204" pitchFamily="34" charset="0"/>
                <a:ea typeface="Verdana" panose="020B0604030504040204" pitchFamily="34" charset="0"/>
              </a:rPr>
              <a:t>Nota:</a:t>
            </a:r>
          </a:p>
          <a:p>
            <a:pPr marL="0" indent="0">
              <a:lnSpc>
                <a:spcPct val="120000"/>
              </a:lnSpc>
              <a:buNone/>
            </a:pPr>
            <a:r>
              <a:rPr lang="es-ES" sz="1200" dirty="0">
                <a:solidFill>
                  <a:srgbClr val="202124"/>
                </a:solidFill>
                <a:latin typeface="Verdana" panose="020B0604030504040204" pitchFamily="34" charset="0"/>
                <a:ea typeface="Verdana" panose="020B0604030504040204" pitchFamily="34" charset="0"/>
              </a:rPr>
              <a:t>Es importante la filosofía del producto mínimo viable, es decir, lo que se entrega es lo más definitivo posible, pero con toda seguridad a través del </a:t>
            </a:r>
            <a:r>
              <a:rPr lang="es-ES" sz="1200" dirty="0" err="1">
                <a:solidFill>
                  <a:srgbClr val="202124"/>
                </a:solidFill>
                <a:latin typeface="Verdana" panose="020B0604030504040204" pitchFamily="34" charset="0"/>
                <a:ea typeface="Verdana" panose="020B0604030504040204" pitchFamily="34" charset="0"/>
              </a:rPr>
              <a:t>feedback</a:t>
            </a:r>
            <a:r>
              <a:rPr lang="es-ES" sz="1200" dirty="0">
                <a:solidFill>
                  <a:srgbClr val="202124"/>
                </a:solidFill>
                <a:latin typeface="Verdana" panose="020B0604030504040204" pitchFamily="34" charset="0"/>
                <a:ea typeface="Verdana" panose="020B0604030504040204" pitchFamily="34" charset="0"/>
              </a:rPr>
              <a:t>, habrá que seguir realizando actualizaciones o versiones, dentro de un producto viable.</a:t>
            </a:r>
            <a:endParaRPr lang="es-ES" sz="1200" dirty="0">
              <a:latin typeface="Verdana" panose="020B0604030504040204" pitchFamily="34" charset="0"/>
              <a:ea typeface="Verdana" panose="020B0604030504040204" pitchFamily="34" charset="0"/>
            </a:endParaRPr>
          </a:p>
          <a:p>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48</a:t>
            </a:fld>
            <a:endParaRPr lang="es-ES"/>
          </a:p>
        </p:txBody>
      </p:sp>
    </p:spTree>
    <p:extLst>
      <p:ext uri="{BB962C8B-B14F-4D97-AF65-F5344CB8AC3E}">
        <p14:creationId xmlns:p14="http://schemas.microsoft.com/office/powerpoint/2010/main" val="2617845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pPr algn="l"/>
            <a:r>
              <a:rPr lang="es-ES" b="0" i="0" dirty="0">
                <a:solidFill>
                  <a:srgbClr val="202124"/>
                </a:solidFill>
                <a:effectLst/>
                <a:latin typeface="arial" panose="020B0604020202020204" pitchFamily="34" charset="0"/>
              </a:rPr>
              <a:t>Qué es PBI Scrum?</a:t>
            </a:r>
          </a:p>
          <a:p>
            <a:pPr algn="l"/>
            <a:r>
              <a:rPr lang="es-ES" b="0" i="0" dirty="0">
                <a:solidFill>
                  <a:srgbClr val="202124"/>
                </a:solidFill>
                <a:effectLst/>
                <a:latin typeface="arial" panose="020B0604020202020204" pitchFamily="34" charset="0"/>
              </a:rPr>
              <a:t>¿Qué es un PBIS (</a:t>
            </a:r>
            <a:r>
              <a:rPr lang="es-ES" b="1" i="0" dirty="0" err="1">
                <a:solidFill>
                  <a:srgbClr val="202124"/>
                </a:solidFill>
                <a:effectLst/>
                <a:latin typeface="arial" panose="020B0604020202020204" pitchFamily="34" charset="0"/>
              </a:rPr>
              <a:t>Product</a:t>
            </a:r>
            <a:r>
              <a:rPr lang="es-ES" b="1" i="0" dirty="0">
                <a:solidFill>
                  <a:srgbClr val="202124"/>
                </a:solidFill>
                <a:effectLst/>
                <a:latin typeface="arial" panose="020B0604020202020204" pitchFamily="34" charset="0"/>
              </a:rPr>
              <a:t> Backlog </a:t>
            </a:r>
            <a:r>
              <a:rPr lang="es-ES" b="1" i="0" dirty="0" err="1">
                <a:solidFill>
                  <a:srgbClr val="202124"/>
                </a:solidFill>
                <a:effectLst/>
                <a:latin typeface="arial" panose="020B0604020202020204" pitchFamily="34" charset="0"/>
              </a:rPr>
              <a:t>Item</a:t>
            </a:r>
            <a:r>
              <a:rPr lang="es-ES" b="1" i="0" dirty="0">
                <a:solidFill>
                  <a:srgbClr val="202124"/>
                </a:solidFill>
                <a:effectLst/>
                <a:latin typeface="arial" panose="020B0604020202020204" pitchFamily="34" charset="0"/>
              </a:rPr>
              <a:t> Scrum</a:t>
            </a:r>
            <a:r>
              <a:rPr lang="es-ES" b="0" i="0" dirty="0">
                <a:solidFill>
                  <a:srgbClr val="202124"/>
                </a:solidFill>
                <a:effectLst/>
                <a:latin typeface="arial" panose="020B0604020202020204" pitchFamily="34" charset="0"/>
              </a:rPr>
              <a:t>)? ... En </a:t>
            </a:r>
            <a:r>
              <a:rPr lang="es-ES" b="1" i="0" dirty="0">
                <a:solidFill>
                  <a:srgbClr val="202124"/>
                </a:solidFill>
                <a:effectLst/>
                <a:latin typeface="arial" panose="020B0604020202020204" pitchFamily="34" charset="0"/>
              </a:rPr>
              <a:t>Scrum</a:t>
            </a:r>
            <a:r>
              <a:rPr lang="es-ES" b="0" i="0" dirty="0">
                <a:solidFill>
                  <a:srgbClr val="202124"/>
                </a:solidFill>
                <a:effectLst/>
                <a:latin typeface="arial" panose="020B0604020202020204" pitchFamily="34" charset="0"/>
              </a:rPr>
              <a:t>, a cada uno de los elementos del </a:t>
            </a:r>
            <a:r>
              <a:rPr lang="es-ES" b="0" i="0" dirty="0" err="1">
                <a:solidFill>
                  <a:srgbClr val="202124"/>
                </a:solidFill>
                <a:effectLst/>
                <a:latin typeface="arial" panose="020B0604020202020204" pitchFamily="34" charset="0"/>
              </a:rPr>
              <a:t>Product</a:t>
            </a:r>
            <a:r>
              <a:rPr lang="es-ES" b="0" i="0" dirty="0">
                <a:solidFill>
                  <a:srgbClr val="202124"/>
                </a:solidFill>
                <a:effectLst/>
                <a:latin typeface="arial" panose="020B0604020202020204" pitchFamily="34" charset="0"/>
              </a:rPr>
              <a:t> Backlog se le conoce como “</a:t>
            </a:r>
            <a:r>
              <a:rPr lang="es-ES" b="1" i="0" dirty="0" err="1">
                <a:solidFill>
                  <a:srgbClr val="202124"/>
                </a:solidFill>
                <a:effectLst/>
                <a:latin typeface="arial" panose="020B0604020202020204" pitchFamily="34" charset="0"/>
              </a:rPr>
              <a:t>Product</a:t>
            </a:r>
            <a:r>
              <a:rPr lang="es-ES" b="1" i="0" dirty="0">
                <a:solidFill>
                  <a:srgbClr val="202124"/>
                </a:solidFill>
                <a:effectLst/>
                <a:latin typeface="arial" panose="020B0604020202020204" pitchFamily="34" charset="0"/>
              </a:rPr>
              <a:t> Backlog </a:t>
            </a:r>
            <a:r>
              <a:rPr lang="es-ES" b="1" i="0" dirty="0" err="1">
                <a:solidFill>
                  <a:srgbClr val="202124"/>
                </a:solidFill>
                <a:effectLst/>
                <a:latin typeface="arial" panose="020B0604020202020204" pitchFamily="34" charset="0"/>
              </a:rPr>
              <a:t>Item</a:t>
            </a:r>
            <a:r>
              <a:rPr lang="es-ES" b="0" i="0" dirty="0">
                <a:solidFill>
                  <a:srgbClr val="202124"/>
                </a:solidFill>
                <a:effectLst/>
                <a:latin typeface="arial" panose="020B0604020202020204" pitchFamily="34" charset="0"/>
              </a:rPr>
              <a:t>”, o de forma abreviada: PBIS </a:t>
            </a:r>
            <a:r>
              <a:rPr lang="es-ES" b="1" i="0" dirty="0">
                <a:solidFill>
                  <a:srgbClr val="202124"/>
                </a:solidFill>
                <a:effectLst/>
                <a:latin typeface="arial" panose="020B0604020202020204" pitchFamily="34" charset="0"/>
              </a:rPr>
              <a:t>Scrum</a:t>
            </a:r>
            <a:r>
              <a:rPr lang="es-ES" b="0" i="0" dirty="0">
                <a:solidFill>
                  <a:srgbClr val="202124"/>
                </a:solidFill>
                <a:effectLst/>
                <a:latin typeface="arial" panose="020B0604020202020204" pitchFamily="34" charset="0"/>
              </a:rPr>
              <a:t>. Estos elementos son en conjunto: funcionalidades, requisitos de cambio, mejoras y corrección de errores.</a:t>
            </a:r>
          </a:p>
          <a:p>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56</a:t>
            </a:fld>
            <a:endParaRPr lang="es-ES"/>
          </a:p>
        </p:txBody>
      </p:sp>
    </p:spTree>
    <p:extLst>
      <p:ext uri="{BB962C8B-B14F-4D97-AF65-F5344CB8AC3E}">
        <p14:creationId xmlns:p14="http://schemas.microsoft.com/office/powerpoint/2010/main" val="4071664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r>
              <a:rPr lang="es-ES" b="0" i="0" dirty="0">
                <a:solidFill>
                  <a:srgbClr val="202124"/>
                </a:solidFill>
                <a:effectLst/>
                <a:latin typeface="arial" panose="020B0604020202020204" pitchFamily="34" charset="0"/>
              </a:rPr>
              <a:t>Un </a:t>
            </a:r>
            <a:r>
              <a:rPr lang="es-ES" b="1" i="0" dirty="0">
                <a:solidFill>
                  <a:srgbClr val="202124"/>
                </a:solidFill>
                <a:effectLst/>
                <a:latin typeface="arial" panose="020B0604020202020204" pitchFamily="34" charset="0"/>
              </a:rPr>
              <a:t>Framework</a:t>
            </a:r>
            <a:r>
              <a:rPr lang="es-ES" b="0" i="0" dirty="0">
                <a:solidFill>
                  <a:srgbClr val="202124"/>
                </a:solidFill>
                <a:effectLst/>
                <a:latin typeface="arial" panose="020B0604020202020204" pitchFamily="34" charset="0"/>
              </a:rPr>
              <a:t> es una estructura base utilizada como punto de partida </a:t>
            </a:r>
            <a:r>
              <a:rPr lang="es-ES" b="1" i="0" dirty="0">
                <a:solidFill>
                  <a:srgbClr val="202124"/>
                </a:solidFill>
                <a:effectLst/>
                <a:latin typeface="arial" panose="020B0604020202020204" pitchFamily="34" charset="0"/>
              </a:rPr>
              <a:t>para</a:t>
            </a:r>
            <a:r>
              <a:rPr lang="es-ES" b="0" i="0" dirty="0">
                <a:solidFill>
                  <a:srgbClr val="202124"/>
                </a:solidFill>
                <a:effectLst/>
                <a:latin typeface="arial" panose="020B0604020202020204" pitchFamily="34" charset="0"/>
              </a:rPr>
              <a:t> elaborar un proyecto con objetivos específicos. ... Contar con modelos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faciliten el desarrollo de un proyecto hace posible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su realización sea mucho más rápida y eficaz, y es precisamente ese concepto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describe a un </a:t>
            </a:r>
            <a:r>
              <a:rPr lang="es-ES" b="1" i="0" dirty="0">
                <a:solidFill>
                  <a:srgbClr val="202124"/>
                </a:solidFill>
                <a:effectLst/>
                <a:latin typeface="arial" panose="020B0604020202020204" pitchFamily="34" charset="0"/>
              </a:rPr>
              <a:t>Framework</a:t>
            </a:r>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81</a:t>
            </a:fld>
            <a:endParaRPr lang="es-ES"/>
          </a:p>
        </p:txBody>
      </p:sp>
    </p:spTree>
    <p:extLst>
      <p:ext uri="{BB962C8B-B14F-4D97-AF65-F5344CB8AC3E}">
        <p14:creationId xmlns:p14="http://schemas.microsoft.com/office/powerpoint/2010/main" val="3969463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r>
              <a:rPr lang="es-ES" b="0" i="0" dirty="0">
                <a:solidFill>
                  <a:srgbClr val="202124"/>
                </a:solidFill>
                <a:effectLst/>
                <a:latin typeface="arial" panose="020B0604020202020204" pitchFamily="34" charset="0"/>
              </a:rPr>
              <a:t>Un </a:t>
            </a:r>
            <a:r>
              <a:rPr lang="es-ES" b="1" i="0" dirty="0">
                <a:solidFill>
                  <a:srgbClr val="202124"/>
                </a:solidFill>
                <a:effectLst/>
                <a:latin typeface="arial" panose="020B0604020202020204" pitchFamily="34" charset="0"/>
              </a:rPr>
              <a:t>Framework</a:t>
            </a:r>
            <a:r>
              <a:rPr lang="es-ES" b="0" i="0" dirty="0">
                <a:solidFill>
                  <a:srgbClr val="202124"/>
                </a:solidFill>
                <a:effectLst/>
                <a:latin typeface="arial" panose="020B0604020202020204" pitchFamily="34" charset="0"/>
              </a:rPr>
              <a:t> es una estructura base utilizada como punto de partida </a:t>
            </a:r>
            <a:r>
              <a:rPr lang="es-ES" b="1" i="0" dirty="0">
                <a:solidFill>
                  <a:srgbClr val="202124"/>
                </a:solidFill>
                <a:effectLst/>
                <a:latin typeface="arial" panose="020B0604020202020204" pitchFamily="34" charset="0"/>
              </a:rPr>
              <a:t>para</a:t>
            </a:r>
            <a:r>
              <a:rPr lang="es-ES" b="0" i="0" dirty="0">
                <a:solidFill>
                  <a:srgbClr val="202124"/>
                </a:solidFill>
                <a:effectLst/>
                <a:latin typeface="arial" panose="020B0604020202020204" pitchFamily="34" charset="0"/>
              </a:rPr>
              <a:t> elaborar un proyecto con objetivos específicos. ... Contar con modelos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faciliten el desarrollo de un proyecto hace posible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su realización sea mucho más rápida y eficaz, y es precisamente ese concepto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describe a un </a:t>
            </a:r>
            <a:r>
              <a:rPr lang="es-ES" b="1" i="0" dirty="0">
                <a:solidFill>
                  <a:srgbClr val="202124"/>
                </a:solidFill>
                <a:effectLst/>
                <a:latin typeface="arial" panose="020B0604020202020204" pitchFamily="34" charset="0"/>
              </a:rPr>
              <a:t>Framework</a:t>
            </a:r>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82</a:t>
            </a:fld>
            <a:endParaRPr lang="es-ES"/>
          </a:p>
        </p:txBody>
      </p:sp>
    </p:spTree>
    <p:extLst>
      <p:ext uri="{BB962C8B-B14F-4D97-AF65-F5344CB8AC3E}">
        <p14:creationId xmlns:p14="http://schemas.microsoft.com/office/powerpoint/2010/main" val="528604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r>
              <a:rPr lang="es-ES" b="0" i="0" dirty="0">
                <a:solidFill>
                  <a:srgbClr val="202124"/>
                </a:solidFill>
                <a:effectLst/>
                <a:latin typeface="arial" panose="020B0604020202020204" pitchFamily="34" charset="0"/>
              </a:rPr>
              <a:t>Un </a:t>
            </a:r>
            <a:r>
              <a:rPr lang="es-ES" b="1" i="0" dirty="0">
                <a:solidFill>
                  <a:srgbClr val="202124"/>
                </a:solidFill>
                <a:effectLst/>
                <a:latin typeface="arial" panose="020B0604020202020204" pitchFamily="34" charset="0"/>
              </a:rPr>
              <a:t>Framework</a:t>
            </a:r>
            <a:r>
              <a:rPr lang="es-ES" b="0" i="0" dirty="0">
                <a:solidFill>
                  <a:srgbClr val="202124"/>
                </a:solidFill>
                <a:effectLst/>
                <a:latin typeface="arial" panose="020B0604020202020204" pitchFamily="34" charset="0"/>
              </a:rPr>
              <a:t> es una estructura base utilizada como punto de partida </a:t>
            </a:r>
            <a:r>
              <a:rPr lang="es-ES" b="1" i="0" dirty="0">
                <a:solidFill>
                  <a:srgbClr val="202124"/>
                </a:solidFill>
                <a:effectLst/>
                <a:latin typeface="arial" panose="020B0604020202020204" pitchFamily="34" charset="0"/>
              </a:rPr>
              <a:t>para</a:t>
            </a:r>
            <a:r>
              <a:rPr lang="es-ES" b="0" i="0" dirty="0">
                <a:solidFill>
                  <a:srgbClr val="202124"/>
                </a:solidFill>
                <a:effectLst/>
                <a:latin typeface="arial" panose="020B0604020202020204" pitchFamily="34" charset="0"/>
              </a:rPr>
              <a:t> elaborar un proyecto con objetivos específicos. ... Contar con modelos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faciliten el desarrollo de un proyecto hace posible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su realización sea mucho más rápida y eficaz, y es precisamente ese concepto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describe a un </a:t>
            </a:r>
            <a:r>
              <a:rPr lang="es-ES" b="1" i="0" dirty="0">
                <a:solidFill>
                  <a:srgbClr val="202124"/>
                </a:solidFill>
                <a:effectLst/>
                <a:latin typeface="arial" panose="020B0604020202020204" pitchFamily="34" charset="0"/>
              </a:rPr>
              <a:t>Framework</a:t>
            </a:r>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83</a:t>
            </a:fld>
            <a:endParaRPr lang="es-ES"/>
          </a:p>
        </p:txBody>
      </p:sp>
    </p:spTree>
    <p:extLst>
      <p:ext uri="{BB962C8B-B14F-4D97-AF65-F5344CB8AC3E}">
        <p14:creationId xmlns:p14="http://schemas.microsoft.com/office/powerpoint/2010/main" val="3789421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979488"/>
            <a:ext cx="5486400" cy="3086100"/>
          </a:xfrm>
        </p:spPr>
      </p:sp>
      <p:sp>
        <p:nvSpPr>
          <p:cNvPr id="3" name="Marcador de notas 2"/>
          <p:cNvSpPr>
            <a:spLocks noGrp="1"/>
          </p:cNvSpPr>
          <p:nvPr>
            <p:ph type="body" idx="1"/>
          </p:nvPr>
        </p:nvSpPr>
        <p:spPr/>
        <p:txBody>
          <a:bodyPr/>
          <a:lstStyle/>
          <a:p>
            <a:r>
              <a:rPr lang="es-ES" b="0" i="0" dirty="0">
                <a:solidFill>
                  <a:srgbClr val="202124"/>
                </a:solidFill>
                <a:effectLst/>
                <a:latin typeface="arial" panose="020B0604020202020204" pitchFamily="34" charset="0"/>
              </a:rPr>
              <a:t>Un </a:t>
            </a:r>
            <a:r>
              <a:rPr lang="es-ES" b="1" i="0" dirty="0">
                <a:solidFill>
                  <a:srgbClr val="202124"/>
                </a:solidFill>
                <a:effectLst/>
                <a:latin typeface="arial" panose="020B0604020202020204" pitchFamily="34" charset="0"/>
              </a:rPr>
              <a:t>Framework</a:t>
            </a:r>
            <a:r>
              <a:rPr lang="es-ES" b="0" i="0" dirty="0">
                <a:solidFill>
                  <a:srgbClr val="202124"/>
                </a:solidFill>
                <a:effectLst/>
                <a:latin typeface="arial" panose="020B0604020202020204" pitchFamily="34" charset="0"/>
              </a:rPr>
              <a:t> es una estructura base utilizada como punto de partida </a:t>
            </a:r>
            <a:r>
              <a:rPr lang="es-ES" b="1" i="0" dirty="0">
                <a:solidFill>
                  <a:srgbClr val="202124"/>
                </a:solidFill>
                <a:effectLst/>
                <a:latin typeface="arial" panose="020B0604020202020204" pitchFamily="34" charset="0"/>
              </a:rPr>
              <a:t>para</a:t>
            </a:r>
            <a:r>
              <a:rPr lang="es-ES" b="0" i="0" dirty="0">
                <a:solidFill>
                  <a:srgbClr val="202124"/>
                </a:solidFill>
                <a:effectLst/>
                <a:latin typeface="arial" panose="020B0604020202020204" pitchFamily="34" charset="0"/>
              </a:rPr>
              <a:t> elaborar un proyecto con objetivos específicos. ... Contar con modelos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faciliten el desarrollo de un proyecto hace posible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su realización sea mucho más rápida y eficaz, y es precisamente ese concepto </a:t>
            </a:r>
            <a:r>
              <a:rPr lang="es-ES" b="1" i="0" dirty="0">
                <a:solidFill>
                  <a:srgbClr val="202124"/>
                </a:solidFill>
                <a:effectLst/>
                <a:latin typeface="arial" panose="020B0604020202020204" pitchFamily="34" charset="0"/>
              </a:rPr>
              <a:t>que</a:t>
            </a:r>
            <a:r>
              <a:rPr lang="es-ES" b="0" i="0" dirty="0">
                <a:solidFill>
                  <a:srgbClr val="202124"/>
                </a:solidFill>
                <a:effectLst/>
                <a:latin typeface="arial" panose="020B0604020202020204" pitchFamily="34" charset="0"/>
              </a:rPr>
              <a:t> describe a un </a:t>
            </a:r>
            <a:r>
              <a:rPr lang="es-ES" b="1" i="0" dirty="0">
                <a:solidFill>
                  <a:srgbClr val="202124"/>
                </a:solidFill>
                <a:effectLst/>
                <a:latin typeface="arial" panose="020B0604020202020204" pitchFamily="34" charset="0"/>
              </a:rPr>
              <a:t>Framework</a:t>
            </a:r>
            <a:endParaRPr lang="es-ES" dirty="0"/>
          </a:p>
        </p:txBody>
      </p:sp>
      <p:sp>
        <p:nvSpPr>
          <p:cNvPr id="4" name="Marcador de número de diapositiva 3"/>
          <p:cNvSpPr>
            <a:spLocks noGrp="1"/>
          </p:cNvSpPr>
          <p:nvPr>
            <p:ph type="sldNum" sz="quarter" idx="5"/>
          </p:nvPr>
        </p:nvSpPr>
        <p:spPr/>
        <p:txBody>
          <a:bodyPr/>
          <a:lstStyle/>
          <a:p>
            <a:fld id="{7ADA0025-8F33-4C8C-B929-B256EA78CE1A}" type="slidenum">
              <a:rPr lang="es-ES" smtClean="0"/>
              <a:t>84</a:t>
            </a:fld>
            <a:endParaRPr lang="es-ES"/>
          </a:p>
        </p:txBody>
      </p:sp>
    </p:spTree>
    <p:extLst>
      <p:ext uri="{BB962C8B-B14F-4D97-AF65-F5344CB8AC3E}">
        <p14:creationId xmlns:p14="http://schemas.microsoft.com/office/powerpoint/2010/main" val="1716959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MÓDULO">
    <p:bg>
      <p:bgPr>
        <a:solidFill>
          <a:schemeClr val="bg1"/>
        </a:solidFill>
        <a:effectLst/>
      </p:bgPr>
    </p:bg>
    <p:spTree>
      <p:nvGrpSpPr>
        <p:cNvPr id="1" name=""/>
        <p:cNvGrpSpPr/>
        <p:nvPr/>
      </p:nvGrpSpPr>
      <p:grpSpPr>
        <a:xfrm>
          <a:off x="0" y="0"/>
          <a:ext cx="0" cy="0"/>
          <a:chOff x="0" y="0"/>
          <a:chExt cx="0" cy="0"/>
        </a:xfrm>
      </p:grpSpPr>
      <p:sp>
        <p:nvSpPr>
          <p:cNvPr id="13" name="Rectángulo 12"/>
          <p:cNvSpPr/>
          <p:nvPr userDrawn="1"/>
        </p:nvSpPr>
        <p:spPr>
          <a:xfrm>
            <a:off x="0" y="-80210"/>
            <a:ext cx="12192000" cy="5963774"/>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Título 1"/>
          <p:cNvSpPr>
            <a:spLocks noGrp="1"/>
          </p:cNvSpPr>
          <p:nvPr>
            <p:ph type="ctrTitle" hasCustomPrompt="1"/>
          </p:nvPr>
        </p:nvSpPr>
        <p:spPr>
          <a:xfrm>
            <a:off x="576197" y="2751257"/>
            <a:ext cx="10997852" cy="881291"/>
          </a:xfrm>
        </p:spPr>
        <p:txBody>
          <a:bodyPr vert="horz" lIns="91440" tIns="45720" rIns="91440" bIns="45720" rtlCol="0" anchor="b">
            <a:noAutofit/>
          </a:bodyPr>
          <a:lstStyle>
            <a:lvl1pPr>
              <a:defRPr lang="es-ES_tradnl" sz="5500" dirty="0">
                <a:solidFill>
                  <a:srgbClr val="00F7FF"/>
                </a:solidFill>
                <a:latin typeface="Cambria Math" charset="0"/>
                <a:ea typeface="Cambria Math" charset="0"/>
                <a:cs typeface="Cambria Math" charset="0"/>
              </a:defRPr>
            </a:lvl1pPr>
          </a:lstStyle>
          <a:p>
            <a:pPr lvl="0"/>
            <a:r>
              <a:rPr lang="es-ES_tradnl" sz="5500" dirty="0">
                <a:solidFill>
                  <a:srgbClr val="00F7FF"/>
                </a:solidFill>
                <a:latin typeface="Cambria Math" charset="0"/>
                <a:ea typeface="Cambria Math" charset="0"/>
                <a:cs typeface="Cambria Math" charset="0"/>
              </a:rPr>
              <a:t>Título del Módulo</a:t>
            </a:r>
          </a:p>
        </p:txBody>
      </p:sp>
      <p:sp>
        <p:nvSpPr>
          <p:cNvPr id="15" name="Subtítulo 2"/>
          <p:cNvSpPr>
            <a:spLocks noGrp="1"/>
          </p:cNvSpPr>
          <p:nvPr>
            <p:ph type="subTitle" idx="1" hasCustomPrompt="1"/>
          </p:nvPr>
        </p:nvSpPr>
        <p:spPr>
          <a:xfrm>
            <a:off x="576197" y="2388002"/>
            <a:ext cx="10997852" cy="363255"/>
          </a:xfrm>
        </p:spPr>
        <p:txBody>
          <a:bodyPr vert="horz" lIns="91440" tIns="45720" rIns="91440" bIns="45720" rtlCol="0" anchor="b">
            <a:noAutofit/>
          </a:bodyPr>
          <a:lstStyle>
            <a:lvl1pPr>
              <a:defRPr lang="es-ES_tradnl" sz="2200" dirty="0">
                <a:solidFill>
                  <a:srgbClr val="00F7FF"/>
                </a:solidFill>
                <a:latin typeface="Cambria Math" charset="0"/>
                <a:ea typeface="Cambria Math" charset="0"/>
                <a:cs typeface="Cambria Math" charset="0"/>
              </a:defRPr>
            </a:lvl1pPr>
          </a:lstStyle>
          <a:p>
            <a:pPr lvl="0">
              <a:spcBef>
                <a:spcPct val="0"/>
              </a:spcBef>
              <a:buNone/>
            </a:pPr>
            <a:r>
              <a:rPr lang="es-ES_tradnl" dirty="0">
                <a:solidFill>
                  <a:srgbClr val="00F7FF"/>
                </a:solidFill>
                <a:latin typeface="Cambria Math" charset="0"/>
                <a:ea typeface="Cambria Math" charset="0"/>
                <a:cs typeface="Cambria Math" charset="0"/>
              </a:rPr>
              <a:t>Módulo</a:t>
            </a:r>
            <a:r>
              <a:rPr lang="es-ES_tradnl" dirty="0">
                <a:solidFill>
                  <a:srgbClr val="00F7FF"/>
                </a:solidFill>
              </a:rPr>
              <a:t> 01</a:t>
            </a:r>
          </a:p>
        </p:txBody>
      </p:sp>
      <p:pic>
        <p:nvPicPr>
          <p:cNvPr id="2" name="Imagen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5358" y="6037072"/>
            <a:ext cx="447939" cy="648000"/>
          </a:xfrm>
          <a:prstGeom prst="rect">
            <a:avLst/>
          </a:prstGeom>
        </p:spPr>
      </p:pic>
    </p:spTree>
    <p:extLst>
      <p:ext uri="{BB962C8B-B14F-4D97-AF65-F5344CB8AC3E}">
        <p14:creationId xmlns:p14="http://schemas.microsoft.com/office/powerpoint/2010/main" val="3140872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BJETIVOS">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0" y="0"/>
            <a:ext cx="12192000" cy="870013"/>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lvl1pPr marL="990600" indent="0" algn="l">
              <a:defRPr lang="es-ES" sz="4400" dirty="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r>
              <a:rPr lang="es-ES" dirty="0"/>
              <a:t>Objetivos</a:t>
            </a:r>
          </a:p>
        </p:txBody>
      </p:sp>
      <p:sp>
        <p:nvSpPr>
          <p:cNvPr id="4" name="Marcador de contenido 3"/>
          <p:cNvSpPr>
            <a:spLocks noGrp="1"/>
          </p:cNvSpPr>
          <p:nvPr>
            <p:ph sz="half" idx="2"/>
          </p:nvPr>
        </p:nvSpPr>
        <p:spPr>
          <a:xfrm>
            <a:off x="1066800" y="1358900"/>
            <a:ext cx="10033000" cy="4495800"/>
          </a:xfrm>
        </p:spPr>
        <p:txBody>
          <a:bodyPr>
            <a:normAutofit/>
          </a:bodyPr>
          <a:lstStyle>
            <a:lvl1pPr marL="457200" indent="-457200">
              <a:buClr>
                <a:schemeClr val="accent5">
                  <a:lumMod val="50000"/>
                </a:schemeClr>
              </a:buClr>
              <a:buFont typeface="Arial" panose="020B0604020202020204" pitchFamily="34" charset="0"/>
              <a:buChar char="•"/>
              <a:defRPr sz="2800">
                <a:latin typeface="+mn-lt"/>
                <a:ea typeface="Verdana" panose="020B0604030504040204" pitchFamily="34" charset="0"/>
              </a:defRPr>
            </a:lvl1pPr>
            <a:lvl2pPr>
              <a:defRPr sz="2000">
                <a:latin typeface="Verdana" panose="020B0604030504040204" pitchFamily="34" charset="0"/>
                <a:ea typeface="Verdana" panose="020B0604030504040204" pitchFamily="34" charset="0"/>
              </a:defRPr>
            </a:lvl2pPr>
            <a:lvl3pPr>
              <a:defRPr sz="1800">
                <a:latin typeface="Verdana" panose="020B0604030504040204" pitchFamily="34" charset="0"/>
                <a:ea typeface="Verdana" panose="020B0604030504040204" pitchFamily="34" charset="0"/>
              </a:defRPr>
            </a:lvl3pPr>
            <a:lvl4pPr>
              <a:defRPr sz="1600">
                <a:latin typeface="Verdana" panose="020B0604030504040204" pitchFamily="34" charset="0"/>
                <a:ea typeface="Verdana" panose="020B0604030504040204" pitchFamily="34" charset="0"/>
              </a:defRPr>
            </a:lvl4pPr>
            <a:lvl5pPr>
              <a:defRPr sz="1600">
                <a:latin typeface="Verdana" panose="020B0604030504040204" pitchFamily="34" charset="0"/>
                <a:ea typeface="Verdana" panose="020B0604030504040204" pitchFamily="34" charset="0"/>
              </a:defRPr>
            </a:lvl5pPr>
          </a:lstStyle>
          <a:p>
            <a:pPr lvl="0"/>
            <a:r>
              <a:rPr lang="es-ES"/>
              <a:t>Haga clic para modificar los estilos de texto del patrón</a:t>
            </a:r>
          </a:p>
        </p:txBody>
      </p:sp>
      <p:sp>
        <p:nvSpPr>
          <p:cNvPr id="5"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0" y="6404413"/>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pic>
        <p:nvPicPr>
          <p:cNvPr id="6" name="Imagen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26268" y="6080413"/>
            <a:ext cx="447939" cy="648000"/>
          </a:xfrm>
          <a:prstGeom prst="rect">
            <a:avLst/>
          </a:prstGeom>
        </p:spPr>
      </p:pic>
    </p:spTree>
    <p:extLst>
      <p:ext uri="{BB962C8B-B14F-4D97-AF65-F5344CB8AC3E}">
        <p14:creationId xmlns:p14="http://schemas.microsoft.com/office/powerpoint/2010/main" val="11546158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ID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0" y="0"/>
            <a:ext cx="12192000" cy="870013"/>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lvl1pPr algn="l">
              <a:defRPr lang="es-ES" sz="4400" dirty="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r>
              <a:rPr lang="es-ES" dirty="0"/>
              <a:t>	Contenido</a:t>
            </a:r>
          </a:p>
        </p:txBody>
      </p:sp>
      <p:sp>
        <p:nvSpPr>
          <p:cNvPr id="4" name="Marcador de contenido 3"/>
          <p:cNvSpPr>
            <a:spLocks noGrp="1"/>
          </p:cNvSpPr>
          <p:nvPr>
            <p:ph sz="half" idx="2"/>
          </p:nvPr>
        </p:nvSpPr>
        <p:spPr>
          <a:xfrm>
            <a:off x="1041400" y="1236913"/>
            <a:ext cx="10109200" cy="4800600"/>
          </a:xfrm>
        </p:spPr>
        <p:txBody>
          <a:bodyPr>
            <a:normAutofit/>
          </a:bodyPr>
          <a:lstStyle>
            <a:lvl1pPr marL="457200" indent="-457200">
              <a:buClr>
                <a:schemeClr val="accent5">
                  <a:lumMod val="50000"/>
                </a:schemeClr>
              </a:buClr>
              <a:buFont typeface="Arial" panose="020B0604020202020204" pitchFamily="34" charset="0"/>
              <a:buChar char="•"/>
              <a:defRPr sz="2800">
                <a:latin typeface="+mn-lt"/>
                <a:ea typeface="Verdana" panose="020B0604030504040204" pitchFamily="34" charset="0"/>
              </a:defRPr>
            </a:lvl1pPr>
            <a:lvl2pPr>
              <a:defRPr sz="2000">
                <a:latin typeface="Verdana" panose="020B0604030504040204" pitchFamily="34" charset="0"/>
                <a:ea typeface="Verdana" panose="020B0604030504040204" pitchFamily="34" charset="0"/>
              </a:defRPr>
            </a:lvl2pPr>
            <a:lvl3pPr>
              <a:defRPr sz="1800">
                <a:latin typeface="Verdana" panose="020B0604030504040204" pitchFamily="34" charset="0"/>
                <a:ea typeface="Verdana" panose="020B0604030504040204" pitchFamily="34" charset="0"/>
              </a:defRPr>
            </a:lvl3pPr>
            <a:lvl4pPr>
              <a:defRPr sz="1600">
                <a:latin typeface="Verdana" panose="020B0604030504040204" pitchFamily="34" charset="0"/>
                <a:ea typeface="Verdana" panose="020B0604030504040204" pitchFamily="34" charset="0"/>
              </a:defRPr>
            </a:lvl4pPr>
            <a:lvl5pPr>
              <a:defRPr sz="1600">
                <a:latin typeface="Verdana" panose="020B0604030504040204" pitchFamily="34" charset="0"/>
                <a:ea typeface="Verdana" panose="020B0604030504040204" pitchFamily="34" charset="0"/>
              </a:defRPr>
            </a:lvl5pPr>
          </a:lstStyle>
          <a:p>
            <a:pPr lvl="0"/>
            <a:r>
              <a:rPr lang="es-ES"/>
              <a:t>Haga clic para modificar los estilos de texto del patrón</a:t>
            </a:r>
          </a:p>
        </p:txBody>
      </p:sp>
      <p:sp>
        <p:nvSpPr>
          <p:cNvPr id="5"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0" y="6404413"/>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pic>
        <p:nvPicPr>
          <p:cNvPr id="6" name="Imagen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6151347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CAPÍTULO">
    <p:spTree>
      <p:nvGrpSpPr>
        <p:cNvPr id="1" name=""/>
        <p:cNvGrpSpPr/>
        <p:nvPr/>
      </p:nvGrpSpPr>
      <p:grpSpPr>
        <a:xfrm>
          <a:off x="0" y="0"/>
          <a:ext cx="0" cy="0"/>
          <a:chOff x="0" y="0"/>
          <a:chExt cx="0" cy="0"/>
        </a:xfrm>
      </p:grpSpPr>
      <p:sp>
        <p:nvSpPr>
          <p:cNvPr id="6" name="Rectángulo 5"/>
          <p:cNvSpPr/>
          <p:nvPr userDrawn="1"/>
        </p:nvSpPr>
        <p:spPr>
          <a:xfrm>
            <a:off x="0" y="-80210"/>
            <a:ext cx="12192000" cy="597301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Título 1"/>
          <p:cNvSpPr>
            <a:spLocks noGrp="1"/>
          </p:cNvSpPr>
          <p:nvPr>
            <p:ph type="ctrTitle" hasCustomPrompt="1"/>
          </p:nvPr>
        </p:nvSpPr>
        <p:spPr>
          <a:xfrm>
            <a:off x="576197" y="2751257"/>
            <a:ext cx="10997852" cy="881291"/>
          </a:xfrm>
        </p:spPr>
        <p:txBody>
          <a:bodyPr vert="horz" lIns="91440" tIns="45720" rIns="91440" bIns="45720" rtlCol="0" anchor="b">
            <a:noAutofit/>
          </a:bodyPr>
          <a:lstStyle>
            <a:lvl1pPr>
              <a:defRPr lang="es-ES_tradnl" sz="5500" dirty="0">
                <a:solidFill>
                  <a:srgbClr val="00F7FF"/>
                </a:solidFill>
                <a:latin typeface="Cambria Math" charset="0"/>
                <a:ea typeface="Cambria Math" charset="0"/>
                <a:cs typeface="Cambria Math" charset="0"/>
              </a:defRPr>
            </a:lvl1pPr>
          </a:lstStyle>
          <a:p>
            <a:pPr lvl="0"/>
            <a:r>
              <a:rPr lang="es-ES_tradnl" sz="5500" dirty="0">
                <a:solidFill>
                  <a:srgbClr val="00F7FF"/>
                </a:solidFill>
                <a:latin typeface="Cambria Math" charset="0"/>
                <a:ea typeface="Cambria Math" charset="0"/>
                <a:cs typeface="Cambria Math" charset="0"/>
              </a:rPr>
              <a:t>Título del Capítulo</a:t>
            </a:r>
          </a:p>
        </p:txBody>
      </p:sp>
      <p:sp>
        <p:nvSpPr>
          <p:cNvPr id="8" name="Subtítulo 2"/>
          <p:cNvSpPr>
            <a:spLocks noGrp="1"/>
          </p:cNvSpPr>
          <p:nvPr>
            <p:ph type="subTitle" idx="1" hasCustomPrompt="1"/>
          </p:nvPr>
        </p:nvSpPr>
        <p:spPr>
          <a:xfrm>
            <a:off x="576197" y="2388002"/>
            <a:ext cx="10997852" cy="363255"/>
          </a:xfrm>
        </p:spPr>
        <p:txBody>
          <a:bodyPr vert="horz" lIns="91440" tIns="45720" rIns="91440" bIns="45720" rtlCol="0" anchor="b">
            <a:noAutofit/>
          </a:bodyPr>
          <a:lstStyle>
            <a:lvl1pPr>
              <a:defRPr lang="es-ES_tradnl" sz="2200" dirty="0">
                <a:solidFill>
                  <a:srgbClr val="00F7FF"/>
                </a:solidFill>
                <a:latin typeface="Cambria Math" charset="0"/>
                <a:ea typeface="Cambria Math" charset="0"/>
                <a:cs typeface="Cambria Math" charset="0"/>
              </a:defRPr>
            </a:lvl1pPr>
          </a:lstStyle>
          <a:p>
            <a:pPr lvl="0">
              <a:spcBef>
                <a:spcPct val="0"/>
              </a:spcBef>
              <a:buNone/>
            </a:pPr>
            <a:r>
              <a:rPr lang="es-ES_tradnl" dirty="0">
                <a:solidFill>
                  <a:srgbClr val="00F7FF"/>
                </a:solidFill>
                <a:latin typeface="Cambria Math" charset="0"/>
                <a:ea typeface="Cambria Math" charset="0"/>
                <a:cs typeface="Cambria Math" charset="0"/>
              </a:rPr>
              <a:t>Capítulo</a:t>
            </a:r>
            <a:r>
              <a:rPr lang="es-ES_tradnl" dirty="0">
                <a:solidFill>
                  <a:srgbClr val="00F7FF"/>
                </a:solidFill>
              </a:rPr>
              <a:t> 01</a:t>
            </a:r>
          </a:p>
        </p:txBody>
      </p:sp>
      <p:pic>
        <p:nvPicPr>
          <p:cNvPr id="10" name="Imagen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16867488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 TEXT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0" y="0"/>
            <a:ext cx="12192000" cy="870013"/>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lvl1pPr algn="l">
              <a:defRPr lang="es-ES" sz="4400" baseline="0" dirty="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r>
              <a:rPr lang="es-ES" dirty="0"/>
              <a:t>Plantilla de Título + Texto		</a:t>
            </a:r>
          </a:p>
        </p:txBody>
      </p:sp>
      <p:sp>
        <p:nvSpPr>
          <p:cNvPr id="5"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0" y="6404413"/>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sp>
        <p:nvSpPr>
          <p:cNvPr id="6" name="Marcador de texto 5"/>
          <p:cNvSpPr>
            <a:spLocks noGrp="1"/>
          </p:cNvSpPr>
          <p:nvPr>
            <p:ph type="body" sz="quarter" idx="13" hasCustomPrompt="1"/>
          </p:nvPr>
        </p:nvSpPr>
        <p:spPr>
          <a:xfrm>
            <a:off x="1022350" y="1217863"/>
            <a:ext cx="10198100" cy="4838700"/>
          </a:xfrm>
        </p:spPr>
        <p:txBody>
          <a:bodyPr/>
          <a:lstStyle>
            <a:lvl1pPr marL="457200" indent="-457200">
              <a:buClr>
                <a:schemeClr val="accent5">
                  <a:lumMod val="50000"/>
                </a:schemeClr>
              </a:buClr>
              <a:buFont typeface="Arial" panose="020B0604020202020204" pitchFamily="34" charset="0"/>
              <a:buChar char="•"/>
              <a:defRPr>
                <a:latin typeface="+mn-lt"/>
                <a:ea typeface="Cambria Math" panose="02040503050406030204" pitchFamily="18" charset="0"/>
              </a:defRPr>
            </a:lvl1pPr>
            <a:lvl2pPr marL="457200" indent="0">
              <a:buNone/>
              <a:defRPr>
                <a:latin typeface="Cambria Math" panose="02040503050406030204" pitchFamily="18" charset="0"/>
                <a:ea typeface="Cambria Math" panose="02040503050406030204" pitchFamily="18" charset="0"/>
              </a:defRPr>
            </a:lvl2pPr>
            <a:lvl3pPr marL="914400" indent="0">
              <a:buNone/>
              <a:defRPr>
                <a:latin typeface="Cambria Math" panose="02040503050406030204" pitchFamily="18" charset="0"/>
                <a:ea typeface="Cambria Math" panose="02040503050406030204" pitchFamily="18" charset="0"/>
              </a:defRPr>
            </a:lvl3pPr>
            <a:lvl4pPr marL="1371600" indent="0">
              <a:buNone/>
              <a:defRPr>
                <a:latin typeface="Cambria Math" panose="02040503050406030204" pitchFamily="18" charset="0"/>
                <a:ea typeface="Cambria Math" panose="02040503050406030204" pitchFamily="18" charset="0"/>
              </a:defRPr>
            </a:lvl4pPr>
            <a:lvl5pPr marL="1828800" indent="0">
              <a:buNone/>
              <a:defRPr>
                <a:latin typeface="Cambria Math" panose="02040503050406030204" pitchFamily="18" charset="0"/>
                <a:ea typeface="Cambria Math" panose="02040503050406030204" pitchFamily="18" charset="0"/>
              </a:defRPr>
            </a:lvl5pPr>
          </a:lstStyle>
          <a:p>
            <a:pPr lvl="0"/>
            <a:r>
              <a:rPr lang="es-ES" dirty="0"/>
              <a:t>Texto</a:t>
            </a:r>
          </a:p>
          <a:p>
            <a:pPr lvl="0"/>
            <a:endParaRPr lang="es-ES" dirty="0"/>
          </a:p>
        </p:txBody>
      </p:sp>
      <p:pic>
        <p:nvPicPr>
          <p:cNvPr id="8" name="Imagen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8995992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O + OBJETOS">
    <p:spTree>
      <p:nvGrpSpPr>
        <p:cNvPr id="1" name=""/>
        <p:cNvGrpSpPr/>
        <p:nvPr/>
      </p:nvGrpSpPr>
      <p:grpSpPr>
        <a:xfrm>
          <a:off x="0" y="0"/>
          <a:ext cx="0" cy="0"/>
          <a:chOff x="0" y="0"/>
          <a:chExt cx="0" cy="0"/>
        </a:xfrm>
      </p:grpSpPr>
      <p:sp>
        <p:nvSpPr>
          <p:cNvPr id="8" name="Título 1"/>
          <p:cNvSpPr>
            <a:spLocks noGrp="1"/>
          </p:cNvSpPr>
          <p:nvPr>
            <p:ph type="title" hasCustomPrompt="1"/>
          </p:nvPr>
        </p:nvSpPr>
        <p:spPr>
          <a:xfrm>
            <a:off x="35322" y="0"/>
            <a:ext cx="12156677" cy="834501"/>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baseline="0" dirty="0">
                <a:solidFill>
                  <a:schemeClr val="accent5">
                    <a:lumMod val="20000"/>
                    <a:lumOff val="80000"/>
                  </a:schemeClr>
                </a:solidFill>
                <a:latin typeface="Cambria Math" panose="02040503050406030204" pitchFamily="18" charset="0"/>
                <a:ea typeface="Cambria Math" panose="02040503050406030204" pitchFamily="18" charset="0"/>
                <a:cs typeface="+mn-cs"/>
              </a:defRPr>
            </a:lvl1pPr>
          </a:lstStyle>
          <a:p>
            <a:pPr marL="0" lvl="0" algn="ctr"/>
            <a:r>
              <a:rPr lang="es-ES" dirty="0"/>
              <a:t>Plantilla de Título + Objetos</a:t>
            </a:r>
          </a:p>
        </p:txBody>
      </p:sp>
      <p:sp>
        <p:nvSpPr>
          <p:cNvPr id="15" name="Marcador de contenido 2"/>
          <p:cNvSpPr>
            <a:spLocks noGrp="1"/>
          </p:cNvSpPr>
          <p:nvPr>
            <p:ph idx="1"/>
          </p:nvPr>
        </p:nvSpPr>
        <p:spPr>
          <a:xfrm>
            <a:off x="855860" y="1350334"/>
            <a:ext cx="10515600" cy="4351338"/>
          </a:xfrm>
        </p:spPr>
        <p:txBody>
          <a:bodyPr/>
          <a:lstStyle>
            <a:lvl1pPr>
              <a:buClr>
                <a:schemeClr val="accent5">
                  <a:lumMod val="50000"/>
                </a:schemeClr>
              </a:buClr>
              <a:defRPr/>
            </a:lvl1pPr>
            <a:lvl2pPr>
              <a:buClr>
                <a:schemeClr val="accent5">
                  <a:lumMod val="50000"/>
                </a:schemeClr>
              </a:buClr>
              <a:defRPr/>
            </a:lvl2pPr>
            <a:lvl3pPr>
              <a:buClr>
                <a:schemeClr val="accent5">
                  <a:lumMod val="50000"/>
                </a:schemeClr>
              </a:buClr>
              <a:defRPr/>
            </a:lvl3pPr>
            <a:lvl4pPr>
              <a:buClr>
                <a:schemeClr val="accent5">
                  <a:lumMod val="50000"/>
                </a:schemeClr>
              </a:buClr>
              <a:defRPr/>
            </a:lvl4pPr>
            <a:lvl5pPr>
              <a:buClr>
                <a:schemeClr val="accent5">
                  <a:lumMod val="50000"/>
                </a:schemeClr>
              </a:buCl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6"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157018" y="6374362"/>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215958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con Título">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310718" y="879198"/>
            <a:ext cx="5686857" cy="816437"/>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sz="2200" baseline="0" smtClean="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spcBef>
                <a:spcPct val="0"/>
              </a:spcBef>
              <a:buNone/>
            </a:pPr>
            <a:r>
              <a:rPr lang="es-ES"/>
              <a:t>Haga clic para modificar los estilos de texto del patrón</a:t>
            </a:r>
          </a:p>
        </p:txBody>
      </p:sp>
      <p:sp>
        <p:nvSpPr>
          <p:cNvPr id="4" name="Marcador de contenido 3"/>
          <p:cNvSpPr>
            <a:spLocks noGrp="1"/>
          </p:cNvSpPr>
          <p:nvPr>
            <p:ph sz="half" idx="2"/>
          </p:nvPr>
        </p:nvSpPr>
        <p:spPr>
          <a:xfrm>
            <a:off x="310718" y="1695850"/>
            <a:ext cx="5686857" cy="4250955"/>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096000" y="879198"/>
            <a:ext cx="5714864" cy="816437"/>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sz="2200" baseline="0" smtClean="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spcBef>
                <a:spcPct val="0"/>
              </a:spcBef>
              <a:buNone/>
            </a:pPr>
            <a:r>
              <a:rPr lang="es-ES"/>
              <a:t>Haga clic para modificar los estilos de texto del patrón</a:t>
            </a:r>
          </a:p>
        </p:txBody>
      </p:sp>
      <p:sp>
        <p:nvSpPr>
          <p:cNvPr id="6" name="Marcador de contenido 5"/>
          <p:cNvSpPr>
            <a:spLocks noGrp="1"/>
          </p:cNvSpPr>
          <p:nvPr>
            <p:ph sz="quarter" idx="4"/>
          </p:nvPr>
        </p:nvSpPr>
        <p:spPr>
          <a:xfrm>
            <a:off x="6096000" y="1719216"/>
            <a:ext cx="5714864" cy="4240505"/>
          </a:xfrm>
        </p:spPr>
        <p:txBody>
          <a:bodyPr>
            <a:normAutofit/>
          </a:bodyPr>
          <a:lstStyle>
            <a:lvl1pPr marL="342900" indent="-342900">
              <a:buClr>
                <a:srgbClr val="002060"/>
              </a:buClr>
              <a:buFont typeface="Arial" panose="020B0604020202020204" pitchFamily="34" charset="0"/>
              <a:buChar char="•"/>
              <a:defRPr sz="2400">
                <a:latin typeface="+mn-lt"/>
                <a:ea typeface="Verdana" panose="020B0604030504040204" pitchFamily="34" charset="0"/>
              </a:defRPr>
            </a:lvl1pPr>
            <a:lvl2pPr marL="800100" indent="-342900">
              <a:buClr>
                <a:srgbClr val="002060"/>
              </a:buClr>
              <a:buFont typeface="Arial" panose="020B0604020202020204" pitchFamily="34" charset="0"/>
              <a:buChar char="•"/>
              <a:defRPr sz="2000">
                <a:latin typeface="+mn-lt"/>
                <a:ea typeface="Verdana" panose="020B0604030504040204" pitchFamily="34" charset="0"/>
              </a:defRPr>
            </a:lvl2pPr>
            <a:lvl3pPr marL="1200150" indent="-285750">
              <a:buClr>
                <a:srgbClr val="002060"/>
              </a:buClr>
              <a:buFont typeface="Arial" panose="020B0604020202020204" pitchFamily="34" charset="0"/>
              <a:buChar char="•"/>
              <a:defRPr sz="1800">
                <a:latin typeface="+mn-lt"/>
                <a:ea typeface="Verdana" panose="020B0604030504040204" pitchFamily="34" charset="0"/>
              </a:defRPr>
            </a:lvl3pPr>
            <a:lvl4pPr marL="1657350" indent="-285750">
              <a:buClr>
                <a:srgbClr val="002060"/>
              </a:buClr>
              <a:buFont typeface="Arial" panose="020B0604020202020204" pitchFamily="34" charset="0"/>
              <a:buChar char="•"/>
              <a:defRPr sz="1600">
                <a:latin typeface="+mn-lt"/>
                <a:ea typeface="Verdana" panose="020B0604030504040204" pitchFamily="34" charset="0"/>
              </a:defRPr>
            </a:lvl4pPr>
            <a:lvl5pPr marL="2114550" indent="-285750">
              <a:buClr>
                <a:srgbClr val="002060"/>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10" name="Título 1"/>
          <p:cNvSpPr>
            <a:spLocks noGrp="1"/>
          </p:cNvSpPr>
          <p:nvPr>
            <p:ph type="title" hasCustomPrompt="1"/>
          </p:nvPr>
        </p:nvSpPr>
        <p:spPr>
          <a:xfrm>
            <a:off x="0" y="-8878"/>
            <a:ext cx="12192000" cy="780095"/>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baseline="0" dirty="0">
                <a:solidFill>
                  <a:schemeClr val="accent5">
                    <a:lumMod val="20000"/>
                    <a:lumOff val="80000"/>
                  </a:schemeClr>
                </a:solidFill>
                <a:latin typeface="Cambria Math" panose="02040503050406030204" pitchFamily="18" charset="0"/>
                <a:ea typeface="Cambria Math" panose="02040503050406030204" pitchFamily="18" charset="0"/>
                <a:cs typeface="+mn-cs"/>
              </a:defRPr>
            </a:lvl1pPr>
          </a:lstStyle>
          <a:p>
            <a:pPr marL="0" lvl="0" algn="ctr"/>
            <a:r>
              <a:rPr lang="es-ES" dirty="0"/>
              <a:t>Comparación + Título</a:t>
            </a:r>
          </a:p>
        </p:txBody>
      </p:sp>
      <p:sp>
        <p:nvSpPr>
          <p:cNvPr id="13"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138546" y="6290270"/>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3068225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ción sin Título">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419099" y="574398"/>
            <a:ext cx="5502847" cy="868299"/>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sz="2200" baseline="0" smtClean="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spcBef>
                <a:spcPct val="0"/>
              </a:spcBef>
              <a:buNone/>
            </a:pPr>
            <a:r>
              <a:rPr lang="es-ES"/>
              <a:t>Haga clic para modificar los estilos de texto del patrón</a:t>
            </a:r>
          </a:p>
        </p:txBody>
      </p:sp>
      <p:sp>
        <p:nvSpPr>
          <p:cNvPr id="4" name="Marcador de contenido 3"/>
          <p:cNvSpPr>
            <a:spLocks noGrp="1"/>
          </p:cNvSpPr>
          <p:nvPr>
            <p:ph sz="half" idx="2"/>
          </p:nvPr>
        </p:nvSpPr>
        <p:spPr>
          <a:xfrm>
            <a:off x="419099" y="1498815"/>
            <a:ext cx="5502847" cy="4520985"/>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204852" y="574398"/>
            <a:ext cx="5529948" cy="868299"/>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sz="2200" baseline="0" smtClean="0">
                <a:solidFill>
                  <a:schemeClr val="accent5">
                    <a:lumMod val="20000"/>
                    <a:lumOff val="80000"/>
                  </a:schemeClr>
                </a:solidFill>
                <a:latin typeface="Cambria Math" panose="02040503050406030204" pitchFamily="18" charset="0"/>
                <a:ea typeface="Cambria Math" panose="02040503050406030204" pitchFamily="18" charset="0"/>
              </a:defRPr>
            </a:lvl1pPr>
          </a:lstStyle>
          <a:p>
            <a:pPr marL="0" lvl="0" algn="ctr">
              <a:spcBef>
                <a:spcPct val="0"/>
              </a:spcBef>
              <a:buNone/>
            </a:pPr>
            <a:r>
              <a:rPr lang="es-ES"/>
              <a:t>Haga clic para modificar los estilos de texto del patrón</a:t>
            </a:r>
          </a:p>
        </p:txBody>
      </p:sp>
      <p:sp>
        <p:nvSpPr>
          <p:cNvPr id="6" name="Marcador de contenido 5"/>
          <p:cNvSpPr>
            <a:spLocks noGrp="1"/>
          </p:cNvSpPr>
          <p:nvPr>
            <p:ph sz="quarter" idx="4"/>
          </p:nvPr>
        </p:nvSpPr>
        <p:spPr>
          <a:xfrm>
            <a:off x="6204852" y="1509264"/>
            <a:ext cx="5529948" cy="4509871"/>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13"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12"/>
          </p:nvPr>
        </p:nvSpPr>
        <p:spPr>
          <a:xfrm>
            <a:off x="118612" y="6331739"/>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pic>
        <p:nvPicPr>
          <p:cNvPr id="8" name="Imagen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111401"/>
            <a:ext cx="447939" cy="648000"/>
          </a:xfrm>
          <a:prstGeom prst="rect">
            <a:avLst/>
          </a:prstGeom>
        </p:spPr>
      </p:pic>
    </p:spTree>
    <p:extLst>
      <p:ext uri="{BB962C8B-B14F-4D97-AF65-F5344CB8AC3E}">
        <p14:creationId xmlns:p14="http://schemas.microsoft.com/office/powerpoint/2010/main" val="2542943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 TEXTO + IMAGEN">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790B36CF-9391-49E9-B599-8B724B6EF267}"/>
              </a:ext>
            </a:extLst>
          </p:cNvPr>
          <p:cNvSpPr/>
          <p:nvPr/>
        </p:nvSpPr>
        <p:spPr>
          <a:xfrm>
            <a:off x="0" y="6343363"/>
            <a:ext cx="12192000" cy="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4"/>
          </p:nvPr>
        </p:nvSpPr>
        <p:spPr>
          <a:xfrm>
            <a:off x="310718" y="6347190"/>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sp>
        <p:nvSpPr>
          <p:cNvPr id="7" name="Marcador de posición de imagen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6449738" y="977899"/>
            <a:ext cx="5348562" cy="4999841"/>
          </a:xfrm>
          <a:prstGeom prst="rect">
            <a:avLst/>
          </a:prstGeom>
        </p:spPr>
        <p:txBody>
          <a:bodyPr vert="horz" wrap="square" lIns="91440" tIns="45720" rIns="91440" bIns="45720" rtlCol="0" anchor="ctr" anchorCtr="1">
            <a:noAutofit/>
          </a:bodyPr>
          <a:lstStyle>
            <a:lvl1pPr marL="0" indent="0">
              <a:buFont typeface="Arial" panose="020B0604020202020204" pitchFamily="34" charset="0"/>
              <a:buNone/>
              <a:defRPr lang="en-GB" sz="1800">
                <a:latin typeface="+mn-lt"/>
              </a:defRPr>
            </a:lvl1pPr>
          </a:lstStyle>
          <a:p>
            <a:pPr marL="228600" lvl="0" indent="-228600" algn="ctr" rtl="0"/>
            <a:r>
              <a:rPr lang="es-ES" noProof="0"/>
              <a:t>Insertar imagen</a:t>
            </a:r>
          </a:p>
        </p:txBody>
      </p:sp>
      <p:sp>
        <p:nvSpPr>
          <p:cNvPr id="9" name="Marcador de contenido 3"/>
          <p:cNvSpPr>
            <a:spLocks noGrp="1"/>
          </p:cNvSpPr>
          <p:nvPr>
            <p:ph sz="half" idx="2"/>
          </p:nvPr>
        </p:nvSpPr>
        <p:spPr>
          <a:xfrm>
            <a:off x="571500" y="977185"/>
            <a:ext cx="5510383" cy="4991815"/>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Título 1"/>
          <p:cNvSpPr>
            <a:spLocks noGrp="1"/>
          </p:cNvSpPr>
          <p:nvPr>
            <p:ph type="title" hasCustomPrompt="1"/>
          </p:nvPr>
        </p:nvSpPr>
        <p:spPr>
          <a:xfrm>
            <a:off x="0" y="-8878"/>
            <a:ext cx="12192000" cy="780095"/>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baseline="0" dirty="0">
                <a:solidFill>
                  <a:schemeClr val="accent5">
                    <a:lumMod val="20000"/>
                    <a:lumOff val="80000"/>
                  </a:schemeClr>
                </a:solidFill>
                <a:latin typeface="Cambria Math" panose="02040503050406030204" pitchFamily="18" charset="0"/>
                <a:ea typeface="Cambria Math" panose="02040503050406030204" pitchFamily="18" charset="0"/>
                <a:cs typeface="+mn-cs"/>
              </a:defRPr>
            </a:lvl1pPr>
          </a:lstStyle>
          <a:p>
            <a:pPr marL="0" lvl="0" algn="ctr"/>
            <a:r>
              <a:rPr lang="es-ES" dirty="0"/>
              <a:t>Título + Texto + Imagen</a:t>
            </a:r>
          </a:p>
        </p:txBody>
      </p:sp>
      <p:pic>
        <p:nvPicPr>
          <p:cNvPr id="10" name="Imagen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7079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 IMAGEN + TEXTO">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790B36CF-9391-49E9-B599-8B724B6EF267}"/>
              </a:ext>
            </a:extLst>
          </p:cNvPr>
          <p:cNvSpPr/>
          <p:nvPr/>
        </p:nvSpPr>
        <p:spPr>
          <a:xfrm>
            <a:off x="0" y="6343363"/>
            <a:ext cx="12192000" cy="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4"/>
          </p:nvPr>
        </p:nvSpPr>
        <p:spPr>
          <a:xfrm>
            <a:off x="310718" y="6347190"/>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sp>
        <p:nvSpPr>
          <p:cNvPr id="7" name="Marcador de posición de imagen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611205" y="990428"/>
            <a:ext cx="5348562" cy="4999841"/>
          </a:xfrm>
          <a:prstGeom prst="rect">
            <a:avLst/>
          </a:prstGeom>
        </p:spPr>
        <p:txBody>
          <a:bodyPr vert="horz" wrap="square" lIns="91440" tIns="45720" rIns="91440" bIns="45720" rtlCol="0" anchor="ctr" anchorCtr="1">
            <a:noAutofit/>
          </a:bodyPr>
          <a:lstStyle>
            <a:lvl1pPr marL="0" indent="0">
              <a:buNone/>
              <a:defRPr lang="en-GB" sz="1800">
                <a:latin typeface="+mn-lt"/>
              </a:defRPr>
            </a:lvl1pPr>
          </a:lstStyle>
          <a:p>
            <a:pPr marL="228600" lvl="0" indent="-228600" algn="ctr" rtl="0"/>
            <a:r>
              <a:rPr lang="es-ES" noProof="0"/>
              <a:t>Insertar imagen</a:t>
            </a:r>
          </a:p>
        </p:txBody>
      </p:sp>
      <p:sp>
        <p:nvSpPr>
          <p:cNvPr id="9" name="Marcador de contenido 3"/>
          <p:cNvSpPr>
            <a:spLocks noGrp="1"/>
          </p:cNvSpPr>
          <p:nvPr>
            <p:ph sz="half" idx="2"/>
          </p:nvPr>
        </p:nvSpPr>
        <p:spPr>
          <a:xfrm>
            <a:off x="6210300" y="998454"/>
            <a:ext cx="5510383" cy="4991815"/>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8" name="Título 1"/>
          <p:cNvSpPr>
            <a:spLocks noGrp="1"/>
          </p:cNvSpPr>
          <p:nvPr>
            <p:ph type="title" hasCustomPrompt="1"/>
          </p:nvPr>
        </p:nvSpPr>
        <p:spPr>
          <a:xfrm>
            <a:off x="0" y="-8878"/>
            <a:ext cx="12192000" cy="780095"/>
          </a:xfr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720000" tIns="45720" rIns="91440" bIns="45720" rtlCol="0" anchor="ctr">
            <a:normAutofit/>
          </a:bodyPr>
          <a:lstStyle>
            <a:lvl1pPr>
              <a:defRPr lang="es-ES" baseline="0" dirty="0">
                <a:solidFill>
                  <a:schemeClr val="accent5">
                    <a:lumMod val="20000"/>
                    <a:lumOff val="80000"/>
                  </a:schemeClr>
                </a:solidFill>
                <a:latin typeface="Cambria Math" panose="02040503050406030204" pitchFamily="18" charset="0"/>
                <a:ea typeface="Cambria Math" panose="02040503050406030204" pitchFamily="18" charset="0"/>
                <a:cs typeface="+mn-cs"/>
              </a:defRPr>
            </a:lvl1pPr>
          </a:lstStyle>
          <a:p>
            <a:pPr marL="0" lvl="0" algn="ctr"/>
            <a:r>
              <a:rPr lang="es-ES" dirty="0"/>
              <a:t>Título + Imagen + Texto</a:t>
            </a:r>
          </a:p>
        </p:txBody>
      </p:sp>
      <p:pic>
        <p:nvPicPr>
          <p:cNvPr id="10" name="Imagen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428619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N + TEXTO">
    <p:spTree>
      <p:nvGrpSpPr>
        <p:cNvPr id="1" name=""/>
        <p:cNvGrpSpPr/>
        <p:nvPr/>
      </p:nvGrpSpPr>
      <p:grpSpPr>
        <a:xfrm>
          <a:off x="0" y="0"/>
          <a:ext cx="0" cy="0"/>
          <a:chOff x="0" y="0"/>
          <a:chExt cx="0" cy="0"/>
        </a:xfrm>
      </p:grpSpPr>
      <p:sp>
        <p:nvSpPr>
          <p:cNvPr id="14"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4"/>
          </p:nvPr>
        </p:nvSpPr>
        <p:spPr>
          <a:xfrm>
            <a:off x="260493" y="6334218"/>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sp>
        <p:nvSpPr>
          <p:cNvPr id="7" name="Marcador de posición de imagen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260493" y="381304"/>
            <a:ext cx="4773146" cy="5682145"/>
          </a:xfrm>
          <a:prstGeom prst="rect">
            <a:avLst/>
          </a:prstGeom>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dirty="0"/>
              <a:t>Insertar imagen</a:t>
            </a:r>
          </a:p>
        </p:txBody>
      </p:sp>
      <p:sp>
        <p:nvSpPr>
          <p:cNvPr id="11" name="Marcador de contenido 3"/>
          <p:cNvSpPr>
            <a:spLocks noGrp="1"/>
          </p:cNvSpPr>
          <p:nvPr>
            <p:ph sz="half" idx="2"/>
          </p:nvPr>
        </p:nvSpPr>
        <p:spPr>
          <a:xfrm>
            <a:off x="5273334" y="381304"/>
            <a:ext cx="6462946" cy="5682145"/>
          </a:xfrm>
        </p:spPr>
        <p:txBody>
          <a:bodyPr>
            <a:normAutofit/>
          </a:bodyPr>
          <a:lstStyle>
            <a:lvl1pPr marL="342900" indent="-342900">
              <a:buClr>
                <a:schemeClr val="accent5">
                  <a:lumMod val="50000"/>
                </a:schemeClr>
              </a:buClr>
              <a:buSzPct val="100000"/>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SzPct val="100000"/>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SzPct val="100000"/>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SzPct val="100000"/>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SzPct val="100000"/>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129873"/>
            <a:ext cx="447939" cy="648000"/>
          </a:xfrm>
          <a:prstGeom prst="rect">
            <a:avLst/>
          </a:prstGeom>
        </p:spPr>
      </p:pic>
    </p:spTree>
    <p:extLst>
      <p:ext uri="{BB962C8B-B14F-4D97-AF65-F5344CB8AC3E}">
        <p14:creationId xmlns:p14="http://schemas.microsoft.com/office/powerpoint/2010/main" val="673457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O + IMAGEN">
    <p:spTree>
      <p:nvGrpSpPr>
        <p:cNvPr id="1" name=""/>
        <p:cNvGrpSpPr/>
        <p:nvPr/>
      </p:nvGrpSpPr>
      <p:grpSpPr>
        <a:xfrm>
          <a:off x="0" y="0"/>
          <a:ext cx="0" cy="0"/>
          <a:chOff x="0" y="0"/>
          <a:chExt cx="0" cy="0"/>
        </a:xfrm>
      </p:grpSpPr>
      <p:sp>
        <p:nvSpPr>
          <p:cNvPr id="14" name="Marcador de número de diapositiva 7">
            <a:extLst>
              <a:ext uri="{FF2B5EF4-FFF2-40B4-BE49-F238E27FC236}">
                <a16:creationId xmlns:a16="http://schemas.microsoft.com/office/drawing/2014/main" id="{9E4521A1-4C9D-4795-B551-D151E8856AAE}"/>
              </a:ext>
            </a:extLst>
          </p:cNvPr>
          <p:cNvSpPr>
            <a:spLocks noGrp="1"/>
          </p:cNvSpPr>
          <p:nvPr>
            <p:ph type="sldNum" sz="quarter" idx="4"/>
          </p:nvPr>
        </p:nvSpPr>
        <p:spPr>
          <a:xfrm>
            <a:off x="260493" y="6334218"/>
            <a:ext cx="600974" cy="395243"/>
          </a:xfrm>
          <a:prstGeom prst="ellipse">
            <a:avLst/>
          </a:prstGeom>
          <a:noFill/>
          <a:ln>
            <a:noFill/>
          </a:ln>
        </p:spPr>
        <p:style>
          <a:lnRef idx="2">
            <a:schemeClr val="accent1">
              <a:shade val="50000"/>
            </a:schemeClr>
          </a:lnRef>
          <a:fillRef idx="1">
            <a:schemeClr val="accent1"/>
          </a:fillRef>
          <a:effectRef idx="0">
            <a:schemeClr val="accent1"/>
          </a:effectRef>
          <a:fontRef idx="none"/>
        </p:style>
        <p:txBody>
          <a:bodyPr vert="horz" lIns="0" tIns="0" rIns="0" bIns="0" rtlCol="0" anchor="ctr"/>
          <a:lstStyle>
            <a:lvl1pPr>
              <a:defRPr lang="es-ES" b="1" smtClean="0">
                <a:solidFill>
                  <a:schemeClr val="accent5">
                    <a:lumMod val="50000"/>
                  </a:schemeClr>
                </a:solidFill>
                <a:latin typeface="Verdana" panose="020B0604030504040204" pitchFamily="34" charset="0"/>
                <a:ea typeface="Verdana" panose="020B0604030504040204" pitchFamily="34" charset="0"/>
              </a:defRPr>
            </a:lvl1pPr>
          </a:lstStyle>
          <a:p>
            <a:pPr algn="ctr"/>
            <a:fld id="{817179DE-9BF3-494C-804F-0C7C90AC8700}" type="slidenum">
              <a:rPr lang="es-ES" smtClean="0"/>
              <a:pPr algn="ctr"/>
              <a:t>‹Nº›</a:t>
            </a:fld>
            <a:endParaRPr lang="es-ES"/>
          </a:p>
        </p:txBody>
      </p:sp>
      <p:sp>
        <p:nvSpPr>
          <p:cNvPr id="7" name="Marcador de posición de imagen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7156602" y="535361"/>
            <a:ext cx="4755997" cy="5560639"/>
          </a:xfrm>
          <a:prstGeom prst="rect">
            <a:avLst/>
          </a:prstGeom>
        </p:spPr>
        <p:txBody>
          <a:bodyPr vert="horz" wrap="square" lIns="91440" tIns="45720" rIns="91440" bIns="45720" rtlCol="0" anchor="ctr" anchorCtr="1">
            <a:noAutofit/>
          </a:bodyPr>
          <a:lstStyle>
            <a:lvl1pPr marL="0" indent="0">
              <a:buNone/>
              <a:defRPr lang="en-GB" sz="1800"/>
            </a:lvl1pPr>
          </a:lstStyle>
          <a:p>
            <a:pPr marL="228600" lvl="0" indent="-228600" algn="ctr" rtl="0"/>
            <a:r>
              <a:rPr lang="es-ES" noProof="0" dirty="0"/>
              <a:t>Insertar imagen</a:t>
            </a:r>
          </a:p>
        </p:txBody>
      </p:sp>
      <p:sp>
        <p:nvSpPr>
          <p:cNvPr id="11" name="Marcador de contenido 3"/>
          <p:cNvSpPr>
            <a:spLocks noGrp="1"/>
          </p:cNvSpPr>
          <p:nvPr>
            <p:ph sz="half" idx="2"/>
          </p:nvPr>
        </p:nvSpPr>
        <p:spPr>
          <a:xfrm>
            <a:off x="584200" y="535361"/>
            <a:ext cx="6439726" cy="5560639"/>
          </a:xfrm>
        </p:spPr>
        <p:txBody>
          <a:bodyPr>
            <a:normAutofit/>
          </a:bodyPr>
          <a:lstStyle>
            <a:lvl1pPr marL="342900" indent="-342900">
              <a:buClr>
                <a:schemeClr val="accent5">
                  <a:lumMod val="50000"/>
                </a:schemeClr>
              </a:buClr>
              <a:buFont typeface="Arial" panose="020B0604020202020204" pitchFamily="34" charset="0"/>
              <a:buChar char="•"/>
              <a:defRPr sz="2400">
                <a:latin typeface="+mn-lt"/>
                <a:ea typeface="Verdana" panose="020B0604030504040204" pitchFamily="34" charset="0"/>
              </a:defRPr>
            </a:lvl1pPr>
            <a:lvl2pPr marL="800100" indent="-342900">
              <a:buClr>
                <a:schemeClr val="accent5">
                  <a:lumMod val="50000"/>
                </a:schemeClr>
              </a:buClr>
              <a:buFont typeface="Arial" panose="020B0604020202020204" pitchFamily="34" charset="0"/>
              <a:buChar char="•"/>
              <a:defRPr sz="2000">
                <a:latin typeface="+mn-lt"/>
                <a:ea typeface="Verdana" panose="020B0604030504040204" pitchFamily="34" charset="0"/>
              </a:defRPr>
            </a:lvl2pPr>
            <a:lvl3pPr marL="1200150" indent="-285750">
              <a:buClr>
                <a:schemeClr val="accent5">
                  <a:lumMod val="50000"/>
                </a:schemeClr>
              </a:buClr>
              <a:buFont typeface="Arial" panose="020B0604020202020204" pitchFamily="34" charset="0"/>
              <a:buChar char="•"/>
              <a:defRPr sz="1800">
                <a:latin typeface="+mn-lt"/>
                <a:ea typeface="Verdana" panose="020B0604030504040204" pitchFamily="34" charset="0"/>
              </a:defRPr>
            </a:lvl3pPr>
            <a:lvl4pPr marL="16573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4pPr>
            <a:lvl5pPr marL="2114550" indent="-285750">
              <a:buClr>
                <a:schemeClr val="accent5">
                  <a:lumMod val="50000"/>
                </a:schemeClr>
              </a:buClr>
              <a:buFont typeface="Arial" panose="020B0604020202020204" pitchFamily="34" charset="0"/>
              <a:buChar char="•"/>
              <a:defRPr sz="1600">
                <a:latin typeface="+mn-lt"/>
                <a:ea typeface="Verdana" panose="020B060403050404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52377" y="6139109"/>
            <a:ext cx="447939" cy="648000"/>
          </a:xfrm>
          <a:prstGeom prst="rect">
            <a:avLst/>
          </a:prstGeom>
        </p:spPr>
      </p:pic>
    </p:spTree>
    <p:extLst>
      <p:ext uri="{BB962C8B-B14F-4D97-AF65-F5344CB8AC3E}">
        <p14:creationId xmlns:p14="http://schemas.microsoft.com/office/powerpoint/2010/main" val="896848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SPEDIDA">
    <p:spTree>
      <p:nvGrpSpPr>
        <p:cNvPr id="1" name=""/>
        <p:cNvGrpSpPr/>
        <p:nvPr/>
      </p:nvGrpSpPr>
      <p:grpSpPr>
        <a:xfrm>
          <a:off x="0" y="0"/>
          <a:ext cx="0" cy="0"/>
          <a:chOff x="0" y="0"/>
          <a:chExt cx="0" cy="0"/>
        </a:xfrm>
      </p:grpSpPr>
      <p:sp>
        <p:nvSpPr>
          <p:cNvPr id="5" name="Rectángulo 4"/>
          <p:cNvSpPr/>
          <p:nvPr userDrawn="1"/>
        </p:nvSpPr>
        <p:spPr>
          <a:xfrm>
            <a:off x="0" y="-80210"/>
            <a:ext cx="12192000" cy="6028428"/>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Título 1"/>
          <p:cNvSpPr>
            <a:spLocks noGrp="1"/>
          </p:cNvSpPr>
          <p:nvPr>
            <p:ph type="ctrTitle" hasCustomPrompt="1"/>
          </p:nvPr>
        </p:nvSpPr>
        <p:spPr>
          <a:xfrm>
            <a:off x="576197" y="2751257"/>
            <a:ext cx="10997852" cy="881291"/>
          </a:xfrm>
        </p:spPr>
        <p:txBody>
          <a:bodyPr vert="horz" lIns="91440" tIns="45720" rIns="91440" bIns="45720" rtlCol="0" anchor="b">
            <a:noAutofit/>
          </a:bodyPr>
          <a:lstStyle>
            <a:lvl1pPr algn="ctr">
              <a:defRPr lang="es-ES_tradnl" sz="5500" dirty="0">
                <a:solidFill>
                  <a:srgbClr val="00F7FF"/>
                </a:solidFill>
                <a:latin typeface="Cambria Math" charset="0"/>
                <a:ea typeface="Cambria Math" charset="0"/>
                <a:cs typeface="Cambria Math" charset="0"/>
              </a:defRPr>
            </a:lvl1pPr>
          </a:lstStyle>
          <a:p>
            <a:pPr lvl="0"/>
            <a:r>
              <a:rPr lang="es-ES_tradnl" sz="5500" dirty="0">
                <a:solidFill>
                  <a:srgbClr val="00F7FF"/>
                </a:solidFill>
                <a:latin typeface="Cambria Math" charset="0"/>
                <a:ea typeface="Cambria Math" charset="0"/>
                <a:cs typeface="Cambria Math" charset="0"/>
              </a:rPr>
              <a:t>Gracias</a:t>
            </a:r>
          </a:p>
        </p:txBody>
      </p:sp>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0849" y="6037513"/>
            <a:ext cx="447939" cy="648000"/>
          </a:xfrm>
          <a:prstGeom prst="rect">
            <a:avLst/>
          </a:prstGeom>
        </p:spPr>
      </p:pic>
    </p:spTree>
    <p:extLst>
      <p:ext uri="{BB962C8B-B14F-4D97-AF65-F5344CB8AC3E}">
        <p14:creationId xmlns:p14="http://schemas.microsoft.com/office/powerpoint/2010/main" val="12938260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74862-A72D-4FD2-820F-AEDCE73297D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A804893-5703-44FF-83ED-0D644495E40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C2976AD-841E-4572-9B1E-DD8316B310DD}"/>
              </a:ext>
            </a:extLst>
          </p:cNvPr>
          <p:cNvSpPr>
            <a:spLocks noGrp="1"/>
          </p:cNvSpPr>
          <p:nvPr>
            <p:ph type="dt" sz="half" idx="10"/>
          </p:nvPr>
        </p:nvSpPr>
        <p:spPr/>
        <p:txBody>
          <a:bodyPr/>
          <a:lstStyle/>
          <a:p>
            <a:fld id="{06319509-AD8C-4E27-A67C-B551E917C2E3}" type="datetimeFigureOut">
              <a:rPr lang="es-ES" smtClean="0"/>
              <a:t>12/01/2023</a:t>
            </a:fld>
            <a:endParaRPr lang="es-ES"/>
          </a:p>
        </p:txBody>
      </p:sp>
      <p:sp>
        <p:nvSpPr>
          <p:cNvPr id="5" name="Marcador de pie de página 4">
            <a:extLst>
              <a:ext uri="{FF2B5EF4-FFF2-40B4-BE49-F238E27FC236}">
                <a16:creationId xmlns:a16="http://schemas.microsoft.com/office/drawing/2014/main" id="{9E25076C-6FC7-41E2-B178-654B0514213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D840DB-E575-48B0-8DF7-88621619B65D}"/>
              </a:ext>
            </a:extLst>
          </p:cNvPr>
          <p:cNvSpPr>
            <a:spLocks noGrp="1"/>
          </p:cNvSpPr>
          <p:nvPr>
            <p:ph type="sldNum" sz="quarter" idx="12"/>
          </p:nvPr>
        </p:nvSpPr>
        <p:spPr/>
        <p:txBody>
          <a:bodyPr/>
          <a:lstStyle/>
          <a:p>
            <a:fld id="{3AE40D26-5E38-45BB-B7CB-37CFB9BEF774}" type="slidenum">
              <a:rPr lang="es-ES" smtClean="0"/>
              <a:t>‹Nº›</a:t>
            </a:fld>
            <a:endParaRPr lang="es-ES"/>
          </a:p>
        </p:txBody>
      </p:sp>
    </p:spTree>
    <p:extLst>
      <p:ext uri="{BB962C8B-B14F-4D97-AF65-F5344CB8AC3E}">
        <p14:creationId xmlns:p14="http://schemas.microsoft.com/office/powerpoint/2010/main" val="212089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929139-13D5-4AD7-94A6-4F66551D9553}" type="slidenum">
              <a:rPr lang="es-ES" smtClean="0"/>
              <a:t>‹Nº›</a:t>
            </a:fld>
            <a:endParaRPr lang="es-ES"/>
          </a:p>
        </p:txBody>
      </p:sp>
    </p:spTree>
    <p:extLst>
      <p:ext uri="{BB962C8B-B14F-4D97-AF65-F5344CB8AC3E}">
        <p14:creationId xmlns:p14="http://schemas.microsoft.com/office/powerpoint/2010/main" val="1668133303"/>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73" r:id="rId3"/>
    <p:sldLayoutId id="2147483674" r:id="rId4"/>
    <p:sldLayoutId id="2147483675" r:id="rId5"/>
    <p:sldLayoutId id="2147483664" r:id="rId6"/>
    <p:sldLayoutId id="2147483676" r:id="rId7"/>
    <p:sldLayoutId id="2147483679" r:id="rId8"/>
    <p:sldLayoutId id="2147483677" r:id="rId9"/>
    <p:sldLayoutId id="2147483680" r:id="rId10"/>
    <p:sldLayoutId id="2147483678" r:id="rId11"/>
    <p:sldLayoutId id="2147483681" r:id="rId12"/>
    <p:sldLayoutId id="2147483672" r:id="rId13"/>
    <p:sldLayoutId id="2147483683"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hyperlink" Target="https://es.wikipedia.org/wiki/ISO/IEC_15504" TargetMode="External"/><Relationship Id="rId3" Type="http://schemas.openxmlformats.org/officeDocument/2006/relationships/hyperlink" Target="https://es.wikipedia.org/wiki/Desarrollo_de_software" TargetMode="External"/><Relationship Id="rId7" Type="http://schemas.openxmlformats.org/officeDocument/2006/relationships/hyperlink" Target="https://es.wikipedia.org/wiki/CMMI" TargetMode="External"/><Relationship Id="rId2" Type="http://schemas.openxmlformats.org/officeDocument/2006/relationships/hyperlink" Target="https://es.wikipedia.org/wiki/2001" TargetMode="External"/><Relationship Id="rId1" Type="http://schemas.openxmlformats.org/officeDocument/2006/relationships/slideLayout" Target="../slideLayouts/slideLayout5.xml"/><Relationship Id="rId6" Type="http://schemas.openxmlformats.org/officeDocument/2006/relationships/hyperlink" Target="https://es.wikipedia.org/w/index.php?title=Snowbird,_Utah&amp;action=edit&amp;redlink=1" TargetMode="External"/><Relationship Id="rId5" Type="http://schemas.openxmlformats.org/officeDocument/2006/relationships/hyperlink" Target="https://es.wikipedia.org/wiki/Extreme_Programming" TargetMode="External"/><Relationship Id="rId4" Type="http://schemas.openxmlformats.org/officeDocument/2006/relationships/hyperlink" Target="https://es.wikipedia.org/wiki/Kent_Beck" TargetMode="External"/><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hyperlink" Target="https://www.agilealliance.org/" TargetMode="External"/><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hyperlink" Target="https://agile-spain.org/"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3.xml"/><Relationship Id="rId7" Type="http://schemas.openxmlformats.org/officeDocument/2006/relationships/hyperlink" Target="https://blog.comparasoftware.com/fases-metodologia-scrum/" TargetMode="Externa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5.png"/><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5.png"/><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hyperlink" Target="https://en.wikipedia.org/wiki/Time_management" TargetMode="Externa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5.xml"/><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5.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hyperlink" Target="https://scrumguides.org/docs/scrumguide/v2020/2020-Scrum-Guide-Spanish-European.pdf" TargetMode="External"/><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hyperlink" Target="https://www.deconstruyendoscrum.com/que-es-el-product-backlog/" TargetMode="External"/><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hyperlink" Target="https://muyagile.com/que-es-el-backlog/" TargetMode="External"/></Relationships>
</file>

<file path=ppt/slides/_rels/slide5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7.xml"/><Relationship Id="rId7" Type="http://schemas.openxmlformats.org/officeDocument/2006/relationships/hyperlink" Target="https://blog.comparasoftware.com/tablero-scrum/" TargetMode="Externa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9.jpe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2.jpe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4.jpe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hyperlink" Target="https://proyectosagiles.org/equipo-team" TargetMode="External"/><Relationship Id="rId1" Type="http://schemas.openxmlformats.org/officeDocument/2006/relationships/slideLayout" Target="../slideLayouts/slideLayout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75.xml.rels><?xml version="1.0" encoding="UTF-8" standalone="yes"?>
<Relationships xmlns="http://schemas.openxmlformats.org/package/2006/relationships"><Relationship Id="rId3" Type="http://schemas.openxmlformats.org/officeDocument/2006/relationships/hyperlink" Target="https://proyectosagiles.org/contrato-agil-scrum" TargetMode="External"/><Relationship Id="rId2" Type="http://schemas.openxmlformats.org/officeDocument/2006/relationships/hyperlink" Target="https://proyectosagiles.org/introduccion-estimacion-planificacion-agil" TargetMode="Externa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46.jpeg"/></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12" Type="http://schemas.openxmlformats.org/officeDocument/2006/relationships/image" Target="../media/image5.png"/><Relationship Id="rId2" Type="http://schemas.openxmlformats.org/officeDocument/2006/relationships/diagramData" Target="../diagrams/data10.xml"/><Relationship Id="rId1" Type="http://schemas.openxmlformats.org/officeDocument/2006/relationships/slideLayout" Target="../slideLayouts/slideLayout5.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58.png"/></Relationships>
</file>

<file path=ppt/slides/_rels/slide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p:cNvSpPr>
            <a:spLocks noGrp="1"/>
          </p:cNvSpPr>
          <p:nvPr>
            <p:ph type="ctrTitle"/>
          </p:nvPr>
        </p:nvSpPr>
        <p:spPr>
          <a:xfrm>
            <a:off x="100484" y="1507253"/>
            <a:ext cx="11987683" cy="899397"/>
          </a:xfrm>
        </p:spPr>
        <p:txBody>
          <a:bodyPr/>
          <a:lstStyle/>
          <a:p>
            <a:r>
              <a:rPr lang="es-ES" b="1"/>
              <a:t>METODOLOGÍA DE GESTIÓN Y DESARROLLO DE PROYECTOS DE SOFTWARE CON SCRUM. IFCD048PO </a:t>
            </a:r>
            <a:endParaRPr lang="es-ES" dirty="0"/>
          </a:p>
        </p:txBody>
      </p:sp>
      <p:pic>
        <p:nvPicPr>
          <p:cNvPr id="2" name="Picture 2" descr="Post It, Nota Adhesiva, Nota, Memorándum, Oficina">
            <a:extLst>
              <a:ext uri="{FF2B5EF4-FFF2-40B4-BE49-F238E27FC236}">
                <a16:creationId xmlns:a16="http://schemas.microsoft.com/office/drawing/2014/main" id="{AE3AE2B6-37D9-9A9D-F653-2170D40F79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696" y="2222532"/>
            <a:ext cx="6581979" cy="461463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D90881B-1DAC-3F5C-1F04-8ADF1D0C1A2F}"/>
              </a:ext>
            </a:extLst>
          </p:cNvPr>
          <p:cNvSpPr txBox="1"/>
          <p:nvPr/>
        </p:nvSpPr>
        <p:spPr>
          <a:xfrm>
            <a:off x="4903596" y="3317470"/>
            <a:ext cx="2983018" cy="1908215"/>
          </a:xfrm>
          <a:prstGeom prst="rect">
            <a:avLst/>
          </a:prstGeom>
          <a:noFill/>
        </p:spPr>
        <p:txBody>
          <a:bodyPr wrap="square" rtlCol="0">
            <a:spAutoFit/>
          </a:bodyPr>
          <a:lstStyle/>
          <a:p>
            <a:pPr algn="ctr"/>
            <a:r>
              <a:rPr lang="es-ES" sz="5400" dirty="0">
                <a:latin typeface="Brush Script Std" panose="03060802040607070404" pitchFamily="66" charset="0"/>
              </a:rPr>
              <a:t>Scrum</a:t>
            </a:r>
          </a:p>
          <a:p>
            <a:pPr algn="ctr"/>
            <a:r>
              <a:rPr lang="es-ES" sz="3200" dirty="0">
                <a:latin typeface="Brush Script Std" panose="03060802040607070404" pitchFamily="66" charset="0"/>
              </a:rPr>
              <a:t>Profesor </a:t>
            </a:r>
          </a:p>
          <a:p>
            <a:pPr algn="ctr"/>
            <a:r>
              <a:rPr lang="es-ES" sz="3200" dirty="0">
                <a:latin typeface="Brush Script Std" panose="03060802040607070404" pitchFamily="66" charset="0"/>
              </a:rPr>
              <a:t>Alberto Ruiz</a:t>
            </a:r>
          </a:p>
        </p:txBody>
      </p:sp>
    </p:spTree>
    <p:extLst>
      <p:ext uri="{BB962C8B-B14F-4D97-AF65-F5344CB8AC3E}">
        <p14:creationId xmlns:p14="http://schemas.microsoft.com/office/powerpoint/2010/main" val="3760399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3BC47-9683-41BE-BABF-9B5F3A3F86CA}"/>
              </a:ext>
            </a:extLst>
          </p:cNvPr>
          <p:cNvSpPr>
            <a:spLocks noGrp="1"/>
          </p:cNvSpPr>
          <p:nvPr>
            <p:ph type="title"/>
          </p:nvPr>
        </p:nvSpPr>
        <p:spPr/>
        <p:txBody>
          <a:bodyPr>
            <a:normAutofit/>
          </a:bodyPr>
          <a:lstStyle/>
          <a:p>
            <a:r>
              <a:rPr lang="es-ES" b="1" dirty="0"/>
              <a:t>TEMARIO</a:t>
            </a:r>
          </a:p>
        </p:txBody>
      </p:sp>
      <p:sp>
        <p:nvSpPr>
          <p:cNvPr id="3" name="Marcador de contenido 2">
            <a:extLst>
              <a:ext uri="{FF2B5EF4-FFF2-40B4-BE49-F238E27FC236}">
                <a16:creationId xmlns:a16="http://schemas.microsoft.com/office/drawing/2014/main" id="{A7625DF3-7C42-4E93-9AB8-6CFB61E6D891}"/>
              </a:ext>
            </a:extLst>
          </p:cNvPr>
          <p:cNvSpPr>
            <a:spLocks noGrp="1"/>
          </p:cNvSpPr>
          <p:nvPr>
            <p:ph type="body" sz="quarter" idx="13"/>
          </p:nvPr>
        </p:nvSpPr>
        <p:spPr/>
        <p:txBody>
          <a:bodyPr>
            <a:normAutofit lnSpcReduction="10000"/>
          </a:bodyPr>
          <a:lstStyle/>
          <a:p>
            <a:pPr marL="0" indent="0">
              <a:buNone/>
            </a:pPr>
            <a:r>
              <a:rPr lang="es-ES" b="1" dirty="0"/>
              <a:t>1. INTRODUCCIÓN</a:t>
            </a:r>
          </a:p>
          <a:p>
            <a:pPr marL="457200" lvl="1" indent="0">
              <a:buNone/>
            </a:pPr>
            <a:r>
              <a:rPr lang="es-ES" dirty="0"/>
              <a:t>1.1. ¿Qué es? Objetivos.</a:t>
            </a:r>
          </a:p>
          <a:p>
            <a:pPr marL="457200" lvl="1" indent="0">
              <a:buNone/>
            </a:pPr>
            <a:r>
              <a:rPr lang="es-ES" dirty="0"/>
              <a:t>1.2</a:t>
            </a:r>
            <a:r>
              <a:rPr lang="es-ES"/>
              <a:t>. Fundamentos.</a:t>
            </a:r>
            <a:endParaRPr lang="es-ES" dirty="0"/>
          </a:p>
          <a:p>
            <a:pPr marL="457200" lvl="1" indent="0">
              <a:buNone/>
            </a:pPr>
            <a:r>
              <a:rPr lang="es-ES" dirty="0"/>
              <a:t>1.3. Principios ágiles.</a:t>
            </a:r>
          </a:p>
          <a:p>
            <a:pPr marL="457200" lvl="1" indent="0">
              <a:buNone/>
            </a:pPr>
            <a:r>
              <a:rPr lang="es-ES" dirty="0"/>
              <a:t>1.4. SCRUM como proceso interactivo e incremental. Beneficios. Valores de SCRUM. Entornos de aplicabilidad de SCRUM.</a:t>
            </a:r>
          </a:p>
          <a:p>
            <a:pPr marL="0" indent="0">
              <a:buNone/>
            </a:pPr>
            <a:r>
              <a:rPr lang="es-ES" b="1" dirty="0"/>
              <a:t>2. ROLES Y RESPONSABILIDADES</a:t>
            </a:r>
          </a:p>
          <a:p>
            <a:pPr marL="457200" lvl="1" indent="0">
              <a:buNone/>
            </a:pPr>
            <a:r>
              <a:rPr lang="es-ES" dirty="0"/>
              <a:t>2.1. Autoridad del grupo.</a:t>
            </a:r>
          </a:p>
          <a:p>
            <a:pPr marL="457200" lvl="1" indent="0">
              <a:buNone/>
            </a:pPr>
            <a:r>
              <a:rPr lang="es-ES" dirty="0"/>
              <a:t>2.2. Scrum Master (Director de proyecto);</a:t>
            </a:r>
          </a:p>
          <a:p>
            <a:pPr marL="457200" lvl="1" indent="0">
              <a:buNone/>
            </a:pPr>
            <a:r>
              <a:rPr lang="es-ES" dirty="0"/>
              <a:t>2.3. </a:t>
            </a:r>
            <a:r>
              <a:rPr lang="es-ES" dirty="0" err="1"/>
              <a:t>Product</a:t>
            </a:r>
            <a:r>
              <a:rPr lang="es-ES" dirty="0"/>
              <a:t> </a:t>
            </a:r>
            <a:r>
              <a:rPr lang="es-ES" dirty="0" err="1"/>
              <a:t>Owner</a:t>
            </a:r>
            <a:r>
              <a:rPr lang="es-ES" dirty="0"/>
              <a:t> (representa a los interesados);</a:t>
            </a:r>
          </a:p>
          <a:p>
            <a:pPr marL="457200" lvl="1" indent="0">
              <a:buNone/>
            </a:pPr>
            <a:r>
              <a:rPr lang="es-ES" dirty="0"/>
              <a:t>2.4. Team (desarrolladores). Roles auxiliares.</a:t>
            </a:r>
          </a:p>
          <a:p>
            <a:pPr marL="457200" lvl="1" indent="0">
              <a:buNone/>
            </a:pPr>
            <a:r>
              <a:rPr lang="es-ES" dirty="0"/>
              <a:t>2.5. Equipos y creación de equipos autoorganizados. Razones para no tener un líder designado en el equipo.</a:t>
            </a:r>
          </a:p>
        </p:txBody>
      </p:sp>
      <p:pic>
        <p:nvPicPr>
          <p:cNvPr id="4" name="Imagen 3">
            <a:extLst>
              <a:ext uri="{FF2B5EF4-FFF2-40B4-BE49-F238E27FC236}">
                <a16:creationId xmlns:a16="http://schemas.microsoft.com/office/drawing/2014/main" id="{177CD254-9E19-4089-8C4F-B53534350B88}"/>
              </a:ext>
            </a:extLst>
          </p:cNvPr>
          <p:cNvPicPr>
            <a:picLocks noChangeAspect="1"/>
          </p:cNvPicPr>
          <p:nvPr/>
        </p:nvPicPr>
        <p:blipFill>
          <a:blip r:embed="rId2"/>
          <a:stretch>
            <a:fillRect/>
          </a:stretch>
        </p:blipFill>
        <p:spPr>
          <a:xfrm>
            <a:off x="10922938" y="0"/>
            <a:ext cx="1353429" cy="823031"/>
          </a:xfrm>
          <a:prstGeom prst="rect">
            <a:avLst/>
          </a:prstGeom>
        </p:spPr>
      </p:pic>
    </p:spTree>
    <p:extLst>
      <p:ext uri="{BB962C8B-B14F-4D97-AF65-F5344CB8AC3E}">
        <p14:creationId xmlns:p14="http://schemas.microsoft.com/office/powerpoint/2010/main" val="177805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3BC47-9683-41BE-BABF-9B5F3A3F86CA}"/>
              </a:ext>
            </a:extLst>
          </p:cNvPr>
          <p:cNvSpPr>
            <a:spLocks noGrp="1"/>
          </p:cNvSpPr>
          <p:nvPr>
            <p:ph type="title"/>
          </p:nvPr>
        </p:nvSpPr>
        <p:spPr/>
        <p:txBody>
          <a:bodyPr>
            <a:normAutofit/>
          </a:bodyPr>
          <a:lstStyle/>
          <a:p>
            <a:r>
              <a:rPr lang="es-ES" b="1" dirty="0"/>
              <a:t>TEMARIO</a:t>
            </a:r>
          </a:p>
        </p:txBody>
      </p:sp>
      <p:sp>
        <p:nvSpPr>
          <p:cNvPr id="3" name="Marcador de contenido 2">
            <a:extLst>
              <a:ext uri="{FF2B5EF4-FFF2-40B4-BE49-F238E27FC236}">
                <a16:creationId xmlns:a16="http://schemas.microsoft.com/office/drawing/2014/main" id="{A7625DF3-7C42-4E93-9AB8-6CFB61E6D891}"/>
              </a:ext>
            </a:extLst>
          </p:cNvPr>
          <p:cNvSpPr>
            <a:spLocks noGrp="1"/>
          </p:cNvSpPr>
          <p:nvPr>
            <p:ph type="body" sz="quarter" idx="13"/>
          </p:nvPr>
        </p:nvSpPr>
        <p:spPr/>
        <p:txBody>
          <a:bodyPr>
            <a:normAutofit fontScale="70000" lnSpcReduction="20000"/>
          </a:bodyPr>
          <a:lstStyle/>
          <a:p>
            <a:pPr marL="0" indent="0">
              <a:buNone/>
            </a:pPr>
            <a:r>
              <a:rPr lang="es-ES" b="1" dirty="0"/>
              <a:t>3</a:t>
            </a:r>
            <a:r>
              <a:rPr lang="es-ES" b="1"/>
              <a:t>. GESTIÓN DEL TIEMPO</a:t>
            </a:r>
            <a:endParaRPr lang="es-ES" b="1" dirty="0"/>
          </a:p>
          <a:p>
            <a:pPr marL="457200" lvl="1" indent="0">
              <a:buNone/>
            </a:pPr>
            <a:r>
              <a:rPr lang="es-ES" dirty="0"/>
              <a:t>3.1. Técnicas.</a:t>
            </a:r>
          </a:p>
          <a:p>
            <a:pPr marL="457200" lvl="1" indent="0">
              <a:buNone/>
            </a:pPr>
            <a:r>
              <a:rPr lang="es-ES" dirty="0"/>
              <a:t>3.2. </a:t>
            </a:r>
            <a:r>
              <a:rPr lang="es-ES" dirty="0" err="1"/>
              <a:t>Timeboxing</a:t>
            </a:r>
            <a:r>
              <a:rPr lang="es-ES" dirty="0"/>
              <a:t>: limitar el tiempo de reunión.</a:t>
            </a:r>
          </a:p>
          <a:p>
            <a:pPr marL="0" indent="0">
              <a:buNone/>
            </a:pPr>
            <a:r>
              <a:rPr lang="es-ES" b="1" dirty="0"/>
              <a:t>4. SPRINT</a:t>
            </a:r>
          </a:p>
          <a:p>
            <a:pPr marL="457200" lvl="1" indent="0">
              <a:buNone/>
            </a:pPr>
            <a:r>
              <a:rPr lang="es-ES" dirty="0"/>
              <a:t>4.1. periodos de tiempo.</a:t>
            </a:r>
          </a:p>
          <a:p>
            <a:pPr marL="457200" lvl="1" indent="0">
              <a:buNone/>
            </a:pPr>
            <a:r>
              <a:rPr lang="es-ES" dirty="0"/>
              <a:t>4.2. Productos potencialmente entregables al final de cada sprint.</a:t>
            </a:r>
          </a:p>
          <a:p>
            <a:pPr marL="457200" lvl="1" indent="0">
              <a:buNone/>
            </a:pPr>
            <a:r>
              <a:rPr lang="es-ES" dirty="0"/>
              <a:t>4.3. Sprint </a:t>
            </a:r>
            <a:r>
              <a:rPr lang="es-ES" dirty="0" err="1"/>
              <a:t>planning</a:t>
            </a:r>
            <a:r>
              <a:rPr lang="es-ES" dirty="0"/>
              <a:t>. Definición de la magnitud de cada sprint. Estimación de tareas. Tipos de tareas.</a:t>
            </a:r>
          </a:p>
          <a:p>
            <a:pPr marL="457200" lvl="1" indent="0">
              <a:buNone/>
            </a:pPr>
            <a:r>
              <a:rPr lang="es-ES" dirty="0"/>
              <a:t>4.4. Incrementos del producto.</a:t>
            </a:r>
          </a:p>
          <a:p>
            <a:pPr marL="457200" lvl="1" indent="0">
              <a:buNone/>
            </a:pPr>
            <a:r>
              <a:rPr lang="es-ES" dirty="0"/>
              <a:t>4.5. Requisitos de alto nivel priorizados o </a:t>
            </a:r>
            <a:r>
              <a:rPr lang="es-ES" dirty="0" err="1"/>
              <a:t>Product</a:t>
            </a:r>
            <a:r>
              <a:rPr lang="es-ES" dirty="0"/>
              <a:t> backlog.</a:t>
            </a:r>
          </a:p>
          <a:p>
            <a:pPr marL="457200" lvl="1" indent="0">
              <a:buNone/>
            </a:pPr>
            <a:r>
              <a:rPr lang="es-ES" dirty="0"/>
              <a:t>4.6. La Pila de producto.</a:t>
            </a:r>
          </a:p>
          <a:p>
            <a:pPr marL="457200" lvl="1" indent="0">
              <a:buNone/>
            </a:pPr>
            <a:r>
              <a:rPr lang="es-ES" dirty="0"/>
              <a:t>4.7. Desafíos. </a:t>
            </a:r>
          </a:p>
          <a:p>
            <a:pPr marL="457200" lvl="1" indent="0">
              <a:buNone/>
            </a:pPr>
            <a:r>
              <a:rPr lang="es-ES" dirty="0"/>
              <a:t>4.8. Implementaciones: notas amarillas, pizarras, paquetes de software.</a:t>
            </a:r>
          </a:p>
          <a:p>
            <a:pPr marL="0" indent="0">
              <a:buNone/>
            </a:pPr>
            <a:r>
              <a:rPr lang="es-ES" b="1" dirty="0"/>
              <a:t>5. REUNIONES EN SCRUM.</a:t>
            </a:r>
          </a:p>
          <a:p>
            <a:pPr marL="457200" lvl="1" indent="0">
              <a:buNone/>
            </a:pPr>
            <a:r>
              <a:rPr lang="es-ES" dirty="0"/>
              <a:t>5.1. </a:t>
            </a:r>
            <a:r>
              <a:rPr lang="es-ES" dirty="0" err="1"/>
              <a:t>Daily</a:t>
            </a:r>
            <a:r>
              <a:rPr lang="es-ES" dirty="0"/>
              <a:t> Scrum. Scrum de Scrum.</a:t>
            </a:r>
          </a:p>
          <a:p>
            <a:pPr marL="457200" lvl="1" indent="0">
              <a:buNone/>
            </a:pPr>
            <a:r>
              <a:rPr lang="es-ES" dirty="0"/>
              <a:t>5.2. La agenda.</a:t>
            </a:r>
          </a:p>
          <a:p>
            <a:pPr marL="457200" lvl="1" indent="0">
              <a:buNone/>
            </a:pPr>
            <a:r>
              <a:rPr lang="es-ES" dirty="0"/>
              <a:t>5.3. Reunión de planificación del sprint (sprint </a:t>
            </a:r>
            <a:r>
              <a:rPr lang="es-ES" dirty="0" err="1"/>
              <a:t>planning</a:t>
            </a:r>
            <a:r>
              <a:rPr lang="es-ES" dirty="0"/>
              <a:t> meeting).</a:t>
            </a:r>
          </a:p>
          <a:p>
            <a:pPr marL="457200" lvl="1" indent="0">
              <a:buNone/>
            </a:pPr>
            <a:r>
              <a:rPr lang="es-ES" dirty="0"/>
              <a:t>5.4. Revisión (sprint </a:t>
            </a:r>
            <a:r>
              <a:rPr lang="es-ES" dirty="0" err="1"/>
              <a:t>review</a:t>
            </a:r>
            <a:r>
              <a:rPr lang="es-ES" dirty="0"/>
              <a:t>): diaria, de cierre y retrospectiva (sprint retrospective). </a:t>
            </a:r>
          </a:p>
        </p:txBody>
      </p:sp>
      <p:pic>
        <p:nvPicPr>
          <p:cNvPr id="4" name="Imagen 3">
            <a:extLst>
              <a:ext uri="{FF2B5EF4-FFF2-40B4-BE49-F238E27FC236}">
                <a16:creationId xmlns:a16="http://schemas.microsoft.com/office/drawing/2014/main" id="{3E3BB724-E6F4-4BB2-893D-8A76B1821F2E}"/>
              </a:ext>
            </a:extLst>
          </p:cNvPr>
          <p:cNvPicPr>
            <a:picLocks noChangeAspect="1"/>
          </p:cNvPicPr>
          <p:nvPr/>
        </p:nvPicPr>
        <p:blipFill>
          <a:blip r:embed="rId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2953506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83BC47-9683-41BE-BABF-9B5F3A3F86CA}"/>
              </a:ext>
            </a:extLst>
          </p:cNvPr>
          <p:cNvSpPr>
            <a:spLocks noGrp="1"/>
          </p:cNvSpPr>
          <p:nvPr>
            <p:ph type="title"/>
          </p:nvPr>
        </p:nvSpPr>
        <p:spPr/>
        <p:txBody>
          <a:bodyPr>
            <a:normAutofit/>
          </a:bodyPr>
          <a:lstStyle/>
          <a:p>
            <a:r>
              <a:rPr lang="es-ES" dirty="0"/>
              <a:t>TEMARIO</a:t>
            </a:r>
          </a:p>
        </p:txBody>
      </p:sp>
      <p:sp>
        <p:nvSpPr>
          <p:cNvPr id="3" name="Marcador de contenido 2">
            <a:extLst>
              <a:ext uri="{FF2B5EF4-FFF2-40B4-BE49-F238E27FC236}">
                <a16:creationId xmlns:a16="http://schemas.microsoft.com/office/drawing/2014/main" id="{A7625DF3-7C42-4E93-9AB8-6CFB61E6D891}"/>
              </a:ext>
            </a:extLst>
          </p:cNvPr>
          <p:cNvSpPr>
            <a:spLocks noGrp="1"/>
          </p:cNvSpPr>
          <p:nvPr>
            <p:ph type="body" sz="quarter" idx="13"/>
          </p:nvPr>
        </p:nvSpPr>
        <p:spPr/>
        <p:txBody>
          <a:bodyPr>
            <a:normAutofit fontScale="92500" lnSpcReduction="10000"/>
          </a:bodyPr>
          <a:lstStyle/>
          <a:p>
            <a:pPr marL="0" indent="0">
              <a:buNone/>
            </a:pPr>
            <a:r>
              <a:rPr lang="es-ES" b="1" dirty="0"/>
              <a:t>6. DOCUMENTOS</a:t>
            </a:r>
          </a:p>
          <a:p>
            <a:pPr marL="457200" lvl="1" indent="0">
              <a:buNone/>
            </a:pPr>
            <a:r>
              <a:rPr lang="es-ES" dirty="0"/>
              <a:t>6.1. El producto (</a:t>
            </a:r>
            <a:r>
              <a:rPr lang="es-ES" dirty="0" err="1"/>
              <a:t>product</a:t>
            </a:r>
            <a:r>
              <a:rPr lang="es-ES" dirty="0"/>
              <a:t> backlog), sprint backlog, </a:t>
            </a:r>
            <a:r>
              <a:rPr lang="es-ES" dirty="0" err="1"/>
              <a:t>burn</a:t>
            </a:r>
            <a:r>
              <a:rPr lang="es-ES" dirty="0"/>
              <a:t> up y </a:t>
            </a:r>
            <a:r>
              <a:rPr lang="es-ES" dirty="0" err="1"/>
              <a:t>burn</a:t>
            </a:r>
            <a:r>
              <a:rPr lang="es-ES" dirty="0"/>
              <a:t> Down: gráfico de cumplimiento y tabla de lanzamiento de datos.</a:t>
            </a:r>
          </a:p>
          <a:p>
            <a:pPr marL="457200" lvl="1" indent="0">
              <a:buNone/>
            </a:pPr>
            <a:r>
              <a:rPr lang="es-ES" dirty="0"/>
              <a:t>6.2. Criterios para la estimación y métricas.</a:t>
            </a:r>
          </a:p>
          <a:p>
            <a:pPr marL="457200" lvl="1" indent="0">
              <a:buNone/>
            </a:pPr>
            <a:r>
              <a:rPr lang="es-ES" dirty="0"/>
              <a:t>6.3. Estimación de </a:t>
            </a:r>
            <a:r>
              <a:rPr lang="es-ES" dirty="0" err="1"/>
              <a:t>Pocker</a:t>
            </a:r>
            <a:r>
              <a:rPr lang="es-ES" dirty="0"/>
              <a:t>.</a:t>
            </a:r>
          </a:p>
          <a:p>
            <a:pPr marL="457200" lvl="1" indent="0">
              <a:buNone/>
            </a:pPr>
            <a:r>
              <a:rPr lang="es-ES" dirty="0"/>
              <a:t>6.4. Frecuencia de actualización de la tabla.</a:t>
            </a:r>
          </a:p>
          <a:p>
            <a:pPr marL="0" indent="0">
              <a:buNone/>
            </a:pPr>
            <a:r>
              <a:rPr lang="es-ES" b="1" dirty="0"/>
              <a:t>7. ¿QUÉ ES EL SCALING SCRUM?</a:t>
            </a:r>
          </a:p>
          <a:p>
            <a:pPr marL="0" indent="0">
              <a:buNone/>
            </a:pPr>
            <a:r>
              <a:rPr lang="es-ES" dirty="0"/>
              <a:t>	7.1. El scrum aplicado al desarrollo de software.</a:t>
            </a:r>
          </a:p>
          <a:p>
            <a:pPr marL="0" indent="0">
              <a:buNone/>
            </a:pPr>
            <a:r>
              <a:rPr lang="es-ES" b="1" dirty="0"/>
              <a:t>8. OBSTÁCULOS</a:t>
            </a:r>
          </a:p>
          <a:p>
            <a:pPr marL="457200" lvl="1" indent="0">
              <a:buNone/>
            </a:pPr>
            <a:r>
              <a:rPr lang="es-ES" dirty="0"/>
              <a:t>8.1. Identificar los obstáculos mayores para usar SCRUM en una organización.</a:t>
            </a:r>
          </a:p>
          <a:p>
            <a:pPr marL="457200" lvl="1" indent="0">
              <a:buNone/>
            </a:pPr>
            <a:r>
              <a:rPr lang="es-ES" dirty="0"/>
              <a:t>8.2. Actividades y técnicas al Equipo Scrum puede emplear para alcanzar los objetivos de la reunión.</a:t>
            </a:r>
          </a:p>
          <a:p>
            <a:pPr marL="0" indent="0">
              <a:buNone/>
            </a:pPr>
            <a:r>
              <a:rPr lang="es-ES" b="1" dirty="0"/>
              <a:t>9</a:t>
            </a:r>
            <a:r>
              <a:rPr lang="es-ES" b="1"/>
              <a:t>. OTRAS HERRAMIENTAS AGILES</a:t>
            </a:r>
            <a:endParaRPr lang="es-ES" dirty="0"/>
          </a:p>
        </p:txBody>
      </p:sp>
      <p:pic>
        <p:nvPicPr>
          <p:cNvPr id="4" name="Imagen 3">
            <a:extLst>
              <a:ext uri="{FF2B5EF4-FFF2-40B4-BE49-F238E27FC236}">
                <a16:creationId xmlns:a16="http://schemas.microsoft.com/office/drawing/2014/main" id="{1B494ABA-9CAA-412F-936C-F89325A3AC7F}"/>
              </a:ext>
            </a:extLst>
          </p:cNvPr>
          <p:cNvPicPr>
            <a:picLocks noChangeAspect="1"/>
          </p:cNvPicPr>
          <p:nvPr/>
        </p:nvPicPr>
        <p:blipFill>
          <a:blip r:embed="rId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1891599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86AEFE-4161-4441-B0FB-9443500507C6}"/>
              </a:ext>
            </a:extLst>
          </p:cNvPr>
          <p:cNvSpPr>
            <a:spLocks noGrp="1"/>
          </p:cNvSpPr>
          <p:nvPr>
            <p:ph type="title"/>
          </p:nvPr>
        </p:nvSpPr>
        <p:spPr/>
        <p:txBody>
          <a:bodyPr>
            <a:normAutofit/>
          </a:bodyPr>
          <a:lstStyle/>
          <a:p>
            <a:r>
              <a:rPr lang="es-ES" b="1" dirty="0"/>
              <a:t>TEMA 1:INTRODUCCIÓN</a:t>
            </a:r>
          </a:p>
        </p:txBody>
      </p:sp>
      <p:sp>
        <p:nvSpPr>
          <p:cNvPr id="3" name="Marcador de contenido 2">
            <a:extLst>
              <a:ext uri="{FF2B5EF4-FFF2-40B4-BE49-F238E27FC236}">
                <a16:creationId xmlns:a16="http://schemas.microsoft.com/office/drawing/2014/main" id="{4EB635CF-C16A-4F68-9F43-865600BF7CA0}"/>
              </a:ext>
            </a:extLst>
          </p:cNvPr>
          <p:cNvSpPr>
            <a:spLocks noGrp="1"/>
          </p:cNvSpPr>
          <p:nvPr>
            <p:ph type="body" sz="quarter" idx="13"/>
          </p:nvPr>
        </p:nvSpPr>
        <p:spPr>
          <a:xfrm>
            <a:off x="1022350" y="1217863"/>
            <a:ext cx="5378450" cy="4838700"/>
          </a:xfrm>
        </p:spPr>
        <p:txBody>
          <a:bodyPr>
            <a:normAutofit/>
          </a:bodyPr>
          <a:lstStyle/>
          <a:p>
            <a:pPr marL="0" indent="0">
              <a:buNone/>
            </a:pPr>
            <a:br>
              <a:rPr lang="es-ES" dirty="0"/>
            </a:br>
            <a:r>
              <a:rPr lang="es-ES" b="0" i="0" dirty="0">
                <a:solidFill>
                  <a:srgbClr val="202124"/>
                </a:solidFill>
                <a:effectLst/>
                <a:latin typeface="arial" panose="020B0604020202020204" pitchFamily="34" charset="0"/>
              </a:rPr>
              <a:t>En la </a:t>
            </a:r>
            <a:r>
              <a:rPr lang="es-ES" b="1" i="0" dirty="0">
                <a:solidFill>
                  <a:srgbClr val="202124"/>
                </a:solidFill>
                <a:effectLst/>
                <a:latin typeface="arial" panose="020B0604020202020204" pitchFamily="34" charset="0"/>
              </a:rPr>
              <a:t>metodología Agile</a:t>
            </a:r>
            <a:r>
              <a:rPr lang="es-ES" b="0" i="0" dirty="0">
                <a:solidFill>
                  <a:srgbClr val="202124"/>
                </a:solidFill>
                <a:effectLst/>
                <a:latin typeface="arial" panose="020B0604020202020204" pitchFamily="34" charset="0"/>
              </a:rPr>
              <a:t> no se planifica ni se diseña el producto por adelantado, evoluciona basándose en bucles de retroalimentación</a:t>
            </a:r>
            <a:r>
              <a:rPr lang="es-ES" b="0" i="0">
                <a:solidFill>
                  <a:srgbClr val="202124"/>
                </a:solidFill>
                <a:effectLst/>
                <a:latin typeface="arial" panose="020B0604020202020204" pitchFamily="34" charset="0"/>
              </a:rPr>
              <a:t>. </a:t>
            </a:r>
          </a:p>
          <a:p>
            <a:pPr marL="0" indent="0">
              <a:buNone/>
            </a:pPr>
            <a:r>
              <a:rPr lang="es-ES" b="0" i="0">
                <a:solidFill>
                  <a:srgbClr val="202124"/>
                </a:solidFill>
                <a:effectLst/>
                <a:latin typeface="arial" panose="020B0604020202020204" pitchFamily="34" charset="0"/>
              </a:rPr>
              <a:t>Se </a:t>
            </a:r>
            <a:r>
              <a:rPr lang="es-ES" b="1" i="0" dirty="0">
                <a:solidFill>
                  <a:srgbClr val="202124"/>
                </a:solidFill>
                <a:effectLst/>
                <a:latin typeface="arial" panose="020B0604020202020204" pitchFamily="34" charset="0"/>
              </a:rPr>
              <a:t>trabaja</a:t>
            </a:r>
            <a:r>
              <a:rPr lang="es-ES" b="0" i="0" dirty="0">
                <a:solidFill>
                  <a:srgbClr val="202124"/>
                </a:solidFill>
                <a:effectLst/>
                <a:latin typeface="arial" panose="020B0604020202020204" pitchFamily="34" charset="0"/>
              </a:rPr>
              <a:t> por períodos (denominados </a:t>
            </a:r>
            <a:r>
              <a:rPr lang="es-ES" b="0" i="0" dirty="0" err="1">
                <a:solidFill>
                  <a:srgbClr val="202124"/>
                </a:solidFill>
                <a:effectLst/>
                <a:latin typeface="arial" panose="020B0604020202020204" pitchFamily="34" charset="0"/>
              </a:rPr>
              <a:t>sprints</a:t>
            </a:r>
            <a:r>
              <a:rPr lang="es-ES" b="0" i="0" dirty="0">
                <a:solidFill>
                  <a:srgbClr val="202124"/>
                </a:solidFill>
                <a:effectLst/>
                <a:latin typeface="arial" panose="020B0604020202020204" pitchFamily="34" charset="0"/>
              </a:rPr>
              <a:t>), que pueden ser de dos semanas a 1 mes, y durante ese tiempo cada miembro del equipo debe ejecutar una serie de tareas.</a:t>
            </a:r>
            <a:endParaRPr lang="es-ES" dirty="0"/>
          </a:p>
          <a:p>
            <a:pPr marL="0" indent="0">
              <a:buNone/>
            </a:pPr>
            <a:endParaRPr lang="es-ES" dirty="0"/>
          </a:p>
          <a:p>
            <a:endParaRPr lang="es-ES" dirty="0"/>
          </a:p>
        </p:txBody>
      </p:sp>
      <p:pic>
        <p:nvPicPr>
          <p:cNvPr id="5122" name="Picture 2" descr="Gente, Negocio, Cita, Reunión De Negocios">
            <a:extLst>
              <a:ext uri="{FF2B5EF4-FFF2-40B4-BE49-F238E27FC236}">
                <a16:creationId xmlns:a16="http://schemas.microsoft.com/office/drawing/2014/main" id="{35A42F6D-47B0-477D-84DC-1AF88CCC4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6330" y="1548776"/>
            <a:ext cx="5409042" cy="360602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0B83B4F6-68D9-4FAB-9117-3A5D413E82E6}"/>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373343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478F4B9-78EF-1B23-04CB-3D78282FAE7C}"/>
              </a:ext>
            </a:extLst>
          </p:cNvPr>
          <p:cNvSpPr>
            <a:spLocks noGrp="1"/>
          </p:cNvSpPr>
          <p:nvPr>
            <p:ph type="title"/>
          </p:nvPr>
        </p:nvSpPr>
        <p:spPr/>
        <p:txBody>
          <a:bodyPr>
            <a:normAutofit/>
          </a:bodyPr>
          <a:lstStyle/>
          <a:p>
            <a:r>
              <a:rPr lang="es-ES" b="1"/>
              <a:t>Beneficios de Scrum</a:t>
            </a:r>
            <a:endParaRPr lang="es-ES"/>
          </a:p>
        </p:txBody>
      </p:sp>
      <p:sp>
        <p:nvSpPr>
          <p:cNvPr id="3" name="Marcador de contenido 2">
            <a:extLst>
              <a:ext uri="{FF2B5EF4-FFF2-40B4-BE49-F238E27FC236}">
                <a16:creationId xmlns:a16="http://schemas.microsoft.com/office/drawing/2014/main" id="{55AD35B7-84F6-47D0-8B12-50117486C392}"/>
              </a:ext>
            </a:extLst>
          </p:cNvPr>
          <p:cNvSpPr>
            <a:spLocks noGrp="1"/>
          </p:cNvSpPr>
          <p:nvPr>
            <p:ph type="body" sz="quarter" idx="13"/>
          </p:nvPr>
        </p:nvSpPr>
        <p:spPr/>
        <p:txBody>
          <a:bodyPr>
            <a:normAutofit/>
          </a:bodyPr>
          <a:lstStyle/>
          <a:p>
            <a:pPr marL="0" indent="0">
              <a:buNone/>
            </a:pPr>
            <a:endParaRPr lang="es-ES" dirty="0"/>
          </a:p>
        </p:txBody>
      </p:sp>
      <p:pic>
        <p:nvPicPr>
          <p:cNvPr id="4" name="Imagen 3">
            <a:extLst>
              <a:ext uri="{FF2B5EF4-FFF2-40B4-BE49-F238E27FC236}">
                <a16:creationId xmlns:a16="http://schemas.microsoft.com/office/drawing/2014/main" id="{61CFE3E3-EFF8-4E26-8E25-6602E226C32E}"/>
              </a:ext>
            </a:extLst>
          </p:cNvPr>
          <p:cNvPicPr>
            <a:picLocks noChangeAspect="1"/>
          </p:cNvPicPr>
          <p:nvPr/>
        </p:nvPicPr>
        <p:blipFill>
          <a:blip r:embed="rId2"/>
          <a:stretch>
            <a:fillRect/>
          </a:stretch>
        </p:blipFill>
        <p:spPr>
          <a:xfrm>
            <a:off x="10904379" y="52061"/>
            <a:ext cx="1353429" cy="823031"/>
          </a:xfrm>
          <a:prstGeom prst="rect">
            <a:avLst/>
          </a:prstGeom>
        </p:spPr>
      </p:pic>
      <p:graphicFrame>
        <p:nvGraphicFramePr>
          <p:cNvPr id="2" name="Diagrama 1">
            <a:extLst>
              <a:ext uri="{FF2B5EF4-FFF2-40B4-BE49-F238E27FC236}">
                <a16:creationId xmlns:a16="http://schemas.microsoft.com/office/drawing/2014/main" id="{21164174-69A8-489C-8559-363F8C238BC0}"/>
              </a:ext>
            </a:extLst>
          </p:cNvPr>
          <p:cNvGraphicFramePr/>
          <p:nvPr>
            <p:extLst>
              <p:ext uri="{D42A27DB-BD31-4B8C-83A1-F6EECF244321}">
                <p14:modId xmlns:p14="http://schemas.microsoft.com/office/powerpoint/2010/main" val="3535943889"/>
              </p:ext>
            </p:extLst>
          </p:nvPr>
        </p:nvGraphicFramePr>
        <p:xfrm>
          <a:off x="1248228" y="990254"/>
          <a:ext cx="9164735" cy="58677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9223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199D5E-8651-F519-B693-3052912765FB}"/>
              </a:ext>
            </a:extLst>
          </p:cNvPr>
          <p:cNvSpPr>
            <a:spLocks noGrp="1"/>
          </p:cNvSpPr>
          <p:nvPr>
            <p:ph type="title"/>
          </p:nvPr>
        </p:nvSpPr>
        <p:spPr/>
        <p:txBody>
          <a:bodyPr>
            <a:normAutofit/>
          </a:bodyPr>
          <a:lstStyle/>
          <a:p>
            <a:r>
              <a:rPr lang="es-ES" b="1"/>
              <a:t>1.1 ¿Qué es? Objetivos. </a:t>
            </a:r>
            <a:endParaRPr lang="es-ES"/>
          </a:p>
        </p:txBody>
      </p:sp>
      <p:sp>
        <p:nvSpPr>
          <p:cNvPr id="3" name="Marcador de contenido 2">
            <a:extLst>
              <a:ext uri="{FF2B5EF4-FFF2-40B4-BE49-F238E27FC236}">
                <a16:creationId xmlns:a16="http://schemas.microsoft.com/office/drawing/2014/main" id="{55AD35B7-84F6-47D0-8B12-50117486C392}"/>
              </a:ext>
            </a:extLst>
          </p:cNvPr>
          <p:cNvSpPr>
            <a:spLocks noGrp="1"/>
          </p:cNvSpPr>
          <p:nvPr>
            <p:ph type="body" sz="quarter" idx="13"/>
          </p:nvPr>
        </p:nvSpPr>
        <p:spPr/>
        <p:txBody>
          <a:bodyPr>
            <a:normAutofit fontScale="92500" lnSpcReduction="10000"/>
          </a:bodyPr>
          <a:lstStyle/>
          <a:p>
            <a:pPr marL="0" indent="0">
              <a:buNone/>
            </a:pPr>
            <a:r>
              <a:rPr lang="es-ES" sz="2200" b="0" i="1" u="none" strike="noStrike" baseline="0">
                <a:solidFill>
                  <a:srgbClr val="000000"/>
                </a:solidFill>
                <a:latin typeface="Calibri" panose="020F0502020204030204" pitchFamily="34" charset="0"/>
              </a:rPr>
              <a:t>“</a:t>
            </a:r>
            <a:r>
              <a:rPr lang="es-ES" sz="3000" b="0" i="1" u="none" strike="noStrike" baseline="0" dirty="0">
                <a:solidFill>
                  <a:srgbClr val="000000"/>
                </a:solidFill>
                <a:latin typeface="Calibri" panose="020F0502020204030204" pitchFamily="34" charset="0"/>
              </a:rPr>
              <a:t>Scrum es un marco ligero que ayuda a las personas, equipos y organizaciones a generar valor a través de soluciones adaptables para problemas complejos</a:t>
            </a:r>
            <a:r>
              <a:rPr lang="es-ES" sz="3000" dirty="0">
                <a:solidFill>
                  <a:srgbClr val="000000"/>
                </a:solidFill>
                <a:latin typeface="Calibri" panose="020F0502020204030204" pitchFamily="34" charset="0"/>
              </a:rPr>
              <a:t>” guía Scrum noviembre 2020</a:t>
            </a:r>
            <a:endParaRPr lang="es-ES" sz="4300" b="0" i="0" dirty="0">
              <a:solidFill>
                <a:srgbClr val="202124"/>
              </a:solidFill>
              <a:effectLst/>
              <a:latin typeface="arial" panose="020B0604020202020204" pitchFamily="34" charset="0"/>
            </a:endParaRPr>
          </a:p>
          <a:p>
            <a:pPr marL="0" indent="0">
              <a:buNone/>
            </a:pPr>
            <a:endParaRPr lang="es-ES" sz="3600" dirty="0">
              <a:solidFill>
                <a:srgbClr val="202124"/>
              </a:solidFill>
              <a:latin typeface="arial" panose="020B0604020202020204" pitchFamily="34" charset="0"/>
            </a:endParaRPr>
          </a:p>
          <a:p>
            <a:r>
              <a:rPr lang="es-ES" b="1" i="0">
                <a:solidFill>
                  <a:srgbClr val="202124"/>
                </a:solidFill>
                <a:effectLst/>
                <a:latin typeface="arial" panose="020B0604020202020204" pitchFamily="34" charset="0"/>
              </a:rPr>
              <a:t>OBJETIVOS</a:t>
            </a:r>
          </a:p>
          <a:p>
            <a:endParaRPr lang="es-ES" b="1" i="0" dirty="0">
              <a:solidFill>
                <a:srgbClr val="202124"/>
              </a:solidFill>
              <a:effectLst/>
              <a:latin typeface="arial" panose="020B0604020202020204" pitchFamily="34" charset="0"/>
            </a:endParaRPr>
          </a:p>
          <a:p>
            <a:pPr marL="514350" indent="-514350">
              <a:buFont typeface="+mj-lt"/>
              <a:buAutoNum type="arabicPeriod"/>
            </a:pPr>
            <a:r>
              <a:rPr lang="es-ES" i="0" dirty="0">
                <a:solidFill>
                  <a:srgbClr val="202124"/>
                </a:solidFill>
                <a:effectLst/>
                <a:latin typeface="arial" panose="020B0604020202020204" pitchFamily="34" charset="0"/>
              </a:rPr>
              <a:t>E</a:t>
            </a:r>
            <a:r>
              <a:rPr lang="es-ES" b="0" i="0" dirty="0">
                <a:solidFill>
                  <a:srgbClr val="202124"/>
                </a:solidFill>
                <a:effectLst/>
                <a:latin typeface="arial" panose="020B0604020202020204" pitchFamily="34" charset="0"/>
              </a:rPr>
              <a:t>s controlar y planificar de forma ágil los proyectos que tienen gran cantidad de cambios de última hora</a:t>
            </a:r>
            <a:r>
              <a:rPr lang="es-ES" b="0" i="0">
                <a:solidFill>
                  <a:srgbClr val="202124"/>
                </a:solidFill>
                <a:effectLst/>
                <a:latin typeface="arial" panose="020B0604020202020204" pitchFamily="34" charset="0"/>
              </a:rPr>
              <a:t>. </a:t>
            </a:r>
          </a:p>
          <a:p>
            <a:pPr marL="514350" indent="-514350">
              <a:buFont typeface="+mj-lt"/>
              <a:buAutoNum type="arabicPeriod"/>
            </a:pPr>
            <a:r>
              <a:rPr lang="es-ES" b="0" i="0">
                <a:solidFill>
                  <a:srgbClr val="202124"/>
                </a:solidFill>
                <a:effectLst/>
                <a:latin typeface="arial" panose="020B0604020202020204" pitchFamily="34" charset="0"/>
              </a:rPr>
              <a:t>Para </a:t>
            </a:r>
            <a:r>
              <a:rPr lang="es-ES" b="0" i="0" dirty="0">
                <a:solidFill>
                  <a:srgbClr val="202124"/>
                </a:solidFill>
                <a:effectLst/>
                <a:latin typeface="arial" panose="020B0604020202020204" pitchFamily="34" charset="0"/>
              </a:rPr>
              <a:t>ello se trabaja en base a </a:t>
            </a:r>
            <a:r>
              <a:rPr lang="es-ES" b="0" i="0" dirty="0" err="1">
                <a:solidFill>
                  <a:srgbClr val="202124"/>
                </a:solidFill>
                <a:effectLst/>
                <a:latin typeface="arial" panose="020B0604020202020204" pitchFamily="34" charset="0"/>
              </a:rPr>
              <a:t>sprints</a:t>
            </a:r>
            <a:r>
              <a:rPr lang="es-ES" b="0" i="0" dirty="0">
                <a:solidFill>
                  <a:srgbClr val="202124"/>
                </a:solidFill>
                <a:effectLst/>
                <a:latin typeface="arial" panose="020B0604020202020204" pitchFamily="34" charset="0"/>
              </a:rPr>
              <a:t> o iteraciones</a:t>
            </a:r>
            <a:r>
              <a:rPr lang="es-ES" b="0" i="0">
                <a:solidFill>
                  <a:srgbClr val="202124"/>
                </a:solidFill>
                <a:effectLst/>
                <a:latin typeface="arial" panose="020B0604020202020204" pitchFamily="34" charset="0"/>
              </a:rPr>
              <a:t>: </a:t>
            </a:r>
          </a:p>
          <a:p>
            <a:pPr marL="514350" indent="-514350">
              <a:buFont typeface="+mj-lt"/>
              <a:buAutoNum type="arabicPeriod"/>
            </a:pPr>
            <a:r>
              <a:rPr lang="es-ES" b="0" i="0">
                <a:solidFill>
                  <a:srgbClr val="202124"/>
                </a:solidFill>
                <a:effectLst/>
                <a:latin typeface="arial" panose="020B0604020202020204" pitchFamily="34" charset="0"/>
              </a:rPr>
              <a:t>cada </a:t>
            </a:r>
            <a:r>
              <a:rPr lang="es-ES" b="0" i="0" dirty="0">
                <a:solidFill>
                  <a:srgbClr val="202124"/>
                </a:solidFill>
                <a:effectLst/>
                <a:latin typeface="arial" panose="020B0604020202020204" pitchFamily="34" charset="0"/>
              </a:rPr>
              <a:t>parte del proyecto es planificado con anticipación. En todo caso usando la metodología Scru</a:t>
            </a:r>
            <a:r>
              <a:rPr lang="es-ES" dirty="0">
                <a:solidFill>
                  <a:srgbClr val="202124"/>
                </a:solidFill>
                <a:latin typeface="arial" panose="020B0604020202020204" pitchFamily="34" charset="0"/>
              </a:rPr>
              <a:t>m se pretende optimizar procesos y gestión y dar valor al producto.</a:t>
            </a:r>
          </a:p>
          <a:p>
            <a:pPr marL="0" indent="0">
              <a:buNone/>
            </a:pPr>
            <a:endParaRPr lang="es-ES" dirty="0"/>
          </a:p>
        </p:txBody>
      </p:sp>
      <p:pic>
        <p:nvPicPr>
          <p:cNvPr id="4" name="Imagen 3">
            <a:extLst>
              <a:ext uri="{FF2B5EF4-FFF2-40B4-BE49-F238E27FC236}">
                <a16:creationId xmlns:a16="http://schemas.microsoft.com/office/drawing/2014/main" id="{61CFE3E3-EFF8-4E26-8E25-6602E226C32E}"/>
              </a:ext>
            </a:extLst>
          </p:cNvPr>
          <p:cNvPicPr>
            <a:picLocks noChangeAspect="1"/>
          </p:cNvPicPr>
          <p:nvPr/>
        </p:nvPicPr>
        <p:blipFill>
          <a:blip r:embed="rId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3120246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C48BE25-20FD-DE46-6F00-FA57F971FBE9}"/>
              </a:ext>
            </a:extLst>
          </p:cNvPr>
          <p:cNvSpPr>
            <a:spLocks noGrp="1"/>
          </p:cNvSpPr>
          <p:nvPr>
            <p:ph type="title"/>
          </p:nvPr>
        </p:nvSpPr>
        <p:spPr/>
        <p:txBody>
          <a:bodyPr>
            <a:normAutofit/>
          </a:bodyPr>
          <a:lstStyle/>
          <a:p>
            <a:r>
              <a:rPr lang="es-ES" b="1"/>
              <a:t>1.2 Fundamentos.</a:t>
            </a:r>
            <a:endParaRPr lang="es-ES"/>
          </a:p>
        </p:txBody>
      </p:sp>
      <p:pic>
        <p:nvPicPr>
          <p:cNvPr id="1026" name="Picture 2" descr="Empirismo en Scrum | Scrum.org">
            <a:extLst>
              <a:ext uri="{FF2B5EF4-FFF2-40B4-BE49-F238E27FC236}">
                <a16:creationId xmlns:a16="http://schemas.microsoft.com/office/drawing/2014/main" id="{8DB2A0B8-A4DF-4FE2-998C-481F895A5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478" y="925472"/>
            <a:ext cx="7248253" cy="588011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E774B3B0-B8F3-4337-B524-43C4D7F7A98C}"/>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694077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88254C-6BA4-B636-820D-642F7B93C017}"/>
              </a:ext>
            </a:extLst>
          </p:cNvPr>
          <p:cNvSpPr>
            <a:spLocks noGrp="1"/>
          </p:cNvSpPr>
          <p:nvPr>
            <p:ph type="title"/>
          </p:nvPr>
        </p:nvSpPr>
        <p:spPr/>
        <p:txBody>
          <a:bodyPr>
            <a:normAutofit/>
          </a:bodyPr>
          <a:lstStyle/>
          <a:p>
            <a:r>
              <a:rPr lang="es-ES"/>
              <a:t>Inspección-transparencia-adaptación</a:t>
            </a:r>
          </a:p>
        </p:txBody>
      </p:sp>
      <p:pic>
        <p:nvPicPr>
          <p:cNvPr id="6" name="Imagen 5">
            <a:extLst>
              <a:ext uri="{FF2B5EF4-FFF2-40B4-BE49-F238E27FC236}">
                <a16:creationId xmlns:a16="http://schemas.microsoft.com/office/drawing/2014/main" id="{4438F8FF-E711-4ABB-833C-87EA06D33150}"/>
              </a:ext>
            </a:extLst>
          </p:cNvPr>
          <p:cNvPicPr>
            <a:picLocks noChangeAspect="1"/>
          </p:cNvPicPr>
          <p:nvPr/>
        </p:nvPicPr>
        <p:blipFill>
          <a:blip r:embed="rId2"/>
          <a:stretch>
            <a:fillRect/>
          </a:stretch>
        </p:blipFill>
        <p:spPr>
          <a:xfrm>
            <a:off x="10904379" y="52061"/>
            <a:ext cx="1353429" cy="823031"/>
          </a:xfrm>
          <a:prstGeom prst="rect">
            <a:avLst/>
          </a:prstGeom>
        </p:spPr>
      </p:pic>
      <p:sp>
        <p:nvSpPr>
          <p:cNvPr id="9" name="CuadroTexto 8">
            <a:extLst>
              <a:ext uri="{FF2B5EF4-FFF2-40B4-BE49-F238E27FC236}">
                <a16:creationId xmlns:a16="http://schemas.microsoft.com/office/drawing/2014/main" id="{D9F74AAC-2C53-E5CD-610D-F087CFCFC7A8}"/>
              </a:ext>
            </a:extLst>
          </p:cNvPr>
          <p:cNvSpPr txBox="1"/>
          <p:nvPr/>
        </p:nvSpPr>
        <p:spPr>
          <a:xfrm>
            <a:off x="200444" y="1111173"/>
            <a:ext cx="11555970" cy="5139869"/>
          </a:xfrm>
          <a:prstGeom prst="rect">
            <a:avLst/>
          </a:prstGeom>
          <a:noFill/>
        </p:spPr>
        <p:txBody>
          <a:bodyPr wrap="square">
            <a:spAutoFit/>
          </a:bodyPr>
          <a:lstStyle/>
          <a:p>
            <a:pPr algn="l"/>
            <a:r>
              <a:rPr lang="es-ES" b="1" i="0">
                <a:solidFill>
                  <a:srgbClr val="415970"/>
                </a:solidFill>
                <a:effectLst/>
                <a:latin typeface="Raleway"/>
              </a:rPr>
              <a:t>1- La inspección:</a:t>
            </a:r>
          </a:p>
          <a:p>
            <a:pPr marL="285750" indent="-285750" algn="l">
              <a:buFont typeface="Arial" panose="020B0604020202020204" pitchFamily="34" charset="0"/>
              <a:buChar char="•"/>
            </a:pPr>
            <a:r>
              <a:rPr lang="es-ES" sz="1400">
                <a:solidFill>
                  <a:srgbClr val="415970"/>
                </a:solidFill>
                <a:latin typeface="Raleway"/>
              </a:rPr>
              <a:t>E</a:t>
            </a:r>
            <a:r>
              <a:rPr lang="es-ES" sz="1400" b="0" i="0">
                <a:solidFill>
                  <a:srgbClr val="415970"/>
                </a:solidFill>
                <a:effectLst/>
                <a:latin typeface="Raleway"/>
              </a:rPr>
              <a:t>s evaluar la información del avance de producto, de la adopción de producto y el impacto en las clientes producidas con el lanzamiento al mercado, de la calidad de producto, de la capacidad de trabajo en equipo, de la motivación del equipo, del logro de objetivos de negocio entre otros. </a:t>
            </a:r>
          </a:p>
          <a:p>
            <a:pPr marL="285750" indent="-285750" algn="l">
              <a:buFont typeface="Arial" panose="020B0604020202020204" pitchFamily="34" charset="0"/>
              <a:buChar char="•"/>
            </a:pPr>
            <a:r>
              <a:rPr lang="es-ES" sz="1400" b="0" i="0">
                <a:solidFill>
                  <a:srgbClr val="415970"/>
                </a:solidFill>
                <a:effectLst/>
                <a:latin typeface="Raleway"/>
              </a:rPr>
              <a:t>Esta evaluación no es realizada por una persona quien luego reporta un estado de avance, esta inspección implica una colaboración, trabajo en equipo y el soporte de las competencias técnicas para realizar la inspección y evaluar la información relacionada. La inspección se puede dar en el equipo de desarrollo, equipo de Scrum, interesados y la organización misma. </a:t>
            </a:r>
          </a:p>
          <a:p>
            <a:pPr algn="l"/>
            <a:endParaRPr lang="es-ES" sz="1400">
              <a:solidFill>
                <a:srgbClr val="415970"/>
              </a:solidFill>
              <a:latin typeface="Raleway"/>
            </a:endParaRPr>
          </a:p>
          <a:p>
            <a:pPr algn="l"/>
            <a:r>
              <a:rPr lang="es-ES" b="1">
                <a:solidFill>
                  <a:srgbClr val="415970"/>
                </a:solidFill>
                <a:latin typeface="Raleway"/>
              </a:rPr>
              <a:t>2. </a:t>
            </a:r>
            <a:r>
              <a:rPr lang="es-ES" b="1" i="0">
                <a:solidFill>
                  <a:srgbClr val="415970"/>
                </a:solidFill>
                <a:effectLst/>
                <a:latin typeface="Raleway"/>
              </a:rPr>
              <a:t>La transparencia:</a:t>
            </a:r>
          </a:p>
          <a:p>
            <a:pPr algn="l"/>
            <a:endParaRPr lang="es-ES" b="1" i="0">
              <a:solidFill>
                <a:srgbClr val="415970"/>
              </a:solidFill>
              <a:effectLst/>
              <a:latin typeface="Raleway"/>
            </a:endParaRPr>
          </a:p>
          <a:p>
            <a:r>
              <a:rPr lang="es-ES" sz="1400">
                <a:solidFill>
                  <a:srgbClr val="415970"/>
                </a:solidFill>
                <a:latin typeface="Raleway"/>
              </a:rPr>
              <a:t>El proceso y el trabajo emergentes deben ser visibles para aquellos que realizan el trabajo, así como para los que reciben el trabajo. Con Scrum, las decisiones importantes se basan en el estado percibido de sus tres artefactos formales. Los artefactos que tienen poca transparencia pueden conducir a decisiones que disminuyen el valor y aumentan el riesgo.  La transparencia permite la inspección. La inspección sin transparencia genera engaños y desperdicios.</a:t>
            </a:r>
          </a:p>
          <a:p>
            <a:endParaRPr lang="es-ES" sz="1400">
              <a:solidFill>
                <a:srgbClr val="415970"/>
              </a:solidFill>
              <a:latin typeface="Raleway"/>
            </a:endParaRPr>
          </a:p>
          <a:p>
            <a:pPr algn="l"/>
            <a:r>
              <a:rPr lang="es-ES" b="1">
                <a:solidFill>
                  <a:srgbClr val="415970"/>
                </a:solidFill>
                <a:latin typeface="Raleway"/>
              </a:rPr>
              <a:t>3. </a:t>
            </a:r>
            <a:r>
              <a:rPr lang="es-ES" b="1" i="0">
                <a:solidFill>
                  <a:srgbClr val="415970"/>
                </a:solidFill>
                <a:effectLst/>
                <a:latin typeface="Raleway"/>
              </a:rPr>
              <a:t>La adaptación:</a:t>
            </a:r>
          </a:p>
          <a:p>
            <a:pPr algn="l"/>
            <a:endParaRPr lang="es-ES" b="1" i="0">
              <a:solidFill>
                <a:srgbClr val="415970"/>
              </a:solidFill>
              <a:effectLst/>
              <a:latin typeface="Raleway"/>
            </a:endParaRPr>
          </a:p>
          <a:p>
            <a:r>
              <a:rPr lang="es-ES" sz="1400">
                <a:solidFill>
                  <a:srgbClr val="415970"/>
                </a:solidFill>
                <a:latin typeface="Raleway"/>
              </a:rPr>
              <a:t>Si algún aspecto de un proceso se desvía fuera de los límites aceptables o si el producto resultante es inaceptable, el proceso que se está aplicando o los materiales que se producen deben ajustarse. El ajuste debe realizarse lo antes posible para minimizar la desviación adicional. </a:t>
            </a:r>
          </a:p>
          <a:p>
            <a:r>
              <a:rPr lang="es-ES" sz="1400">
                <a:solidFill>
                  <a:srgbClr val="415970"/>
                </a:solidFill>
                <a:latin typeface="Raleway"/>
              </a:rPr>
              <a:t>La adaptación se vuelve más difícil cuando las personas involucradas no están empoderadas o no poseen capacidad para autogestionarse. Se espera que un equipo de Scrum se adapte a la metologia Scrum.</a:t>
            </a:r>
          </a:p>
        </p:txBody>
      </p:sp>
    </p:spTree>
    <p:extLst>
      <p:ext uri="{BB962C8B-B14F-4D97-AF65-F5344CB8AC3E}">
        <p14:creationId xmlns:p14="http://schemas.microsoft.com/office/powerpoint/2010/main" val="261137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0A2C60-6739-4DD9-BEB8-2E5B287B62FA}"/>
              </a:ext>
            </a:extLst>
          </p:cNvPr>
          <p:cNvSpPr>
            <a:spLocks noGrp="1"/>
          </p:cNvSpPr>
          <p:nvPr>
            <p:ph type="title"/>
          </p:nvPr>
        </p:nvSpPr>
        <p:spPr/>
        <p:txBody>
          <a:bodyPr>
            <a:normAutofit/>
          </a:bodyPr>
          <a:lstStyle/>
          <a:p>
            <a:r>
              <a:rPr lang="es-ES" dirty="0"/>
              <a:t>Valores de Scrum</a:t>
            </a:r>
          </a:p>
        </p:txBody>
      </p:sp>
      <p:sp>
        <p:nvSpPr>
          <p:cNvPr id="3" name="Marcador de contenido 2">
            <a:extLst>
              <a:ext uri="{FF2B5EF4-FFF2-40B4-BE49-F238E27FC236}">
                <a16:creationId xmlns:a16="http://schemas.microsoft.com/office/drawing/2014/main" id="{E2D368DB-8A5B-4EA2-882A-0F362BA50107}"/>
              </a:ext>
            </a:extLst>
          </p:cNvPr>
          <p:cNvSpPr>
            <a:spLocks noGrp="1"/>
          </p:cNvSpPr>
          <p:nvPr>
            <p:ph type="body" sz="quarter" idx="13"/>
          </p:nvPr>
        </p:nvSpPr>
        <p:spPr>
          <a:xfrm>
            <a:off x="552450" y="2668668"/>
            <a:ext cx="10918999" cy="1139657"/>
          </a:xfrm>
        </p:spPr>
        <p:txBody>
          <a:bodyPr>
            <a:normAutofit/>
          </a:bodyPr>
          <a:lstStyle/>
          <a:p>
            <a:pPr marL="0" indent="0">
              <a:buNone/>
            </a:pPr>
            <a:r>
              <a:rPr lang="es-ES" sz="2000" b="0" i="0" u="none" strike="noStrike" baseline="0" dirty="0">
                <a:solidFill>
                  <a:srgbClr val="000000"/>
                </a:solidFill>
                <a:latin typeface="Calibri" panose="020F0502020204030204" pitchFamily="34" charset="0"/>
              </a:rPr>
              <a:t>“El uso exitoso de Scrum depende de que las personas sean más competentes en vivir cinco valores: </a:t>
            </a:r>
          </a:p>
          <a:p>
            <a:pPr marL="0" indent="0" algn="ctr">
              <a:buNone/>
            </a:pPr>
            <a:r>
              <a:rPr lang="es-ES" sz="3200" b="1" i="1" u="none" strike="noStrike" baseline="0" dirty="0">
                <a:solidFill>
                  <a:srgbClr val="000000"/>
                </a:solidFill>
                <a:latin typeface="Calibri" panose="020F0502020204030204" pitchFamily="34" charset="0"/>
              </a:rPr>
              <a:t>Compromiso, Enfoque, Apertura, Respeto y </a:t>
            </a:r>
            <a:r>
              <a:rPr lang="es-ES" sz="3200" b="1" i="1" u="none" strike="noStrike" baseline="0">
                <a:solidFill>
                  <a:srgbClr val="000000"/>
                </a:solidFill>
                <a:latin typeface="Calibri" panose="020F0502020204030204" pitchFamily="34" charset="0"/>
              </a:rPr>
              <a:t>Coraje </a:t>
            </a:r>
            <a:endParaRPr lang="es-ES" sz="3200" b="0" i="0" u="none" strike="noStrike" baseline="0" dirty="0">
              <a:solidFill>
                <a:srgbClr val="000000"/>
              </a:solidFill>
              <a:latin typeface="Calibri" panose="020F0502020204030204" pitchFamily="34" charset="0"/>
            </a:endParaRPr>
          </a:p>
        </p:txBody>
      </p:sp>
      <p:pic>
        <p:nvPicPr>
          <p:cNvPr id="4" name="Imagen 3">
            <a:extLst>
              <a:ext uri="{FF2B5EF4-FFF2-40B4-BE49-F238E27FC236}">
                <a16:creationId xmlns:a16="http://schemas.microsoft.com/office/drawing/2014/main" id="{1E8404F0-0233-4A4A-8C93-A961D3190EC2}"/>
              </a:ext>
            </a:extLst>
          </p:cNvPr>
          <p:cNvPicPr>
            <a:picLocks noChangeAspect="1"/>
          </p:cNvPicPr>
          <p:nvPr/>
        </p:nvPicPr>
        <p:blipFill>
          <a:blip r:embed="rId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253756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55BAD8F9-5FC3-A84E-D134-707C5A33EA6C}"/>
              </a:ext>
            </a:extLst>
          </p:cNvPr>
          <p:cNvSpPr>
            <a:spLocks noGrp="1"/>
          </p:cNvSpPr>
          <p:nvPr>
            <p:ph type="title"/>
          </p:nvPr>
        </p:nvSpPr>
        <p:spPr/>
        <p:txBody>
          <a:bodyPr>
            <a:normAutofit fontScale="90000"/>
          </a:bodyPr>
          <a:lstStyle/>
          <a:p>
            <a:r>
              <a:rPr lang="es-ES" b="1">
                <a:latin typeface="Verdana" panose="020B0604030504040204" pitchFamily="34" charset="0"/>
                <a:ea typeface="Verdana" panose="020B0604030504040204" pitchFamily="34" charset="0"/>
              </a:rPr>
              <a:t>1.3: Principios agiles</a:t>
            </a:r>
            <a:br>
              <a:rPr lang="es-ES" b="1">
                <a:latin typeface="Verdana" panose="020B0604030504040204" pitchFamily="34" charset="0"/>
                <a:ea typeface="Verdana" panose="020B0604030504040204" pitchFamily="34" charset="0"/>
              </a:rPr>
            </a:br>
            <a:endParaRPr lang="es-ES"/>
          </a:p>
        </p:txBody>
      </p:sp>
      <p:sp>
        <p:nvSpPr>
          <p:cNvPr id="3" name="Marcador de contenido 2">
            <a:extLst>
              <a:ext uri="{FF2B5EF4-FFF2-40B4-BE49-F238E27FC236}">
                <a16:creationId xmlns:a16="http://schemas.microsoft.com/office/drawing/2014/main" id="{ACDA0E54-1104-4FEF-B05E-350202D01279}"/>
              </a:ext>
            </a:extLst>
          </p:cNvPr>
          <p:cNvSpPr>
            <a:spLocks noGrp="1"/>
          </p:cNvSpPr>
          <p:nvPr>
            <p:ph type="body" sz="quarter" idx="13"/>
          </p:nvPr>
        </p:nvSpPr>
        <p:spPr>
          <a:xfrm>
            <a:off x="491956" y="922074"/>
            <a:ext cx="11405292" cy="4838700"/>
          </a:xfrm>
        </p:spPr>
        <p:txBody>
          <a:bodyPr>
            <a:normAutofit fontScale="70000" lnSpcReduction="20000"/>
          </a:bodyPr>
          <a:lstStyle/>
          <a:p>
            <a:pPr marL="0" indent="0" algn="l">
              <a:lnSpc>
                <a:spcPct val="120000"/>
              </a:lnSpc>
              <a:buNone/>
            </a:pPr>
            <a:r>
              <a:rPr lang="es-ES" sz="3000" b="1" i="0" u="sng">
                <a:solidFill>
                  <a:srgbClr val="20212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rPr>
              <a:t>Origen </a:t>
            </a:r>
            <a:r>
              <a:rPr lang="es-ES" sz="3000" b="1" i="0" u="sng" dirty="0">
                <a:solidFill>
                  <a:srgbClr val="20212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rPr>
              <a:t>del Manifiesto ágil.</a:t>
            </a:r>
          </a:p>
          <a:p>
            <a:pPr marL="0" indent="0" algn="l">
              <a:lnSpc>
                <a:spcPct val="120000"/>
              </a:lnSpc>
              <a:buNone/>
            </a:pPr>
            <a:r>
              <a:rPr lang="es-ES" b="0" i="0" dirty="0">
                <a:solidFill>
                  <a:srgbClr val="202122"/>
                </a:solidFill>
                <a:effectLst/>
                <a:latin typeface="Verdana" panose="020B0604030504040204" pitchFamily="34" charset="0"/>
                <a:ea typeface="Verdana" panose="020B0604030504040204" pitchFamily="34" charset="0"/>
              </a:rPr>
              <a:t>El 12 de febrero de </a:t>
            </a:r>
            <a:r>
              <a:rPr lang="es-ES" b="0" i="0" u="none" strike="noStrike" dirty="0">
                <a:solidFill>
                  <a:srgbClr val="0645AD"/>
                </a:solidFill>
                <a:effectLst/>
                <a:latin typeface="Verdana" panose="020B0604030504040204" pitchFamily="34" charset="0"/>
                <a:ea typeface="Verdana" panose="020B0604030504040204" pitchFamily="34" charset="0"/>
                <a:hlinkClick r:id="rId2" tooltip="2001"/>
              </a:rPr>
              <a:t>2001</a:t>
            </a:r>
            <a:r>
              <a:rPr lang="es-ES" b="0" i="0" dirty="0">
                <a:solidFill>
                  <a:srgbClr val="202122"/>
                </a:solidFill>
                <a:effectLst/>
                <a:latin typeface="Verdana" panose="020B0604030504040204" pitchFamily="34" charset="0"/>
                <a:ea typeface="Verdana" panose="020B0604030504040204" pitchFamily="34" charset="0"/>
              </a:rPr>
              <a:t> diecisiete críticos de los modelos de mejora del </a:t>
            </a:r>
            <a:r>
              <a:rPr lang="es-ES" b="0" i="0" u="none" strike="noStrike" dirty="0">
                <a:solidFill>
                  <a:srgbClr val="0645AD"/>
                </a:solidFill>
                <a:effectLst/>
                <a:latin typeface="Verdana" panose="020B0604030504040204" pitchFamily="34" charset="0"/>
                <a:ea typeface="Verdana" panose="020B0604030504040204" pitchFamily="34" charset="0"/>
                <a:hlinkClick r:id="rId3" tooltip="Desarrollo de software"/>
              </a:rPr>
              <a:t>desarrollo de software</a:t>
            </a:r>
            <a:r>
              <a:rPr lang="es-ES" b="0" i="0" dirty="0">
                <a:solidFill>
                  <a:srgbClr val="202122"/>
                </a:solidFill>
                <a:effectLst/>
                <a:latin typeface="Verdana" panose="020B0604030504040204" pitchFamily="34" charset="0"/>
                <a:ea typeface="Verdana" panose="020B0604030504040204" pitchFamily="34" charset="0"/>
              </a:rPr>
              <a:t> basados en procesos, convocados por </a:t>
            </a:r>
            <a:r>
              <a:rPr lang="es-ES" b="0" i="0" u="none" strike="noStrike" dirty="0">
                <a:solidFill>
                  <a:srgbClr val="0645AD"/>
                </a:solidFill>
                <a:effectLst/>
                <a:latin typeface="Verdana" panose="020B0604030504040204" pitchFamily="34" charset="0"/>
                <a:ea typeface="Verdana" panose="020B0604030504040204" pitchFamily="34" charset="0"/>
                <a:hlinkClick r:id="rId4" tooltip="Kent Beck"/>
              </a:rPr>
              <a:t>Kent Beck</a:t>
            </a:r>
            <a:r>
              <a:rPr lang="es-ES" b="0" i="0" dirty="0">
                <a:solidFill>
                  <a:srgbClr val="202122"/>
                </a:solidFill>
                <a:effectLst/>
                <a:latin typeface="Verdana" panose="020B0604030504040204" pitchFamily="34" charset="0"/>
                <a:ea typeface="Verdana" panose="020B0604030504040204" pitchFamily="34" charset="0"/>
              </a:rPr>
              <a:t>, quien había publicado un par de años antes </a:t>
            </a:r>
            <a:r>
              <a:rPr lang="es-ES" b="0" i="1" dirty="0">
                <a:solidFill>
                  <a:srgbClr val="202122"/>
                </a:solidFill>
                <a:effectLst/>
                <a:latin typeface="Verdana" panose="020B0604030504040204" pitchFamily="34" charset="0"/>
                <a:ea typeface="Verdana" panose="020B0604030504040204" pitchFamily="34" charset="0"/>
              </a:rPr>
              <a:t>Extreme </a:t>
            </a:r>
            <a:r>
              <a:rPr lang="es-ES" b="0" i="1" dirty="0" err="1">
                <a:solidFill>
                  <a:srgbClr val="202122"/>
                </a:solidFill>
                <a:effectLst/>
                <a:latin typeface="Verdana" panose="020B0604030504040204" pitchFamily="34" charset="0"/>
                <a:ea typeface="Verdana" panose="020B0604030504040204" pitchFamily="34" charset="0"/>
              </a:rPr>
              <a:t>Programming</a:t>
            </a:r>
            <a:r>
              <a:rPr lang="es-ES" b="0" i="1" dirty="0">
                <a:solidFill>
                  <a:srgbClr val="202122"/>
                </a:solidFill>
                <a:effectLst/>
                <a:latin typeface="Verdana" panose="020B0604030504040204" pitchFamily="34" charset="0"/>
                <a:ea typeface="Verdana" panose="020B0604030504040204" pitchFamily="34" charset="0"/>
              </a:rPr>
              <a:t> </a:t>
            </a:r>
            <a:r>
              <a:rPr lang="es-ES" b="0" i="1" dirty="0" err="1">
                <a:solidFill>
                  <a:srgbClr val="202122"/>
                </a:solidFill>
                <a:effectLst/>
                <a:latin typeface="Verdana" panose="020B0604030504040204" pitchFamily="34" charset="0"/>
                <a:ea typeface="Verdana" panose="020B0604030504040204" pitchFamily="34" charset="0"/>
              </a:rPr>
              <a:t>Explained</a:t>
            </a:r>
            <a:r>
              <a:rPr lang="es-ES" b="0" i="0" dirty="0">
                <a:solidFill>
                  <a:srgbClr val="202122"/>
                </a:solidFill>
                <a:effectLst/>
                <a:latin typeface="Verdana" panose="020B0604030504040204" pitchFamily="34" charset="0"/>
                <a:ea typeface="Verdana" panose="020B0604030504040204" pitchFamily="34" charset="0"/>
              </a:rPr>
              <a:t>, libro en el que exponía una nueva metodología denominada </a:t>
            </a:r>
            <a:r>
              <a:rPr lang="es-ES" b="0" i="0" u="none" strike="noStrike" dirty="0">
                <a:solidFill>
                  <a:srgbClr val="0645AD"/>
                </a:solidFill>
                <a:effectLst/>
                <a:latin typeface="Verdana" panose="020B0604030504040204" pitchFamily="34" charset="0"/>
                <a:ea typeface="Verdana" panose="020B0604030504040204" pitchFamily="34" charset="0"/>
                <a:hlinkClick r:id="rId5" tooltip="Extreme Programming"/>
              </a:rPr>
              <a:t>Extreme </a:t>
            </a:r>
            <a:r>
              <a:rPr lang="es-ES" b="0" i="0" u="none" strike="noStrike" dirty="0" err="1">
                <a:solidFill>
                  <a:srgbClr val="0645AD"/>
                </a:solidFill>
                <a:effectLst/>
                <a:latin typeface="Verdana" panose="020B0604030504040204" pitchFamily="34" charset="0"/>
                <a:ea typeface="Verdana" panose="020B0604030504040204" pitchFamily="34" charset="0"/>
                <a:hlinkClick r:id="rId5" tooltip="Extreme Programming"/>
              </a:rPr>
              <a:t>Programming</a:t>
            </a:r>
            <a:r>
              <a:rPr lang="es-ES" b="0" i="0" dirty="0">
                <a:solidFill>
                  <a:srgbClr val="202122"/>
                </a:solidFill>
                <a:effectLst/>
                <a:latin typeface="Verdana" panose="020B0604030504040204" pitchFamily="34" charset="0"/>
                <a:ea typeface="Verdana" panose="020B0604030504040204" pitchFamily="34" charset="0"/>
              </a:rPr>
              <a:t>, se reunieron en </a:t>
            </a:r>
            <a:r>
              <a:rPr lang="es-ES" b="0" i="0" u="none" strike="noStrike" dirty="0" err="1">
                <a:solidFill>
                  <a:srgbClr val="DD3333"/>
                </a:solidFill>
                <a:effectLst/>
                <a:latin typeface="Verdana" panose="020B0604030504040204" pitchFamily="34" charset="0"/>
                <a:ea typeface="Verdana" panose="020B0604030504040204" pitchFamily="34" charset="0"/>
                <a:hlinkClick r:id="rId6" tooltip="Snowbird, Utah (aún no redactado)"/>
              </a:rPr>
              <a:t>Snowbird</a:t>
            </a:r>
            <a:r>
              <a:rPr lang="es-ES" b="0" i="0" u="none" strike="noStrike" dirty="0">
                <a:solidFill>
                  <a:srgbClr val="DD3333"/>
                </a:solidFill>
                <a:effectLst/>
                <a:latin typeface="Verdana" panose="020B0604030504040204" pitchFamily="34" charset="0"/>
                <a:ea typeface="Verdana" panose="020B0604030504040204" pitchFamily="34" charset="0"/>
                <a:hlinkClick r:id="rId6" tooltip="Snowbird, Utah (aún no redactado)"/>
              </a:rPr>
              <a:t>, Utah</a:t>
            </a:r>
            <a:r>
              <a:rPr lang="es-ES" b="0" i="0" dirty="0">
                <a:solidFill>
                  <a:srgbClr val="202122"/>
                </a:solidFill>
                <a:effectLst/>
                <a:latin typeface="Verdana" panose="020B0604030504040204" pitchFamily="34" charset="0"/>
                <a:ea typeface="Verdana" panose="020B0604030504040204" pitchFamily="34" charset="0"/>
              </a:rPr>
              <a:t> para tratar sobre técnicas y procesos para desarrollar software. En la reunión se acuñó el término “Métodos Ágiles” para definir a los métodos que estaban surgiendo como alternativa a las metodologías formales (</a:t>
            </a:r>
            <a:r>
              <a:rPr lang="es-ES" b="0" i="0" u="none" strike="noStrike" dirty="0">
                <a:solidFill>
                  <a:srgbClr val="0645AD"/>
                </a:solidFill>
                <a:effectLst/>
                <a:latin typeface="Verdana" panose="020B0604030504040204" pitchFamily="34" charset="0"/>
                <a:ea typeface="Verdana" panose="020B0604030504040204" pitchFamily="34" charset="0"/>
                <a:hlinkClick r:id="rId7" tooltip="CMMI"/>
              </a:rPr>
              <a:t>CMMI</a:t>
            </a:r>
            <a:r>
              <a:rPr lang="es-ES" b="0" i="0" dirty="0">
                <a:solidFill>
                  <a:srgbClr val="202122"/>
                </a:solidFill>
                <a:effectLst/>
                <a:latin typeface="Verdana" panose="020B0604030504040204" pitchFamily="34" charset="0"/>
                <a:ea typeface="Verdana" panose="020B0604030504040204" pitchFamily="34" charset="0"/>
              </a:rPr>
              <a:t>, </a:t>
            </a:r>
            <a:r>
              <a:rPr lang="es-ES" b="0" i="0" u="none" strike="noStrike" dirty="0">
                <a:solidFill>
                  <a:srgbClr val="0645AD"/>
                </a:solidFill>
                <a:effectLst/>
                <a:latin typeface="Verdana" panose="020B0604030504040204" pitchFamily="34" charset="0"/>
                <a:ea typeface="Verdana" panose="020B0604030504040204" pitchFamily="34" charset="0"/>
                <a:hlinkClick r:id="rId8" tooltip="ISO/IEC 15504"/>
              </a:rPr>
              <a:t>SPICE</a:t>
            </a:r>
            <a:r>
              <a:rPr lang="es-ES" b="0" i="0" dirty="0">
                <a:solidFill>
                  <a:srgbClr val="202122"/>
                </a:solidFill>
                <a:effectLst/>
                <a:latin typeface="Verdana" panose="020B0604030504040204" pitchFamily="34" charset="0"/>
                <a:ea typeface="Verdana" panose="020B0604030504040204" pitchFamily="34" charset="0"/>
              </a:rPr>
              <a:t>) a las que consideraban excesivamente “pesadas” y rígidas por su carácter normativo y fuerte dependencia de planificaciones detalladas previas al desarrollo.</a:t>
            </a:r>
          </a:p>
          <a:p>
            <a:pPr marL="0" indent="0" algn="l">
              <a:lnSpc>
                <a:spcPct val="120000"/>
              </a:lnSpc>
              <a:buNone/>
            </a:pPr>
            <a:r>
              <a:rPr lang="es-ES" b="0" i="0" dirty="0">
                <a:solidFill>
                  <a:srgbClr val="202122"/>
                </a:solidFill>
                <a:effectLst/>
                <a:latin typeface="Verdana" panose="020B0604030504040204" pitchFamily="34" charset="0"/>
                <a:ea typeface="Verdana" panose="020B0604030504040204" pitchFamily="34" charset="0"/>
              </a:rPr>
              <a:t>Los integrantes de la reunión resumieron los principios sobre los que se basan los métodos alternativos en cuatro postulados, lo que ha quedado denominado como </a:t>
            </a:r>
            <a:r>
              <a:rPr lang="es-ES" b="1" i="0" dirty="0">
                <a:solidFill>
                  <a:srgbClr val="202122"/>
                </a:solidFill>
                <a:effectLst/>
                <a:latin typeface="Verdana" panose="020B0604030504040204" pitchFamily="34" charset="0"/>
                <a:ea typeface="Verdana" panose="020B0604030504040204" pitchFamily="34" charset="0"/>
              </a:rPr>
              <a:t>Manifiesto Ágil</a:t>
            </a:r>
            <a:r>
              <a:rPr lang="es-ES" b="0" i="0" dirty="0">
                <a:solidFill>
                  <a:srgbClr val="202122"/>
                </a:solidFill>
                <a:effectLst/>
                <a:latin typeface="Verdana" panose="020B0604030504040204" pitchFamily="34" charset="0"/>
                <a:ea typeface="Verdana" panose="020B0604030504040204" pitchFamily="34" charset="0"/>
              </a:rPr>
              <a:t>.</a:t>
            </a:r>
          </a:p>
          <a:p>
            <a:pPr marL="0" indent="0">
              <a:lnSpc>
                <a:spcPct val="120000"/>
              </a:lnSpc>
              <a:buNone/>
            </a:pPr>
            <a:endParaRPr lang="es-ES"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BECF4371-846C-47B8-9C7E-E975E3FDDBEE}"/>
              </a:ext>
            </a:extLst>
          </p:cNvPr>
          <p:cNvPicPr>
            <a:picLocks noChangeAspect="1"/>
          </p:cNvPicPr>
          <p:nvPr/>
        </p:nvPicPr>
        <p:blipFill>
          <a:blip r:embed="rId9"/>
          <a:stretch>
            <a:fillRect/>
          </a:stretch>
        </p:blipFill>
        <p:spPr>
          <a:xfrm>
            <a:off x="10904379" y="52061"/>
            <a:ext cx="1353429" cy="823031"/>
          </a:xfrm>
          <a:prstGeom prst="rect">
            <a:avLst/>
          </a:prstGeom>
        </p:spPr>
      </p:pic>
      <p:sp>
        <p:nvSpPr>
          <p:cNvPr id="2" name="Rectángulo 1">
            <a:extLst>
              <a:ext uri="{FF2B5EF4-FFF2-40B4-BE49-F238E27FC236}">
                <a16:creationId xmlns:a16="http://schemas.microsoft.com/office/drawing/2014/main" id="{3D8D261B-8790-45D5-AE78-9EA66264CB44}"/>
              </a:ext>
            </a:extLst>
          </p:cNvPr>
          <p:cNvSpPr/>
          <p:nvPr/>
        </p:nvSpPr>
        <p:spPr>
          <a:xfrm>
            <a:off x="421617" y="5454783"/>
            <a:ext cx="2822674" cy="43921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ES" dirty="0"/>
              <a:t>Individuos e interacciones</a:t>
            </a:r>
          </a:p>
        </p:txBody>
      </p:sp>
      <p:sp>
        <p:nvSpPr>
          <p:cNvPr id="5" name="Rectángulo 4">
            <a:extLst>
              <a:ext uri="{FF2B5EF4-FFF2-40B4-BE49-F238E27FC236}">
                <a16:creationId xmlns:a16="http://schemas.microsoft.com/office/drawing/2014/main" id="{FF28CD51-FFD9-476F-B5B4-F800A658F49B}"/>
              </a:ext>
            </a:extLst>
          </p:cNvPr>
          <p:cNvSpPr/>
          <p:nvPr/>
        </p:nvSpPr>
        <p:spPr>
          <a:xfrm>
            <a:off x="3455024" y="5464831"/>
            <a:ext cx="2540492" cy="43921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ES" dirty="0"/>
              <a:t>Software funcionando</a:t>
            </a:r>
          </a:p>
        </p:txBody>
      </p:sp>
      <p:sp>
        <p:nvSpPr>
          <p:cNvPr id="6" name="Rectángulo 5">
            <a:extLst>
              <a:ext uri="{FF2B5EF4-FFF2-40B4-BE49-F238E27FC236}">
                <a16:creationId xmlns:a16="http://schemas.microsoft.com/office/drawing/2014/main" id="{623AA04E-6F3A-461B-B9F4-E7D967536B25}"/>
              </a:ext>
            </a:extLst>
          </p:cNvPr>
          <p:cNvSpPr/>
          <p:nvPr/>
        </p:nvSpPr>
        <p:spPr>
          <a:xfrm>
            <a:off x="6194602" y="5473143"/>
            <a:ext cx="2730760" cy="43921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ES" dirty="0"/>
              <a:t>Colaboración con el cliente</a:t>
            </a:r>
          </a:p>
        </p:txBody>
      </p:sp>
      <p:sp>
        <p:nvSpPr>
          <p:cNvPr id="7" name="Rectángulo 6">
            <a:extLst>
              <a:ext uri="{FF2B5EF4-FFF2-40B4-BE49-F238E27FC236}">
                <a16:creationId xmlns:a16="http://schemas.microsoft.com/office/drawing/2014/main" id="{1EBB436E-7F67-4425-A24B-5565793159E0}"/>
              </a:ext>
            </a:extLst>
          </p:cNvPr>
          <p:cNvSpPr/>
          <p:nvPr/>
        </p:nvSpPr>
        <p:spPr>
          <a:xfrm>
            <a:off x="9163118" y="5434688"/>
            <a:ext cx="2944863" cy="439213"/>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ES" dirty="0"/>
              <a:t>Respuesta ante el cambio</a:t>
            </a:r>
          </a:p>
        </p:txBody>
      </p:sp>
    </p:spTree>
    <p:extLst>
      <p:ext uri="{BB962C8B-B14F-4D97-AF65-F5344CB8AC3E}">
        <p14:creationId xmlns:p14="http://schemas.microsoft.com/office/powerpoint/2010/main" val="3066276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C1CD3-6D70-4AF0-9F18-18C0FC89B328}"/>
              </a:ext>
            </a:extLst>
          </p:cNvPr>
          <p:cNvSpPr>
            <a:spLocks noGrp="1"/>
          </p:cNvSpPr>
          <p:nvPr>
            <p:ph type="title"/>
          </p:nvPr>
        </p:nvSpPr>
        <p:spPr/>
        <p:txBody>
          <a:bodyPr>
            <a:noAutofit/>
          </a:bodyPr>
          <a:lstStyle/>
          <a:p>
            <a:r>
              <a:rPr lang="es-ES" sz="2400" dirty="0"/>
              <a:t>Principios agiles</a:t>
            </a:r>
          </a:p>
        </p:txBody>
      </p:sp>
      <p:sp>
        <p:nvSpPr>
          <p:cNvPr id="3" name="Marcador de texto 2">
            <a:extLst>
              <a:ext uri="{FF2B5EF4-FFF2-40B4-BE49-F238E27FC236}">
                <a16:creationId xmlns:a16="http://schemas.microsoft.com/office/drawing/2014/main" id="{60FD5BD3-D8BE-2C5C-0A2A-8860BF8BB109}"/>
              </a:ext>
            </a:extLst>
          </p:cNvPr>
          <p:cNvSpPr>
            <a:spLocks noGrp="1"/>
          </p:cNvSpPr>
          <p:nvPr>
            <p:ph type="body" sz="quarter" idx="13"/>
          </p:nvPr>
        </p:nvSpPr>
        <p:spPr/>
        <p:txBody>
          <a:bodyPr/>
          <a:lstStyle/>
          <a:p>
            <a:endParaRPr lang="es-ES"/>
          </a:p>
        </p:txBody>
      </p:sp>
      <p:graphicFrame>
        <p:nvGraphicFramePr>
          <p:cNvPr id="4" name="Marcador de contenido 3">
            <a:extLst>
              <a:ext uri="{FF2B5EF4-FFF2-40B4-BE49-F238E27FC236}">
                <a16:creationId xmlns:a16="http://schemas.microsoft.com/office/drawing/2014/main" id="{C73BA1E4-5874-4925-89A1-1492D156242B}"/>
              </a:ext>
            </a:extLst>
          </p:cNvPr>
          <p:cNvGraphicFramePr>
            <a:graphicFrameLocks noGrp="1"/>
          </p:cNvGraphicFramePr>
          <p:nvPr>
            <p:ph idx="4294967295"/>
            <p:extLst>
              <p:ext uri="{D42A27DB-BD31-4B8C-83A1-F6EECF244321}">
                <p14:modId xmlns:p14="http://schemas.microsoft.com/office/powerpoint/2010/main" val="2607305533"/>
              </p:ext>
            </p:extLst>
          </p:nvPr>
        </p:nvGraphicFramePr>
        <p:xfrm>
          <a:off x="0" y="625474"/>
          <a:ext cx="12003088" cy="6227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4CFF2D48-5EA3-40DB-B80D-629DF3244215}"/>
              </a:ext>
            </a:extLst>
          </p:cNvPr>
          <p:cNvPicPr>
            <a:picLocks noChangeAspect="1"/>
          </p:cNvPicPr>
          <p:nvPr/>
        </p:nvPicPr>
        <p:blipFill>
          <a:blip r:embed="rId7"/>
          <a:stretch>
            <a:fillRect/>
          </a:stretch>
        </p:blipFill>
        <p:spPr>
          <a:xfrm>
            <a:off x="11253172" y="5194"/>
            <a:ext cx="1020528" cy="620591"/>
          </a:xfrm>
          <a:prstGeom prst="rect">
            <a:avLst/>
          </a:prstGeom>
        </p:spPr>
      </p:pic>
    </p:spTree>
    <p:extLst>
      <p:ext uri="{BB962C8B-B14F-4D97-AF65-F5344CB8AC3E}">
        <p14:creationId xmlns:p14="http://schemas.microsoft.com/office/powerpoint/2010/main" val="394543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C1CD3-6D70-4AF0-9F18-18C0FC89B328}"/>
              </a:ext>
            </a:extLst>
          </p:cNvPr>
          <p:cNvSpPr>
            <a:spLocks noGrp="1"/>
          </p:cNvSpPr>
          <p:nvPr>
            <p:ph type="title"/>
          </p:nvPr>
        </p:nvSpPr>
        <p:spPr/>
        <p:txBody>
          <a:bodyPr>
            <a:noAutofit/>
          </a:bodyPr>
          <a:lstStyle/>
          <a:p>
            <a:r>
              <a:rPr lang="es-ES" sz="2800" b="1" dirty="0"/>
              <a:t>Alianza ágil</a:t>
            </a:r>
          </a:p>
        </p:txBody>
      </p:sp>
      <p:sp>
        <p:nvSpPr>
          <p:cNvPr id="8" name="Marcador de contenido 7">
            <a:extLst>
              <a:ext uri="{FF2B5EF4-FFF2-40B4-BE49-F238E27FC236}">
                <a16:creationId xmlns:a16="http://schemas.microsoft.com/office/drawing/2014/main" id="{E2340FC8-4834-4C0A-A442-138AF5720278}"/>
              </a:ext>
            </a:extLst>
          </p:cNvPr>
          <p:cNvSpPr>
            <a:spLocks noGrp="1"/>
          </p:cNvSpPr>
          <p:nvPr>
            <p:ph type="body" sz="quarter" idx="13"/>
          </p:nvPr>
        </p:nvSpPr>
        <p:spPr/>
        <p:txBody>
          <a:bodyPr/>
          <a:lstStyle/>
          <a:p>
            <a:pPr marL="0" indent="0">
              <a:buNone/>
            </a:pPr>
            <a:r>
              <a:rPr lang="es-ES" b="0" i="0" dirty="0">
                <a:solidFill>
                  <a:srgbClr val="202124"/>
                </a:solidFill>
                <a:effectLst/>
                <a:latin typeface="arial" panose="020B0604020202020204" pitchFamily="34" charset="0"/>
              </a:rPr>
              <a:t>Poco después, algunas de estas personas formaron la "</a:t>
            </a:r>
            <a:r>
              <a:rPr lang="es-ES" b="1" i="0" dirty="0">
                <a:solidFill>
                  <a:srgbClr val="202124"/>
                </a:solidFill>
                <a:effectLst/>
                <a:latin typeface="arial" panose="020B0604020202020204" pitchFamily="34" charset="0"/>
              </a:rPr>
              <a:t>alianza ágil</a:t>
            </a:r>
            <a:r>
              <a:rPr lang="es-ES" b="0" i="0" dirty="0">
                <a:solidFill>
                  <a:srgbClr val="202124"/>
                </a:solidFill>
                <a:effectLst/>
                <a:latin typeface="arial" panose="020B0604020202020204" pitchFamily="34" charset="0"/>
              </a:rPr>
              <a:t>", una organización sin fines de lucro que promueve el desarrollo </a:t>
            </a:r>
            <a:r>
              <a:rPr lang="es-ES" b="1" i="0" dirty="0">
                <a:solidFill>
                  <a:srgbClr val="202124"/>
                </a:solidFill>
                <a:effectLst/>
                <a:latin typeface="arial" panose="020B0604020202020204" pitchFamily="34" charset="0"/>
              </a:rPr>
              <a:t>ágil</a:t>
            </a:r>
            <a:r>
              <a:rPr lang="es-ES" b="0" i="0" dirty="0">
                <a:solidFill>
                  <a:srgbClr val="202124"/>
                </a:solidFill>
                <a:effectLst/>
                <a:latin typeface="arial" panose="020B0604020202020204" pitchFamily="34" charset="0"/>
              </a:rPr>
              <a:t> de aplicaciones. Muchos métodos similares al </a:t>
            </a:r>
            <a:r>
              <a:rPr lang="es-ES" b="1" i="0" dirty="0">
                <a:solidFill>
                  <a:srgbClr val="202124"/>
                </a:solidFill>
                <a:effectLst/>
                <a:latin typeface="arial" panose="020B0604020202020204" pitchFamily="34" charset="0"/>
              </a:rPr>
              <a:t>ágil</a:t>
            </a:r>
            <a:r>
              <a:rPr lang="es-ES" b="0" i="0" dirty="0">
                <a:solidFill>
                  <a:srgbClr val="202124"/>
                </a:solidFill>
                <a:effectLst/>
                <a:latin typeface="arial" panose="020B0604020202020204" pitchFamily="34" charset="0"/>
              </a:rPr>
              <a:t> fueron creados antes del 2000</a:t>
            </a:r>
            <a:endParaRPr lang="es-ES" dirty="0"/>
          </a:p>
        </p:txBody>
      </p:sp>
      <p:pic>
        <p:nvPicPr>
          <p:cNvPr id="5" name="Imagen 4">
            <a:extLst>
              <a:ext uri="{FF2B5EF4-FFF2-40B4-BE49-F238E27FC236}">
                <a16:creationId xmlns:a16="http://schemas.microsoft.com/office/drawing/2014/main" id="{4CFF2D48-5EA3-40DB-B80D-629DF3244215}"/>
              </a:ext>
            </a:extLst>
          </p:cNvPr>
          <p:cNvPicPr>
            <a:picLocks noChangeAspect="1"/>
          </p:cNvPicPr>
          <p:nvPr/>
        </p:nvPicPr>
        <p:blipFill>
          <a:blip r:embed="rId2"/>
          <a:stretch>
            <a:fillRect/>
          </a:stretch>
        </p:blipFill>
        <p:spPr>
          <a:xfrm>
            <a:off x="11253172" y="5194"/>
            <a:ext cx="1020528" cy="620591"/>
          </a:xfrm>
          <a:prstGeom prst="rect">
            <a:avLst/>
          </a:prstGeom>
        </p:spPr>
      </p:pic>
      <p:sp>
        <p:nvSpPr>
          <p:cNvPr id="10" name="CuadroTexto 9">
            <a:extLst>
              <a:ext uri="{FF2B5EF4-FFF2-40B4-BE49-F238E27FC236}">
                <a16:creationId xmlns:a16="http://schemas.microsoft.com/office/drawing/2014/main" id="{8904C772-C8D6-49FA-85D8-3713387C4123}"/>
              </a:ext>
            </a:extLst>
          </p:cNvPr>
          <p:cNvSpPr txBox="1"/>
          <p:nvPr/>
        </p:nvSpPr>
        <p:spPr>
          <a:xfrm>
            <a:off x="7217347" y="6239936"/>
            <a:ext cx="6134876" cy="369332"/>
          </a:xfrm>
          <a:prstGeom prst="rect">
            <a:avLst/>
          </a:prstGeom>
          <a:noFill/>
        </p:spPr>
        <p:txBody>
          <a:bodyPr wrap="square">
            <a:spAutoFit/>
          </a:bodyPr>
          <a:lstStyle/>
          <a:p>
            <a:r>
              <a:rPr lang="es-ES" dirty="0">
                <a:hlinkClick r:id="rId3"/>
              </a:rPr>
              <a:t>Alianza ágil (agilealliance.org)</a:t>
            </a:r>
            <a:endParaRPr lang="es-ES" dirty="0"/>
          </a:p>
        </p:txBody>
      </p:sp>
      <p:pic>
        <p:nvPicPr>
          <p:cNvPr id="12" name="Imagen 11">
            <a:extLst>
              <a:ext uri="{FF2B5EF4-FFF2-40B4-BE49-F238E27FC236}">
                <a16:creationId xmlns:a16="http://schemas.microsoft.com/office/drawing/2014/main" id="{7B1BA8EB-69BE-49C4-9843-9E17A692C999}"/>
              </a:ext>
            </a:extLst>
          </p:cNvPr>
          <p:cNvPicPr>
            <a:picLocks noChangeAspect="1"/>
          </p:cNvPicPr>
          <p:nvPr/>
        </p:nvPicPr>
        <p:blipFill>
          <a:blip r:embed="rId4"/>
          <a:stretch>
            <a:fillRect/>
          </a:stretch>
        </p:blipFill>
        <p:spPr>
          <a:xfrm>
            <a:off x="6345570" y="2875549"/>
            <a:ext cx="5730315" cy="2637075"/>
          </a:xfrm>
          <a:prstGeom prst="rect">
            <a:avLst/>
          </a:prstGeom>
        </p:spPr>
      </p:pic>
      <p:pic>
        <p:nvPicPr>
          <p:cNvPr id="15" name="Imagen 14">
            <a:extLst>
              <a:ext uri="{FF2B5EF4-FFF2-40B4-BE49-F238E27FC236}">
                <a16:creationId xmlns:a16="http://schemas.microsoft.com/office/drawing/2014/main" id="{3D223809-D1F8-46B5-ACCC-517E7EF37C39}"/>
              </a:ext>
            </a:extLst>
          </p:cNvPr>
          <p:cNvPicPr>
            <a:picLocks noChangeAspect="1"/>
          </p:cNvPicPr>
          <p:nvPr/>
        </p:nvPicPr>
        <p:blipFill>
          <a:blip r:embed="rId5"/>
          <a:stretch>
            <a:fillRect/>
          </a:stretch>
        </p:blipFill>
        <p:spPr>
          <a:xfrm>
            <a:off x="116115" y="2875549"/>
            <a:ext cx="5956801" cy="2559386"/>
          </a:xfrm>
          <a:prstGeom prst="rect">
            <a:avLst/>
          </a:prstGeom>
        </p:spPr>
      </p:pic>
      <p:sp>
        <p:nvSpPr>
          <p:cNvPr id="17" name="CuadroTexto 16">
            <a:extLst>
              <a:ext uri="{FF2B5EF4-FFF2-40B4-BE49-F238E27FC236}">
                <a16:creationId xmlns:a16="http://schemas.microsoft.com/office/drawing/2014/main" id="{F12911E3-CDFA-45B8-81E5-E72CBC2102AB}"/>
              </a:ext>
            </a:extLst>
          </p:cNvPr>
          <p:cNvSpPr txBox="1"/>
          <p:nvPr/>
        </p:nvSpPr>
        <p:spPr>
          <a:xfrm>
            <a:off x="176563" y="6438426"/>
            <a:ext cx="6167534" cy="369332"/>
          </a:xfrm>
          <a:prstGeom prst="rect">
            <a:avLst/>
          </a:prstGeom>
          <a:noFill/>
        </p:spPr>
        <p:txBody>
          <a:bodyPr wrap="square">
            <a:spAutoFit/>
          </a:bodyPr>
          <a:lstStyle/>
          <a:p>
            <a:r>
              <a:rPr lang="es-ES" dirty="0">
                <a:hlinkClick r:id="rId6"/>
              </a:rPr>
              <a:t>Agile </a:t>
            </a:r>
            <a:r>
              <a:rPr lang="es-ES" dirty="0" err="1">
                <a:hlinkClick r:id="rId6"/>
              </a:rPr>
              <a:t>Spain</a:t>
            </a:r>
            <a:r>
              <a:rPr lang="es-ES" dirty="0">
                <a:hlinkClick r:id="rId6"/>
              </a:rPr>
              <a:t> – Compartiendo el agilismo (agile-spain.org)</a:t>
            </a:r>
            <a:endParaRPr lang="es-ES" dirty="0"/>
          </a:p>
        </p:txBody>
      </p:sp>
    </p:spTree>
    <p:extLst>
      <p:ext uri="{BB962C8B-B14F-4D97-AF65-F5344CB8AC3E}">
        <p14:creationId xmlns:p14="http://schemas.microsoft.com/office/powerpoint/2010/main" val="540969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7EDB6F-D986-446B-A8A2-4EBF3D82EACF}"/>
              </a:ext>
            </a:extLst>
          </p:cNvPr>
          <p:cNvSpPr>
            <a:spLocks noGrp="1"/>
          </p:cNvSpPr>
          <p:nvPr>
            <p:ph type="title"/>
          </p:nvPr>
        </p:nvSpPr>
        <p:spPr/>
        <p:txBody>
          <a:bodyPr/>
          <a:lstStyle/>
          <a:p>
            <a:r>
              <a:rPr lang="es-ES" dirty="0"/>
              <a:t>Agile Proyect Management</a:t>
            </a:r>
          </a:p>
        </p:txBody>
      </p:sp>
      <p:sp>
        <p:nvSpPr>
          <p:cNvPr id="3" name="Marcador de contenido 2">
            <a:extLst>
              <a:ext uri="{FF2B5EF4-FFF2-40B4-BE49-F238E27FC236}">
                <a16:creationId xmlns:a16="http://schemas.microsoft.com/office/drawing/2014/main" id="{9041B0E1-C531-4D80-BD70-AFF672416073}"/>
              </a:ext>
            </a:extLst>
          </p:cNvPr>
          <p:cNvSpPr>
            <a:spLocks noGrp="1"/>
          </p:cNvSpPr>
          <p:nvPr>
            <p:ph type="body" sz="quarter" idx="13"/>
          </p:nvPr>
        </p:nvSpPr>
        <p:spPr>
          <a:xfrm>
            <a:off x="140677" y="1217863"/>
            <a:ext cx="11555604" cy="4838700"/>
          </a:xfrm>
        </p:spPr>
        <p:txBody>
          <a:bodyPr>
            <a:normAutofit fontScale="92500" lnSpcReduction="10000"/>
          </a:bodyPr>
          <a:lstStyle/>
          <a:p>
            <a:r>
              <a:rPr lang="es-ES" b="0" i="0" dirty="0">
                <a:solidFill>
                  <a:srgbClr val="212529"/>
                </a:solidFill>
                <a:effectLst/>
                <a:latin typeface="Montserrat"/>
              </a:rPr>
              <a:t>La</a:t>
            </a:r>
            <a:r>
              <a:rPr lang="es-ES" b="1" i="0" dirty="0">
                <a:solidFill>
                  <a:srgbClr val="212529"/>
                </a:solidFill>
                <a:effectLst/>
                <a:latin typeface="Montserrat"/>
              </a:rPr>
              <a:t> gestión ágil de proyectos o Agile Project Management es un conjunto de metodologías para el desarrollo de proyectos que precisan de una especial rapidez y flexibilidad en su proceso</a:t>
            </a:r>
            <a:r>
              <a:rPr lang="es-ES" b="0" i="0" dirty="0">
                <a:solidFill>
                  <a:srgbClr val="212529"/>
                </a:solidFill>
                <a:effectLst/>
                <a:latin typeface="Montserrat"/>
              </a:rPr>
              <a:t>. En muchas ocasiones, son proyectos relacionados con el desarrollo de software o el mundo de internet.</a:t>
            </a:r>
          </a:p>
          <a:p>
            <a:endParaRPr lang="es-ES" dirty="0">
              <a:solidFill>
                <a:srgbClr val="212529"/>
              </a:solidFill>
              <a:latin typeface="Montserrat"/>
            </a:endParaRPr>
          </a:p>
          <a:p>
            <a:r>
              <a:rPr lang="es-ES" b="0" i="0" dirty="0">
                <a:solidFill>
                  <a:srgbClr val="212529"/>
                </a:solidFill>
                <a:effectLst/>
                <a:latin typeface="Montserrat"/>
              </a:rPr>
              <a:t>Las metodologías ágiles se basan en un enfoque flexible. </a:t>
            </a:r>
            <a:r>
              <a:rPr lang="es-ES" b="1" i="0" dirty="0">
                <a:solidFill>
                  <a:srgbClr val="212529"/>
                </a:solidFill>
                <a:effectLst/>
                <a:latin typeface="Montserrat"/>
              </a:rPr>
              <a:t>Los miembros del equipo trabajan en pequeñas fases y equipos sobre actualizaciones concretas del producto.</a:t>
            </a:r>
            <a:r>
              <a:rPr lang="es-ES" b="0" i="0" dirty="0">
                <a:solidFill>
                  <a:srgbClr val="212529"/>
                </a:solidFill>
                <a:effectLst/>
                <a:latin typeface="Montserrat"/>
              </a:rPr>
              <a:t> Después, se testea cada actualización en función de las necesidades del cliente. Esto se hace en vez de centrarnos en un único producto final que solo se lanza al finalizar el proyecto. </a:t>
            </a:r>
            <a:r>
              <a:rPr lang="es-ES" b="1" i="0" dirty="0">
                <a:solidFill>
                  <a:srgbClr val="212529"/>
                </a:solidFill>
                <a:effectLst/>
                <a:latin typeface="Montserrat"/>
              </a:rPr>
              <a:t>Divide</a:t>
            </a:r>
            <a:r>
              <a:rPr lang="es-ES" b="0" i="0" dirty="0">
                <a:solidFill>
                  <a:srgbClr val="212529"/>
                </a:solidFill>
                <a:effectLst/>
                <a:latin typeface="Montserrat"/>
              </a:rPr>
              <a:t> las distintas actualizaciones del producto, trabájalas por separado, testéalas una a una </a:t>
            </a:r>
            <a:r>
              <a:rPr lang="es-ES" b="1" i="0" dirty="0">
                <a:solidFill>
                  <a:srgbClr val="212529"/>
                </a:solidFill>
                <a:effectLst/>
                <a:latin typeface="Montserrat"/>
              </a:rPr>
              <a:t>y vencerás.</a:t>
            </a:r>
            <a:endParaRPr lang="es-ES" dirty="0"/>
          </a:p>
        </p:txBody>
      </p:sp>
      <p:pic>
        <p:nvPicPr>
          <p:cNvPr id="4" name="Imagen 3">
            <a:extLst>
              <a:ext uri="{FF2B5EF4-FFF2-40B4-BE49-F238E27FC236}">
                <a16:creationId xmlns:a16="http://schemas.microsoft.com/office/drawing/2014/main" id="{560B5B15-CAEA-4303-BD69-77EEB3F3602E}"/>
              </a:ext>
            </a:extLst>
          </p:cNvPr>
          <p:cNvPicPr>
            <a:picLocks noChangeAspect="1"/>
          </p:cNvPicPr>
          <p:nvPr/>
        </p:nvPicPr>
        <p:blipFill>
          <a:blip r:embed="rId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3424842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CE9066-B4E3-46DA-BA64-01B27312A5BD}"/>
              </a:ext>
            </a:extLst>
          </p:cNvPr>
          <p:cNvSpPr>
            <a:spLocks noGrp="1"/>
          </p:cNvSpPr>
          <p:nvPr>
            <p:ph type="title"/>
          </p:nvPr>
        </p:nvSpPr>
        <p:spPr/>
        <p:txBody>
          <a:bodyPr>
            <a:noAutofit/>
          </a:bodyPr>
          <a:lstStyle/>
          <a:p>
            <a:r>
              <a:rPr lang="es-ES" dirty="0"/>
              <a:t>Saber mas: Historia de las metodologías agiles</a:t>
            </a:r>
          </a:p>
        </p:txBody>
      </p:sp>
      <p:sp>
        <p:nvSpPr>
          <p:cNvPr id="5" name="Marcador de contenido 4">
            <a:extLst>
              <a:ext uri="{FF2B5EF4-FFF2-40B4-BE49-F238E27FC236}">
                <a16:creationId xmlns:a16="http://schemas.microsoft.com/office/drawing/2014/main" id="{9C2FDFD1-8991-4FA5-9577-31F215CA4F34}"/>
              </a:ext>
            </a:extLst>
          </p:cNvPr>
          <p:cNvSpPr>
            <a:spLocks noGrp="1"/>
          </p:cNvSpPr>
          <p:nvPr>
            <p:ph type="body" sz="quarter" idx="13"/>
          </p:nvPr>
        </p:nvSpPr>
        <p:spPr>
          <a:xfrm>
            <a:off x="331595" y="1095270"/>
            <a:ext cx="11686233" cy="4961293"/>
          </a:xfrm>
        </p:spPr>
        <p:style>
          <a:lnRef idx="2">
            <a:schemeClr val="accent6"/>
          </a:lnRef>
          <a:fillRef idx="1">
            <a:schemeClr val="lt1"/>
          </a:fillRef>
          <a:effectRef idx="0">
            <a:schemeClr val="accent6"/>
          </a:effectRef>
          <a:fontRef idx="minor">
            <a:schemeClr val="dk1"/>
          </a:fontRef>
        </p:style>
        <p:txBody>
          <a:bodyPr>
            <a:normAutofit/>
          </a:bodyPr>
          <a:lstStyle/>
          <a:p>
            <a:r>
              <a:rPr lang="es-ES" dirty="0"/>
              <a:t>Lean</a:t>
            </a:r>
          </a:p>
          <a:p>
            <a:pPr marL="0" indent="0" algn="l">
              <a:buNone/>
            </a:pPr>
            <a:r>
              <a:rPr lang="es-ES" sz="1800" b="0" i="0" u="none" strike="noStrike" baseline="0" dirty="0">
                <a:solidFill>
                  <a:srgbClr val="666767"/>
                </a:solidFill>
                <a:latin typeface="Raleway-Light"/>
              </a:rPr>
              <a:t>Lean (sin grasa sería su traducción al español) es un término que se popularizó en la época de los 40 cuando se pretendía aligerar los procesos principalmente en la industria manufacturera. Toyota fue su principal impulsor creando incluso su propio proceso y cultura llamado Toyota </a:t>
            </a:r>
            <a:r>
              <a:rPr lang="es-ES" sz="1800" b="0" i="0" u="none" strike="noStrike" baseline="0" dirty="0" err="1">
                <a:solidFill>
                  <a:srgbClr val="666767"/>
                </a:solidFill>
                <a:latin typeface="Raleway-Light"/>
              </a:rPr>
              <a:t>Production</a:t>
            </a:r>
            <a:r>
              <a:rPr lang="es-ES" sz="1800" b="0" i="0" u="none" strike="noStrike" baseline="0" dirty="0">
                <a:solidFill>
                  <a:srgbClr val="666767"/>
                </a:solidFill>
                <a:latin typeface="Raleway-Light"/>
              </a:rPr>
              <a:t> </a:t>
            </a:r>
            <a:r>
              <a:rPr lang="es-ES" sz="1800" b="0" i="0" u="none" strike="noStrike" baseline="0" dirty="0" err="1">
                <a:solidFill>
                  <a:srgbClr val="666767"/>
                </a:solidFill>
                <a:latin typeface="Raleway-Light"/>
              </a:rPr>
              <a:t>System</a:t>
            </a:r>
            <a:r>
              <a:rPr lang="es-ES" sz="1800" b="0" i="0" u="none" strike="noStrike" baseline="0" dirty="0">
                <a:solidFill>
                  <a:srgbClr val="666767"/>
                </a:solidFill>
                <a:latin typeface="Raleway-Light"/>
              </a:rPr>
              <a:t> (TPS).</a:t>
            </a:r>
          </a:p>
          <a:p>
            <a:r>
              <a:rPr lang="es-ES" dirty="0"/>
              <a:t>Método </a:t>
            </a:r>
            <a:r>
              <a:rPr lang="es-ES" dirty="0" err="1"/>
              <a:t>toyota</a:t>
            </a:r>
            <a:endParaRPr lang="es-ES" dirty="0"/>
          </a:p>
          <a:p>
            <a:pPr marL="0" indent="0" algn="l">
              <a:buNone/>
            </a:pPr>
            <a:r>
              <a:rPr lang="es-ES" sz="2400" b="0" i="0" dirty="0">
                <a:solidFill>
                  <a:srgbClr val="202124"/>
                </a:solidFill>
                <a:effectLst/>
                <a:latin typeface="arial" panose="020B0604020202020204" pitchFamily="34" charset="0"/>
              </a:rPr>
              <a:t>El Sistema de Producción </a:t>
            </a:r>
            <a:r>
              <a:rPr lang="es-ES" sz="2400" b="1" i="0" dirty="0">
                <a:solidFill>
                  <a:srgbClr val="202124"/>
                </a:solidFill>
                <a:effectLst/>
                <a:latin typeface="arial" panose="020B0604020202020204" pitchFamily="34" charset="0"/>
              </a:rPr>
              <a:t>Toyota</a:t>
            </a:r>
            <a:r>
              <a:rPr lang="es-ES" sz="2400" b="0" i="0" dirty="0">
                <a:solidFill>
                  <a:srgbClr val="202124"/>
                </a:solidFill>
                <a:effectLst/>
                <a:latin typeface="arial" panose="020B0604020202020204" pitchFamily="34" charset="0"/>
              </a:rPr>
              <a:t> es una </a:t>
            </a:r>
            <a:r>
              <a:rPr lang="es-ES" sz="2400" b="1" i="0" dirty="0">
                <a:solidFill>
                  <a:srgbClr val="202124"/>
                </a:solidFill>
                <a:effectLst/>
                <a:latin typeface="arial" panose="020B0604020202020204" pitchFamily="34" charset="0"/>
              </a:rPr>
              <a:t>metodología</a:t>
            </a:r>
            <a:r>
              <a:rPr lang="es-ES" sz="2400" b="0" i="0" dirty="0">
                <a:solidFill>
                  <a:srgbClr val="202124"/>
                </a:solidFill>
                <a:effectLst/>
                <a:latin typeface="arial" panose="020B0604020202020204" pitchFamily="34" charset="0"/>
              </a:rPr>
              <a:t> basada en Manufactura Esbelta (Lean </a:t>
            </a:r>
            <a:r>
              <a:rPr lang="es-ES" sz="2400" b="0" i="0" dirty="0" err="1">
                <a:solidFill>
                  <a:srgbClr val="202124"/>
                </a:solidFill>
                <a:effectLst/>
                <a:latin typeface="arial" panose="020B0604020202020204" pitchFamily="34" charset="0"/>
              </a:rPr>
              <a:t>Manufacturing</a:t>
            </a:r>
            <a:r>
              <a:rPr lang="es-ES" sz="2400" b="0" i="0" dirty="0">
                <a:solidFill>
                  <a:srgbClr val="202124"/>
                </a:solidFill>
                <a:effectLst/>
                <a:latin typeface="arial" panose="020B0604020202020204" pitchFamily="34" charset="0"/>
              </a:rPr>
              <a:t>), cuyo objetivo principal es reducir el </a:t>
            </a:r>
            <a:r>
              <a:rPr lang="es-ES" sz="2400" b="1" i="0" dirty="0">
                <a:solidFill>
                  <a:srgbClr val="202124"/>
                </a:solidFill>
                <a:effectLst/>
                <a:latin typeface="arial" panose="020B0604020202020204" pitchFamily="34" charset="0"/>
              </a:rPr>
              <a:t>desperdicio </a:t>
            </a:r>
            <a:r>
              <a:rPr lang="es-ES" sz="2400" b="0" i="0" dirty="0">
                <a:solidFill>
                  <a:srgbClr val="202124"/>
                </a:solidFill>
                <a:effectLst/>
                <a:latin typeface="arial" panose="020B0604020202020204" pitchFamily="34" charset="0"/>
              </a:rPr>
              <a:t>(Muda) y aplicar el </a:t>
            </a:r>
            <a:r>
              <a:rPr lang="es-ES" sz="2400" b="1" i="0" dirty="0">
                <a:solidFill>
                  <a:srgbClr val="202124"/>
                </a:solidFill>
                <a:effectLst/>
                <a:latin typeface="arial" panose="020B0604020202020204" pitchFamily="34" charset="0"/>
              </a:rPr>
              <a:t>Justo a Tiempo </a:t>
            </a:r>
            <a:r>
              <a:rPr lang="es-ES" sz="2400" b="0" i="0" dirty="0">
                <a:solidFill>
                  <a:srgbClr val="202124"/>
                </a:solidFill>
                <a:effectLst/>
                <a:latin typeface="arial" panose="020B0604020202020204" pitchFamily="34" charset="0"/>
              </a:rPr>
              <a:t>(Just in Time) en el proceso de producción. Un buen ejemplo es el caso </a:t>
            </a:r>
            <a:r>
              <a:rPr lang="es-ES" sz="2400" b="1" i="0" dirty="0">
                <a:solidFill>
                  <a:srgbClr val="202124"/>
                </a:solidFill>
                <a:effectLst/>
                <a:latin typeface="arial" panose="020B0604020202020204" pitchFamily="34" charset="0"/>
              </a:rPr>
              <a:t>Toyota</a:t>
            </a:r>
            <a:r>
              <a:rPr lang="es-ES" sz="2400" b="0" i="0" dirty="0">
                <a:solidFill>
                  <a:srgbClr val="202124"/>
                </a:solidFill>
                <a:effectLst/>
                <a:latin typeface="arial" panose="020B0604020202020204" pitchFamily="34" charset="0"/>
              </a:rPr>
              <a:t>: </a:t>
            </a:r>
          </a:p>
          <a:p>
            <a:pPr marL="0" indent="0" algn="l">
              <a:buNone/>
            </a:pPr>
            <a:r>
              <a:rPr lang="es-ES" sz="2400" b="0" i="0" dirty="0">
                <a:solidFill>
                  <a:srgbClr val="202124"/>
                </a:solidFill>
                <a:effectLst/>
                <a:latin typeface="arial" panose="020B0604020202020204" pitchFamily="34" charset="0"/>
              </a:rPr>
              <a:t>Recibe los materiales y monta los coches para sacarlos de la línea de producción en un solo día. Así, reduce los costes de gestión, los de revisión de inventarios y las posibles pérdidas que se puedan producir en los almacenes.</a:t>
            </a:r>
            <a:endParaRPr lang="es-ES" sz="2400" dirty="0"/>
          </a:p>
        </p:txBody>
      </p:sp>
      <p:pic>
        <p:nvPicPr>
          <p:cNvPr id="2052" name="Picture 4" descr="Toyota Logo - LOGOS de MARCAS">
            <a:extLst>
              <a:ext uri="{FF2B5EF4-FFF2-40B4-BE49-F238E27FC236}">
                <a16:creationId xmlns:a16="http://schemas.microsoft.com/office/drawing/2014/main" id="{C2698257-604A-4461-BD2F-F5D93CADF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4846" y="5762730"/>
            <a:ext cx="3091991" cy="173151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316EAB19-AEFD-4297-B719-E5CE3F017FB3}"/>
              </a:ext>
            </a:extLst>
          </p:cNvPr>
          <p:cNvPicPr>
            <a:picLocks noChangeAspect="1"/>
          </p:cNvPicPr>
          <p:nvPr/>
        </p:nvPicPr>
        <p:blipFill>
          <a:blip r:embed="rId3"/>
          <a:stretch>
            <a:fillRect/>
          </a:stretch>
        </p:blipFill>
        <p:spPr>
          <a:xfrm>
            <a:off x="11031872" y="6034969"/>
            <a:ext cx="1353429" cy="823031"/>
          </a:xfrm>
          <a:prstGeom prst="rect">
            <a:avLst/>
          </a:prstGeom>
        </p:spPr>
      </p:pic>
    </p:spTree>
    <p:extLst>
      <p:ext uri="{BB962C8B-B14F-4D97-AF65-F5344CB8AC3E}">
        <p14:creationId xmlns:p14="http://schemas.microsoft.com/office/powerpoint/2010/main" val="3246778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97F23-6E51-C721-8A10-216C086B69B9}"/>
              </a:ext>
            </a:extLst>
          </p:cNvPr>
          <p:cNvSpPr>
            <a:spLocks noGrp="1"/>
          </p:cNvSpPr>
          <p:nvPr>
            <p:ph type="title"/>
          </p:nvPr>
        </p:nvSpPr>
        <p:spPr/>
        <p:txBody>
          <a:bodyPr>
            <a:normAutofit/>
          </a:bodyPr>
          <a:lstStyle/>
          <a:p>
            <a:r>
              <a:rPr lang="es-ES" sz="4400" b="1" i="0" u="none" strike="noStrike" baseline="0">
                <a:latin typeface="Raleway-Medium"/>
              </a:rPr>
              <a:t>Ciclo de Deming</a:t>
            </a:r>
            <a:endParaRPr lang="es-ES"/>
          </a:p>
        </p:txBody>
      </p:sp>
      <p:sp>
        <p:nvSpPr>
          <p:cNvPr id="3" name="Marcador de contenido 2">
            <a:extLst>
              <a:ext uri="{FF2B5EF4-FFF2-40B4-BE49-F238E27FC236}">
                <a16:creationId xmlns:a16="http://schemas.microsoft.com/office/drawing/2014/main" id="{A21211E9-F806-4D09-BD23-966C99DF7476}"/>
              </a:ext>
            </a:extLst>
          </p:cNvPr>
          <p:cNvSpPr>
            <a:spLocks noGrp="1"/>
          </p:cNvSpPr>
          <p:nvPr>
            <p:ph type="body" sz="quarter" idx="13"/>
          </p:nvPr>
        </p:nvSpPr>
        <p:spPr/>
        <p:txBody>
          <a:bodyPr>
            <a:normAutofit/>
          </a:bodyPr>
          <a:lstStyle/>
          <a:p>
            <a:pPr marL="0" indent="0" algn="l">
              <a:buNone/>
            </a:pPr>
            <a:r>
              <a:rPr lang="es-ES" sz="1600" b="0" i="0">
                <a:solidFill>
                  <a:srgbClr val="202124"/>
                </a:solidFill>
                <a:effectLst/>
                <a:latin typeface="arial" panose="020B0604020202020204" pitchFamily="34" charset="0"/>
              </a:rPr>
              <a:t>El </a:t>
            </a:r>
            <a:r>
              <a:rPr lang="es-ES" sz="1600" b="1" i="0" dirty="0">
                <a:solidFill>
                  <a:srgbClr val="202124"/>
                </a:solidFill>
                <a:effectLst/>
                <a:latin typeface="arial" panose="020B0604020202020204" pitchFamily="34" charset="0"/>
              </a:rPr>
              <a:t>ciclo de Deming</a:t>
            </a:r>
            <a:r>
              <a:rPr lang="es-ES" sz="1600" b="0" i="0" dirty="0">
                <a:solidFill>
                  <a:srgbClr val="202124"/>
                </a:solidFill>
                <a:effectLst/>
                <a:latin typeface="arial" panose="020B0604020202020204" pitchFamily="34" charset="0"/>
              </a:rPr>
              <a:t> es un sistema </a:t>
            </a:r>
            <a:r>
              <a:rPr lang="es-ES" sz="1600" b="1" i="0" dirty="0">
                <a:solidFill>
                  <a:srgbClr val="202124"/>
                </a:solidFill>
                <a:effectLst/>
                <a:latin typeface="arial" panose="020B0604020202020204" pitchFamily="34" charset="0"/>
              </a:rPr>
              <a:t>que</a:t>
            </a:r>
            <a:r>
              <a:rPr lang="es-ES" sz="1600" b="0" i="0" dirty="0">
                <a:solidFill>
                  <a:srgbClr val="202124"/>
                </a:solidFill>
                <a:effectLst/>
                <a:latin typeface="arial" panose="020B0604020202020204" pitchFamily="34" charset="0"/>
              </a:rPr>
              <a:t> busca la optimización constante de las actividades empresariales a través de cuatro etapas. Una vez </a:t>
            </a:r>
            <a:r>
              <a:rPr lang="es-ES" sz="1600" b="1" i="0" dirty="0">
                <a:solidFill>
                  <a:srgbClr val="202124"/>
                </a:solidFill>
                <a:effectLst/>
                <a:latin typeface="arial" panose="020B0604020202020204" pitchFamily="34" charset="0"/>
              </a:rPr>
              <a:t>que</a:t>
            </a:r>
            <a:r>
              <a:rPr lang="es-ES" sz="1600" b="0" i="0" dirty="0">
                <a:solidFill>
                  <a:srgbClr val="202124"/>
                </a:solidFill>
                <a:effectLst/>
                <a:latin typeface="arial" panose="020B0604020202020204" pitchFamily="34" charset="0"/>
              </a:rPr>
              <a:t> se llega a la última etapa, la empresa debe volver a comenzar, promoviendo así una autoevaluación continua </a:t>
            </a:r>
            <a:r>
              <a:rPr lang="es-ES" sz="1600" b="1" i="0" dirty="0">
                <a:solidFill>
                  <a:srgbClr val="202124"/>
                </a:solidFill>
                <a:effectLst/>
                <a:latin typeface="arial" panose="020B0604020202020204" pitchFamily="34" charset="0"/>
              </a:rPr>
              <a:t>que</a:t>
            </a:r>
            <a:r>
              <a:rPr lang="es-ES" sz="1600" b="0" i="0" dirty="0">
                <a:solidFill>
                  <a:srgbClr val="202124"/>
                </a:solidFill>
                <a:effectLst/>
                <a:latin typeface="arial" panose="020B0604020202020204" pitchFamily="34" charset="0"/>
              </a:rPr>
              <a:t> le permita identificar oportunidades de mejora en cada proceso.</a:t>
            </a:r>
            <a:endParaRPr lang="es-ES" sz="3600" dirty="0"/>
          </a:p>
        </p:txBody>
      </p:sp>
      <p:pic>
        <p:nvPicPr>
          <p:cNvPr id="14338" name="Picture 2" descr="El Ciclo de Deming: La gestión y mejora de procesos | Control de inventarios">
            <a:extLst>
              <a:ext uri="{FF2B5EF4-FFF2-40B4-BE49-F238E27FC236}">
                <a16:creationId xmlns:a16="http://schemas.microsoft.com/office/drawing/2014/main" id="{0416A334-C822-4F2A-A0E0-47BC76887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6542" y="1544128"/>
            <a:ext cx="6753087" cy="508763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C0DE64B1-D19F-4832-A727-FC9E9349B821}"/>
              </a:ext>
            </a:extLst>
          </p:cNvPr>
          <p:cNvPicPr>
            <a:picLocks noChangeAspect="1"/>
          </p:cNvPicPr>
          <p:nvPr/>
        </p:nvPicPr>
        <p:blipFill>
          <a:blip r:embed="rId3"/>
          <a:stretch>
            <a:fillRect/>
          </a:stretch>
        </p:blipFill>
        <p:spPr>
          <a:xfrm>
            <a:off x="10964764" y="5954840"/>
            <a:ext cx="1353429" cy="823031"/>
          </a:xfrm>
          <a:prstGeom prst="rect">
            <a:avLst/>
          </a:prstGeom>
        </p:spPr>
      </p:pic>
    </p:spTree>
    <p:extLst>
      <p:ext uri="{BB962C8B-B14F-4D97-AF65-F5344CB8AC3E}">
        <p14:creationId xmlns:p14="http://schemas.microsoft.com/office/powerpoint/2010/main" val="1419191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FCDD9-6491-4B96-909D-197E0509F23E}"/>
              </a:ext>
            </a:extLst>
          </p:cNvPr>
          <p:cNvSpPr>
            <a:spLocks noGrp="1"/>
          </p:cNvSpPr>
          <p:nvPr>
            <p:ph type="title"/>
          </p:nvPr>
        </p:nvSpPr>
        <p:spPr/>
        <p:txBody>
          <a:bodyPr>
            <a:normAutofit/>
          </a:bodyPr>
          <a:lstStyle/>
          <a:p>
            <a:r>
              <a:rPr lang="es-ES" dirty="0"/>
              <a:t>El triangulo de hierro</a:t>
            </a:r>
          </a:p>
        </p:txBody>
      </p:sp>
      <p:sp>
        <p:nvSpPr>
          <p:cNvPr id="3" name="Marcador de contenido 2">
            <a:extLst>
              <a:ext uri="{FF2B5EF4-FFF2-40B4-BE49-F238E27FC236}">
                <a16:creationId xmlns:a16="http://schemas.microsoft.com/office/drawing/2014/main" id="{91AE389C-91D8-4DA9-8CFD-22A231761647}"/>
              </a:ext>
            </a:extLst>
          </p:cNvPr>
          <p:cNvSpPr>
            <a:spLocks noGrp="1"/>
          </p:cNvSpPr>
          <p:nvPr>
            <p:ph type="body" sz="quarter" idx="13"/>
          </p:nvPr>
        </p:nvSpPr>
        <p:spPr/>
        <p:txBody>
          <a:bodyPr/>
          <a:lstStyle/>
          <a:p>
            <a:pPr algn="l"/>
            <a:r>
              <a:rPr lang="es-ES" sz="1800" b="0" i="0" u="none" strike="noStrike" baseline="0" dirty="0">
                <a:solidFill>
                  <a:srgbClr val="666767"/>
                </a:solidFill>
                <a:latin typeface="Raleway-Light"/>
              </a:rPr>
              <a:t>Tiempo que vamos a tardar en realizar el proyecto, Alcance como el conjunto de requerimientos a cubrir y el Coste como el dinero que deberemos invertir. Está directamente relacionado con las personas y recursos materiales que participen en El proyecto.</a:t>
            </a:r>
            <a:endParaRPr lang="es-ES" dirty="0"/>
          </a:p>
        </p:txBody>
      </p:sp>
      <p:sp>
        <p:nvSpPr>
          <p:cNvPr id="6" name="Triángulo isósceles 5">
            <a:extLst>
              <a:ext uri="{FF2B5EF4-FFF2-40B4-BE49-F238E27FC236}">
                <a16:creationId xmlns:a16="http://schemas.microsoft.com/office/drawing/2014/main" id="{3465AD6E-BFD9-4008-B3F1-9A41E5DB2A74}"/>
              </a:ext>
            </a:extLst>
          </p:cNvPr>
          <p:cNvSpPr/>
          <p:nvPr/>
        </p:nvSpPr>
        <p:spPr>
          <a:xfrm>
            <a:off x="3812876" y="2958456"/>
            <a:ext cx="3588588" cy="333842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Calidad </a:t>
            </a:r>
          </a:p>
        </p:txBody>
      </p:sp>
      <p:sp>
        <p:nvSpPr>
          <p:cNvPr id="7" name="CuadroTexto 6">
            <a:extLst>
              <a:ext uri="{FF2B5EF4-FFF2-40B4-BE49-F238E27FC236}">
                <a16:creationId xmlns:a16="http://schemas.microsoft.com/office/drawing/2014/main" id="{8A4C28B0-9A0F-4EDE-ADD9-EB4FC68B558F}"/>
              </a:ext>
            </a:extLst>
          </p:cNvPr>
          <p:cNvSpPr txBox="1"/>
          <p:nvPr/>
        </p:nvSpPr>
        <p:spPr>
          <a:xfrm>
            <a:off x="5183891" y="2589124"/>
            <a:ext cx="912109" cy="369332"/>
          </a:xfrm>
          <a:prstGeom prst="rect">
            <a:avLst/>
          </a:prstGeom>
          <a:noFill/>
        </p:spPr>
        <p:txBody>
          <a:bodyPr wrap="none" rtlCol="0">
            <a:spAutoFit/>
          </a:bodyPr>
          <a:lstStyle/>
          <a:p>
            <a:r>
              <a:rPr lang="es-ES" dirty="0"/>
              <a:t>Alcance</a:t>
            </a:r>
          </a:p>
        </p:txBody>
      </p:sp>
      <p:sp>
        <p:nvSpPr>
          <p:cNvPr id="8" name="CuadroTexto 7">
            <a:extLst>
              <a:ext uri="{FF2B5EF4-FFF2-40B4-BE49-F238E27FC236}">
                <a16:creationId xmlns:a16="http://schemas.microsoft.com/office/drawing/2014/main" id="{B70396CF-3E90-4A1B-97A4-2C331155281F}"/>
              </a:ext>
            </a:extLst>
          </p:cNvPr>
          <p:cNvSpPr txBox="1"/>
          <p:nvPr/>
        </p:nvSpPr>
        <p:spPr>
          <a:xfrm>
            <a:off x="2251494" y="6029864"/>
            <a:ext cx="706988" cy="369332"/>
          </a:xfrm>
          <a:prstGeom prst="rect">
            <a:avLst/>
          </a:prstGeom>
          <a:noFill/>
        </p:spPr>
        <p:txBody>
          <a:bodyPr wrap="none" rtlCol="0">
            <a:spAutoFit/>
          </a:bodyPr>
          <a:lstStyle/>
          <a:p>
            <a:r>
              <a:rPr lang="es-ES" dirty="0"/>
              <a:t>Coste</a:t>
            </a:r>
          </a:p>
        </p:txBody>
      </p:sp>
      <p:sp>
        <p:nvSpPr>
          <p:cNvPr id="9" name="CuadroTexto 8">
            <a:extLst>
              <a:ext uri="{FF2B5EF4-FFF2-40B4-BE49-F238E27FC236}">
                <a16:creationId xmlns:a16="http://schemas.microsoft.com/office/drawing/2014/main" id="{62A21958-81BB-4BA8-ACC9-F6B7A463174F}"/>
              </a:ext>
            </a:extLst>
          </p:cNvPr>
          <p:cNvSpPr txBox="1"/>
          <p:nvPr/>
        </p:nvSpPr>
        <p:spPr>
          <a:xfrm>
            <a:off x="7591245" y="6012611"/>
            <a:ext cx="893193" cy="369332"/>
          </a:xfrm>
          <a:prstGeom prst="rect">
            <a:avLst/>
          </a:prstGeom>
          <a:noFill/>
        </p:spPr>
        <p:txBody>
          <a:bodyPr wrap="none" rtlCol="0">
            <a:spAutoFit/>
          </a:bodyPr>
          <a:lstStyle/>
          <a:p>
            <a:r>
              <a:rPr lang="es-ES" dirty="0"/>
              <a:t>Tiempo</a:t>
            </a:r>
          </a:p>
        </p:txBody>
      </p:sp>
      <p:sp>
        <p:nvSpPr>
          <p:cNvPr id="10" name="Marcador de contenido 2">
            <a:extLst>
              <a:ext uri="{FF2B5EF4-FFF2-40B4-BE49-F238E27FC236}">
                <a16:creationId xmlns:a16="http://schemas.microsoft.com/office/drawing/2014/main" id="{9571FC26-F8D4-46F5-AB1C-509AD6676114}"/>
              </a:ext>
            </a:extLst>
          </p:cNvPr>
          <p:cNvSpPr txBox="1">
            <a:spLocks/>
          </p:cNvSpPr>
          <p:nvPr/>
        </p:nvSpPr>
        <p:spPr>
          <a:xfrm>
            <a:off x="230464" y="2451124"/>
            <a:ext cx="2845280" cy="333842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400"/>
              <a:t>Coste: número de personas que intervienen en cada sprint.</a:t>
            </a:r>
          </a:p>
          <a:p>
            <a:r>
              <a:rPr lang="es-ES" sz="2400"/>
              <a:t>Alcance: número de requisitos.</a:t>
            </a:r>
          </a:p>
          <a:p>
            <a:r>
              <a:rPr lang="es-ES" sz="2400"/>
              <a:t>Tiempo: entre 1 semana y 4.</a:t>
            </a:r>
          </a:p>
          <a:p>
            <a:r>
              <a:rPr lang="es-ES" sz="2400"/>
              <a:t>Calidad; es el centro de todo</a:t>
            </a:r>
          </a:p>
          <a:p>
            <a:endParaRPr lang="es-ES" sz="2400"/>
          </a:p>
          <a:p>
            <a:endParaRPr lang="es-ES" sz="2400" dirty="0"/>
          </a:p>
        </p:txBody>
      </p:sp>
      <p:pic>
        <p:nvPicPr>
          <p:cNvPr id="11" name="Imagen 10">
            <a:extLst>
              <a:ext uri="{FF2B5EF4-FFF2-40B4-BE49-F238E27FC236}">
                <a16:creationId xmlns:a16="http://schemas.microsoft.com/office/drawing/2014/main" id="{83971521-D1F8-4582-9E6A-69593F6A7EAF}"/>
              </a:ext>
            </a:extLst>
          </p:cNvPr>
          <p:cNvPicPr>
            <a:picLocks noChangeAspect="1"/>
          </p:cNvPicPr>
          <p:nvPr/>
        </p:nvPicPr>
        <p:blipFill>
          <a:blip r:embed="rId2"/>
          <a:stretch>
            <a:fillRect/>
          </a:stretch>
        </p:blipFill>
        <p:spPr>
          <a:xfrm>
            <a:off x="10999270" y="-75085"/>
            <a:ext cx="1353429" cy="823031"/>
          </a:xfrm>
          <a:prstGeom prst="rect">
            <a:avLst/>
          </a:prstGeom>
        </p:spPr>
      </p:pic>
    </p:spTree>
    <p:extLst>
      <p:ext uri="{BB962C8B-B14F-4D97-AF65-F5344CB8AC3E}">
        <p14:creationId xmlns:p14="http://schemas.microsoft.com/office/powerpoint/2010/main" val="2552665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63B679-DE92-4EF6-818A-57931B89166E}"/>
              </a:ext>
            </a:extLst>
          </p:cNvPr>
          <p:cNvSpPr>
            <a:spLocks noGrp="1"/>
          </p:cNvSpPr>
          <p:nvPr>
            <p:ph type="title"/>
          </p:nvPr>
        </p:nvSpPr>
        <p:spPr/>
        <p:txBody>
          <a:bodyPr/>
          <a:lstStyle/>
          <a:p>
            <a:r>
              <a:rPr lang="es-ES" dirty="0"/>
              <a:t>Cono de incertidumbre</a:t>
            </a:r>
          </a:p>
        </p:txBody>
      </p:sp>
      <p:sp>
        <p:nvSpPr>
          <p:cNvPr id="3" name="Marcador de contenido 2">
            <a:extLst>
              <a:ext uri="{FF2B5EF4-FFF2-40B4-BE49-F238E27FC236}">
                <a16:creationId xmlns:a16="http://schemas.microsoft.com/office/drawing/2014/main" id="{78E81D8D-AED4-4DF6-ABD5-776714774EC6}"/>
              </a:ext>
            </a:extLst>
          </p:cNvPr>
          <p:cNvSpPr>
            <a:spLocks noGrp="1"/>
          </p:cNvSpPr>
          <p:nvPr>
            <p:ph type="body" sz="quarter" idx="13"/>
          </p:nvPr>
        </p:nvSpPr>
        <p:spPr/>
        <p:txBody>
          <a:bodyPr/>
          <a:lstStyle/>
          <a:p>
            <a:pPr marL="0" indent="0" algn="l">
              <a:buNone/>
            </a:pPr>
            <a:r>
              <a:rPr lang="es-ES" sz="1800" b="0" i="0" u="none" strike="noStrike" baseline="0" dirty="0">
                <a:solidFill>
                  <a:srgbClr val="666767"/>
                </a:solidFill>
                <a:latin typeface="Raleway-Light"/>
              </a:rPr>
              <a:t>Nos dice que al inicio de un proyecto tenemos mayor probabilidad de confundirnos en nuestras estimaciones ya que es la fase inicial cuando menos información y conocimiento tenemos sobre la resolución del problema.</a:t>
            </a:r>
            <a:endParaRPr lang="es-ES" dirty="0"/>
          </a:p>
        </p:txBody>
      </p:sp>
      <p:pic>
        <p:nvPicPr>
          <p:cNvPr id="3074" name="Picture 2" descr="Planeación, Cono de Incertidumbre y Estimaciones en IT - internet80">
            <a:extLst>
              <a:ext uri="{FF2B5EF4-FFF2-40B4-BE49-F238E27FC236}">
                <a16:creationId xmlns:a16="http://schemas.microsoft.com/office/drawing/2014/main" id="{32325EFD-DDC7-41B2-974F-E6808F196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612" y="1902865"/>
            <a:ext cx="8229601" cy="495513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07233893-3F13-43ED-BF8F-B7CA21FFEAD9}"/>
              </a:ext>
            </a:extLst>
          </p:cNvPr>
          <p:cNvSpPr txBox="1"/>
          <p:nvPr/>
        </p:nvSpPr>
        <p:spPr>
          <a:xfrm>
            <a:off x="1388852" y="1804525"/>
            <a:ext cx="1932901" cy="36933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s-ES" dirty="0"/>
              <a:t>Coste del proyecto</a:t>
            </a:r>
          </a:p>
        </p:txBody>
      </p:sp>
      <p:sp>
        <p:nvSpPr>
          <p:cNvPr id="6" name="CuadroTexto 5">
            <a:extLst>
              <a:ext uri="{FF2B5EF4-FFF2-40B4-BE49-F238E27FC236}">
                <a16:creationId xmlns:a16="http://schemas.microsoft.com/office/drawing/2014/main" id="{9C0A2E24-BC41-4B30-886A-CEB38732DE11}"/>
              </a:ext>
            </a:extLst>
          </p:cNvPr>
          <p:cNvSpPr txBox="1"/>
          <p:nvPr/>
        </p:nvSpPr>
        <p:spPr>
          <a:xfrm>
            <a:off x="8338430" y="1721169"/>
            <a:ext cx="2591672" cy="369332"/>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s-ES" dirty="0"/>
              <a:t>Planificación del proyecto</a:t>
            </a:r>
          </a:p>
        </p:txBody>
      </p:sp>
      <p:pic>
        <p:nvPicPr>
          <p:cNvPr id="7" name="Imagen 6">
            <a:extLst>
              <a:ext uri="{FF2B5EF4-FFF2-40B4-BE49-F238E27FC236}">
                <a16:creationId xmlns:a16="http://schemas.microsoft.com/office/drawing/2014/main" id="{D36DC315-C51F-4836-ADA5-78DE82A0F479}"/>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3365648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E2EA87-0158-C5DA-E862-97DEFC4780FC}"/>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CB7AAA50-C189-5DEB-874F-4962317FCDFB}"/>
              </a:ext>
            </a:extLst>
          </p:cNvPr>
          <p:cNvSpPr>
            <a:spLocks noGrp="1"/>
          </p:cNvSpPr>
          <p:nvPr>
            <p:ph type="body" sz="quarter" idx="13"/>
          </p:nvPr>
        </p:nvSpPr>
        <p:spPr/>
        <p:txBody>
          <a:bodyPr/>
          <a:lstStyle/>
          <a:p>
            <a:endParaRPr lang="es-ES"/>
          </a:p>
        </p:txBody>
      </p:sp>
      <p:pic>
        <p:nvPicPr>
          <p:cNvPr id="5" name="Marcador de contenido 4">
            <a:extLst>
              <a:ext uri="{FF2B5EF4-FFF2-40B4-BE49-F238E27FC236}">
                <a16:creationId xmlns:a16="http://schemas.microsoft.com/office/drawing/2014/main" id="{DC7CA1A5-7424-425F-8473-B1878B275181}"/>
              </a:ext>
            </a:extLst>
          </p:cNvPr>
          <p:cNvPicPr>
            <a:picLocks noGrp="1" noChangeAspect="1"/>
          </p:cNvPicPr>
          <p:nvPr>
            <p:ph idx="4294967295"/>
          </p:nvPr>
        </p:nvPicPr>
        <p:blipFill>
          <a:blip r:embed="rId2"/>
          <a:stretch>
            <a:fillRect/>
          </a:stretch>
        </p:blipFill>
        <p:spPr>
          <a:xfrm>
            <a:off x="0" y="92075"/>
            <a:ext cx="8566150" cy="6765925"/>
          </a:xfrm>
        </p:spPr>
      </p:pic>
      <p:pic>
        <p:nvPicPr>
          <p:cNvPr id="4" name="Imagen 3">
            <a:extLst>
              <a:ext uri="{FF2B5EF4-FFF2-40B4-BE49-F238E27FC236}">
                <a16:creationId xmlns:a16="http://schemas.microsoft.com/office/drawing/2014/main" id="{CE9B4E7D-D11D-48E4-A48F-A0B851051064}"/>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1540022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1CB0A-ADEB-1A49-1BF7-5B3699958DAD}"/>
              </a:ext>
            </a:extLst>
          </p:cNvPr>
          <p:cNvSpPr>
            <a:spLocks noGrp="1"/>
          </p:cNvSpPr>
          <p:nvPr>
            <p:ph type="title"/>
          </p:nvPr>
        </p:nvSpPr>
        <p:spPr/>
        <p:txBody>
          <a:bodyPr>
            <a:noAutofit/>
          </a:bodyPr>
          <a:lstStyle/>
          <a:p>
            <a:r>
              <a:rPr lang="es-ES" sz="2800" b="1">
                <a:latin typeface="Verdana" panose="020B0604030504040204" pitchFamily="34" charset="0"/>
                <a:ea typeface="Verdana" panose="020B0604030504040204" pitchFamily="34" charset="0"/>
              </a:rPr>
              <a:t>1.4. SCRUM como proceso iteractivo e incremental</a:t>
            </a:r>
            <a:endParaRPr lang="es-ES" sz="2800"/>
          </a:p>
        </p:txBody>
      </p:sp>
      <p:sp>
        <p:nvSpPr>
          <p:cNvPr id="3" name="Marcador de contenido 2">
            <a:extLst>
              <a:ext uri="{FF2B5EF4-FFF2-40B4-BE49-F238E27FC236}">
                <a16:creationId xmlns:a16="http://schemas.microsoft.com/office/drawing/2014/main" id="{FB55EB5F-F57F-4D80-8980-47A148FEDF6A}"/>
              </a:ext>
            </a:extLst>
          </p:cNvPr>
          <p:cNvSpPr>
            <a:spLocks noGrp="1"/>
          </p:cNvSpPr>
          <p:nvPr>
            <p:ph type="body" sz="quarter" idx="13"/>
          </p:nvPr>
        </p:nvSpPr>
        <p:spPr>
          <a:xfrm>
            <a:off x="6099175" y="1001263"/>
            <a:ext cx="5516563" cy="4807306"/>
          </a:xfrm>
        </p:spPr>
        <p:txBody>
          <a:bodyPr>
            <a:normAutofit/>
          </a:bodyPr>
          <a:lstStyle/>
          <a:p>
            <a:pPr marL="0" indent="0" algn="l">
              <a:lnSpc>
                <a:spcPct val="120000"/>
              </a:lnSpc>
              <a:buNone/>
            </a:pPr>
            <a:r>
              <a:rPr lang="es-ES" sz="2000" b="1">
                <a:solidFill>
                  <a:srgbClr val="666767"/>
                </a:solidFill>
                <a:latin typeface="Verdana" panose="020B0604030504040204" pitchFamily="34" charset="0"/>
                <a:ea typeface="Verdana" panose="020B0604030504040204" pitchFamily="34" charset="0"/>
              </a:rPr>
              <a:t>2</a:t>
            </a:r>
            <a:r>
              <a:rPr lang="es-ES" sz="2000" b="1" dirty="0">
                <a:solidFill>
                  <a:srgbClr val="666767"/>
                </a:solidFill>
                <a:latin typeface="Verdana" panose="020B0604030504040204" pitchFamily="34" charset="0"/>
                <a:ea typeface="Verdana" panose="020B0604030504040204" pitchFamily="34" charset="0"/>
              </a:rPr>
              <a:t>. El concepto incremental</a:t>
            </a:r>
          </a:p>
          <a:p>
            <a:pPr marL="0" indent="0" algn="l">
              <a:lnSpc>
                <a:spcPct val="120000"/>
              </a:lnSpc>
              <a:buNone/>
            </a:pPr>
            <a:r>
              <a:rPr lang="es-ES" sz="1600" b="0" i="0" u="none" strike="noStrike" baseline="0" dirty="0">
                <a:solidFill>
                  <a:srgbClr val="666767"/>
                </a:solidFill>
                <a:latin typeface="Verdana" panose="020B0604030504040204" pitchFamily="34" charset="0"/>
                <a:ea typeface="Verdana" panose="020B0604030504040204" pitchFamily="34" charset="0"/>
              </a:rPr>
              <a:t>Por eso debemos añadirle el concepto de incremental. Si, por el contrario, optamos por una aproximación iterativa e incremental trataremos de aportar valor en cada una de las diferentes fases del proyecto.</a:t>
            </a:r>
            <a:endParaRPr lang="es-ES" sz="1600" dirty="0">
              <a:solidFill>
                <a:srgbClr val="666767"/>
              </a:solidFill>
              <a:latin typeface="Verdana" panose="020B0604030504040204" pitchFamily="34" charset="0"/>
              <a:ea typeface="Verdana" panose="020B0604030504040204" pitchFamily="34" charset="0"/>
            </a:endParaRPr>
          </a:p>
          <a:p>
            <a:pPr marL="0" indent="0" algn="l">
              <a:lnSpc>
                <a:spcPct val="120000"/>
              </a:lnSpc>
              <a:buNone/>
            </a:pPr>
            <a:r>
              <a:rPr lang="es-ES" sz="1600" dirty="0">
                <a:solidFill>
                  <a:srgbClr val="666767"/>
                </a:solidFill>
                <a:latin typeface="Verdana" panose="020B0604030504040204" pitchFamily="34" charset="0"/>
                <a:ea typeface="Verdana" panose="020B0604030504040204" pitchFamily="34" charset="0"/>
              </a:rPr>
              <a:t>Si el cliente quiere un vehículo para desplazarse, primero le creamos un monopatín y vamos avanzado hasta llegar al producto final que es un automóvil. Desde el principio, el cliente puede desplazarse aunque el resultado Final es un coche.</a:t>
            </a:r>
          </a:p>
        </p:txBody>
      </p:sp>
      <p:pic>
        <p:nvPicPr>
          <p:cNvPr id="7" name="Imagen 6">
            <a:extLst>
              <a:ext uri="{FF2B5EF4-FFF2-40B4-BE49-F238E27FC236}">
                <a16:creationId xmlns:a16="http://schemas.microsoft.com/office/drawing/2014/main" id="{8D5B3765-2D06-453C-A288-D2E0EF8D8351}"/>
              </a:ext>
            </a:extLst>
          </p:cNvPr>
          <p:cNvPicPr>
            <a:picLocks noChangeAspect="1"/>
          </p:cNvPicPr>
          <p:nvPr/>
        </p:nvPicPr>
        <p:blipFill>
          <a:blip r:embed="rId2"/>
          <a:stretch>
            <a:fillRect/>
          </a:stretch>
        </p:blipFill>
        <p:spPr>
          <a:xfrm>
            <a:off x="11398116" y="6316824"/>
            <a:ext cx="889934" cy="541176"/>
          </a:xfrm>
          <a:prstGeom prst="rect">
            <a:avLst/>
          </a:prstGeom>
        </p:spPr>
      </p:pic>
      <p:sp>
        <p:nvSpPr>
          <p:cNvPr id="5" name="CuadroTexto 4">
            <a:extLst>
              <a:ext uri="{FF2B5EF4-FFF2-40B4-BE49-F238E27FC236}">
                <a16:creationId xmlns:a16="http://schemas.microsoft.com/office/drawing/2014/main" id="{0737DF95-EC9B-4B34-63FE-3C83E1F84C8E}"/>
              </a:ext>
            </a:extLst>
          </p:cNvPr>
          <p:cNvSpPr txBox="1"/>
          <p:nvPr/>
        </p:nvSpPr>
        <p:spPr>
          <a:xfrm>
            <a:off x="422032" y="1009650"/>
            <a:ext cx="5100880" cy="5272534"/>
          </a:xfrm>
          <a:prstGeom prst="rect">
            <a:avLst/>
          </a:prstGeom>
          <a:noFill/>
        </p:spPr>
        <p:txBody>
          <a:bodyPr wrap="square">
            <a:spAutoFit/>
          </a:bodyPr>
          <a:lstStyle/>
          <a:p>
            <a:pPr marL="0" indent="0" algn="l">
              <a:lnSpc>
                <a:spcPct val="120000"/>
              </a:lnSpc>
              <a:buNone/>
            </a:pPr>
            <a:r>
              <a:rPr lang="es-ES" sz="2000" b="1" i="0" u="none" strike="noStrike" baseline="0">
                <a:solidFill>
                  <a:srgbClr val="666767"/>
                </a:solidFill>
                <a:latin typeface="Verdana" panose="020B0604030504040204" pitchFamily="34" charset="0"/>
                <a:ea typeface="Verdana" panose="020B0604030504040204" pitchFamily="34" charset="0"/>
              </a:rPr>
              <a:t>1- El concepto de iterativo:</a:t>
            </a:r>
          </a:p>
          <a:p>
            <a:pPr marL="0" indent="0" algn="l">
              <a:lnSpc>
                <a:spcPct val="120000"/>
              </a:lnSpc>
              <a:buNone/>
            </a:pPr>
            <a:endParaRPr lang="es-ES" sz="2000" b="1" i="0" u="none" strike="noStrike" baseline="0">
              <a:solidFill>
                <a:srgbClr val="666767"/>
              </a:solidFill>
              <a:latin typeface="Verdana" panose="020B0604030504040204" pitchFamily="34" charset="0"/>
              <a:ea typeface="Verdana" panose="020B0604030504040204" pitchFamily="34" charset="0"/>
            </a:endParaRPr>
          </a:p>
          <a:p>
            <a:pPr marL="0" indent="0" algn="l">
              <a:lnSpc>
                <a:spcPct val="120000"/>
              </a:lnSpc>
              <a:buNone/>
            </a:pPr>
            <a:r>
              <a:rPr lang="es-ES" sz="1400" b="0" i="0" u="none" strike="noStrike" baseline="0">
                <a:solidFill>
                  <a:srgbClr val="666767"/>
                </a:solidFill>
                <a:latin typeface="Verdana" panose="020B0604030504040204" pitchFamily="34" charset="0"/>
                <a:ea typeface="Verdana" panose="020B0604030504040204" pitchFamily="34" charset="0"/>
              </a:rPr>
              <a:t>Tiene que ver con </a:t>
            </a:r>
            <a:r>
              <a:rPr lang="es-ES" sz="1600" b="1" i="0" u="none" strike="noStrike" baseline="0">
                <a:solidFill>
                  <a:srgbClr val="666767"/>
                </a:solidFill>
                <a:latin typeface="Verdana" panose="020B0604030504040204" pitchFamily="34" charset="0"/>
                <a:ea typeface="Verdana" panose="020B0604030504040204" pitchFamily="34" charset="0"/>
              </a:rPr>
              <a:t>dividir el proyecto en pequeñas fases (o iteraciones) </a:t>
            </a:r>
            <a:r>
              <a:rPr lang="es-ES" sz="1400" b="0" i="0" u="none" strike="noStrike" baseline="0">
                <a:solidFill>
                  <a:srgbClr val="666767"/>
                </a:solidFill>
                <a:latin typeface="Verdana" panose="020B0604030504040204" pitchFamily="34" charset="0"/>
                <a:ea typeface="Verdana" panose="020B0604030504040204" pitchFamily="34" charset="0"/>
              </a:rPr>
              <a:t>con el objetivo de entregar al final de cada iteración un pequeño entregable de nuestro producto que añada (incremente) valor al anterior. Quizás el resultado final de cada iteración no sea el producto tal y como lo quiere nuestro cliente, pero si será algo que le aporte valor y que nos permita al equipo de desarrollo conocer si lo entregado se adapta o no a sus necesidades y cumple con sus expectativas. </a:t>
            </a:r>
          </a:p>
          <a:p>
            <a:pPr marL="0" indent="0" algn="l">
              <a:lnSpc>
                <a:spcPct val="120000"/>
              </a:lnSpc>
              <a:buNone/>
            </a:pPr>
            <a:r>
              <a:rPr lang="es-ES" sz="1400" b="0" i="0" u="none" strike="noStrike" baseline="0">
                <a:solidFill>
                  <a:srgbClr val="666767"/>
                </a:solidFill>
                <a:latin typeface="Verdana" panose="020B0604030504040204" pitchFamily="34" charset="0"/>
                <a:ea typeface="Verdana" panose="020B0604030504040204" pitchFamily="34" charset="0"/>
              </a:rPr>
              <a:t>Por ejemplo si tenemos coche, sería dividirlo en distintas partes, y entregar versiones no definitivas de estas partes, por ejemplo primero las ruedas, luego el chasis, etc hasta llegar a la entrega final del cuadro completo.  Este enfoque por sí solo no nos sirve ya que da por supuesto que sabemos exactamente cómo será el cuadro desde el principio.</a:t>
            </a:r>
            <a:endParaRPr lang="es-ES" sz="1400" b="0" i="0" u="none" strike="noStrike" baseline="0" dirty="0">
              <a:solidFill>
                <a:srgbClr val="666767"/>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86431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4A08E12-DA87-D6C8-7D2C-98AC0BB2B4D1}"/>
              </a:ext>
            </a:extLst>
          </p:cNvPr>
          <p:cNvSpPr>
            <a:spLocks noGrp="1"/>
          </p:cNvSpPr>
          <p:nvPr>
            <p:ph type="title"/>
          </p:nvPr>
        </p:nvSpPr>
        <p:spPr/>
        <p:txBody>
          <a:bodyPr/>
          <a:lstStyle/>
          <a:p>
            <a:endParaRPr lang="es-ES"/>
          </a:p>
        </p:txBody>
      </p:sp>
      <p:sp>
        <p:nvSpPr>
          <p:cNvPr id="6" name="Marcador de texto 5">
            <a:extLst>
              <a:ext uri="{FF2B5EF4-FFF2-40B4-BE49-F238E27FC236}">
                <a16:creationId xmlns:a16="http://schemas.microsoft.com/office/drawing/2014/main" id="{9413497A-E557-1F42-E14D-75589C1B19F5}"/>
              </a:ext>
            </a:extLst>
          </p:cNvPr>
          <p:cNvSpPr>
            <a:spLocks noGrp="1"/>
          </p:cNvSpPr>
          <p:nvPr>
            <p:ph type="body" sz="quarter" idx="13"/>
          </p:nvPr>
        </p:nvSpPr>
        <p:spPr/>
        <p:txBody>
          <a:bodyPr/>
          <a:lstStyle/>
          <a:p>
            <a:endParaRPr lang="es-ES"/>
          </a:p>
        </p:txBody>
      </p:sp>
      <p:pic>
        <p:nvPicPr>
          <p:cNvPr id="15362" name="Picture 2" descr="Iterativo e incremental - YouTube">
            <a:extLst>
              <a:ext uri="{FF2B5EF4-FFF2-40B4-BE49-F238E27FC236}">
                <a16:creationId xmlns:a16="http://schemas.microsoft.com/office/drawing/2014/main" id="{27DDD15C-3E15-4145-AD2B-653DA131C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188D2D8D-50DF-48A1-A023-EFF13540963B}"/>
              </a:ext>
            </a:extLst>
          </p:cNvPr>
          <p:cNvPicPr>
            <a:picLocks noChangeAspect="1"/>
          </p:cNvPicPr>
          <p:nvPr/>
        </p:nvPicPr>
        <p:blipFill>
          <a:blip r:embed="rId3"/>
          <a:stretch>
            <a:fillRect/>
          </a:stretch>
        </p:blipFill>
        <p:spPr>
          <a:xfrm>
            <a:off x="10838571" y="5922827"/>
            <a:ext cx="1353429" cy="823031"/>
          </a:xfrm>
          <a:prstGeom prst="rect">
            <a:avLst/>
          </a:prstGeom>
        </p:spPr>
      </p:pic>
    </p:spTree>
    <p:extLst>
      <p:ext uri="{BB962C8B-B14F-4D97-AF65-F5344CB8AC3E}">
        <p14:creationId xmlns:p14="http://schemas.microsoft.com/office/powerpoint/2010/main" val="3907376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4ACB84ED-C6E8-4C26-BDE1-7B71979314BA}"/>
              </a:ext>
            </a:extLst>
          </p:cNvPr>
          <p:cNvGraphicFramePr/>
          <p:nvPr>
            <p:extLst>
              <p:ext uri="{D42A27DB-BD31-4B8C-83A1-F6EECF244321}">
                <p14:modId xmlns:p14="http://schemas.microsoft.com/office/powerpoint/2010/main" val="3907895056"/>
              </p:ext>
            </p:extLst>
          </p:nvPr>
        </p:nvGraphicFramePr>
        <p:xfrm>
          <a:off x="568044" y="1114425"/>
          <a:ext cx="10912475" cy="462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EA1A87F8-B84A-4E32-9B27-6C36EC96477B}"/>
              </a:ext>
            </a:extLst>
          </p:cNvPr>
          <p:cNvSpPr txBox="1"/>
          <p:nvPr/>
        </p:nvSpPr>
        <p:spPr>
          <a:xfrm>
            <a:off x="4402231" y="119127"/>
            <a:ext cx="3047822" cy="584775"/>
          </a:xfrm>
          <a:prstGeom prst="rect">
            <a:avLst/>
          </a:prstGeom>
          <a:noFill/>
        </p:spPr>
        <p:txBody>
          <a:bodyPr wrap="none" rtlCol="0">
            <a:spAutoFit/>
          </a:bodyPr>
          <a:lstStyle/>
          <a:p>
            <a:r>
              <a:rPr lang="es-ES" sz="3200" dirty="0"/>
              <a:t>FASES DE SCRUM</a:t>
            </a:r>
          </a:p>
        </p:txBody>
      </p:sp>
      <p:sp>
        <p:nvSpPr>
          <p:cNvPr id="7" name="CuadroTexto 6">
            <a:extLst>
              <a:ext uri="{FF2B5EF4-FFF2-40B4-BE49-F238E27FC236}">
                <a16:creationId xmlns:a16="http://schemas.microsoft.com/office/drawing/2014/main" id="{7B9392A0-8555-4D8F-A0A6-3C10697CC322}"/>
              </a:ext>
            </a:extLst>
          </p:cNvPr>
          <p:cNvSpPr txBox="1"/>
          <p:nvPr/>
        </p:nvSpPr>
        <p:spPr>
          <a:xfrm>
            <a:off x="390525" y="6010960"/>
            <a:ext cx="6096000" cy="646331"/>
          </a:xfrm>
          <a:prstGeom prst="rect">
            <a:avLst/>
          </a:prstGeom>
          <a:noFill/>
        </p:spPr>
        <p:txBody>
          <a:bodyPr wrap="square">
            <a:spAutoFit/>
          </a:bodyPr>
          <a:lstStyle/>
          <a:p>
            <a:r>
              <a:rPr lang="es-ES" dirty="0">
                <a:hlinkClick r:id="rId7"/>
              </a:rPr>
              <a:t>▷ Fases de la Metodología Scrum 【5 Etapas y 16 Procesos】 (comparasoftware.com)</a:t>
            </a:r>
            <a:endParaRPr lang="es-ES" dirty="0"/>
          </a:p>
        </p:txBody>
      </p:sp>
      <p:pic>
        <p:nvPicPr>
          <p:cNvPr id="8" name="Imagen 7">
            <a:extLst>
              <a:ext uri="{FF2B5EF4-FFF2-40B4-BE49-F238E27FC236}">
                <a16:creationId xmlns:a16="http://schemas.microsoft.com/office/drawing/2014/main" id="{4EEF7E69-889B-4217-9770-09B5F00DEE31}"/>
              </a:ext>
            </a:extLst>
          </p:cNvPr>
          <p:cNvPicPr>
            <a:picLocks noChangeAspect="1"/>
          </p:cNvPicPr>
          <p:nvPr/>
        </p:nvPicPr>
        <p:blipFill>
          <a:blip r:embed="rId8"/>
          <a:stretch>
            <a:fillRect/>
          </a:stretch>
        </p:blipFill>
        <p:spPr>
          <a:xfrm>
            <a:off x="10901324" y="0"/>
            <a:ext cx="1353429" cy="823031"/>
          </a:xfrm>
          <a:prstGeom prst="rect">
            <a:avLst/>
          </a:prstGeom>
        </p:spPr>
      </p:pic>
      <p:sp>
        <p:nvSpPr>
          <p:cNvPr id="2" name="Título 1">
            <a:extLst>
              <a:ext uri="{FF2B5EF4-FFF2-40B4-BE49-F238E27FC236}">
                <a16:creationId xmlns:a16="http://schemas.microsoft.com/office/drawing/2014/main" id="{290BF530-E77F-E542-A240-F63F4E09794F}"/>
              </a:ext>
            </a:extLst>
          </p:cNvPr>
          <p:cNvSpPr>
            <a:spLocks noGrp="1"/>
          </p:cNvSpPr>
          <p:nvPr>
            <p:ph type="title"/>
          </p:nvPr>
        </p:nvSpPr>
        <p:spPr/>
        <p:txBody>
          <a:bodyPr/>
          <a:lstStyle/>
          <a:p>
            <a:r>
              <a:rPr lang="es-ES"/>
              <a:t>FASES METODOLOGIA SCRUM</a:t>
            </a:r>
          </a:p>
        </p:txBody>
      </p:sp>
    </p:spTree>
    <p:extLst>
      <p:ext uri="{BB962C8B-B14F-4D97-AF65-F5344CB8AC3E}">
        <p14:creationId xmlns:p14="http://schemas.microsoft.com/office/powerpoint/2010/main" val="16621629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FE855-8C67-D815-C2C3-14E35FE529FD}"/>
              </a:ext>
            </a:extLst>
          </p:cNvPr>
          <p:cNvSpPr>
            <a:spLocks noGrp="1"/>
          </p:cNvSpPr>
          <p:nvPr>
            <p:ph type="title"/>
          </p:nvPr>
        </p:nvSpPr>
        <p:spPr/>
        <p:txBody>
          <a:bodyPr>
            <a:normAutofit/>
          </a:bodyPr>
          <a:lstStyle/>
          <a:p>
            <a:r>
              <a:rPr lang="es-ES" sz="4400" b="1"/>
              <a:t>Beneficios de Scrum</a:t>
            </a:r>
            <a:endParaRPr lang="es-ES"/>
          </a:p>
        </p:txBody>
      </p:sp>
      <p:sp>
        <p:nvSpPr>
          <p:cNvPr id="3" name="Marcador de contenido 2">
            <a:extLst>
              <a:ext uri="{FF2B5EF4-FFF2-40B4-BE49-F238E27FC236}">
                <a16:creationId xmlns:a16="http://schemas.microsoft.com/office/drawing/2014/main" id="{1E336EE4-A841-4773-8734-88D139475D1E}"/>
              </a:ext>
            </a:extLst>
          </p:cNvPr>
          <p:cNvSpPr>
            <a:spLocks noGrp="1"/>
          </p:cNvSpPr>
          <p:nvPr>
            <p:ph type="body" sz="quarter" idx="13"/>
          </p:nvPr>
        </p:nvSpPr>
        <p:spPr>
          <a:xfrm>
            <a:off x="85725" y="1009650"/>
            <a:ext cx="5772464" cy="5441392"/>
          </a:xfrm>
          <a:solidFill>
            <a:srgbClr val="002060">
              <a:alpha val="50000"/>
            </a:srgbClr>
          </a:solidFill>
          <a:ln>
            <a:solidFill>
              <a:schemeClr val="accent3">
                <a:lumMod val="50000"/>
              </a:schemeClr>
            </a:solidFill>
          </a:ln>
        </p:spPr>
        <p:style>
          <a:lnRef idx="0">
            <a:scrgbClr r="0" g="0" b="0"/>
          </a:lnRef>
          <a:fillRef idx="0">
            <a:scrgbClr r="0" g="0" b="0"/>
          </a:fillRef>
          <a:effectRef idx="0">
            <a:scrgbClr r="0" g="0" b="0"/>
          </a:effectRef>
          <a:fontRef idx="minor">
            <a:schemeClr val="lt1"/>
          </a:fontRef>
        </p:style>
        <p:txBody>
          <a:bodyPr>
            <a:normAutofit lnSpcReduction="10000"/>
          </a:bodyPr>
          <a:lstStyle/>
          <a:p>
            <a:pPr marL="0" indent="0">
              <a:buNone/>
            </a:pPr>
            <a:endParaRPr lang="es-ES" sz="3600" b="1" dirty="0"/>
          </a:p>
          <a:p>
            <a:pPr marL="514350" indent="-514350" algn="l">
              <a:buFont typeface="+mj-lt"/>
              <a:buAutoNum type="arabicPeriod"/>
            </a:pPr>
            <a:r>
              <a:rPr lang="es-ES" b="0" i="0" dirty="0">
                <a:solidFill>
                  <a:schemeClr val="bg1"/>
                </a:solidFill>
                <a:effectLst/>
                <a:latin typeface="arial" panose="020B0604020202020204" pitchFamily="34" charset="0"/>
              </a:rPr>
              <a:t>Permite dimensionar mejor los proyectos. ...</a:t>
            </a:r>
          </a:p>
          <a:p>
            <a:pPr marL="514350" indent="-514350" algn="l">
              <a:buFont typeface="+mj-lt"/>
              <a:buAutoNum type="arabicPeriod"/>
            </a:pPr>
            <a:r>
              <a:rPr lang="es-ES" b="0" i="0" dirty="0">
                <a:solidFill>
                  <a:schemeClr val="bg1"/>
                </a:solidFill>
                <a:effectLst/>
                <a:latin typeface="arial" panose="020B0604020202020204" pitchFamily="34" charset="0"/>
              </a:rPr>
              <a:t>Fecha de entrega de proyecto realista. ...</a:t>
            </a:r>
          </a:p>
          <a:p>
            <a:pPr marL="514350" indent="-514350" algn="l">
              <a:buFont typeface="+mj-lt"/>
              <a:buAutoNum type="arabicPeriod"/>
            </a:pPr>
            <a:r>
              <a:rPr lang="es-ES" b="0" i="0" dirty="0">
                <a:solidFill>
                  <a:schemeClr val="bg1"/>
                </a:solidFill>
                <a:effectLst/>
                <a:latin typeface="arial" panose="020B0604020202020204" pitchFamily="34" charset="0"/>
              </a:rPr>
              <a:t>Rápido aprendizaje del equipo. ...</a:t>
            </a:r>
          </a:p>
          <a:p>
            <a:pPr marL="514350" indent="-514350" algn="l">
              <a:buFont typeface="+mj-lt"/>
              <a:buAutoNum type="arabicPeriod"/>
            </a:pPr>
            <a:r>
              <a:rPr lang="es-ES" b="0" i="0" dirty="0" err="1">
                <a:solidFill>
                  <a:schemeClr val="bg1"/>
                </a:solidFill>
                <a:effectLst/>
                <a:latin typeface="arial" panose="020B0604020202020204" pitchFamily="34" charset="0"/>
              </a:rPr>
              <a:t>Feedbacks</a:t>
            </a:r>
            <a:r>
              <a:rPr lang="es-ES" b="0" i="0" dirty="0">
                <a:solidFill>
                  <a:schemeClr val="bg1"/>
                </a:solidFill>
                <a:effectLst/>
                <a:latin typeface="arial" panose="020B0604020202020204" pitchFamily="34" charset="0"/>
              </a:rPr>
              <a:t> rápidos y precisos. ...</a:t>
            </a:r>
          </a:p>
          <a:p>
            <a:pPr marL="514350" indent="-514350" algn="l">
              <a:buFont typeface="+mj-lt"/>
              <a:buAutoNum type="arabicPeriod"/>
            </a:pPr>
            <a:r>
              <a:rPr lang="es-ES" b="0" i="0" dirty="0">
                <a:solidFill>
                  <a:schemeClr val="bg1"/>
                </a:solidFill>
                <a:effectLst/>
                <a:latin typeface="arial" panose="020B0604020202020204" pitchFamily="34" charset="0"/>
              </a:rPr>
              <a:t>Obtención de un producto mínimo viable (MVP) ...</a:t>
            </a:r>
          </a:p>
          <a:p>
            <a:pPr marL="514350" indent="-514350" algn="l">
              <a:buFont typeface="+mj-lt"/>
              <a:buAutoNum type="arabicPeriod"/>
            </a:pPr>
            <a:r>
              <a:rPr lang="es-ES" b="0" i="0" dirty="0">
                <a:solidFill>
                  <a:schemeClr val="bg1"/>
                </a:solidFill>
                <a:effectLst/>
                <a:latin typeface="arial" panose="020B0604020202020204" pitchFamily="34" charset="0"/>
              </a:rPr>
              <a:t>Autonomía y responsabilidad.</a:t>
            </a:r>
          </a:p>
          <a:p>
            <a:endParaRPr lang="es-ES" dirty="0"/>
          </a:p>
        </p:txBody>
      </p:sp>
      <p:pic>
        <p:nvPicPr>
          <p:cNvPr id="4" name="Imagen 3">
            <a:extLst>
              <a:ext uri="{FF2B5EF4-FFF2-40B4-BE49-F238E27FC236}">
                <a16:creationId xmlns:a16="http://schemas.microsoft.com/office/drawing/2014/main" id="{C9950A21-1809-42F3-B079-27BB9493D35D}"/>
              </a:ext>
            </a:extLst>
          </p:cNvPr>
          <p:cNvPicPr>
            <a:picLocks noChangeAspect="1"/>
          </p:cNvPicPr>
          <p:nvPr/>
        </p:nvPicPr>
        <p:blipFill>
          <a:blip r:embed="rId2"/>
          <a:stretch>
            <a:fillRect/>
          </a:stretch>
        </p:blipFill>
        <p:spPr>
          <a:xfrm>
            <a:off x="10993846" y="0"/>
            <a:ext cx="1353429" cy="823031"/>
          </a:xfrm>
          <a:prstGeom prst="rect">
            <a:avLst/>
          </a:prstGeom>
        </p:spPr>
      </p:pic>
      <p:sp>
        <p:nvSpPr>
          <p:cNvPr id="8" name="CuadroTexto 7">
            <a:extLst>
              <a:ext uri="{FF2B5EF4-FFF2-40B4-BE49-F238E27FC236}">
                <a16:creationId xmlns:a16="http://schemas.microsoft.com/office/drawing/2014/main" id="{AE7FF825-737D-8DF4-8E57-A730452D4C45}"/>
              </a:ext>
            </a:extLst>
          </p:cNvPr>
          <p:cNvSpPr txBox="1"/>
          <p:nvPr/>
        </p:nvSpPr>
        <p:spPr>
          <a:xfrm>
            <a:off x="6883120" y="1009650"/>
            <a:ext cx="4983983" cy="461665"/>
          </a:xfrm>
          <a:prstGeom prst="rect">
            <a:avLst/>
          </a:prstGeom>
          <a:noFill/>
        </p:spPr>
        <p:txBody>
          <a:bodyPr wrap="square">
            <a:spAutoFit/>
          </a:bodyPr>
          <a:lstStyle/>
          <a:p>
            <a:r>
              <a:rPr lang="es-ES" sz="2400" b="1"/>
              <a:t>Entornos de aplicabilidad de SCRUM</a:t>
            </a:r>
            <a:endParaRPr lang="es-ES" sz="2400"/>
          </a:p>
        </p:txBody>
      </p:sp>
      <p:sp>
        <p:nvSpPr>
          <p:cNvPr id="10" name="CuadroTexto 9">
            <a:extLst>
              <a:ext uri="{FF2B5EF4-FFF2-40B4-BE49-F238E27FC236}">
                <a16:creationId xmlns:a16="http://schemas.microsoft.com/office/drawing/2014/main" id="{333C2504-2590-6B6E-5E07-3E0C9D65E16F}"/>
              </a:ext>
            </a:extLst>
          </p:cNvPr>
          <p:cNvSpPr txBox="1"/>
          <p:nvPr/>
        </p:nvSpPr>
        <p:spPr>
          <a:xfrm>
            <a:off x="7737230" y="1610952"/>
            <a:ext cx="3677697" cy="2246769"/>
          </a:xfrm>
          <a:prstGeom prst="rect">
            <a:avLst/>
          </a:prstGeom>
          <a:noFill/>
        </p:spPr>
        <p:txBody>
          <a:bodyPr wrap="square">
            <a:spAutoFit/>
          </a:bodyPr>
          <a:lstStyle/>
          <a:p>
            <a:r>
              <a:rPr lang="es-ES" sz="2800" b="0" i="0">
                <a:solidFill>
                  <a:srgbClr val="202124"/>
                </a:solidFill>
                <a:effectLst/>
                <a:latin typeface="arial" panose="020B0604020202020204" pitchFamily="34" charset="0"/>
              </a:rPr>
              <a:t>Marketing</a:t>
            </a:r>
          </a:p>
          <a:p>
            <a:r>
              <a:rPr lang="es-ES" sz="2800">
                <a:solidFill>
                  <a:srgbClr val="202124"/>
                </a:solidFill>
                <a:latin typeface="arial" panose="020B0604020202020204" pitchFamily="34" charset="0"/>
              </a:rPr>
              <a:t>F</a:t>
            </a:r>
            <a:r>
              <a:rPr lang="es-ES" sz="2800" b="0" i="0">
                <a:solidFill>
                  <a:srgbClr val="202124"/>
                </a:solidFill>
                <a:effectLst/>
                <a:latin typeface="arial" panose="020B0604020202020204" pitchFamily="34" charset="0"/>
              </a:rPr>
              <a:t>inanzas</a:t>
            </a:r>
          </a:p>
          <a:p>
            <a:r>
              <a:rPr lang="es-ES" sz="2800">
                <a:solidFill>
                  <a:srgbClr val="202124"/>
                </a:solidFill>
                <a:latin typeface="arial" panose="020B0604020202020204" pitchFamily="34" charset="0"/>
              </a:rPr>
              <a:t>C</a:t>
            </a:r>
            <a:r>
              <a:rPr lang="es-ES" sz="2800" b="0" i="0">
                <a:solidFill>
                  <a:srgbClr val="202124"/>
                </a:solidFill>
                <a:effectLst/>
                <a:latin typeface="arial" panose="020B0604020202020204" pitchFamily="34" charset="0"/>
              </a:rPr>
              <a:t>omunicación</a:t>
            </a:r>
          </a:p>
          <a:p>
            <a:r>
              <a:rPr lang="es-ES" sz="2800">
                <a:solidFill>
                  <a:srgbClr val="202124"/>
                </a:solidFill>
                <a:latin typeface="arial" panose="020B0604020202020204" pitchFamily="34" charset="0"/>
              </a:rPr>
              <a:t>D</a:t>
            </a:r>
            <a:r>
              <a:rPr lang="es-ES" sz="2800" b="0" i="0">
                <a:solidFill>
                  <a:srgbClr val="202124"/>
                </a:solidFill>
                <a:effectLst/>
                <a:latin typeface="arial" panose="020B0604020202020204" pitchFamily="34" charset="0"/>
              </a:rPr>
              <a:t>iseño industrial</a:t>
            </a:r>
          </a:p>
          <a:p>
            <a:r>
              <a:rPr lang="es-ES" sz="2800">
                <a:solidFill>
                  <a:srgbClr val="202124"/>
                </a:solidFill>
                <a:latin typeface="arial" panose="020B0604020202020204" pitchFamily="34" charset="0"/>
              </a:rPr>
              <a:t>F</a:t>
            </a:r>
            <a:r>
              <a:rPr lang="es-ES" sz="2800" b="0" i="0">
                <a:solidFill>
                  <a:srgbClr val="202124"/>
                </a:solidFill>
                <a:effectLst/>
                <a:latin typeface="arial" panose="020B0604020202020204" pitchFamily="34" charset="0"/>
              </a:rPr>
              <a:t>ormación.</a:t>
            </a:r>
            <a:endParaRPr lang="es-ES" sz="2800" dirty="0"/>
          </a:p>
        </p:txBody>
      </p:sp>
    </p:spTree>
    <p:extLst>
      <p:ext uri="{BB962C8B-B14F-4D97-AF65-F5344CB8AC3E}">
        <p14:creationId xmlns:p14="http://schemas.microsoft.com/office/powerpoint/2010/main" val="1458048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E775F-5B73-4AFF-A89D-C31A86CC2B9E}"/>
              </a:ext>
            </a:extLst>
          </p:cNvPr>
          <p:cNvSpPr>
            <a:spLocks noGrp="1"/>
          </p:cNvSpPr>
          <p:nvPr>
            <p:ph type="title"/>
          </p:nvPr>
        </p:nvSpPr>
        <p:spPr/>
        <p:txBody>
          <a:bodyPr/>
          <a:lstStyle/>
          <a:p>
            <a:r>
              <a:rPr lang="es-ES" b="1" dirty="0"/>
              <a:t>2. ROLES Y RESPONSABILIDADES</a:t>
            </a:r>
            <a:endParaRPr lang="es-ES" dirty="0"/>
          </a:p>
        </p:txBody>
      </p:sp>
      <p:sp>
        <p:nvSpPr>
          <p:cNvPr id="3" name="Marcador de contenido 2">
            <a:extLst>
              <a:ext uri="{FF2B5EF4-FFF2-40B4-BE49-F238E27FC236}">
                <a16:creationId xmlns:a16="http://schemas.microsoft.com/office/drawing/2014/main" id="{E4AABBBE-E63C-439A-9F36-95EF92AD3B94}"/>
              </a:ext>
            </a:extLst>
          </p:cNvPr>
          <p:cNvSpPr>
            <a:spLocks noGrp="1"/>
          </p:cNvSpPr>
          <p:nvPr>
            <p:ph type="body" sz="quarter" idx="13"/>
          </p:nvPr>
        </p:nvSpPr>
        <p:spPr/>
        <p:txBody>
          <a:bodyPr/>
          <a:lstStyle/>
          <a:p>
            <a:pPr marL="457200" lvl="1" indent="0">
              <a:buNone/>
            </a:pPr>
            <a:r>
              <a:rPr lang="es-ES" dirty="0"/>
              <a:t>2.1. Autoridad del grupo.</a:t>
            </a:r>
          </a:p>
          <a:p>
            <a:pPr marL="457200" lvl="1" indent="0">
              <a:buNone/>
            </a:pPr>
            <a:r>
              <a:rPr lang="es-ES" dirty="0"/>
              <a:t>2.2. Scrum Master (Director de proyecto);</a:t>
            </a:r>
          </a:p>
          <a:p>
            <a:pPr marL="457200" lvl="1" indent="0">
              <a:buNone/>
            </a:pPr>
            <a:r>
              <a:rPr lang="es-ES" dirty="0"/>
              <a:t>2.3. </a:t>
            </a:r>
            <a:r>
              <a:rPr lang="es-ES" dirty="0" err="1"/>
              <a:t>Product</a:t>
            </a:r>
            <a:r>
              <a:rPr lang="es-ES" dirty="0"/>
              <a:t> </a:t>
            </a:r>
            <a:r>
              <a:rPr lang="es-ES" dirty="0" err="1"/>
              <a:t>Owner</a:t>
            </a:r>
            <a:r>
              <a:rPr lang="es-ES" dirty="0"/>
              <a:t> (representa a los interesados);</a:t>
            </a:r>
          </a:p>
          <a:p>
            <a:pPr marL="457200" lvl="1" indent="0">
              <a:buNone/>
            </a:pPr>
            <a:r>
              <a:rPr lang="es-ES" dirty="0"/>
              <a:t>2.4. Team (desarrolladores). Roles auxiliares.</a:t>
            </a:r>
          </a:p>
          <a:p>
            <a:pPr marL="457200" lvl="1" indent="0">
              <a:buNone/>
            </a:pPr>
            <a:r>
              <a:rPr lang="es-ES" dirty="0"/>
              <a:t>2.5. Equipos y creación de equipos autoorganizados. Razones para no tener un líder designado en el equipo.</a:t>
            </a:r>
          </a:p>
          <a:p>
            <a:endParaRPr lang="es-ES" dirty="0"/>
          </a:p>
        </p:txBody>
      </p:sp>
      <p:pic>
        <p:nvPicPr>
          <p:cNvPr id="4" name="Imagen 3">
            <a:extLst>
              <a:ext uri="{FF2B5EF4-FFF2-40B4-BE49-F238E27FC236}">
                <a16:creationId xmlns:a16="http://schemas.microsoft.com/office/drawing/2014/main" id="{732DFE3E-71CB-41E0-8B49-9F2C431E21AD}"/>
              </a:ext>
            </a:extLst>
          </p:cNvPr>
          <p:cNvPicPr>
            <a:picLocks noChangeAspect="1"/>
          </p:cNvPicPr>
          <p:nvPr/>
        </p:nvPicPr>
        <p:blipFill>
          <a:blip r:embed="rId2"/>
          <a:stretch>
            <a:fillRect/>
          </a:stretch>
        </p:blipFill>
        <p:spPr>
          <a:xfrm>
            <a:off x="10901324" y="0"/>
            <a:ext cx="1353429" cy="823031"/>
          </a:xfrm>
          <a:prstGeom prst="rect">
            <a:avLst/>
          </a:prstGeom>
        </p:spPr>
      </p:pic>
    </p:spTree>
    <p:extLst>
      <p:ext uri="{BB962C8B-B14F-4D97-AF65-F5344CB8AC3E}">
        <p14:creationId xmlns:p14="http://schemas.microsoft.com/office/powerpoint/2010/main" val="1405388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BF033C1E-9335-4A50-B923-B3813F921DA8}"/>
              </a:ext>
            </a:extLst>
          </p:cNvPr>
          <p:cNvSpPr/>
          <p:nvPr/>
        </p:nvSpPr>
        <p:spPr>
          <a:xfrm>
            <a:off x="3262374" y="1739874"/>
            <a:ext cx="5859371" cy="4745570"/>
          </a:xfrm>
          <a:prstGeom prst="ellipse">
            <a:avLst/>
          </a:prstGeom>
          <a:solidFill>
            <a:schemeClr val="accent5">
              <a:lumMod val="5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s-ES" sz="4000" dirty="0">
                <a:ln w="0"/>
                <a:solidFill>
                  <a:schemeClr val="bg1"/>
                </a:solidFill>
                <a:effectLst>
                  <a:outerShdw blurRad="38100" dist="19050" dir="2700000" algn="tl" rotWithShape="0">
                    <a:schemeClr val="dk1">
                      <a:alpha val="40000"/>
                    </a:schemeClr>
                  </a:outerShdw>
                </a:effectLst>
              </a:rPr>
              <a:t>SPRINT</a:t>
            </a:r>
          </a:p>
        </p:txBody>
      </p:sp>
      <p:sp>
        <p:nvSpPr>
          <p:cNvPr id="2" name="Título 1">
            <a:extLst>
              <a:ext uri="{FF2B5EF4-FFF2-40B4-BE49-F238E27FC236}">
                <a16:creationId xmlns:a16="http://schemas.microsoft.com/office/drawing/2014/main" id="{A160A6A1-C907-4780-89D1-F640853B7258}"/>
              </a:ext>
            </a:extLst>
          </p:cNvPr>
          <p:cNvSpPr>
            <a:spLocks noGrp="1"/>
          </p:cNvSpPr>
          <p:nvPr>
            <p:ph type="title"/>
          </p:nvPr>
        </p:nvSpPr>
        <p:spPr/>
        <p:txBody>
          <a:bodyPr>
            <a:normAutofit/>
          </a:bodyPr>
          <a:lstStyle/>
          <a:p>
            <a:r>
              <a:rPr lang="es-ES" dirty="0"/>
              <a:t>Elementos de Scrum</a:t>
            </a:r>
          </a:p>
        </p:txBody>
      </p:sp>
      <p:sp>
        <p:nvSpPr>
          <p:cNvPr id="5" name="Marcador de texto 4">
            <a:extLst>
              <a:ext uri="{FF2B5EF4-FFF2-40B4-BE49-F238E27FC236}">
                <a16:creationId xmlns:a16="http://schemas.microsoft.com/office/drawing/2014/main" id="{6CF5E5E2-7563-40DC-0BC5-48E4CB93D7DA}"/>
              </a:ext>
            </a:extLst>
          </p:cNvPr>
          <p:cNvSpPr>
            <a:spLocks noGrp="1"/>
          </p:cNvSpPr>
          <p:nvPr>
            <p:ph type="body" sz="quarter" idx="13"/>
          </p:nvPr>
        </p:nvSpPr>
        <p:spPr/>
        <p:txBody>
          <a:bodyPr/>
          <a:lstStyle/>
          <a:p>
            <a:endParaRPr lang="es-ES"/>
          </a:p>
        </p:txBody>
      </p:sp>
      <p:pic>
        <p:nvPicPr>
          <p:cNvPr id="23554" name="Picture 2" descr="Nota, Post It, Recordatorio, Nota Adhesiva, Amarillo">
            <a:extLst>
              <a:ext uri="{FF2B5EF4-FFF2-40B4-BE49-F238E27FC236}">
                <a16:creationId xmlns:a16="http://schemas.microsoft.com/office/drawing/2014/main" id="{B0A626A9-3C44-425F-BBD6-E559C7B9EA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7459" y="672013"/>
            <a:ext cx="1368594" cy="124890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8E9F128-0DF6-4411-B440-5B0435B14D6D}"/>
              </a:ext>
            </a:extLst>
          </p:cNvPr>
          <p:cNvSpPr txBox="1"/>
          <p:nvPr/>
        </p:nvSpPr>
        <p:spPr>
          <a:xfrm>
            <a:off x="675885" y="1034856"/>
            <a:ext cx="971741" cy="523220"/>
          </a:xfrm>
          <a:prstGeom prst="rect">
            <a:avLst/>
          </a:prstGeom>
          <a:noFill/>
        </p:spPr>
        <p:txBody>
          <a:bodyPr wrap="none" rtlCol="0">
            <a:spAutoFit/>
          </a:bodyPr>
          <a:lstStyle/>
          <a:p>
            <a:r>
              <a:rPr lang="es-ES" sz="2800" dirty="0">
                <a:latin typeface="Brush Script Std" panose="03060802040607070404" pitchFamily="66" charset="0"/>
              </a:rPr>
              <a:t>Ideas</a:t>
            </a:r>
          </a:p>
        </p:txBody>
      </p:sp>
      <p:pic>
        <p:nvPicPr>
          <p:cNvPr id="12" name="Picture 2" descr="Nota, Post It, Recordatorio, Nota Adhesiva, Amarillo">
            <a:extLst>
              <a:ext uri="{FF2B5EF4-FFF2-40B4-BE49-F238E27FC236}">
                <a16:creationId xmlns:a16="http://schemas.microsoft.com/office/drawing/2014/main" id="{1A38E365-1FC3-44CB-98B5-30D9007EE982}"/>
              </a:ext>
            </a:extLst>
          </p:cNvPr>
          <p:cNvPicPr>
            <a:picLocks noChangeAspect="1" noChangeArrowheads="1"/>
          </p:cNvPicPr>
          <p:nvPr/>
        </p:nvPicPr>
        <p:blipFill>
          <a:blip r:embed="rId2"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2486212" y="652956"/>
            <a:ext cx="1368594" cy="1248907"/>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51E402A9-344E-4065-B260-43C8BD5FC5C6}"/>
              </a:ext>
            </a:extLst>
          </p:cNvPr>
          <p:cNvSpPr txBox="1"/>
          <p:nvPr/>
        </p:nvSpPr>
        <p:spPr>
          <a:xfrm>
            <a:off x="2634675" y="870941"/>
            <a:ext cx="1021433" cy="954107"/>
          </a:xfrm>
          <a:prstGeom prst="rect">
            <a:avLst/>
          </a:prstGeom>
          <a:noFill/>
        </p:spPr>
        <p:txBody>
          <a:bodyPr wrap="none" rtlCol="0">
            <a:spAutoFit/>
          </a:bodyPr>
          <a:lstStyle/>
          <a:p>
            <a:r>
              <a:rPr lang="es-ES" sz="2800" dirty="0" err="1">
                <a:latin typeface="Brush Script Std" panose="03060802040607070404" pitchFamily="66" charset="0"/>
              </a:rPr>
              <a:t>Stake</a:t>
            </a:r>
            <a:endParaRPr lang="es-ES" sz="2800" dirty="0">
              <a:latin typeface="Brush Script Std" panose="03060802040607070404" pitchFamily="66" charset="0"/>
            </a:endParaRPr>
          </a:p>
          <a:p>
            <a:r>
              <a:rPr lang="es-ES" sz="2800" dirty="0" err="1">
                <a:latin typeface="Brush Script Std" panose="03060802040607070404" pitchFamily="66" charset="0"/>
              </a:rPr>
              <a:t>holder</a:t>
            </a:r>
            <a:endParaRPr lang="es-ES" sz="2800" dirty="0">
              <a:latin typeface="Brush Script Std" panose="03060802040607070404" pitchFamily="66" charset="0"/>
            </a:endParaRPr>
          </a:p>
        </p:txBody>
      </p:sp>
      <p:pic>
        <p:nvPicPr>
          <p:cNvPr id="14" name="Picture 2" descr="Nota, Post It, Recordatorio, Nota Adhesiva, Amarillo">
            <a:extLst>
              <a:ext uri="{FF2B5EF4-FFF2-40B4-BE49-F238E27FC236}">
                <a16:creationId xmlns:a16="http://schemas.microsoft.com/office/drawing/2014/main" id="{4573F029-7E18-4598-9E39-7483F7839E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577" y="2139719"/>
            <a:ext cx="1728476" cy="1248907"/>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324787B0-745C-41EA-B980-D9F079B667F5}"/>
              </a:ext>
            </a:extLst>
          </p:cNvPr>
          <p:cNvSpPr txBox="1"/>
          <p:nvPr/>
        </p:nvSpPr>
        <p:spPr>
          <a:xfrm>
            <a:off x="316003" y="2287118"/>
            <a:ext cx="1447832" cy="954107"/>
          </a:xfrm>
          <a:prstGeom prst="rect">
            <a:avLst/>
          </a:prstGeom>
          <a:noFill/>
        </p:spPr>
        <p:txBody>
          <a:bodyPr wrap="none" rtlCol="0">
            <a:spAutoFit/>
          </a:bodyPr>
          <a:lstStyle/>
          <a:p>
            <a:r>
              <a:rPr lang="es-ES" sz="2800" dirty="0" err="1">
                <a:latin typeface="Brush Script Std" panose="03060802040607070404" pitchFamily="66" charset="0"/>
              </a:rPr>
              <a:t>Product</a:t>
            </a:r>
            <a:endParaRPr lang="es-ES" sz="2800" dirty="0">
              <a:latin typeface="Brush Script Std" panose="03060802040607070404" pitchFamily="66" charset="0"/>
            </a:endParaRPr>
          </a:p>
          <a:p>
            <a:r>
              <a:rPr lang="es-ES" sz="2800">
                <a:latin typeface="Brush Script Std" panose="03060802040607070404" pitchFamily="66" charset="0"/>
              </a:rPr>
              <a:t>Bakclog </a:t>
            </a:r>
            <a:endParaRPr lang="es-ES" sz="2800" dirty="0">
              <a:latin typeface="Brush Script Std" panose="03060802040607070404" pitchFamily="66" charset="0"/>
            </a:endParaRPr>
          </a:p>
        </p:txBody>
      </p:sp>
      <p:pic>
        <p:nvPicPr>
          <p:cNvPr id="16" name="Picture 2" descr="Nota, Post It, Recordatorio, Nota Adhesiva, Amarillo">
            <a:extLst>
              <a:ext uri="{FF2B5EF4-FFF2-40B4-BE49-F238E27FC236}">
                <a16:creationId xmlns:a16="http://schemas.microsoft.com/office/drawing/2014/main" id="{0E3D336F-80E4-409D-844A-0008CAEA745E}"/>
              </a:ext>
            </a:extLst>
          </p:cNvPr>
          <p:cNvPicPr>
            <a:picLocks noChangeAspect="1" noChangeArrowheads="1"/>
          </p:cNvPicPr>
          <p:nvPr/>
        </p:nvPicPr>
        <p:blipFill>
          <a:blip r:embed="rId4"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4449570" y="642395"/>
            <a:ext cx="1725874" cy="1248907"/>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928BA113-E64E-4369-89CA-88828E68E39D}"/>
              </a:ext>
            </a:extLst>
          </p:cNvPr>
          <p:cNvSpPr txBox="1"/>
          <p:nvPr/>
        </p:nvSpPr>
        <p:spPr>
          <a:xfrm>
            <a:off x="4714895" y="785767"/>
            <a:ext cx="1477718" cy="954107"/>
          </a:xfrm>
          <a:prstGeom prst="rect">
            <a:avLst/>
          </a:prstGeom>
          <a:noFill/>
          <a:extLst>
            <a:ext uri="{909E8E84-426E-40DD-AFC4-6F175D3DCCD1}">
              <a14:hiddenFill xmlns:a14="http://schemas.microsoft.com/office/drawing/2010/main">
                <a:solidFill>
                  <a:srgbClr val="FFFFFF"/>
                </a:solidFill>
              </a14:hiddenFill>
            </a:ext>
          </a:extLst>
        </p:spPr>
        <p:txBody>
          <a:bodyPr wrap="square" rtlCol="0">
            <a:spAutoFit/>
          </a:bodyPr>
          <a:lstStyle/>
          <a:p>
            <a:r>
              <a:rPr lang="es-ES" sz="2800" dirty="0" err="1">
                <a:latin typeface="Brush Script Std" panose="03060802040607070404" pitchFamily="66" charset="0"/>
              </a:rPr>
              <a:t>Product</a:t>
            </a:r>
            <a:r>
              <a:rPr lang="es-ES" sz="2800" dirty="0">
                <a:latin typeface="Brush Script Std" panose="03060802040607070404" pitchFamily="66" charset="0"/>
              </a:rPr>
              <a:t> </a:t>
            </a:r>
            <a:r>
              <a:rPr lang="es-ES" sz="2800" dirty="0" err="1">
                <a:latin typeface="Brush Script Std" panose="03060802040607070404" pitchFamily="66" charset="0"/>
              </a:rPr>
              <a:t>Owner</a:t>
            </a:r>
            <a:endParaRPr lang="es-ES" sz="2800" dirty="0">
              <a:latin typeface="Brush Script Std" panose="03060802040607070404" pitchFamily="66" charset="0"/>
            </a:endParaRPr>
          </a:p>
        </p:txBody>
      </p:sp>
      <p:pic>
        <p:nvPicPr>
          <p:cNvPr id="18" name="Picture 2" descr="Nota, Post It, Recordatorio, Nota Adhesiva, Amarillo">
            <a:extLst>
              <a:ext uri="{FF2B5EF4-FFF2-40B4-BE49-F238E27FC236}">
                <a16:creationId xmlns:a16="http://schemas.microsoft.com/office/drawing/2014/main" id="{3C352B78-2A69-409B-A1FF-BD43A2F95F42}"/>
              </a:ext>
            </a:extLst>
          </p:cNvPr>
          <p:cNvPicPr>
            <a:picLocks noChangeAspect="1" noChangeArrowheads="1"/>
          </p:cNvPicPr>
          <p:nvPr/>
        </p:nvPicPr>
        <p:blipFill>
          <a:blip r:embed="rId5"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871" y="3664180"/>
            <a:ext cx="2219270" cy="1620058"/>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2D54F636-3520-4EA4-B30E-726DBD4935E8}"/>
              </a:ext>
            </a:extLst>
          </p:cNvPr>
          <p:cNvSpPr txBox="1"/>
          <p:nvPr/>
        </p:nvSpPr>
        <p:spPr>
          <a:xfrm>
            <a:off x="464288" y="3836756"/>
            <a:ext cx="1636987" cy="1384995"/>
          </a:xfrm>
          <a:prstGeom prst="rect">
            <a:avLst/>
          </a:prstGeom>
          <a:noFill/>
        </p:spPr>
        <p:txBody>
          <a:bodyPr wrap="none" rtlCol="0">
            <a:spAutoFit/>
          </a:bodyPr>
          <a:lstStyle/>
          <a:p>
            <a:r>
              <a:rPr lang="es-ES" sz="2800" dirty="0">
                <a:latin typeface="Brush Script Std" panose="03060802040607070404" pitchFamily="66" charset="0"/>
              </a:rPr>
              <a:t>Sprint </a:t>
            </a:r>
          </a:p>
          <a:p>
            <a:r>
              <a:rPr lang="es-ES" sz="2800">
                <a:latin typeface="Brush Script Std" panose="03060802040607070404" pitchFamily="66" charset="0"/>
              </a:rPr>
              <a:t>Planning </a:t>
            </a:r>
          </a:p>
          <a:p>
            <a:r>
              <a:rPr lang="es-ES" sz="2800">
                <a:latin typeface="Brush Script Std" panose="03060802040607070404" pitchFamily="66" charset="0"/>
              </a:rPr>
              <a:t>Reunión </a:t>
            </a:r>
            <a:endParaRPr lang="es-ES" sz="2800" dirty="0">
              <a:latin typeface="Brush Script Std" panose="03060802040607070404" pitchFamily="66" charset="0"/>
            </a:endParaRPr>
          </a:p>
        </p:txBody>
      </p:sp>
      <p:pic>
        <p:nvPicPr>
          <p:cNvPr id="22" name="Picture 2" descr="Nota, Post It, Recordatorio, Nota Adhesiva, Amarillo">
            <a:extLst>
              <a:ext uri="{FF2B5EF4-FFF2-40B4-BE49-F238E27FC236}">
                <a16:creationId xmlns:a16="http://schemas.microsoft.com/office/drawing/2014/main" id="{22872174-EF64-42EF-9150-F0642A58C50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24267" y="3709381"/>
            <a:ext cx="1963861" cy="1248907"/>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F76B22E6-8270-44B7-9EBD-51B9183BDFB6}"/>
              </a:ext>
            </a:extLst>
          </p:cNvPr>
          <p:cNvSpPr txBox="1"/>
          <p:nvPr/>
        </p:nvSpPr>
        <p:spPr>
          <a:xfrm>
            <a:off x="2990204" y="3860402"/>
            <a:ext cx="1326004" cy="954107"/>
          </a:xfrm>
          <a:prstGeom prst="rect">
            <a:avLst/>
          </a:prstGeom>
          <a:noFill/>
        </p:spPr>
        <p:txBody>
          <a:bodyPr wrap="none" rtlCol="0">
            <a:spAutoFit/>
          </a:bodyPr>
          <a:lstStyle/>
          <a:p>
            <a:r>
              <a:rPr lang="es-ES" sz="2800" dirty="0">
                <a:latin typeface="Brush Script Std" panose="03060802040607070404" pitchFamily="66" charset="0"/>
              </a:rPr>
              <a:t>Sprint </a:t>
            </a:r>
          </a:p>
          <a:p>
            <a:r>
              <a:rPr lang="es-ES" sz="2800" dirty="0">
                <a:latin typeface="Brush Script Std" panose="03060802040607070404" pitchFamily="66" charset="0"/>
              </a:rPr>
              <a:t>Backlog</a:t>
            </a:r>
          </a:p>
        </p:txBody>
      </p:sp>
      <p:pic>
        <p:nvPicPr>
          <p:cNvPr id="30" name="Picture 2" descr="Nota, Post It, Recordatorio, Nota Adhesiva, Amarillo">
            <a:extLst>
              <a:ext uri="{FF2B5EF4-FFF2-40B4-BE49-F238E27FC236}">
                <a16:creationId xmlns:a16="http://schemas.microsoft.com/office/drawing/2014/main" id="{668EC1CD-7509-438C-8820-1CDCE250923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88560" y="5493625"/>
            <a:ext cx="3040840" cy="954107"/>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6B1DDB92-8773-4187-A38F-603577B15DC3}"/>
              </a:ext>
            </a:extLst>
          </p:cNvPr>
          <p:cNvSpPr txBox="1"/>
          <p:nvPr/>
        </p:nvSpPr>
        <p:spPr>
          <a:xfrm>
            <a:off x="3762596" y="5710117"/>
            <a:ext cx="2512226" cy="523220"/>
          </a:xfrm>
          <a:prstGeom prst="rect">
            <a:avLst/>
          </a:prstGeom>
          <a:noFill/>
        </p:spPr>
        <p:txBody>
          <a:bodyPr wrap="none" rtlCol="0">
            <a:spAutoFit/>
          </a:bodyPr>
          <a:lstStyle/>
          <a:p>
            <a:r>
              <a:rPr lang="es-ES" sz="2800" dirty="0">
                <a:latin typeface="Georgia" panose="02040502050405020303" pitchFamily="18" charset="0"/>
              </a:rPr>
              <a:t>ARTEFACTOS</a:t>
            </a:r>
          </a:p>
        </p:txBody>
      </p:sp>
      <p:pic>
        <p:nvPicPr>
          <p:cNvPr id="40" name="Picture 2" descr="Nota, Post It, Recordatorio, Nota Adhesiva, Amarillo">
            <a:extLst>
              <a:ext uri="{FF2B5EF4-FFF2-40B4-BE49-F238E27FC236}">
                <a16:creationId xmlns:a16="http://schemas.microsoft.com/office/drawing/2014/main" id="{1B2AF653-3C25-434C-8A64-864F91CAE7DD}"/>
              </a:ext>
            </a:extLst>
          </p:cNvPr>
          <p:cNvPicPr>
            <a:picLocks noChangeAspect="1" noChangeArrowheads="1"/>
          </p:cNvPicPr>
          <p:nvPr/>
        </p:nvPicPr>
        <p:blipFill>
          <a:blip r:embed="rId8"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6803435" y="5493625"/>
            <a:ext cx="1771081" cy="954107"/>
          </a:xfrm>
          <a:prstGeom prst="rect">
            <a:avLst/>
          </a:prstGeom>
          <a:noFill/>
          <a:extLst>
            <a:ext uri="{909E8E84-426E-40DD-AFC4-6F175D3DCCD1}">
              <a14:hiddenFill xmlns:a14="http://schemas.microsoft.com/office/drawing/2010/main">
                <a:solidFill>
                  <a:srgbClr val="FFFFFF"/>
                </a:solidFill>
              </a14:hiddenFill>
            </a:ext>
          </a:extLst>
        </p:spPr>
      </p:pic>
      <p:sp>
        <p:nvSpPr>
          <p:cNvPr id="41" name="CuadroTexto 40">
            <a:extLst>
              <a:ext uri="{FF2B5EF4-FFF2-40B4-BE49-F238E27FC236}">
                <a16:creationId xmlns:a16="http://schemas.microsoft.com/office/drawing/2014/main" id="{54F3010B-1297-4C93-84A1-5FFE86B3E8DD}"/>
              </a:ext>
            </a:extLst>
          </p:cNvPr>
          <p:cNvSpPr txBox="1"/>
          <p:nvPr/>
        </p:nvSpPr>
        <p:spPr>
          <a:xfrm>
            <a:off x="7267507" y="5710117"/>
            <a:ext cx="979755" cy="523220"/>
          </a:xfrm>
          <a:prstGeom prst="rect">
            <a:avLst/>
          </a:prstGeom>
          <a:noFill/>
        </p:spPr>
        <p:txBody>
          <a:bodyPr wrap="none" rtlCol="0">
            <a:spAutoFit/>
          </a:bodyPr>
          <a:lstStyle/>
          <a:p>
            <a:r>
              <a:rPr lang="es-ES" sz="2800" dirty="0">
                <a:latin typeface="Brush Script Std" panose="03060802040607070404" pitchFamily="66" charset="0"/>
              </a:rPr>
              <a:t>Roles</a:t>
            </a:r>
          </a:p>
        </p:txBody>
      </p:sp>
      <p:pic>
        <p:nvPicPr>
          <p:cNvPr id="42" name="Picture 2" descr="Nota, Post It, Recordatorio, Nota Adhesiva, Amarillo">
            <a:extLst>
              <a:ext uri="{FF2B5EF4-FFF2-40B4-BE49-F238E27FC236}">
                <a16:creationId xmlns:a16="http://schemas.microsoft.com/office/drawing/2014/main" id="{DDC625EE-AFF4-4053-81DA-AAE44EC224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9328" y="890812"/>
            <a:ext cx="1368594" cy="1248907"/>
          </a:xfrm>
          <a:prstGeom prst="rect">
            <a:avLst/>
          </a:prstGeom>
          <a:noFill/>
          <a:extLst>
            <a:ext uri="{909E8E84-426E-40DD-AFC4-6F175D3DCCD1}">
              <a14:hiddenFill xmlns:a14="http://schemas.microsoft.com/office/drawing/2010/main">
                <a:solidFill>
                  <a:srgbClr val="FFFFFF"/>
                </a:solidFill>
              </a14:hiddenFill>
            </a:ext>
          </a:extLst>
        </p:spPr>
      </p:pic>
      <p:sp>
        <p:nvSpPr>
          <p:cNvPr id="43" name="CuadroTexto 42">
            <a:extLst>
              <a:ext uri="{FF2B5EF4-FFF2-40B4-BE49-F238E27FC236}">
                <a16:creationId xmlns:a16="http://schemas.microsoft.com/office/drawing/2014/main" id="{3B37310C-D9D0-4320-9673-22E619235869}"/>
              </a:ext>
            </a:extLst>
          </p:cNvPr>
          <p:cNvSpPr txBox="1"/>
          <p:nvPr/>
        </p:nvSpPr>
        <p:spPr>
          <a:xfrm>
            <a:off x="8059001" y="1184714"/>
            <a:ext cx="998991" cy="523220"/>
          </a:xfrm>
          <a:prstGeom prst="rect">
            <a:avLst/>
          </a:prstGeom>
          <a:noFill/>
        </p:spPr>
        <p:txBody>
          <a:bodyPr wrap="none" rtlCol="0">
            <a:spAutoFit/>
          </a:bodyPr>
          <a:lstStyle/>
          <a:p>
            <a:r>
              <a:rPr lang="es-ES" sz="2800" dirty="0">
                <a:latin typeface="Brush Script Std" panose="03060802040607070404" pitchFamily="66" charset="0"/>
              </a:rPr>
              <a:t>Demo</a:t>
            </a:r>
          </a:p>
        </p:txBody>
      </p:sp>
      <p:pic>
        <p:nvPicPr>
          <p:cNvPr id="44" name="Picture 2" descr="Nota, Post It, Recordatorio, Nota Adhesiva, Amarillo">
            <a:extLst>
              <a:ext uri="{FF2B5EF4-FFF2-40B4-BE49-F238E27FC236}">
                <a16:creationId xmlns:a16="http://schemas.microsoft.com/office/drawing/2014/main" id="{ADCC42E0-6AD8-42F4-84A5-8B14E6873E97}"/>
              </a:ext>
            </a:extLst>
          </p:cNvPr>
          <p:cNvPicPr>
            <a:picLocks noChangeAspect="1" noChangeArrowheads="1"/>
          </p:cNvPicPr>
          <p:nvPr/>
        </p:nvPicPr>
        <p:blipFill>
          <a:blip r:embed="rId9"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97921" y="2645229"/>
            <a:ext cx="2259379" cy="1248907"/>
          </a:xfrm>
          <a:prstGeom prst="rect">
            <a:avLst/>
          </a:prstGeom>
          <a:noFill/>
          <a:extLst>
            <a:ext uri="{909E8E84-426E-40DD-AFC4-6F175D3DCCD1}">
              <a14:hiddenFill xmlns:a14="http://schemas.microsoft.com/office/drawing/2010/main">
                <a:solidFill>
                  <a:srgbClr val="FFFFFF"/>
                </a:solidFill>
              </a14:hiddenFill>
            </a:ext>
          </a:extLst>
        </p:spPr>
      </p:pic>
      <p:sp>
        <p:nvSpPr>
          <p:cNvPr id="45" name="CuadroTexto 44">
            <a:extLst>
              <a:ext uri="{FF2B5EF4-FFF2-40B4-BE49-F238E27FC236}">
                <a16:creationId xmlns:a16="http://schemas.microsoft.com/office/drawing/2014/main" id="{0CC5ADAC-722B-4C68-8779-AC69E3FCA1C0}"/>
              </a:ext>
            </a:extLst>
          </p:cNvPr>
          <p:cNvSpPr txBox="1"/>
          <p:nvPr/>
        </p:nvSpPr>
        <p:spPr>
          <a:xfrm>
            <a:off x="9393915" y="3008072"/>
            <a:ext cx="2063385" cy="523220"/>
          </a:xfrm>
          <a:prstGeom prst="rect">
            <a:avLst/>
          </a:prstGeom>
          <a:noFill/>
        </p:spPr>
        <p:txBody>
          <a:bodyPr wrap="none" rtlCol="0">
            <a:spAutoFit/>
          </a:bodyPr>
          <a:lstStyle/>
          <a:p>
            <a:r>
              <a:rPr lang="es-ES" sz="2800" dirty="0">
                <a:latin typeface="Brush Script Std" panose="03060802040607070404" pitchFamily="66" charset="0"/>
              </a:rPr>
              <a:t>Retrospectiva</a:t>
            </a:r>
          </a:p>
        </p:txBody>
      </p:sp>
      <p:sp>
        <p:nvSpPr>
          <p:cNvPr id="3" name="Flecha: a la derecha 2">
            <a:extLst>
              <a:ext uri="{FF2B5EF4-FFF2-40B4-BE49-F238E27FC236}">
                <a16:creationId xmlns:a16="http://schemas.microsoft.com/office/drawing/2014/main" id="{9F1E99D6-F9BE-4EBE-B441-52675CA9DDA6}"/>
              </a:ext>
            </a:extLst>
          </p:cNvPr>
          <p:cNvSpPr/>
          <p:nvPr/>
        </p:nvSpPr>
        <p:spPr>
          <a:xfrm>
            <a:off x="1907383" y="1173501"/>
            <a:ext cx="47822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Flecha: a la derecha 45">
            <a:extLst>
              <a:ext uri="{FF2B5EF4-FFF2-40B4-BE49-F238E27FC236}">
                <a16:creationId xmlns:a16="http://schemas.microsoft.com/office/drawing/2014/main" id="{145D7405-259C-4241-85C5-0318F7A5D1A0}"/>
              </a:ext>
            </a:extLst>
          </p:cNvPr>
          <p:cNvSpPr/>
          <p:nvPr/>
        </p:nvSpPr>
        <p:spPr>
          <a:xfrm>
            <a:off x="3971344" y="1119453"/>
            <a:ext cx="47822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7" name="Picture 2" descr="Nota, Post It, Recordatorio, Nota Adhesiva, Amarillo">
            <a:extLst>
              <a:ext uri="{FF2B5EF4-FFF2-40B4-BE49-F238E27FC236}">
                <a16:creationId xmlns:a16="http://schemas.microsoft.com/office/drawing/2014/main" id="{36F12518-EA83-46D9-ACF7-572D8C1B4F0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237318" y="2173041"/>
            <a:ext cx="2453596" cy="1248907"/>
          </a:xfrm>
          <a:prstGeom prst="rect">
            <a:avLst/>
          </a:prstGeom>
          <a:noFill/>
          <a:extLst>
            <a:ext uri="{909E8E84-426E-40DD-AFC4-6F175D3DCCD1}">
              <a14:hiddenFill xmlns:a14="http://schemas.microsoft.com/office/drawing/2010/main">
                <a:solidFill>
                  <a:srgbClr val="FFFFFF"/>
                </a:solidFill>
              </a14:hiddenFill>
            </a:ext>
          </a:extLst>
        </p:spPr>
      </p:pic>
      <p:sp>
        <p:nvSpPr>
          <p:cNvPr id="48" name="Flecha: a la derecha 47">
            <a:extLst>
              <a:ext uri="{FF2B5EF4-FFF2-40B4-BE49-F238E27FC236}">
                <a16:creationId xmlns:a16="http://schemas.microsoft.com/office/drawing/2014/main" id="{4DA93EB2-2DFC-43E4-B5CC-F87B44B6C8D6}"/>
              </a:ext>
            </a:extLst>
          </p:cNvPr>
          <p:cNvSpPr/>
          <p:nvPr/>
        </p:nvSpPr>
        <p:spPr>
          <a:xfrm>
            <a:off x="1805366" y="2579574"/>
            <a:ext cx="47822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9F9C4975-DC1E-4A5D-A7EE-085A8DB2CBC3}"/>
              </a:ext>
            </a:extLst>
          </p:cNvPr>
          <p:cNvSpPr txBox="1"/>
          <p:nvPr/>
        </p:nvSpPr>
        <p:spPr>
          <a:xfrm>
            <a:off x="2409168" y="2287116"/>
            <a:ext cx="2194849" cy="954107"/>
          </a:xfrm>
          <a:prstGeom prst="rect">
            <a:avLst/>
          </a:prstGeom>
          <a:noFill/>
        </p:spPr>
        <p:txBody>
          <a:bodyPr wrap="square" rtlCol="0">
            <a:spAutoFit/>
          </a:bodyPr>
          <a:lstStyle/>
          <a:p>
            <a:r>
              <a:rPr lang="es-ES" sz="2800" dirty="0" err="1">
                <a:latin typeface="Brush Script Std" panose="03060802040607070404" pitchFamily="66" charset="0"/>
              </a:rPr>
              <a:t>Product</a:t>
            </a:r>
            <a:endParaRPr lang="es-ES" sz="2800" dirty="0">
              <a:latin typeface="Brush Script Std" panose="03060802040607070404" pitchFamily="66" charset="0"/>
            </a:endParaRPr>
          </a:p>
          <a:p>
            <a:r>
              <a:rPr lang="es-ES" sz="2800" dirty="0" err="1">
                <a:latin typeface="Brush Script Std" panose="03060802040607070404" pitchFamily="66" charset="0"/>
              </a:rPr>
              <a:t>Bakclog</a:t>
            </a:r>
            <a:r>
              <a:rPr lang="es-ES" sz="2800" dirty="0">
                <a:latin typeface="Brush Script Std" panose="03060802040607070404" pitchFamily="66" charset="0"/>
              </a:rPr>
              <a:t> </a:t>
            </a:r>
            <a:r>
              <a:rPr lang="es-ES" sz="2800" dirty="0" err="1">
                <a:latin typeface="Brush Script Std" panose="03060802040607070404" pitchFamily="66" charset="0"/>
              </a:rPr>
              <a:t>items</a:t>
            </a:r>
            <a:endParaRPr lang="es-ES" sz="2800" dirty="0">
              <a:latin typeface="Brush Script Std" panose="03060802040607070404" pitchFamily="66" charset="0"/>
            </a:endParaRPr>
          </a:p>
        </p:txBody>
      </p:sp>
      <p:sp>
        <p:nvSpPr>
          <p:cNvPr id="51" name="Flecha: a la derecha 50">
            <a:extLst>
              <a:ext uri="{FF2B5EF4-FFF2-40B4-BE49-F238E27FC236}">
                <a16:creationId xmlns:a16="http://schemas.microsoft.com/office/drawing/2014/main" id="{B7050E50-4C82-4584-8380-88977F780EA9}"/>
              </a:ext>
            </a:extLst>
          </p:cNvPr>
          <p:cNvSpPr/>
          <p:nvPr/>
        </p:nvSpPr>
        <p:spPr>
          <a:xfrm>
            <a:off x="2162446" y="4041043"/>
            <a:ext cx="47822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66A72011-72F4-4108-8C9E-135014718BE5}"/>
              </a:ext>
            </a:extLst>
          </p:cNvPr>
          <p:cNvSpPr/>
          <p:nvPr/>
        </p:nvSpPr>
        <p:spPr>
          <a:xfrm>
            <a:off x="0" y="396459"/>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1</a:t>
            </a:r>
          </a:p>
        </p:txBody>
      </p:sp>
      <p:sp>
        <p:nvSpPr>
          <p:cNvPr id="52" name="Elipse 51">
            <a:extLst>
              <a:ext uri="{FF2B5EF4-FFF2-40B4-BE49-F238E27FC236}">
                <a16:creationId xmlns:a16="http://schemas.microsoft.com/office/drawing/2014/main" id="{36AC2233-561C-4E47-BF58-1B0BDB4CDFB9}"/>
              </a:ext>
            </a:extLst>
          </p:cNvPr>
          <p:cNvSpPr/>
          <p:nvPr/>
        </p:nvSpPr>
        <p:spPr>
          <a:xfrm>
            <a:off x="-49871" y="3490229"/>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2</a:t>
            </a:r>
          </a:p>
        </p:txBody>
      </p:sp>
      <p:sp>
        <p:nvSpPr>
          <p:cNvPr id="53" name="Flecha: a la derecha 52">
            <a:extLst>
              <a:ext uri="{FF2B5EF4-FFF2-40B4-BE49-F238E27FC236}">
                <a16:creationId xmlns:a16="http://schemas.microsoft.com/office/drawing/2014/main" id="{B8AF7347-79C7-4BF6-8B32-A5DC97E306F7}"/>
              </a:ext>
            </a:extLst>
          </p:cNvPr>
          <p:cNvSpPr/>
          <p:nvPr/>
        </p:nvSpPr>
        <p:spPr>
          <a:xfrm rot="10155520">
            <a:off x="1615130" y="1860059"/>
            <a:ext cx="2742127"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Elipse 54">
            <a:extLst>
              <a:ext uri="{FF2B5EF4-FFF2-40B4-BE49-F238E27FC236}">
                <a16:creationId xmlns:a16="http://schemas.microsoft.com/office/drawing/2014/main" id="{6C69533F-A352-4BF3-BBBB-2EFD6965244E}"/>
              </a:ext>
            </a:extLst>
          </p:cNvPr>
          <p:cNvSpPr/>
          <p:nvPr/>
        </p:nvSpPr>
        <p:spPr>
          <a:xfrm>
            <a:off x="4634509" y="3936124"/>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3</a:t>
            </a:r>
          </a:p>
        </p:txBody>
      </p:sp>
      <p:sp>
        <p:nvSpPr>
          <p:cNvPr id="56" name="Elipse 55">
            <a:extLst>
              <a:ext uri="{FF2B5EF4-FFF2-40B4-BE49-F238E27FC236}">
                <a16:creationId xmlns:a16="http://schemas.microsoft.com/office/drawing/2014/main" id="{F528B7DE-56AB-4F8B-BA31-366FC80EB26D}"/>
              </a:ext>
            </a:extLst>
          </p:cNvPr>
          <p:cNvSpPr/>
          <p:nvPr/>
        </p:nvSpPr>
        <p:spPr>
          <a:xfrm>
            <a:off x="7252812" y="946972"/>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4</a:t>
            </a:r>
          </a:p>
        </p:txBody>
      </p:sp>
      <p:sp>
        <p:nvSpPr>
          <p:cNvPr id="57" name="Elipse 56">
            <a:extLst>
              <a:ext uri="{FF2B5EF4-FFF2-40B4-BE49-F238E27FC236}">
                <a16:creationId xmlns:a16="http://schemas.microsoft.com/office/drawing/2014/main" id="{49BDA7FA-6A88-4E09-B81A-592B833FD2B9}"/>
              </a:ext>
            </a:extLst>
          </p:cNvPr>
          <p:cNvSpPr/>
          <p:nvPr/>
        </p:nvSpPr>
        <p:spPr>
          <a:xfrm>
            <a:off x="8498645" y="2636272"/>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5</a:t>
            </a:r>
          </a:p>
        </p:txBody>
      </p:sp>
      <p:sp>
        <p:nvSpPr>
          <p:cNvPr id="24" name="Rectángulo 23">
            <a:extLst>
              <a:ext uri="{FF2B5EF4-FFF2-40B4-BE49-F238E27FC236}">
                <a16:creationId xmlns:a16="http://schemas.microsoft.com/office/drawing/2014/main" id="{20CEE876-9D07-493C-9EBE-E621D4A30A30}"/>
              </a:ext>
            </a:extLst>
          </p:cNvPr>
          <p:cNvSpPr/>
          <p:nvPr/>
        </p:nvSpPr>
        <p:spPr>
          <a:xfrm>
            <a:off x="781646" y="5824327"/>
            <a:ext cx="1963861" cy="661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CATEGORIA DE ELEMENTOS</a:t>
            </a:r>
          </a:p>
        </p:txBody>
      </p:sp>
      <p:pic>
        <p:nvPicPr>
          <p:cNvPr id="58" name="Picture 2" descr="Nota, Post It, Recordatorio, Nota Adhesiva, Amarillo">
            <a:extLst>
              <a:ext uri="{FF2B5EF4-FFF2-40B4-BE49-F238E27FC236}">
                <a16:creationId xmlns:a16="http://schemas.microsoft.com/office/drawing/2014/main" id="{B56277CA-1DC6-4357-B296-210C0C2B9DAC}"/>
              </a:ext>
            </a:extLst>
          </p:cNvPr>
          <p:cNvPicPr>
            <a:picLocks noChangeAspect="1" noChangeArrowheads="1"/>
          </p:cNvPicPr>
          <p:nvPr/>
        </p:nvPicPr>
        <p:blipFill>
          <a:blip r:embed="rId11"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38588" y="5531337"/>
            <a:ext cx="2371766" cy="954107"/>
          </a:xfrm>
          <a:prstGeom prst="rect">
            <a:avLst/>
          </a:prstGeom>
          <a:noFill/>
          <a:extLst>
            <a:ext uri="{909E8E84-426E-40DD-AFC4-6F175D3DCCD1}">
              <a14:hiddenFill xmlns:a14="http://schemas.microsoft.com/office/drawing/2010/main">
                <a:solidFill>
                  <a:srgbClr val="FFFFFF"/>
                </a:solidFill>
              </a14:hiddenFill>
            </a:ext>
          </a:extLst>
        </p:spPr>
      </p:pic>
      <p:sp>
        <p:nvSpPr>
          <p:cNvPr id="59" name="CuadroTexto 58">
            <a:extLst>
              <a:ext uri="{FF2B5EF4-FFF2-40B4-BE49-F238E27FC236}">
                <a16:creationId xmlns:a16="http://schemas.microsoft.com/office/drawing/2014/main" id="{F20880AF-6C38-4F1F-8B60-291B32C0CFAC}"/>
              </a:ext>
            </a:extLst>
          </p:cNvPr>
          <p:cNvSpPr txBox="1"/>
          <p:nvPr/>
        </p:nvSpPr>
        <p:spPr>
          <a:xfrm>
            <a:off x="9502660" y="5747829"/>
            <a:ext cx="1601721" cy="523220"/>
          </a:xfrm>
          <a:prstGeom prst="rect">
            <a:avLst/>
          </a:prstGeom>
          <a:noFill/>
        </p:spPr>
        <p:txBody>
          <a:bodyPr wrap="none" rtlCol="0">
            <a:spAutoFit/>
          </a:bodyPr>
          <a:lstStyle/>
          <a:p>
            <a:r>
              <a:rPr lang="es-ES" sz="2800" dirty="0">
                <a:latin typeface="Brush Script Std" panose="03060802040607070404" pitchFamily="66" charset="0"/>
              </a:rPr>
              <a:t>Reuniones</a:t>
            </a:r>
          </a:p>
        </p:txBody>
      </p:sp>
      <p:pic>
        <p:nvPicPr>
          <p:cNvPr id="60" name="Imagen 59">
            <a:extLst>
              <a:ext uri="{FF2B5EF4-FFF2-40B4-BE49-F238E27FC236}">
                <a16:creationId xmlns:a16="http://schemas.microsoft.com/office/drawing/2014/main" id="{98C91E52-693A-4851-A07E-48D5DC49686D}"/>
              </a:ext>
            </a:extLst>
          </p:cNvPr>
          <p:cNvPicPr>
            <a:picLocks noChangeAspect="1"/>
          </p:cNvPicPr>
          <p:nvPr/>
        </p:nvPicPr>
        <p:blipFill>
          <a:blip r:embed="rId12"/>
          <a:stretch>
            <a:fillRect/>
          </a:stretch>
        </p:blipFill>
        <p:spPr>
          <a:xfrm>
            <a:off x="10901324" y="0"/>
            <a:ext cx="1353429" cy="823031"/>
          </a:xfrm>
          <a:prstGeom prst="rect">
            <a:avLst/>
          </a:prstGeom>
        </p:spPr>
      </p:pic>
    </p:spTree>
    <p:extLst>
      <p:ext uri="{BB962C8B-B14F-4D97-AF65-F5344CB8AC3E}">
        <p14:creationId xmlns:p14="http://schemas.microsoft.com/office/powerpoint/2010/main" val="3105307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D47D86-BE2B-13C8-2FC7-D2E4A78A7DE2}"/>
              </a:ext>
            </a:extLst>
          </p:cNvPr>
          <p:cNvSpPr>
            <a:spLocks noGrp="1"/>
          </p:cNvSpPr>
          <p:nvPr>
            <p:ph type="title"/>
          </p:nvPr>
        </p:nvSpPr>
        <p:spPr/>
        <p:txBody>
          <a:bodyPr/>
          <a:lstStyle/>
          <a:p>
            <a:r>
              <a:rPr lang="es-ES"/>
              <a:t>Fases </a:t>
            </a:r>
          </a:p>
        </p:txBody>
      </p:sp>
      <p:sp>
        <p:nvSpPr>
          <p:cNvPr id="3" name="Marcador de número de diapositiva 2">
            <a:extLst>
              <a:ext uri="{FF2B5EF4-FFF2-40B4-BE49-F238E27FC236}">
                <a16:creationId xmlns:a16="http://schemas.microsoft.com/office/drawing/2014/main" id="{1C794DCF-D9F5-461D-F051-8F70BBD50CD6}"/>
              </a:ext>
            </a:extLst>
          </p:cNvPr>
          <p:cNvSpPr>
            <a:spLocks noGrp="1"/>
          </p:cNvSpPr>
          <p:nvPr>
            <p:ph type="sldNum" sz="quarter" idx="12"/>
          </p:nvPr>
        </p:nvSpPr>
        <p:spPr/>
        <p:txBody>
          <a:bodyPr/>
          <a:lstStyle/>
          <a:p>
            <a:pPr algn="ctr"/>
            <a:fld id="{817179DE-9BF3-494C-804F-0C7C90AC8700}" type="slidenum">
              <a:rPr lang="es-ES" smtClean="0"/>
              <a:pPr algn="ctr"/>
              <a:t>26</a:t>
            </a:fld>
            <a:endParaRPr lang="es-ES"/>
          </a:p>
        </p:txBody>
      </p:sp>
      <p:sp>
        <p:nvSpPr>
          <p:cNvPr id="4" name="Marcador de texto 3">
            <a:extLst>
              <a:ext uri="{FF2B5EF4-FFF2-40B4-BE49-F238E27FC236}">
                <a16:creationId xmlns:a16="http://schemas.microsoft.com/office/drawing/2014/main" id="{9A49F5F4-0D2D-07CB-755F-7A5B4FF16148}"/>
              </a:ext>
            </a:extLst>
          </p:cNvPr>
          <p:cNvSpPr>
            <a:spLocks noGrp="1"/>
          </p:cNvSpPr>
          <p:nvPr>
            <p:ph type="body" sz="quarter" idx="13"/>
          </p:nvPr>
        </p:nvSpPr>
        <p:spPr/>
        <p:txBody>
          <a:bodyPr/>
          <a:lstStyle/>
          <a:p>
            <a:endParaRPr lang="es-ES"/>
          </a:p>
        </p:txBody>
      </p:sp>
      <p:pic>
        <p:nvPicPr>
          <p:cNvPr id="1026" name="Picture 2" descr="Qué es un Sprint de Scrum | OpenWebinars">
            <a:extLst>
              <a:ext uri="{FF2B5EF4-FFF2-40B4-BE49-F238E27FC236}">
                <a16:creationId xmlns:a16="http://schemas.microsoft.com/office/drawing/2014/main" id="{7B5BFCAA-8A30-A90F-D1A1-95E938249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974" y="1013013"/>
            <a:ext cx="10129499" cy="3340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862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ipse 3">
            <a:extLst>
              <a:ext uri="{FF2B5EF4-FFF2-40B4-BE49-F238E27FC236}">
                <a16:creationId xmlns:a16="http://schemas.microsoft.com/office/drawing/2014/main" id="{BF033C1E-9335-4A50-B923-B3813F921DA8}"/>
              </a:ext>
            </a:extLst>
          </p:cNvPr>
          <p:cNvSpPr/>
          <p:nvPr/>
        </p:nvSpPr>
        <p:spPr>
          <a:xfrm>
            <a:off x="5290890" y="1794382"/>
            <a:ext cx="5859371" cy="4745570"/>
          </a:xfrm>
          <a:prstGeom prst="ellipse">
            <a:avLst/>
          </a:prstGeom>
          <a:solidFill>
            <a:schemeClr val="accent5">
              <a:lumMod val="50000"/>
            </a:schemeClr>
          </a:solidFill>
        </p:spPr>
        <p:style>
          <a:lnRef idx="2">
            <a:schemeClr val="accent4"/>
          </a:lnRef>
          <a:fillRef idx="1">
            <a:schemeClr val="lt1"/>
          </a:fillRef>
          <a:effectRef idx="0">
            <a:schemeClr val="accent4"/>
          </a:effectRef>
          <a:fontRef idx="minor">
            <a:schemeClr val="dk1"/>
          </a:fontRef>
        </p:style>
        <p:txBody>
          <a:bodyPr rtlCol="0" anchor="ctr"/>
          <a:lstStyle/>
          <a:p>
            <a:pPr algn="ctr"/>
            <a:r>
              <a:rPr lang="es-ES" sz="4000" dirty="0">
                <a:ln w="0"/>
                <a:solidFill>
                  <a:schemeClr val="bg1"/>
                </a:solidFill>
                <a:effectLst>
                  <a:outerShdw blurRad="38100" dist="19050" dir="2700000" algn="tl" rotWithShape="0">
                    <a:schemeClr val="dk1">
                      <a:alpha val="40000"/>
                    </a:schemeClr>
                  </a:outerShdw>
                </a:effectLst>
              </a:rPr>
              <a:t>SPRINT</a:t>
            </a:r>
          </a:p>
        </p:txBody>
      </p:sp>
      <p:sp>
        <p:nvSpPr>
          <p:cNvPr id="2" name="Título 1">
            <a:extLst>
              <a:ext uri="{FF2B5EF4-FFF2-40B4-BE49-F238E27FC236}">
                <a16:creationId xmlns:a16="http://schemas.microsoft.com/office/drawing/2014/main" id="{A160A6A1-C907-4780-89D1-F640853B7258}"/>
              </a:ext>
            </a:extLst>
          </p:cNvPr>
          <p:cNvSpPr>
            <a:spLocks noGrp="1"/>
          </p:cNvSpPr>
          <p:nvPr>
            <p:ph type="title"/>
          </p:nvPr>
        </p:nvSpPr>
        <p:spPr>
          <a:xfrm>
            <a:off x="-49871" y="0"/>
            <a:ext cx="12241871" cy="870013"/>
          </a:xfrm>
        </p:spPr>
        <p:txBody>
          <a:bodyPr>
            <a:normAutofit/>
          </a:bodyPr>
          <a:lstStyle/>
          <a:p>
            <a:pPr algn="ctr"/>
            <a:r>
              <a:rPr lang="es-ES" dirty="0"/>
              <a:t>Elementos de Scrum</a:t>
            </a:r>
          </a:p>
        </p:txBody>
      </p:sp>
      <p:sp>
        <p:nvSpPr>
          <p:cNvPr id="5" name="Marcador de texto 4">
            <a:extLst>
              <a:ext uri="{FF2B5EF4-FFF2-40B4-BE49-F238E27FC236}">
                <a16:creationId xmlns:a16="http://schemas.microsoft.com/office/drawing/2014/main" id="{DFED44FA-B5A0-1F44-28F1-D7794B5CA984}"/>
              </a:ext>
            </a:extLst>
          </p:cNvPr>
          <p:cNvSpPr>
            <a:spLocks noGrp="1"/>
          </p:cNvSpPr>
          <p:nvPr>
            <p:ph type="body" sz="quarter" idx="13"/>
          </p:nvPr>
        </p:nvSpPr>
        <p:spPr/>
        <p:txBody>
          <a:bodyPr/>
          <a:lstStyle/>
          <a:p>
            <a:endParaRPr lang="es-ES"/>
          </a:p>
        </p:txBody>
      </p:sp>
      <p:pic>
        <p:nvPicPr>
          <p:cNvPr id="23554" name="Picture 2" descr="Nota, Post It, Recordatorio, Nota Adhesiva, Amarillo">
            <a:extLst>
              <a:ext uri="{FF2B5EF4-FFF2-40B4-BE49-F238E27FC236}">
                <a16:creationId xmlns:a16="http://schemas.microsoft.com/office/drawing/2014/main" id="{B0A626A9-3C44-425F-BBD6-E559C7B9EA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7458" y="85731"/>
            <a:ext cx="3112860" cy="1835190"/>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8E9F128-0DF6-4411-B440-5B0435B14D6D}"/>
              </a:ext>
            </a:extLst>
          </p:cNvPr>
          <p:cNvSpPr txBox="1"/>
          <p:nvPr/>
        </p:nvSpPr>
        <p:spPr>
          <a:xfrm>
            <a:off x="1185260" y="253602"/>
            <a:ext cx="1758815" cy="1384995"/>
          </a:xfrm>
          <a:prstGeom prst="rect">
            <a:avLst/>
          </a:prstGeom>
          <a:noFill/>
        </p:spPr>
        <p:txBody>
          <a:bodyPr wrap="none" rtlCol="0">
            <a:spAutoFit/>
          </a:bodyPr>
          <a:lstStyle/>
          <a:p>
            <a:pPr algn="ctr"/>
            <a:r>
              <a:rPr lang="es-ES" sz="2800" dirty="0">
                <a:latin typeface="Brush Script Std" panose="03060802040607070404" pitchFamily="66" charset="0"/>
              </a:rPr>
              <a:t>Gestionar </a:t>
            </a:r>
          </a:p>
          <a:p>
            <a:pPr algn="ctr"/>
            <a:r>
              <a:rPr lang="es-ES" sz="2800" dirty="0">
                <a:latin typeface="Brush Script Std" panose="03060802040607070404" pitchFamily="66" charset="0"/>
              </a:rPr>
              <a:t>llamadas </a:t>
            </a:r>
          </a:p>
          <a:p>
            <a:pPr algn="ctr"/>
            <a:r>
              <a:rPr lang="es-ES" sz="2800" dirty="0">
                <a:latin typeface="Brush Script Std" panose="03060802040607070404" pitchFamily="66" charset="0"/>
              </a:rPr>
              <a:t>de alumnos</a:t>
            </a:r>
          </a:p>
        </p:txBody>
      </p:sp>
      <p:pic>
        <p:nvPicPr>
          <p:cNvPr id="12" name="Picture 2" descr="Nota, Post It, Recordatorio, Nota Adhesiva, Amarillo">
            <a:extLst>
              <a:ext uri="{FF2B5EF4-FFF2-40B4-BE49-F238E27FC236}">
                <a16:creationId xmlns:a16="http://schemas.microsoft.com/office/drawing/2014/main" id="{1A38E365-1FC3-44CB-98B5-30D9007EE982}"/>
              </a:ext>
            </a:extLst>
          </p:cNvPr>
          <p:cNvPicPr>
            <a:picLocks noChangeAspect="1" noChangeArrowheads="1"/>
          </p:cNvPicPr>
          <p:nvPr/>
        </p:nvPicPr>
        <p:blipFill>
          <a:blip r:embed="rId3" cstate="print">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5384655" y="791891"/>
            <a:ext cx="1941571" cy="1248907"/>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51E402A9-344E-4065-B260-43C8BD5FC5C6}"/>
              </a:ext>
            </a:extLst>
          </p:cNvPr>
          <p:cNvSpPr txBox="1"/>
          <p:nvPr/>
        </p:nvSpPr>
        <p:spPr>
          <a:xfrm>
            <a:off x="5505589" y="852053"/>
            <a:ext cx="1544012" cy="954107"/>
          </a:xfrm>
          <a:prstGeom prst="rect">
            <a:avLst/>
          </a:prstGeom>
          <a:noFill/>
        </p:spPr>
        <p:txBody>
          <a:bodyPr wrap="none" rtlCol="0">
            <a:spAutoFit/>
          </a:bodyPr>
          <a:lstStyle/>
          <a:p>
            <a:r>
              <a:rPr lang="es-ES" sz="2800" dirty="0">
                <a:latin typeface="Brush Script Std" panose="03060802040607070404" pitchFamily="66" charset="0"/>
              </a:rPr>
              <a:t>Empresa </a:t>
            </a:r>
          </a:p>
          <a:p>
            <a:r>
              <a:rPr lang="es-ES" sz="2800">
                <a:latin typeface="Brush Script Std" panose="03060802040607070404" pitchFamily="66" charset="0"/>
              </a:rPr>
              <a:t>Digitech</a:t>
            </a:r>
            <a:endParaRPr lang="es-ES" sz="2800" dirty="0">
              <a:latin typeface="Brush Script Std" panose="03060802040607070404" pitchFamily="66" charset="0"/>
            </a:endParaRPr>
          </a:p>
        </p:txBody>
      </p:sp>
      <p:pic>
        <p:nvPicPr>
          <p:cNvPr id="14" name="Picture 2" descr="Nota, Post It, Recordatorio, Nota Adhesiva, Amarillo">
            <a:extLst>
              <a:ext uri="{FF2B5EF4-FFF2-40B4-BE49-F238E27FC236}">
                <a16:creationId xmlns:a16="http://schemas.microsoft.com/office/drawing/2014/main" id="{4573F029-7E18-4598-9E39-7483F7839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513" y="2182201"/>
            <a:ext cx="5803102" cy="1834121"/>
          </a:xfrm>
          <a:prstGeom prst="rect">
            <a:avLst/>
          </a:prstGeom>
          <a:noFill/>
          <a:extLst>
            <a:ext uri="{909E8E84-426E-40DD-AFC4-6F175D3DCCD1}">
              <a14:hiddenFill xmlns:a14="http://schemas.microsoft.com/office/drawing/2010/main">
                <a:solidFill>
                  <a:srgbClr val="FFFFFF"/>
                </a:solidFill>
              </a14:hiddenFill>
            </a:ext>
          </a:extLst>
        </p:spPr>
      </p:pic>
      <p:sp>
        <p:nvSpPr>
          <p:cNvPr id="15" name="CuadroTexto 14">
            <a:extLst>
              <a:ext uri="{FF2B5EF4-FFF2-40B4-BE49-F238E27FC236}">
                <a16:creationId xmlns:a16="http://schemas.microsoft.com/office/drawing/2014/main" id="{324787B0-745C-41EA-B980-D9F079B667F5}"/>
              </a:ext>
            </a:extLst>
          </p:cNvPr>
          <p:cNvSpPr txBox="1"/>
          <p:nvPr/>
        </p:nvSpPr>
        <p:spPr>
          <a:xfrm>
            <a:off x="101835" y="2302212"/>
            <a:ext cx="5174253" cy="1323439"/>
          </a:xfrm>
          <a:prstGeom prst="rect">
            <a:avLst/>
          </a:prstGeom>
          <a:noFill/>
        </p:spPr>
        <p:txBody>
          <a:bodyPr wrap="square" rtlCol="0">
            <a:spAutoFit/>
          </a:bodyPr>
          <a:lstStyle/>
          <a:p>
            <a:r>
              <a:rPr lang="es-ES" sz="2000">
                <a:latin typeface="Georgia" panose="02040502050405020303" pitchFamily="18" charset="0"/>
              </a:rPr>
              <a:t>Product backlog (lista de trabajo a entregar por prioridades)</a:t>
            </a:r>
          </a:p>
          <a:p>
            <a:r>
              <a:rPr lang="es-ES" sz="2000">
                <a:latin typeface="Georgia" panose="02040502050405020303" pitchFamily="18" charset="0"/>
              </a:rPr>
              <a:t>Programa </a:t>
            </a:r>
            <a:r>
              <a:rPr lang="es-ES" sz="2000" dirty="0">
                <a:latin typeface="Georgia" panose="02040502050405020303" pitchFamily="18" charset="0"/>
              </a:rPr>
              <a:t>gestione llamadas, se pueda realizar consultas de las llamadas</a:t>
            </a:r>
          </a:p>
        </p:txBody>
      </p:sp>
      <p:pic>
        <p:nvPicPr>
          <p:cNvPr id="22" name="Picture 2" descr="Nota, Post It, Recordatorio, Nota Adhesiva, Amarillo">
            <a:extLst>
              <a:ext uri="{FF2B5EF4-FFF2-40B4-BE49-F238E27FC236}">
                <a16:creationId xmlns:a16="http://schemas.microsoft.com/office/drawing/2014/main" id="{22872174-EF64-42EF-9150-F0642A58C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415" y="3973840"/>
            <a:ext cx="4876317" cy="2389667"/>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F76B22E6-8270-44B7-9EBD-51B9183BDFB6}"/>
              </a:ext>
            </a:extLst>
          </p:cNvPr>
          <p:cNvSpPr txBox="1"/>
          <p:nvPr/>
        </p:nvSpPr>
        <p:spPr>
          <a:xfrm>
            <a:off x="2817924" y="4397613"/>
            <a:ext cx="4288125" cy="1631216"/>
          </a:xfrm>
          <a:prstGeom prst="rect">
            <a:avLst/>
          </a:prstGeom>
          <a:noFill/>
        </p:spPr>
        <p:txBody>
          <a:bodyPr wrap="square" rtlCol="0">
            <a:spAutoFit/>
          </a:bodyPr>
          <a:lstStyle/>
          <a:p>
            <a:pPr marL="342900" indent="-342900">
              <a:buAutoNum type="arabicPeriod"/>
            </a:pPr>
            <a:r>
              <a:rPr lang="es-ES" sz="2000" dirty="0">
                <a:latin typeface="Georgia" panose="02040502050405020303" pitchFamily="18" charset="0"/>
              </a:rPr>
              <a:t>Creación de las Tablas en </a:t>
            </a:r>
            <a:r>
              <a:rPr lang="es-ES" sz="2000" dirty="0" err="1">
                <a:latin typeface="Georgia" panose="02040502050405020303" pitchFamily="18" charset="0"/>
              </a:rPr>
              <a:t>Mysql</a:t>
            </a:r>
            <a:r>
              <a:rPr lang="es-ES" sz="2000" dirty="0">
                <a:latin typeface="Georgia" panose="02040502050405020303" pitchFamily="18" charset="0"/>
              </a:rPr>
              <a:t>.</a:t>
            </a:r>
          </a:p>
          <a:p>
            <a:r>
              <a:rPr lang="es-ES" sz="2000" dirty="0">
                <a:latin typeface="Georgia" panose="02040502050405020303" pitchFamily="18" charset="0"/>
              </a:rPr>
              <a:t>2. Diseño de un formulario Entrada. Que permita modificar los datos.</a:t>
            </a:r>
          </a:p>
          <a:p>
            <a:r>
              <a:rPr lang="es-ES" sz="2000" dirty="0">
                <a:latin typeface="Georgia" panose="02040502050405020303" pitchFamily="18" charset="0"/>
              </a:rPr>
              <a:t>3.  Diseño de consultas y </a:t>
            </a:r>
            <a:r>
              <a:rPr lang="es-ES" sz="2000">
                <a:latin typeface="Georgia" panose="02040502050405020303" pitchFamily="18" charset="0"/>
              </a:rPr>
              <a:t>listados. (tabla de tareas)</a:t>
            </a:r>
            <a:endParaRPr lang="es-ES" sz="2000" dirty="0">
              <a:latin typeface="Georgia" panose="02040502050405020303" pitchFamily="18" charset="0"/>
            </a:endParaRPr>
          </a:p>
        </p:txBody>
      </p:sp>
      <p:sp>
        <p:nvSpPr>
          <p:cNvPr id="3" name="Flecha: a la derecha 2">
            <a:extLst>
              <a:ext uri="{FF2B5EF4-FFF2-40B4-BE49-F238E27FC236}">
                <a16:creationId xmlns:a16="http://schemas.microsoft.com/office/drawing/2014/main" id="{9F1E99D6-F9BE-4EBE-B441-52675CA9DDA6}"/>
              </a:ext>
            </a:extLst>
          </p:cNvPr>
          <p:cNvSpPr/>
          <p:nvPr/>
        </p:nvSpPr>
        <p:spPr>
          <a:xfrm>
            <a:off x="3681192" y="961970"/>
            <a:ext cx="159489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7" name="Picture 2" descr="Nota, Post It, Recordatorio, Nota Adhesiva, Amarillo">
            <a:extLst>
              <a:ext uri="{FF2B5EF4-FFF2-40B4-BE49-F238E27FC236}">
                <a16:creationId xmlns:a16="http://schemas.microsoft.com/office/drawing/2014/main" id="{36F12518-EA83-46D9-ACF7-572D8C1B4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5575" y="2157493"/>
            <a:ext cx="5623628" cy="1440306"/>
          </a:xfrm>
          <a:prstGeom prst="rect">
            <a:avLst/>
          </a:prstGeom>
          <a:noFill/>
          <a:extLst>
            <a:ext uri="{909E8E84-426E-40DD-AFC4-6F175D3DCCD1}">
              <a14:hiddenFill xmlns:a14="http://schemas.microsoft.com/office/drawing/2010/main">
                <a:solidFill>
                  <a:srgbClr val="FFFFFF"/>
                </a:solidFill>
              </a14:hiddenFill>
            </a:ext>
          </a:extLst>
        </p:spPr>
      </p:pic>
      <p:sp>
        <p:nvSpPr>
          <p:cNvPr id="48" name="Flecha: a la derecha 47">
            <a:extLst>
              <a:ext uri="{FF2B5EF4-FFF2-40B4-BE49-F238E27FC236}">
                <a16:creationId xmlns:a16="http://schemas.microsoft.com/office/drawing/2014/main" id="{4DA93EB2-2DFC-43E4-B5CC-F87B44B6C8D6}"/>
              </a:ext>
            </a:extLst>
          </p:cNvPr>
          <p:cNvSpPr/>
          <p:nvPr/>
        </p:nvSpPr>
        <p:spPr>
          <a:xfrm>
            <a:off x="5307473" y="2545727"/>
            <a:ext cx="970122" cy="6305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uadroTexto 49">
            <a:extLst>
              <a:ext uri="{FF2B5EF4-FFF2-40B4-BE49-F238E27FC236}">
                <a16:creationId xmlns:a16="http://schemas.microsoft.com/office/drawing/2014/main" id="{9F9C4975-DC1E-4A5D-A7EE-085A8DB2CBC3}"/>
              </a:ext>
            </a:extLst>
          </p:cNvPr>
          <p:cNvSpPr txBox="1"/>
          <p:nvPr/>
        </p:nvSpPr>
        <p:spPr>
          <a:xfrm>
            <a:off x="7199836" y="2210631"/>
            <a:ext cx="4726961" cy="1631216"/>
          </a:xfrm>
          <a:prstGeom prst="rect">
            <a:avLst/>
          </a:prstGeom>
          <a:noFill/>
        </p:spPr>
        <p:txBody>
          <a:bodyPr wrap="square" rtlCol="0">
            <a:spAutoFit/>
          </a:bodyPr>
          <a:lstStyle>
            <a:defPPr>
              <a:defRPr lang="es-ES"/>
            </a:defPPr>
            <a:lvl1pPr marL="342900" indent="-342900">
              <a:buAutoNum type="arabicPeriod"/>
              <a:defRPr sz="2000">
                <a:latin typeface="Georgia" panose="02040502050405020303" pitchFamily="18" charset="0"/>
              </a:defRPr>
            </a:lvl1pPr>
          </a:lstStyle>
          <a:p>
            <a:pPr marL="0" indent="0">
              <a:buNone/>
            </a:pPr>
            <a:r>
              <a:rPr lang="es-ES"/>
              <a:t>Items o tareas</a:t>
            </a:r>
          </a:p>
          <a:p>
            <a:r>
              <a:rPr lang="es-ES"/>
              <a:t>Altas </a:t>
            </a:r>
            <a:r>
              <a:rPr lang="es-ES" dirty="0"/>
              <a:t>de alumnos.</a:t>
            </a:r>
          </a:p>
          <a:p>
            <a:r>
              <a:rPr lang="es-ES" dirty="0"/>
              <a:t>Gestión de llamadas</a:t>
            </a:r>
          </a:p>
          <a:p>
            <a:r>
              <a:rPr lang="es-ES" dirty="0"/>
              <a:t>Consultas y listado de llamadas</a:t>
            </a:r>
          </a:p>
          <a:p>
            <a:endParaRPr lang="es-ES" dirty="0"/>
          </a:p>
        </p:txBody>
      </p:sp>
      <p:sp>
        <p:nvSpPr>
          <p:cNvPr id="51" name="Flecha: a la derecha 50">
            <a:extLst>
              <a:ext uri="{FF2B5EF4-FFF2-40B4-BE49-F238E27FC236}">
                <a16:creationId xmlns:a16="http://schemas.microsoft.com/office/drawing/2014/main" id="{B7050E50-4C82-4584-8380-88977F780EA9}"/>
              </a:ext>
            </a:extLst>
          </p:cNvPr>
          <p:cNvSpPr/>
          <p:nvPr/>
        </p:nvSpPr>
        <p:spPr>
          <a:xfrm rot="7777416">
            <a:off x="6608655" y="3575516"/>
            <a:ext cx="478226" cy="3159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66A72011-72F4-4108-8C9E-135014718BE5}"/>
              </a:ext>
            </a:extLst>
          </p:cNvPr>
          <p:cNvSpPr/>
          <p:nvPr/>
        </p:nvSpPr>
        <p:spPr>
          <a:xfrm>
            <a:off x="0" y="396459"/>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1</a:t>
            </a:r>
          </a:p>
        </p:txBody>
      </p:sp>
      <p:sp>
        <p:nvSpPr>
          <p:cNvPr id="52" name="Elipse 51">
            <a:extLst>
              <a:ext uri="{FF2B5EF4-FFF2-40B4-BE49-F238E27FC236}">
                <a16:creationId xmlns:a16="http://schemas.microsoft.com/office/drawing/2014/main" id="{36AC2233-561C-4E47-BF58-1B0BDB4CDFB9}"/>
              </a:ext>
            </a:extLst>
          </p:cNvPr>
          <p:cNvSpPr/>
          <p:nvPr/>
        </p:nvSpPr>
        <p:spPr>
          <a:xfrm>
            <a:off x="5597283" y="3752816"/>
            <a:ext cx="559347" cy="70501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2</a:t>
            </a:r>
          </a:p>
        </p:txBody>
      </p:sp>
      <p:sp>
        <p:nvSpPr>
          <p:cNvPr id="53" name="Flecha: a la derecha 52">
            <a:extLst>
              <a:ext uri="{FF2B5EF4-FFF2-40B4-BE49-F238E27FC236}">
                <a16:creationId xmlns:a16="http://schemas.microsoft.com/office/drawing/2014/main" id="{B8AF7347-79C7-4BF6-8B32-A5DC97E306F7}"/>
              </a:ext>
            </a:extLst>
          </p:cNvPr>
          <p:cNvSpPr/>
          <p:nvPr/>
        </p:nvSpPr>
        <p:spPr>
          <a:xfrm rot="10155520">
            <a:off x="2293716" y="1694108"/>
            <a:ext cx="2593203" cy="3141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Elipse 54">
            <a:extLst>
              <a:ext uri="{FF2B5EF4-FFF2-40B4-BE49-F238E27FC236}">
                <a16:creationId xmlns:a16="http://schemas.microsoft.com/office/drawing/2014/main" id="{6C69533F-A352-4BF3-BBBB-2EFD6965244E}"/>
              </a:ext>
            </a:extLst>
          </p:cNvPr>
          <p:cNvSpPr/>
          <p:nvPr/>
        </p:nvSpPr>
        <p:spPr>
          <a:xfrm>
            <a:off x="8952797" y="3988900"/>
            <a:ext cx="559347" cy="54852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b="1" dirty="0">
                <a:solidFill>
                  <a:schemeClr val="bg1"/>
                </a:solidFill>
              </a:rPr>
              <a:t>3</a:t>
            </a:r>
          </a:p>
        </p:txBody>
      </p:sp>
      <p:pic>
        <p:nvPicPr>
          <p:cNvPr id="60" name="Imagen 59">
            <a:extLst>
              <a:ext uri="{FF2B5EF4-FFF2-40B4-BE49-F238E27FC236}">
                <a16:creationId xmlns:a16="http://schemas.microsoft.com/office/drawing/2014/main" id="{98C91E52-693A-4851-A07E-48D5DC49686D}"/>
              </a:ext>
            </a:extLst>
          </p:cNvPr>
          <p:cNvPicPr>
            <a:picLocks noChangeAspect="1"/>
          </p:cNvPicPr>
          <p:nvPr/>
        </p:nvPicPr>
        <p:blipFill>
          <a:blip r:embed="rId4"/>
          <a:stretch>
            <a:fillRect/>
          </a:stretch>
        </p:blipFill>
        <p:spPr>
          <a:xfrm>
            <a:off x="10901324" y="0"/>
            <a:ext cx="1353429" cy="823031"/>
          </a:xfrm>
          <a:prstGeom prst="rect">
            <a:avLst/>
          </a:prstGeom>
        </p:spPr>
      </p:pic>
    </p:spTree>
    <p:extLst>
      <p:ext uri="{BB962C8B-B14F-4D97-AF65-F5344CB8AC3E}">
        <p14:creationId xmlns:p14="http://schemas.microsoft.com/office/powerpoint/2010/main" val="2301443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A5FDD6F-5D5B-6809-ECC5-2F6F04E19F70}"/>
              </a:ext>
            </a:extLst>
          </p:cNvPr>
          <p:cNvSpPr>
            <a:spLocks noGrp="1"/>
          </p:cNvSpPr>
          <p:nvPr>
            <p:ph type="title"/>
          </p:nvPr>
        </p:nvSpPr>
        <p:spPr/>
        <p:txBody>
          <a:bodyPr>
            <a:normAutofit/>
          </a:bodyPr>
          <a:lstStyle/>
          <a:p>
            <a:r>
              <a:rPr lang="es-ES" sz="4400" b="1">
                <a:solidFill>
                  <a:schemeClr val="bg1"/>
                </a:solidFill>
                <a:latin typeface="Calibri" panose="020F0502020204030204" pitchFamily="34" charset="0"/>
              </a:rPr>
              <a:t>Propietario del producto (Product Owner) </a:t>
            </a:r>
            <a:endParaRPr lang="es-ES">
              <a:solidFill>
                <a:schemeClr val="bg1"/>
              </a:solidFill>
            </a:endParaRPr>
          </a:p>
        </p:txBody>
      </p:sp>
      <p:pic>
        <p:nvPicPr>
          <p:cNvPr id="5" name="Imagen 4">
            <a:extLst>
              <a:ext uri="{FF2B5EF4-FFF2-40B4-BE49-F238E27FC236}">
                <a16:creationId xmlns:a16="http://schemas.microsoft.com/office/drawing/2014/main" id="{A45CE3E3-46E6-45D9-B862-B6A855B472F6}"/>
              </a:ext>
            </a:extLst>
          </p:cNvPr>
          <p:cNvPicPr>
            <a:picLocks noChangeAspect="1"/>
          </p:cNvPicPr>
          <p:nvPr/>
        </p:nvPicPr>
        <p:blipFill>
          <a:blip r:embed="rId2"/>
          <a:stretch>
            <a:fillRect/>
          </a:stretch>
        </p:blipFill>
        <p:spPr>
          <a:xfrm>
            <a:off x="10901324" y="0"/>
            <a:ext cx="1353429" cy="823031"/>
          </a:xfrm>
          <a:prstGeom prst="rect">
            <a:avLst/>
          </a:prstGeom>
        </p:spPr>
      </p:pic>
      <p:sp>
        <p:nvSpPr>
          <p:cNvPr id="2" name="Rectángulo 1">
            <a:extLst>
              <a:ext uri="{FF2B5EF4-FFF2-40B4-BE49-F238E27FC236}">
                <a16:creationId xmlns:a16="http://schemas.microsoft.com/office/drawing/2014/main" id="{32317095-3499-41C8-AF37-1EAB3D926D7B}"/>
              </a:ext>
            </a:extLst>
          </p:cNvPr>
          <p:cNvSpPr/>
          <p:nvPr/>
        </p:nvSpPr>
        <p:spPr>
          <a:xfrm>
            <a:off x="643715" y="1051631"/>
            <a:ext cx="2475917" cy="501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PRODUCT OWNER</a:t>
            </a:r>
          </a:p>
        </p:txBody>
      </p:sp>
      <p:sp>
        <p:nvSpPr>
          <p:cNvPr id="6" name="Rectángulo 5">
            <a:extLst>
              <a:ext uri="{FF2B5EF4-FFF2-40B4-BE49-F238E27FC236}">
                <a16:creationId xmlns:a16="http://schemas.microsoft.com/office/drawing/2014/main" id="{E33C1EF4-3009-4BD0-A102-450C21121972}"/>
              </a:ext>
            </a:extLst>
          </p:cNvPr>
          <p:cNvSpPr/>
          <p:nvPr/>
        </p:nvSpPr>
        <p:spPr>
          <a:xfrm>
            <a:off x="7760049" y="1076147"/>
            <a:ext cx="2624641"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DEVELOPMENT TEAM</a:t>
            </a:r>
          </a:p>
        </p:txBody>
      </p:sp>
      <p:sp>
        <p:nvSpPr>
          <p:cNvPr id="7" name="Rectángulo 6">
            <a:extLst>
              <a:ext uri="{FF2B5EF4-FFF2-40B4-BE49-F238E27FC236}">
                <a16:creationId xmlns:a16="http://schemas.microsoft.com/office/drawing/2014/main" id="{C4EE4C1D-4746-474B-9C3F-1971723E5B2F}"/>
              </a:ext>
            </a:extLst>
          </p:cNvPr>
          <p:cNvSpPr/>
          <p:nvPr/>
        </p:nvSpPr>
        <p:spPr>
          <a:xfrm>
            <a:off x="4164700" y="1073989"/>
            <a:ext cx="2475917"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SCRUM MASTER</a:t>
            </a:r>
          </a:p>
        </p:txBody>
      </p:sp>
      <p:sp>
        <p:nvSpPr>
          <p:cNvPr id="8" name="Marcador de contenido 2">
            <a:extLst>
              <a:ext uri="{FF2B5EF4-FFF2-40B4-BE49-F238E27FC236}">
                <a16:creationId xmlns:a16="http://schemas.microsoft.com/office/drawing/2014/main" id="{67501053-B442-4A38-AF08-4E1CBC3BC795}"/>
              </a:ext>
            </a:extLst>
          </p:cNvPr>
          <p:cNvSpPr txBox="1">
            <a:spLocks/>
          </p:cNvSpPr>
          <p:nvPr/>
        </p:nvSpPr>
        <p:spPr>
          <a:xfrm>
            <a:off x="291668" y="1757523"/>
            <a:ext cx="11324070" cy="52664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800">
                <a:solidFill>
                  <a:srgbClr val="000000"/>
                </a:solidFill>
                <a:latin typeface="Calibri" panose="020F0502020204030204" pitchFamily="34" charset="0"/>
              </a:rPr>
              <a:t>El </a:t>
            </a:r>
            <a:r>
              <a:rPr lang="es-ES" sz="1800" dirty="0">
                <a:solidFill>
                  <a:srgbClr val="000000"/>
                </a:solidFill>
                <a:latin typeface="Calibri" panose="020F0502020204030204" pitchFamily="34" charset="0"/>
              </a:rPr>
              <a:t>Propietario del Producto es responsable de maximizar el valor del producto resultante del trabajo del equipo de Scrum. La forma en que esto se hace esto puede variar ampliamente entre organizaciones, equipos Scrum e individuos. </a:t>
            </a:r>
          </a:p>
          <a:p>
            <a:r>
              <a:rPr lang="es-ES" sz="1800" dirty="0">
                <a:solidFill>
                  <a:srgbClr val="000000"/>
                </a:solidFill>
                <a:latin typeface="Calibri" panose="020F0502020204030204" pitchFamily="34" charset="0"/>
              </a:rPr>
              <a:t>El Propietario del Producto también es responsable de la gestión eficaz de la pila del producto (</a:t>
            </a:r>
            <a:r>
              <a:rPr lang="es-ES" sz="1800" dirty="0" err="1">
                <a:solidFill>
                  <a:srgbClr val="000000"/>
                </a:solidFill>
                <a:latin typeface="Calibri" panose="020F0502020204030204" pitchFamily="34" charset="0"/>
              </a:rPr>
              <a:t>Product</a:t>
            </a:r>
            <a:r>
              <a:rPr lang="es-ES" sz="1800" dirty="0">
                <a:solidFill>
                  <a:srgbClr val="000000"/>
                </a:solidFill>
                <a:latin typeface="Calibri" panose="020F0502020204030204" pitchFamily="34" charset="0"/>
              </a:rPr>
              <a:t> Backlog), que incluye: </a:t>
            </a:r>
          </a:p>
          <a:p>
            <a:pPr marL="800100" lvl="1" indent="-342900">
              <a:buFont typeface="+mj-lt"/>
              <a:buAutoNum type="arabicPeriod"/>
            </a:pPr>
            <a:r>
              <a:rPr lang="es-ES" sz="1900" dirty="0">
                <a:solidFill>
                  <a:srgbClr val="000000"/>
                </a:solidFill>
                <a:latin typeface="Calibri" panose="020F0502020204030204" pitchFamily="34" charset="0"/>
              </a:rPr>
              <a:t>● </a:t>
            </a:r>
            <a:r>
              <a:rPr lang="es-ES" sz="1900" b="1" dirty="0">
                <a:solidFill>
                  <a:srgbClr val="000000"/>
                </a:solidFill>
                <a:latin typeface="Calibri" panose="020F0502020204030204" pitchFamily="34" charset="0"/>
              </a:rPr>
              <a:t>Desarrollar y comunicar </a:t>
            </a:r>
            <a:r>
              <a:rPr lang="es-ES" sz="1900" dirty="0">
                <a:solidFill>
                  <a:srgbClr val="000000"/>
                </a:solidFill>
                <a:latin typeface="Calibri" panose="020F0502020204030204" pitchFamily="34" charset="0"/>
              </a:rPr>
              <a:t>explícitamente el Objetivo del Producto; </a:t>
            </a:r>
          </a:p>
          <a:p>
            <a:pPr marL="800100" lvl="1" indent="-342900">
              <a:buFont typeface="+mj-lt"/>
              <a:buAutoNum type="arabicPeriod"/>
            </a:pPr>
            <a:r>
              <a:rPr lang="es-ES" sz="1900" dirty="0">
                <a:solidFill>
                  <a:srgbClr val="000000"/>
                </a:solidFill>
                <a:latin typeface="Calibri" panose="020F0502020204030204" pitchFamily="34" charset="0"/>
              </a:rPr>
              <a:t>● </a:t>
            </a:r>
            <a:r>
              <a:rPr lang="es-ES" sz="1900" b="1" dirty="0">
                <a:solidFill>
                  <a:srgbClr val="000000"/>
                </a:solidFill>
                <a:latin typeface="Calibri" panose="020F0502020204030204" pitchFamily="34" charset="0"/>
              </a:rPr>
              <a:t>Creación y comunicación </a:t>
            </a:r>
            <a:r>
              <a:rPr lang="es-ES" sz="1900" dirty="0">
                <a:solidFill>
                  <a:srgbClr val="000000"/>
                </a:solidFill>
                <a:latin typeface="Calibri" panose="020F0502020204030204" pitchFamily="34" charset="0"/>
              </a:rPr>
              <a:t>clara de elementos de trabajo pendiente del producto; </a:t>
            </a:r>
          </a:p>
          <a:p>
            <a:pPr marL="800100" lvl="1" indent="-342900">
              <a:buFont typeface="+mj-lt"/>
              <a:buAutoNum type="arabicPeriod"/>
            </a:pPr>
            <a:r>
              <a:rPr lang="es-ES" sz="1900" dirty="0">
                <a:solidFill>
                  <a:srgbClr val="000000"/>
                </a:solidFill>
                <a:latin typeface="Calibri" panose="020F0502020204030204" pitchFamily="34" charset="0"/>
              </a:rPr>
              <a:t>● </a:t>
            </a:r>
            <a:r>
              <a:rPr lang="es-ES" sz="1900" b="1" dirty="0">
                <a:solidFill>
                  <a:srgbClr val="000000"/>
                </a:solidFill>
                <a:latin typeface="Calibri" panose="020F0502020204030204" pitchFamily="34" charset="0"/>
              </a:rPr>
              <a:t>Pedido de artículos de trabajo </a:t>
            </a:r>
            <a:r>
              <a:rPr lang="es-ES" sz="1900" dirty="0">
                <a:solidFill>
                  <a:srgbClr val="000000"/>
                </a:solidFill>
                <a:latin typeface="Calibri" panose="020F0502020204030204" pitchFamily="34" charset="0"/>
              </a:rPr>
              <a:t>pendiente del producto; </a:t>
            </a:r>
          </a:p>
          <a:p>
            <a:pPr marL="800100" lvl="1" indent="-342900">
              <a:buFont typeface="+mj-lt"/>
              <a:buAutoNum type="arabicPeriod"/>
            </a:pPr>
            <a:r>
              <a:rPr lang="es-ES" sz="1900" dirty="0">
                <a:solidFill>
                  <a:srgbClr val="000000"/>
                </a:solidFill>
                <a:latin typeface="Calibri" panose="020F0502020204030204" pitchFamily="34" charset="0"/>
              </a:rPr>
              <a:t>● </a:t>
            </a:r>
            <a:r>
              <a:rPr lang="es-ES" sz="1900" b="1" dirty="0">
                <a:solidFill>
                  <a:srgbClr val="000000"/>
                </a:solidFill>
                <a:latin typeface="Calibri" panose="020F0502020204030204" pitchFamily="34" charset="0"/>
              </a:rPr>
              <a:t>Asegurarse de que el trabajo pendiente del producto sea transparente, visible y comprendido</a:t>
            </a:r>
            <a:r>
              <a:rPr lang="es-ES" sz="1900" dirty="0">
                <a:solidFill>
                  <a:srgbClr val="000000"/>
                </a:solidFill>
                <a:latin typeface="Calibri" panose="020F0502020204030204" pitchFamily="34" charset="0"/>
              </a:rPr>
              <a:t>. </a:t>
            </a:r>
          </a:p>
          <a:p>
            <a:endParaRPr lang="es-ES" sz="1800" dirty="0">
              <a:solidFill>
                <a:srgbClr val="000000"/>
              </a:solidFill>
              <a:latin typeface="Calibri" panose="020F0502020204030204" pitchFamily="34" charset="0"/>
            </a:endParaRPr>
          </a:p>
          <a:p>
            <a:r>
              <a:rPr lang="es-ES" sz="1800" dirty="0">
                <a:solidFill>
                  <a:srgbClr val="000000"/>
                </a:solidFill>
                <a:latin typeface="Calibri" panose="020F0502020204030204" pitchFamily="34" charset="0"/>
              </a:rPr>
              <a:t>Para que los Propietarios de Productos tengan éxito, toda la organización debe respetar sus decisiones. Estas decisiones son visibles en el contenido y el orden del trabajo pendiente del producto, y a través del Incremento inspeccionable en la revisión de Sprint. </a:t>
            </a:r>
          </a:p>
          <a:p>
            <a:r>
              <a:rPr lang="es-ES" sz="1800" dirty="0">
                <a:solidFill>
                  <a:srgbClr val="000000"/>
                </a:solidFill>
                <a:latin typeface="Calibri" panose="020F0502020204030204" pitchFamily="34" charset="0"/>
              </a:rPr>
              <a:t>El Propietario del Producto es una persona, no un comité. El Propietario del Producto puede representar las necesidades de muchas partes interesadas en el trabajo pendiente del producto. Aquellos que deseen cambiar el trabajo pendiente del producto pueden hacerlo tratando de negociar con criterio con el </a:t>
            </a:r>
            <a:r>
              <a:rPr lang="es-ES" sz="1800" dirty="0" err="1">
                <a:solidFill>
                  <a:srgbClr val="000000"/>
                </a:solidFill>
                <a:latin typeface="Calibri" panose="020F0502020204030204" pitchFamily="34" charset="0"/>
              </a:rPr>
              <a:t>Product</a:t>
            </a:r>
            <a:r>
              <a:rPr lang="es-ES" sz="1800" dirty="0">
                <a:solidFill>
                  <a:srgbClr val="000000"/>
                </a:solidFill>
                <a:latin typeface="Calibri" panose="020F0502020204030204" pitchFamily="34" charset="0"/>
              </a:rPr>
              <a:t> </a:t>
            </a:r>
            <a:r>
              <a:rPr lang="es-ES" sz="1800" dirty="0" err="1">
                <a:solidFill>
                  <a:srgbClr val="000000"/>
                </a:solidFill>
                <a:latin typeface="Calibri" panose="020F0502020204030204" pitchFamily="34" charset="0"/>
              </a:rPr>
              <a:t>Owner</a:t>
            </a:r>
            <a:r>
              <a:rPr lang="es-ES" sz="1800" dirty="0">
                <a:solidFill>
                  <a:srgbClr val="000000"/>
                </a:solidFill>
                <a:latin typeface="Calibri" panose="020F0502020204030204" pitchFamily="34" charset="0"/>
              </a:rPr>
              <a:t>. </a:t>
            </a:r>
            <a:endParaRPr lang="es-ES" dirty="0"/>
          </a:p>
        </p:txBody>
      </p:sp>
    </p:spTree>
    <p:extLst>
      <p:ext uri="{BB962C8B-B14F-4D97-AF65-F5344CB8AC3E}">
        <p14:creationId xmlns:p14="http://schemas.microsoft.com/office/powerpoint/2010/main" val="3483938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B9BC8E-D256-7452-F77D-B9C50553D21A}"/>
              </a:ext>
            </a:extLst>
          </p:cNvPr>
          <p:cNvSpPr>
            <a:spLocks noGrp="1"/>
          </p:cNvSpPr>
          <p:nvPr>
            <p:ph type="title"/>
          </p:nvPr>
        </p:nvSpPr>
        <p:spPr/>
        <p:txBody>
          <a:bodyPr>
            <a:normAutofit/>
          </a:bodyPr>
          <a:lstStyle/>
          <a:p>
            <a:r>
              <a:rPr lang="es-ES" b="1" i="0" u="none" strike="noStrike" baseline="0">
                <a:solidFill>
                  <a:schemeClr val="bg1"/>
                </a:solidFill>
                <a:latin typeface="Calibri" panose="020F0502020204030204" pitchFamily="34" charset="0"/>
              </a:rPr>
              <a:t>El equipo Scrum (Scrum Team) </a:t>
            </a:r>
            <a:endParaRPr lang="es-ES">
              <a:solidFill>
                <a:schemeClr val="bg1"/>
              </a:solidFill>
            </a:endParaRPr>
          </a:p>
        </p:txBody>
      </p:sp>
      <p:sp>
        <p:nvSpPr>
          <p:cNvPr id="3" name="Marcador de contenido 2">
            <a:extLst>
              <a:ext uri="{FF2B5EF4-FFF2-40B4-BE49-F238E27FC236}">
                <a16:creationId xmlns:a16="http://schemas.microsoft.com/office/drawing/2014/main" id="{9C676FEB-104B-4014-8EA1-D67C3DF03A36}"/>
              </a:ext>
            </a:extLst>
          </p:cNvPr>
          <p:cNvSpPr>
            <a:spLocks noGrp="1"/>
          </p:cNvSpPr>
          <p:nvPr>
            <p:ph type="body" sz="quarter" idx="13"/>
          </p:nvPr>
        </p:nvSpPr>
        <p:spPr>
          <a:xfrm>
            <a:off x="48213" y="1278153"/>
            <a:ext cx="5760287" cy="4838700"/>
          </a:xfrm>
        </p:spPr>
        <p:txBody>
          <a:bodyPr>
            <a:normAutofit fontScale="92500" lnSpcReduction="10000"/>
          </a:bodyPr>
          <a:lstStyle/>
          <a:p>
            <a:pPr marL="457200" lvl="1" indent="0">
              <a:buNone/>
            </a:pPr>
            <a:endParaRPr lang="es-ES" b="1" i="0" u="none" strike="noStrike" baseline="0" dirty="0">
              <a:solidFill>
                <a:srgbClr val="000000"/>
              </a:solidFill>
              <a:latin typeface="Calibri" panose="020F0502020204030204" pitchFamily="34" charset="0"/>
            </a:endParaRPr>
          </a:p>
          <a:p>
            <a:pPr marL="457200" lvl="1" indent="0">
              <a:buNone/>
            </a:pPr>
            <a:r>
              <a:rPr lang="es-ES" b="1" i="0" dirty="0">
                <a:solidFill>
                  <a:srgbClr val="000000"/>
                </a:solidFill>
                <a:effectLst/>
                <a:latin typeface="Open Sans"/>
              </a:rPr>
              <a:t>Un equipo Scrum suele estar compuesto por grupos de trabajo de entre 3 </a:t>
            </a:r>
            <a:r>
              <a:rPr lang="es-ES" b="1" i="0">
                <a:solidFill>
                  <a:srgbClr val="000000"/>
                </a:solidFill>
                <a:effectLst/>
                <a:latin typeface="Open Sans"/>
              </a:rPr>
              <a:t>a 10 </a:t>
            </a:r>
            <a:r>
              <a:rPr lang="es-ES" b="1" i="0" dirty="0">
                <a:solidFill>
                  <a:srgbClr val="000000"/>
                </a:solidFill>
                <a:effectLst/>
                <a:latin typeface="Open Sans"/>
              </a:rPr>
              <a:t>miembros del equipo de desarrollo, más el Scrum Master y el </a:t>
            </a:r>
            <a:r>
              <a:rPr lang="es-ES" b="1" i="0" dirty="0" err="1">
                <a:solidFill>
                  <a:srgbClr val="000000"/>
                </a:solidFill>
                <a:effectLst/>
                <a:latin typeface="Open Sans"/>
              </a:rPr>
              <a:t>Product</a:t>
            </a:r>
            <a:r>
              <a:rPr lang="es-ES" b="1" i="0" dirty="0">
                <a:solidFill>
                  <a:srgbClr val="000000"/>
                </a:solidFill>
                <a:effectLst/>
                <a:latin typeface="Open Sans"/>
              </a:rPr>
              <a:t> </a:t>
            </a:r>
            <a:r>
              <a:rPr lang="es-ES" b="1" i="0" dirty="0" err="1">
                <a:solidFill>
                  <a:srgbClr val="000000"/>
                </a:solidFill>
                <a:effectLst/>
                <a:latin typeface="Open Sans"/>
              </a:rPr>
              <a:t>Owner</a:t>
            </a:r>
            <a:r>
              <a:rPr lang="es-ES" b="0" i="0" dirty="0">
                <a:solidFill>
                  <a:srgbClr val="000000"/>
                </a:solidFill>
                <a:effectLst/>
                <a:latin typeface="Open Sans"/>
              </a:rPr>
              <a:t>. Cada uno de estos roles tiene diferentes responsabilidades y debe de rendir cuentas de distinta manera, tanto entre ellos como para el resto de la organización. La suma de todos los roles es lo que llamamos Equipo Scrum. </a:t>
            </a:r>
          </a:p>
          <a:p>
            <a:pPr marL="457200" lvl="1" indent="0">
              <a:buNone/>
            </a:pPr>
            <a:endParaRPr lang="es-ES" b="0" i="0" dirty="0">
              <a:solidFill>
                <a:srgbClr val="000000"/>
              </a:solidFill>
              <a:effectLst/>
              <a:latin typeface="Open Sans"/>
            </a:endParaRPr>
          </a:p>
          <a:p>
            <a:pPr marL="457200" lvl="1" indent="0">
              <a:lnSpc>
                <a:spcPct val="120000"/>
              </a:lnSpc>
              <a:buNone/>
            </a:pPr>
            <a:r>
              <a:rPr lang="es-ES" b="0" i="0" dirty="0">
                <a:solidFill>
                  <a:srgbClr val="000000"/>
                </a:solidFill>
                <a:effectLst/>
                <a:latin typeface="Open Sans"/>
              </a:rPr>
              <a:t>Según la guía 2020 Scrum, máximo 10</a:t>
            </a:r>
            <a:endParaRPr lang="es-ES" dirty="0"/>
          </a:p>
          <a:p>
            <a:endParaRPr lang="es-ES" dirty="0"/>
          </a:p>
        </p:txBody>
      </p:sp>
      <p:pic>
        <p:nvPicPr>
          <p:cNvPr id="5" name="Imagen 4">
            <a:extLst>
              <a:ext uri="{FF2B5EF4-FFF2-40B4-BE49-F238E27FC236}">
                <a16:creationId xmlns:a16="http://schemas.microsoft.com/office/drawing/2014/main" id="{A45CE3E3-46E6-45D9-B862-B6A855B472F6}"/>
              </a:ext>
            </a:extLst>
          </p:cNvPr>
          <p:cNvPicPr>
            <a:picLocks noChangeAspect="1"/>
          </p:cNvPicPr>
          <p:nvPr/>
        </p:nvPicPr>
        <p:blipFill>
          <a:blip r:embed="rId2"/>
          <a:stretch>
            <a:fillRect/>
          </a:stretch>
        </p:blipFill>
        <p:spPr>
          <a:xfrm>
            <a:off x="10901324" y="0"/>
            <a:ext cx="1353429" cy="823031"/>
          </a:xfrm>
          <a:prstGeom prst="rect">
            <a:avLst/>
          </a:prstGeom>
        </p:spPr>
      </p:pic>
      <p:pic>
        <p:nvPicPr>
          <p:cNvPr id="6" name="Imagen 5">
            <a:extLst>
              <a:ext uri="{FF2B5EF4-FFF2-40B4-BE49-F238E27FC236}">
                <a16:creationId xmlns:a16="http://schemas.microsoft.com/office/drawing/2014/main" id="{7C3929C2-307D-407F-B998-9DAFD050589F}"/>
              </a:ext>
            </a:extLst>
          </p:cNvPr>
          <p:cNvPicPr>
            <a:picLocks noChangeAspect="1"/>
          </p:cNvPicPr>
          <p:nvPr/>
        </p:nvPicPr>
        <p:blipFill>
          <a:blip r:embed="rId3"/>
          <a:stretch>
            <a:fillRect/>
          </a:stretch>
        </p:blipFill>
        <p:spPr>
          <a:xfrm>
            <a:off x="6203695" y="1559501"/>
            <a:ext cx="5608496" cy="3738997"/>
          </a:xfrm>
          <a:prstGeom prst="rect">
            <a:avLst/>
          </a:prstGeom>
        </p:spPr>
      </p:pic>
    </p:spTree>
    <p:extLst>
      <p:ext uri="{BB962C8B-B14F-4D97-AF65-F5344CB8AC3E}">
        <p14:creationId xmlns:p14="http://schemas.microsoft.com/office/powerpoint/2010/main" val="682925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D94CC8-671C-46D2-AF6B-3D7398FE9B39}"/>
              </a:ext>
            </a:extLst>
          </p:cNvPr>
          <p:cNvSpPr>
            <a:spLocks noGrp="1"/>
          </p:cNvSpPr>
          <p:nvPr>
            <p:ph type="title"/>
          </p:nvPr>
        </p:nvSpPr>
        <p:spPr/>
        <p:txBody>
          <a:bodyPr>
            <a:noAutofit/>
          </a:bodyPr>
          <a:lstStyle/>
          <a:p>
            <a:r>
              <a:rPr lang="es-ES" sz="2800" b="1" i="0" u="none" strike="noStrike" baseline="0">
                <a:solidFill>
                  <a:schemeClr val="bg1"/>
                </a:solidFill>
                <a:latin typeface="Calibri" panose="020F0502020204030204" pitchFamily="34" charset="0"/>
              </a:rPr>
              <a:t>Características equipo Scrum</a:t>
            </a:r>
            <a:endParaRPr lang="es-ES" sz="6000" b="1" dirty="0">
              <a:solidFill>
                <a:schemeClr val="bg1"/>
              </a:solidFill>
            </a:endParaRPr>
          </a:p>
        </p:txBody>
      </p:sp>
      <p:sp>
        <p:nvSpPr>
          <p:cNvPr id="3" name="Marcador de contenido 2">
            <a:extLst>
              <a:ext uri="{FF2B5EF4-FFF2-40B4-BE49-F238E27FC236}">
                <a16:creationId xmlns:a16="http://schemas.microsoft.com/office/drawing/2014/main" id="{9C2BC9F0-DBB3-455C-9F66-FB38ED291212}"/>
              </a:ext>
            </a:extLst>
          </p:cNvPr>
          <p:cNvSpPr>
            <a:spLocks noGrp="1"/>
          </p:cNvSpPr>
          <p:nvPr>
            <p:ph type="body" sz="quarter" idx="13"/>
          </p:nvPr>
        </p:nvSpPr>
        <p:spPr>
          <a:xfrm>
            <a:off x="663191" y="1085222"/>
            <a:ext cx="10557259" cy="4971341"/>
          </a:xfrm>
        </p:spPr>
        <p:txBody>
          <a:bodyPr>
            <a:normAutofit fontScale="85000" lnSpcReduction="10000"/>
          </a:bodyPr>
          <a:lstStyle/>
          <a:p>
            <a:pPr>
              <a:buFont typeface="+mj-lt"/>
              <a:buAutoNum type="arabicPeriod"/>
            </a:pPr>
            <a:r>
              <a:rPr lang="es-ES" sz="2400" b="1" u="none" strike="noStrike" baseline="0">
                <a:solidFill>
                  <a:srgbClr val="000000"/>
                </a:solidFill>
                <a:latin typeface="Calibri" panose="020F0502020204030204" pitchFamily="34" charset="0"/>
              </a:rPr>
              <a:t>Los </a:t>
            </a:r>
            <a:r>
              <a:rPr lang="es-ES" sz="2400" b="1" u="none" strike="noStrike" baseline="0" dirty="0">
                <a:solidFill>
                  <a:srgbClr val="000000"/>
                </a:solidFill>
                <a:latin typeface="Calibri" panose="020F0502020204030204" pitchFamily="34" charset="0"/>
              </a:rPr>
              <a:t>equipos de Scrum </a:t>
            </a:r>
            <a:r>
              <a:rPr lang="es-ES" sz="3000" b="1" u="none" strike="noStrike" baseline="0" dirty="0">
                <a:solidFill>
                  <a:srgbClr val="000000"/>
                </a:solidFill>
                <a:latin typeface="Calibri" panose="020F0502020204030204" pitchFamily="34" charset="0"/>
              </a:rPr>
              <a:t>son multifuncionales</a:t>
            </a:r>
            <a:r>
              <a:rPr lang="es-ES" sz="2400" b="0" u="none" strike="noStrike" baseline="0" dirty="0">
                <a:solidFill>
                  <a:srgbClr val="000000"/>
                </a:solidFill>
                <a:latin typeface="Calibri" panose="020F0502020204030204" pitchFamily="34" charset="0"/>
              </a:rPr>
              <a:t>:</a:t>
            </a:r>
          </a:p>
          <a:p>
            <a:pPr marL="0" indent="0">
              <a:buNone/>
            </a:pPr>
            <a:r>
              <a:rPr lang="es-ES" sz="2400" b="0" u="none" strike="noStrike" baseline="0" dirty="0">
                <a:solidFill>
                  <a:srgbClr val="000000"/>
                </a:solidFill>
                <a:latin typeface="Calibri" panose="020F0502020204030204" pitchFamily="34" charset="0"/>
              </a:rPr>
              <a:t> lo que significa que los miembros tienen todas las habilidades necesarias para crear valor en cada Sprint. También son autogestionados, lo que significa que internamente deciden quién hace qué, cuándo y cómo</a:t>
            </a:r>
            <a:r>
              <a:rPr lang="es-ES" sz="2400" b="0" u="none" strike="noStrike" baseline="0">
                <a:solidFill>
                  <a:srgbClr val="000000"/>
                </a:solidFill>
                <a:latin typeface="Calibri" panose="020F0502020204030204" pitchFamily="34" charset="0"/>
              </a:rPr>
              <a:t>. </a:t>
            </a:r>
          </a:p>
          <a:p>
            <a:pPr marL="0" indent="0">
              <a:buNone/>
            </a:pPr>
            <a:r>
              <a:rPr lang="es-ES" sz="2400">
                <a:solidFill>
                  <a:srgbClr val="000000"/>
                </a:solidFill>
                <a:latin typeface="Calibri" panose="020F0502020204030204" pitchFamily="34" charset="0"/>
              </a:rPr>
              <a:t>2. </a:t>
            </a:r>
            <a:r>
              <a:rPr lang="es-ES" sz="2400" b="0" u="none" strike="noStrike" baseline="0">
                <a:solidFill>
                  <a:srgbClr val="000000"/>
                </a:solidFill>
                <a:latin typeface="Calibri" panose="020F0502020204030204" pitchFamily="34" charset="0"/>
              </a:rPr>
              <a:t>El </a:t>
            </a:r>
            <a:r>
              <a:rPr lang="es-ES" sz="2400" b="0" u="none" strike="noStrike" baseline="0" dirty="0">
                <a:solidFill>
                  <a:srgbClr val="000000"/>
                </a:solidFill>
                <a:latin typeface="Calibri" panose="020F0502020204030204" pitchFamily="34" charset="0"/>
              </a:rPr>
              <a:t>equipo de Scrum es lo </a:t>
            </a:r>
            <a:r>
              <a:rPr lang="es-ES" sz="3000" b="1" u="none" strike="noStrike" baseline="0" dirty="0">
                <a:solidFill>
                  <a:srgbClr val="000000"/>
                </a:solidFill>
                <a:latin typeface="Calibri" panose="020F0502020204030204" pitchFamily="34" charset="0"/>
              </a:rPr>
              <a:t>suficientemente pequeño como para permanecer ágil </a:t>
            </a:r>
            <a:r>
              <a:rPr lang="es-ES" sz="2400" b="0" u="none" strike="noStrike" baseline="0" dirty="0">
                <a:solidFill>
                  <a:srgbClr val="000000"/>
                </a:solidFill>
                <a:latin typeface="Calibri" panose="020F0502020204030204" pitchFamily="34" charset="0"/>
              </a:rPr>
              <a:t>y lo suficientemente grande como para completar un trabajo significativo dentro de un Sprint, por lo general 10 o menos personas. En general, hemos descubierto que los equipos más pequeños se comunican mejor y son más productivos. Si los equipos de Scrum se vuelven demasiado grandes, se debe considerar la posibilidad de reorganizarse en varios equipos Scrum cohesionados, cada uno centrado en el mismo producto. </a:t>
            </a:r>
          </a:p>
          <a:p>
            <a:pPr marL="0" indent="0">
              <a:buNone/>
            </a:pPr>
            <a:r>
              <a:rPr lang="es-ES" sz="2400" b="0" u="none" strike="noStrike" baseline="0">
                <a:solidFill>
                  <a:srgbClr val="000000"/>
                </a:solidFill>
                <a:latin typeface="Calibri" panose="020F0502020204030204" pitchFamily="34" charset="0"/>
              </a:rPr>
              <a:t>3. El </a:t>
            </a:r>
            <a:r>
              <a:rPr lang="es-ES" sz="2400" b="0" u="none" strike="noStrike" baseline="0" dirty="0">
                <a:solidFill>
                  <a:srgbClr val="000000"/>
                </a:solidFill>
                <a:latin typeface="Calibri" panose="020F0502020204030204" pitchFamily="34" charset="0"/>
              </a:rPr>
              <a:t>equipo Scrum es </a:t>
            </a:r>
            <a:r>
              <a:rPr lang="es-ES" sz="3000" b="1" u="none" strike="noStrike" baseline="0" dirty="0">
                <a:solidFill>
                  <a:srgbClr val="000000"/>
                </a:solidFill>
                <a:latin typeface="Calibri" panose="020F0502020204030204" pitchFamily="34" charset="0"/>
              </a:rPr>
              <a:t>responsable </a:t>
            </a:r>
            <a:r>
              <a:rPr lang="es-ES" sz="2400" b="0" u="none" strike="noStrike" baseline="0" dirty="0">
                <a:solidFill>
                  <a:srgbClr val="000000"/>
                </a:solidFill>
                <a:latin typeface="Calibri" panose="020F0502020204030204" pitchFamily="34" charset="0"/>
              </a:rPr>
              <a:t>de todas las actividades relacionadas con los productos, desde la colaboración, verificación, mantenimiento, operación, experimentación, investigación y desarrollo, y cualquier otra cosa que pueda ser necesaria. Están estructurados y empoderados por la organización para gestionar su propio trabajo. Trabajar en </a:t>
            </a:r>
            <a:r>
              <a:rPr lang="es-ES" sz="2400" b="0" u="none" strike="noStrike" baseline="0" dirty="0" err="1">
                <a:solidFill>
                  <a:srgbClr val="000000"/>
                </a:solidFill>
                <a:latin typeface="Calibri" panose="020F0502020204030204" pitchFamily="34" charset="0"/>
              </a:rPr>
              <a:t>Sprints</a:t>
            </a:r>
            <a:r>
              <a:rPr lang="es-ES" sz="2400" b="0" u="none" strike="noStrike" baseline="0" dirty="0">
                <a:solidFill>
                  <a:srgbClr val="000000"/>
                </a:solidFill>
                <a:latin typeface="Calibri" panose="020F0502020204030204" pitchFamily="34" charset="0"/>
              </a:rPr>
              <a:t> a un ritmo sostenible mejora el enfoque y la consistencia del equipo de Scrum. </a:t>
            </a:r>
          </a:p>
          <a:p>
            <a:pPr marL="0" indent="0">
              <a:buNone/>
            </a:pPr>
            <a:r>
              <a:rPr lang="es-ES" sz="2400" b="0" u="none" strike="noStrike" baseline="0" dirty="0">
                <a:solidFill>
                  <a:srgbClr val="000000"/>
                </a:solidFill>
                <a:latin typeface="Calibri" panose="020F0502020204030204" pitchFamily="34" charset="0"/>
              </a:rPr>
              <a:t>Guí</a:t>
            </a:r>
            <a:r>
              <a:rPr lang="es-ES" sz="2400" dirty="0">
                <a:solidFill>
                  <a:srgbClr val="000000"/>
                </a:solidFill>
                <a:latin typeface="Calibri" panose="020F0502020204030204" pitchFamily="34" charset="0"/>
              </a:rPr>
              <a:t>a Scrum, noviembre 2020</a:t>
            </a:r>
            <a:endParaRPr lang="es-ES" sz="3600" dirty="0"/>
          </a:p>
        </p:txBody>
      </p:sp>
      <p:pic>
        <p:nvPicPr>
          <p:cNvPr id="4" name="Imagen 3">
            <a:extLst>
              <a:ext uri="{FF2B5EF4-FFF2-40B4-BE49-F238E27FC236}">
                <a16:creationId xmlns:a16="http://schemas.microsoft.com/office/drawing/2014/main" id="{6E797C8A-8210-4CA3-965C-C5F7489FE359}"/>
              </a:ext>
            </a:extLst>
          </p:cNvPr>
          <p:cNvPicPr>
            <a:picLocks noChangeAspect="1"/>
          </p:cNvPicPr>
          <p:nvPr/>
        </p:nvPicPr>
        <p:blipFill>
          <a:blip r:embed="rId2"/>
          <a:stretch>
            <a:fillRect/>
          </a:stretch>
        </p:blipFill>
        <p:spPr>
          <a:xfrm>
            <a:off x="11134165" y="0"/>
            <a:ext cx="1120588" cy="681439"/>
          </a:xfrm>
          <a:prstGeom prst="rect">
            <a:avLst/>
          </a:prstGeom>
        </p:spPr>
      </p:pic>
    </p:spTree>
    <p:extLst>
      <p:ext uri="{BB962C8B-B14F-4D97-AF65-F5344CB8AC3E}">
        <p14:creationId xmlns:p14="http://schemas.microsoft.com/office/powerpoint/2010/main" val="1258728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7B99F22-D26E-DF6B-750D-2A74E24347FD}"/>
              </a:ext>
            </a:extLst>
          </p:cNvPr>
          <p:cNvSpPr>
            <a:spLocks noGrp="1"/>
          </p:cNvSpPr>
          <p:nvPr>
            <p:ph type="title"/>
          </p:nvPr>
        </p:nvSpPr>
        <p:spPr/>
        <p:txBody>
          <a:bodyPr>
            <a:normAutofit/>
          </a:bodyPr>
          <a:lstStyle/>
          <a:p>
            <a:r>
              <a:rPr lang="es-ES" sz="4400" b="1"/>
              <a:t>2.2. Scrum Master (Director de proyecto)</a:t>
            </a:r>
            <a:endParaRPr lang="es-ES"/>
          </a:p>
        </p:txBody>
      </p:sp>
      <p:graphicFrame>
        <p:nvGraphicFramePr>
          <p:cNvPr id="4" name="Marcador de contenido 3">
            <a:extLst>
              <a:ext uri="{FF2B5EF4-FFF2-40B4-BE49-F238E27FC236}">
                <a16:creationId xmlns:a16="http://schemas.microsoft.com/office/drawing/2014/main" id="{302C3760-4E3C-4085-805E-358C53B3C8E2}"/>
              </a:ext>
            </a:extLst>
          </p:cNvPr>
          <p:cNvGraphicFramePr>
            <a:graphicFrameLocks noGrp="1"/>
          </p:cNvGraphicFramePr>
          <p:nvPr>
            <p:ph idx="4294967295"/>
            <p:extLst>
              <p:ext uri="{D42A27DB-BD31-4B8C-83A1-F6EECF244321}">
                <p14:modId xmlns:p14="http://schemas.microsoft.com/office/powerpoint/2010/main" val="3229990275"/>
              </p:ext>
            </p:extLst>
          </p:nvPr>
        </p:nvGraphicFramePr>
        <p:xfrm>
          <a:off x="1" y="1376624"/>
          <a:ext cx="12192000" cy="4315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3BF8C64-E545-4011-AFF4-39D6A8CAE2FB}"/>
              </a:ext>
            </a:extLst>
          </p:cNvPr>
          <p:cNvPicPr>
            <a:picLocks noChangeAspect="1"/>
          </p:cNvPicPr>
          <p:nvPr/>
        </p:nvPicPr>
        <p:blipFill>
          <a:blip r:embed="rId7"/>
          <a:stretch>
            <a:fillRect/>
          </a:stretch>
        </p:blipFill>
        <p:spPr>
          <a:xfrm>
            <a:off x="10901324" y="0"/>
            <a:ext cx="1353429" cy="823031"/>
          </a:xfrm>
          <a:prstGeom prst="rect">
            <a:avLst/>
          </a:prstGeom>
        </p:spPr>
      </p:pic>
      <p:sp>
        <p:nvSpPr>
          <p:cNvPr id="2" name="Rectángulo 1">
            <a:extLst>
              <a:ext uri="{FF2B5EF4-FFF2-40B4-BE49-F238E27FC236}">
                <a16:creationId xmlns:a16="http://schemas.microsoft.com/office/drawing/2014/main" id="{ABB268A1-15C7-4889-AE51-826AE9ABEE74}"/>
              </a:ext>
            </a:extLst>
          </p:cNvPr>
          <p:cNvSpPr/>
          <p:nvPr/>
        </p:nvSpPr>
        <p:spPr>
          <a:xfrm>
            <a:off x="677546" y="1377670"/>
            <a:ext cx="167017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Humildad</a:t>
            </a:r>
          </a:p>
        </p:txBody>
      </p:sp>
      <p:sp>
        <p:nvSpPr>
          <p:cNvPr id="6" name="Rectángulo 5">
            <a:extLst>
              <a:ext uri="{FF2B5EF4-FFF2-40B4-BE49-F238E27FC236}">
                <a16:creationId xmlns:a16="http://schemas.microsoft.com/office/drawing/2014/main" id="{48B84C13-0093-4C25-8430-49AAE500DDBE}"/>
              </a:ext>
            </a:extLst>
          </p:cNvPr>
          <p:cNvSpPr/>
          <p:nvPr/>
        </p:nvSpPr>
        <p:spPr>
          <a:xfrm>
            <a:off x="2743201" y="1423606"/>
            <a:ext cx="183621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Colaboración</a:t>
            </a:r>
          </a:p>
        </p:txBody>
      </p:sp>
      <p:sp>
        <p:nvSpPr>
          <p:cNvPr id="7" name="Rectángulo 6">
            <a:extLst>
              <a:ext uri="{FF2B5EF4-FFF2-40B4-BE49-F238E27FC236}">
                <a16:creationId xmlns:a16="http://schemas.microsoft.com/office/drawing/2014/main" id="{61730C5B-E2F4-4E23-8433-6C3ED663CBD6}"/>
              </a:ext>
            </a:extLst>
          </p:cNvPr>
          <p:cNvSpPr/>
          <p:nvPr/>
        </p:nvSpPr>
        <p:spPr>
          <a:xfrm>
            <a:off x="4974892" y="1423606"/>
            <a:ext cx="1836216"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Compromiso</a:t>
            </a:r>
          </a:p>
        </p:txBody>
      </p:sp>
      <p:sp>
        <p:nvSpPr>
          <p:cNvPr id="8" name="Rectángulo 7">
            <a:extLst>
              <a:ext uri="{FF2B5EF4-FFF2-40B4-BE49-F238E27FC236}">
                <a16:creationId xmlns:a16="http://schemas.microsoft.com/office/drawing/2014/main" id="{7D8080F8-9800-4679-B867-BADC276AA2CB}"/>
              </a:ext>
            </a:extLst>
          </p:cNvPr>
          <p:cNvSpPr/>
          <p:nvPr/>
        </p:nvSpPr>
        <p:spPr>
          <a:xfrm>
            <a:off x="7372619" y="1423606"/>
            <a:ext cx="167017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Influencia</a:t>
            </a:r>
          </a:p>
        </p:txBody>
      </p:sp>
      <p:sp>
        <p:nvSpPr>
          <p:cNvPr id="9" name="Rectángulo 8">
            <a:extLst>
              <a:ext uri="{FF2B5EF4-FFF2-40B4-BE49-F238E27FC236}">
                <a16:creationId xmlns:a16="http://schemas.microsoft.com/office/drawing/2014/main" id="{E565CA8B-9ABB-4315-BE20-A6F23771F479}"/>
              </a:ext>
            </a:extLst>
          </p:cNvPr>
          <p:cNvSpPr/>
          <p:nvPr/>
        </p:nvSpPr>
        <p:spPr>
          <a:xfrm>
            <a:off x="9448799" y="1423606"/>
            <a:ext cx="212923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Entendimiento</a:t>
            </a:r>
          </a:p>
        </p:txBody>
      </p:sp>
    </p:spTree>
    <p:extLst>
      <p:ext uri="{BB962C8B-B14F-4D97-AF65-F5344CB8AC3E}">
        <p14:creationId xmlns:p14="http://schemas.microsoft.com/office/powerpoint/2010/main" val="15379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2DACB8-0100-4D8D-AE08-D17A148015C8}"/>
              </a:ext>
            </a:extLst>
          </p:cNvPr>
          <p:cNvSpPr>
            <a:spLocks noGrp="1"/>
          </p:cNvSpPr>
          <p:nvPr>
            <p:ph type="title"/>
          </p:nvPr>
        </p:nvSpPr>
        <p:spPr/>
        <p:txBody>
          <a:bodyPr>
            <a:noAutofit/>
          </a:bodyPr>
          <a:lstStyle/>
          <a:p>
            <a:r>
              <a:rPr lang="es-ES" sz="3600" b="1" dirty="0"/>
              <a:t>Tareas del Scrum Master</a:t>
            </a:r>
          </a:p>
        </p:txBody>
      </p:sp>
      <p:sp>
        <p:nvSpPr>
          <p:cNvPr id="3" name="Marcador de contenido 2">
            <a:extLst>
              <a:ext uri="{FF2B5EF4-FFF2-40B4-BE49-F238E27FC236}">
                <a16:creationId xmlns:a16="http://schemas.microsoft.com/office/drawing/2014/main" id="{64D9BE44-FC0E-46F0-848C-626651D49A0A}"/>
              </a:ext>
            </a:extLst>
          </p:cNvPr>
          <p:cNvSpPr>
            <a:spLocks noGrp="1"/>
          </p:cNvSpPr>
          <p:nvPr>
            <p:ph type="body" sz="quarter" idx="13"/>
          </p:nvPr>
        </p:nvSpPr>
        <p:spPr>
          <a:xfrm>
            <a:off x="8476180" y="755439"/>
            <a:ext cx="3574551" cy="5514732"/>
          </a:xfrm>
        </p:spPr>
        <p:txBody>
          <a:bodyPr>
            <a:normAutofit fontScale="40000" lnSpcReduction="20000"/>
          </a:bodyPr>
          <a:lstStyle/>
          <a:p>
            <a:endParaRPr lang="es-ES" sz="4900" b="0" i="0" u="none" strike="noStrike" baseline="0" dirty="0">
              <a:solidFill>
                <a:srgbClr val="000000"/>
              </a:solidFill>
              <a:latin typeface="Calibri" panose="020F0502020204030204" pitchFamily="34" charset="0"/>
            </a:endParaRPr>
          </a:p>
          <a:p>
            <a:pPr marL="0" indent="0">
              <a:buNone/>
            </a:pPr>
            <a:r>
              <a:rPr lang="es-ES" sz="4900" b="1" i="0" u="none" strike="noStrike" baseline="0">
                <a:solidFill>
                  <a:srgbClr val="000000"/>
                </a:solidFill>
                <a:latin typeface="Calibri" panose="020F0502020204030204" pitchFamily="34" charset="0"/>
              </a:rPr>
              <a:t>El </a:t>
            </a:r>
            <a:r>
              <a:rPr lang="es-ES" sz="4900" b="1" i="0" u="none" strike="noStrike" baseline="0" dirty="0">
                <a:solidFill>
                  <a:srgbClr val="000000"/>
                </a:solidFill>
                <a:latin typeface="Calibri" panose="020F0502020204030204" pitchFamily="34" charset="0"/>
              </a:rPr>
              <a:t>Scrum Master sirve a la </a:t>
            </a:r>
            <a:r>
              <a:rPr lang="es-ES" sz="4900" b="1" i="0" u="none" strike="noStrike" baseline="0">
                <a:solidFill>
                  <a:srgbClr val="000000"/>
                </a:solidFill>
                <a:latin typeface="Calibri" panose="020F0502020204030204" pitchFamily="34" charset="0"/>
              </a:rPr>
              <a:t>organización : </a:t>
            </a:r>
            <a:endParaRPr lang="es-ES" sz="4900" b="1" i="0" u="none" strike="noStrike" baseline="0" dirty="0">
              <a:solidFill>
                <a:srgbClr val="000000"/>
              </a:solidFill>
              <a:latin typeface="Calibri" panose="020F0502020204030204" pitchFamily="34" charset="0"/>
            </a:endParaRPr>
          </a:p>
          <a:p>
            <a:r>
              <a:rPr lang="es-ES" sz="4900" b="0" i="0" u="none" strike="noStrike" baseline="0">
                <a:solidFill>
                  <a:srgbClr val="000000"/>
                </a:solidFill>
                <a:latin typeface="Calibri" panose="020F0502020204030204" pitchFamily="34" charset="0"/>
              </a:rPr>
              <a:t>Liderar</a:t>
            </a:r>
            <a:r>
              <a:rPr lang="es-ES" sz="4900" b="0" i="0" u="none" strike="noStrike" baseline="0" dirty="0">
                <a:solidFill>
                  <a:srgbClr val="000000"/>
                </a:solidFill>
                <a:latin typeface="Calibri" panose="020F0502020204030204" pitchFamily="34" charset="0"/>
              </a:rPr>
              <a:t>, capacitar y mentorizar a la organización en su adopción de Scrum; </a:t>
            </a:r>
          </a:p>
          <a:p>
            <a:r>
              <a:rPr lang="es-ES" sz="4900" b="0" i="0" u="none" strike="noStrike" baseline="0">
                <a:solidFill>
                  <a:srgbClr val="000000"/>
                </a:solidFill>
                <a:latin typeface="Calibri" panose="020F0502020204030204" pitchFamily="34" charset="0"/>
              </a:rPr>
              <a:t>Planificar </a:t>
            </a:r>
            <a:r>
              <a:rPr lang="es-ES" sz="4900" b="0" i="0" u="none" strike="noStrike" baseline="0" dirty="0">
                <a:solidFill>
                  <a:srgbClr val="000000"/>
                </a:solidFill>
                <a:latin typeface="Calibri" panose="020F0502020204030204" pitchFamily="34" charset="0"/>
              </a:rPr>
              <a:t>y asesorar sobre la implementación de Scrum dentro de la organización; </a:t>
            </a:r>
          </a:p>
          <a:p>
            <a:r>
              <a:rPr lang="es-ES" sz="4900" b="0" i="0" u="none" strike="noStrike" baseline="0">
                <a:solidFill>
                  <a:srgbClr val="000000"/>
                </a:solidFill>
                <a:latin typeface="Calibri" panose="020F0502020204030204" pitchFamily="34" charset="0"/>
              </a:rPr>
              <a:t>Ayudar </a:t>
            </a:r>
            <a:r>
              <a:rPr lang="es-ES" sz="4900" b="0" i="0" u="none" strike="noStrike" baseline="0" dirty="0">
                <a:solidFill>
                  <a:srgbClr val="000000"/>
                </a:solidFill>
                <a:latin typeface="Calibri" panose="020F0502020204030204" pitchFamily="34" charset="0"/>
              </a:rPr>
              <a:t>a las personas y a las partes interesadas a comprender y promulgar un enfoque empírico para el trabajo complejo; </a:t>
            </a:r>
          </a:p>
          <a:p>
            <a:r>
              <a:rPr lang="es-ES" sz="4900" b="0" i="0" u="none" strike="noStrike" baseline="0">
                <a:solidFill>
                  <a:srgbClr val="000000"/>
                </a:solidFill>
                <a:latin typeface="Calibri" panose="020F0502020204030204" pitchFamily="34" charset="0"/>
              </a:rPr>
              <a:t>Eliminar </a:t>
            </a:r>
            <a:r>
              <a:rPr lang="es-ES" sz="4900" b="0" i="0" u="none" strike="noStrike" baseline="0" dirty="0">
                <a:solidFill>
                  <a:srgbClr val="000000"/>
                </a:solidFill>
                <a:latin typeface="Calibri" panose="020F0502020204030204" pitchFamily="34" charset="0"/>
              </a:rPr>
              <a:t>las barreras entre las partes interesadas y los equipos de Scrum</a:t>
            </a:r>
            <a:r>
              <a:rPr lang="es-ES" sz="4900" b="0" i="0" u="none" strike="noStrike" baseline="0">
                <a:solidFill>
                  <a:srgbClr val="000000"/>
                </a:solidFill>
                <a:latin typeface="Calibri" panose="020F0502020204030204" pitchFamily="34" charset="0"/>
              </a:rPr>
              <a:t>. </a:t>
            </a:r>
            <a:endParaRPr lang="es-ES" sz="4900" b="0" i="0" u="none" strike="noStrike" baseline="0" dirty="0">
              <a:solidFill>
                <a:srgbClr val="000000"/>
              </a:solidFill>
              <a:latin typeface="Calibri" panose="020F0502020204030204" pitchFamily="34" charset="0"/>
            </a:endParaRPr>
          </a:p>
        </p:txBody>
      </p:sp>
      <p:pic>
        <p:nvPicPr>
          <p:cNvPr id="4" name="Imagen 3">
            <a:extLst>
              <a:ext uri="{FF2B5EF4-FFF2-40B4-BE49-F238E27FC236}">
                <a16:creationId xmlns:a16="http://schemas.microsoft.com/office/drawing/2014/main" id="{AE234FB8-B05F-4A57-9E62-4162E07E2A72}"/>
              </a:ext>
            </a:extLst>
          </p:cNvPr>
          <p:cNvPicPr>
            <a:picLocks noChangeAspect="1"/>
          </p:cNvPicPr>
          <p:nvPr/>
        </p:nvPicPr>
        <p:blipFill>
          <a:blip r:embed="rId2"/>
          <a:stretch>
            <a:fillRect/>
          </a:stretch>
        </p:blipFill>
        <p:spPr>
          <a:xfrm>
            <a:off x="10901324" y="0"/>
            <a:ext cx="1353429" cy="823031"/>
          </a:xfrm>
          <a:prstGeom prst="rect">
            <a:avLst/>
          </a:prstGeom>
        </p:spPr>
      </p:pic>
      <p:sp>
        <p:nvSpPr>
          <p:cNvPr id="6" name="CuadroTexto 5">
            <a:extLst>
              <a:ext uri="{FF2B5EF4-FFF2-40B4-BE49-F238E27FC236}">
                <a16:creationId xmlns:a16="http://schemas.microsoft.com/office/drawing/2014/main" id="{DE342397-AF19-138F-31DD-8463CF09858F}"/>
              </a:ext>
            </a:extLst>
          </p:cNvPr>
          <p:cNvSpPr txBox="1"/>
          <p:nvPr/>
        </p:nvSpPr>
        <p:spPr>
          <a:xfrm>
            <a:off x="141269" y="1018620"/>
            <a:ext cx="3908217" cy="4801314"/>
          </a:xfrm>
          <a:prstGeom prst="rect">
            <a:avLst/>
          </a:prstGeom>
          <a:noFill/>
        </p:spPr>
        <p:txBody>
          <a:bodyPr wrap="square">
            <a:spAutoFit/>
          </a:bodyPr>
          <a:lstStyle/>
          <a:p>
            <a:pPr marL="0" indent="0" algn="ctr">
              <a:buNone/>
            </a:pPr>
            <a:r>
              <a:rPr lang="es-ES" sz="1800" b="1" i="0" u="none" strike="noStrike" baseline="0">
                <a:solidFill>
                  <a:srgbClr val="000000"/>
                </a:solidFill>
                <a:latin typeface="Calibri" panose="020F0502020204030204" pitchFamily="34" charset="0"/>
              </a:rPr>
              <a:t>El Scrum Master sirve al equipo de Scrum de varias maneras:</a:t>
            </a:r>
          </a:p>
          <a:p>
            <a:pPr marL="0" indent="0">
              <a:buNone/>
            </a:pPr>
            <a:r>
              <a:rPr lang="es-ES" sz="1800" b="1" i="0" u="none" strike="noStrike" baseline="0">
                <a:solidFill>
                  <a:srgbClr val="000000"/>
                </a:solidFill>
                <a:latin typeface="Calibri" panose="020F0502020204030204" pitchFamily="34" charset="0"/>
              </a:rPr>
              <a:t>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Capacitar a los miembros del equipo en autogestión y multifuncionalidad;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Ayudar al equipo de Scrum a centrarse en la creación de incrementos de alto valor que cumplan con la definición de hecho;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Promover la eliminación de los impedimentos para el progreso del equipo Scrum;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Asegurar de que todos los eventos de Scrum se lleven a cabo, sean positivos, productivos y que se respete el tiempo establecido (time-box) para cada uno de ellos. </a:t>
            </a:r>
            <a:endParaRPr lang="es-ES" sz="1800" b="0" i="0" u="none" strike="noStrike" baseline="0" dirty="0">
              <a:solidFill>
                <a:srgbClr val="000000"/>
              </a:solidFill>
              <a:latin typeface="Calibri" panose="020F0502020204030204" pitchFamily="34" charset="0"/>
            </a:endParaRPr>
          </a:p>
        </p:txBody>
      </p:sp>
      <p:sp>
        <p:nvSpPr>
          <p:cNvPr id="8" name="CuadroTexto 7">
            <a:extLst>
              <a:ext uri="{FF2B5EF4-FFF2-40B4-BE49-F238E27FC236}">
                <a16:creationId xmlns:a16="http://schemas.microsoft.com/office/drawing/2014/main" id="{8CC4032F-BD2A-8861-B176-E5A46592F32C}"/>
              </a:ext>
            </a:extLst>
          </p:cNvPr>
          <p:cNvSpPr txBox="1"/>
          <p:nvPr/>
        </p:nvSpPr>
        <p:spPr>
          <a:xfrm>
            <a:off x="4567963" y="1018620"/>
            <a:ext cx="3908217" cy="5078313"/>
          </a:xfrm>
          <a:prstGeom prst="rect">
            <a:avLst/>
          </a:prstGeom>
          <a:noFill/>
        </p:spPr>
        <p:txBody>
          <a:bodyPr wrap="square">
            <a:spAutoFit/>
          </a:bodyPr>
          <a:lstStyle/>
          <a:p>
            <a:r>
              <a:rPr lang="es-ES" sz="1800" b="1" i="0" u="none" strike="noStrike" baseline="0">
                <a:solidFill>
                  <a:srgbClr val="000000"/>
                </a:solidFill>
                <a:latin typeface="Calibri" panose="020F0502020204030204" pitchFamily="34" charset="0"/>
              </a:rPr>
              <a:t>El Scrum Master sirve al Propietario del Producto (Product Owner): </a:t>
            </a:r>
          </a:p>
          <a:p>
            <a:endParaRPr lang="es-ES" sz="1800" b="1" i="0" u="none" strike="noStrike" baseline="0">
              <a:solidFill>
                <a:srgbClr val="000000"/>
              </a:solidFill>
              <a:latin typeface="Calibri" panose="020F0502020204030204" pitchFamily="34" charset="0"/>
            </a:endParaRP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Ayudar a encontrar técnicas para una definición eficaz de los objetivos del producto y la gestión de los retrasos en el producto;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Ayudar al equipo de Scrum a comprender la necesidad de elementos de trabajo pendiente de productos claros y concisos;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Ayudar a establecer la planificación empírica de productos para un entorno complejo; </a:t>
            </a:r>
          </a:p>
          <a:p>
            <a:pPr marL="285750" indent="-285750">
              <a:buFont typeface="Arial" panose="020B0604020202020204" pitchFamily="34" charset="0"/>
              <a:buChar char="•"/>
            </a:pPr>
            <a:r>
              <a:rPr lang="es-ES" sz="1800" b="0" i="0" u="none" strike="noStrike" baseline="0">
                <a:solidFill>
                  <a:srgbClr val="000000"/>
                </a:solidFill>
                <a:latin typeface="Calibri" panose="020F0502020204030204" pitchFamily="34" charset="0"/>
              </a:rPr>
              <a:t>Facilitar la colaboración de las partes interesadas según sea solicitado o necesario. </a:t>
            </a:r>
          </a:p>
          <a:p>
            <a:endParaRPr lang="es-ES" sz="1800" b="0" i="0" u="none" strike="noStrike" baseline="0" dirty="0">
              <a:solidFill>
                <a:srgbClr val="000000"/>
              </a:solidFill>
              <a:latin typeface="Calibri" panose="020F0502020204030204" pitchFamily="34" charset="0"/>
            </a:endParaRPr>
          </a:p>
        </p:txBody>
      </p:sp>
      <p:sp>
        <p:nvSpPr>
          <p:cNvPr id="10" name="CuadroTexto 9">
            <a:extLst>
              <a:ext uri="{FF2B5EF4-FFF2-40B4-BE49-F238E27FC236}">
                <a16:creationId xmlns:a16="http://schemas.microsoft.com/office/drawing/2014/main" id="{A9CE3848-B9D5-5C19-1BC9-38671FEB0CDF}"/>
              </a:ext>
            </a:extLst>
          </p:cNvPr>
          <p:cNvSpPr txBox="1"/>
          <p:nvPr/>
        </p:nvSpPr>
        <p:spPr>
          <a:xfrm>
            <a:off x="141269" y="6360113"/>
            <a:ext cx="6822830" cy="369332"/>
          </a:xfrm>
          <a:prstGeom prst="rect">
            <a:avLst/>
          </a:prstGeom>
          <a:noFill/>
        </p:spPr>
        <p:txBody>
          <a:bodyPr wrap="square">
            <a:spAutoFit/>
          </a:bodyPr>
          <a:lstStyle/>
          <a:p>
            <a:pPr marL="0" indent="0">
              <a:buNone/>
            </a:pPr>
            <a:r>
              <a:rPr lang="es-ES" sz="1800">
                <a:solidFill>
                  <a:srgbClr val="000000"/>
                </a:solidFill>
                <a:latin typeface="Calibri" panose="020F0502020204030204" pitchFamily="34" charset="0"/>
              </a:rPr>
              <a:t>Guia Scrum nov- 2020</a:t>
            </a:r>
            <a:endParaRPr lang="es-ES" sz="1800" b="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303372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703EFD5-89A5-A27B-6D64-7C54F0F65D0E}"/>
              </a:ext>
            </a:extLst>
          </p:cNvPr>
          <p:cNvSpPr>
            <a:spLocks noGrp="1"/>
          </p:cNvSpPr>
          <p:nvPr>
            <p:ph type="title"/>
          </p:nvPr>
        </p:nvSpPr>
        <p:spPr/>
        <p:txBody>
          <a:bodyPr/>
          <a:lstStyle/>
          <a:p>
            <a:r>
              <a:rPr lang="es-ES"/>
              <a:t>Errores comunes del Scrum Master</a:t>
            </a:r>
          </a:p>
        </p:txBody>
      </p:sp>
      <p:sp>
        <p:nvSpPr>
          <p:cNvPr id="4" name="Marcador de texto 3">
            <a:extLst>
              <a:ext uri="{FF2B5EF4-FFF2-40B4-BE49-F238E27FC236}">
                <a16:creationId xmlns:a16="http://schemas.microsoft.com/office/drawing/2014/main" id="{04710684-E0A1-32BA-442B-BEFDA803AB93}"/>
              </a:ext>
            </a:extLst>
          </p:cNvPr>
          <p:cNvSpPr>
            <a:spLocks noGrp="1"/>
          </p:cNvSpPr>
          <p:nvPr>
            <p:ph type="body" sz="quarter" idx="13"/>
          </p:nvPr>
        </p:nvSpPr>
        <p:spPr/>
        <p:txBody>
          <a:bodyPr/>
          <a:lstStyle/>
          <a:p>
            <a:endParaRPr lang="es-ES"/>
          </a:p>
        </p:txBody>
      </p:sp>
      <p:pic>
        <p:nvPicPr>
          <p:cNvPr id="1026" name="Picture 2" descr="✓ Scrum Master, Qué es y Qué cosas NO debe hacer">
            <a:extLst>
              <a:ext uri="{FF2B5EF4-FFF2-40B4-BE49-F238E27FC236}">
                <a16:creationId xmlns:a16="http://schemas.microsoft.com/office/drawing/2014/main" id="{4EEE9592-8875-409C-9620-A07836BB26EC}"/>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0" y="801437"/>
            <a:ext cx="11820525" cy="592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52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08310D-EBDF-3A16-9007-3EAF04E70243}"/>
              </a:ext>
            </a:extLst>
          </p:cNvPr>
          <p:cNvSpPr>
            <a:spLocks noGrp="1"/>
          </p:cNvSpPr>
          <p:nvPr>
            <p:ph type="title"/>
          </p:nvPr>
        </p:nvSpPr>
        <p:spPr/>
        <p:txBody>
          <a:bodyPr>
            <a:normAutofit fontScale="90000"/>
          </a:bodyPr>
          <a:lstStyle/>
          <a:p>
            <a:r>
              <a:rPr lang="es-ES" sz="4400" b="1"/>
              <a:t>2.3. Product Owner (representa a los interesados)</a:t>
            </a:r>
            <a:endParaRPr lang="es-ES"/>
          </a:p>
        </p:txBody>
      </p:sp>
      <p:graphicFrame>
        <p:nvGraphicFramePr>
          <p:cNvPr id="4" name="Marcador de contenido 3">
            <a:extLst>
              <a:ext uri="{FF2B5EF4-FFF2-40B4-BE49-F238E27FC236}">
                <a16:creationId xmlns:a16="http://schemas.microsoft.com/office/drawing/2014/main" id="{302C3760-4E3C-4085-805E-358C53B3C8E2}"/>
              </a:ext>
            </a:extLst>
          </p:cNvPr>
          <p:cNvGraphicFramePr>
            <a:graphicFrameLocks noGrp="1"/>
          </p:cNvGraphicFramePr>
          <p:nvPr>
            <p:ph idx="4294967295"/>
            <p:extLst>
              <p:ext uri="{D42A27DB-BD31-4B8C-83A1-F6EECF244321}">
                <p14:modId xmlns:p14="http://schemas.microsoft.com/office/powerpoint/2010/main" val="3528181173"/>
              </p:ext>
            </p:extLst>
          </p:nvPr>
        </p:nvGraphicFramePr>
        <p:xfrm>
          <a:off x="663191" y="1115367"/>
          <a:ext cx="10318191" cy="3567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n 4">
            <a:extLst>
              <a:ext uri="{FF2B5EF4-FFF2-40B4-BE49-F238E27FC236}">
                <a16:creationId xmlns:a16="http://schemas.microsoft.com/office/drawing/2014/main" id="{83BF8C64-E545-4011-AFF4-39D6A8CAE2FB}"/>
              </a:ext>
            </a:extLst>
          </p:cNvPr>
          <p:cNvPicPr>
            <a:picLocks noChangeAspect="1"/>
          </p:cNvPicPr>
          <p:nvPr/>
        </p:nvPicPr>
        <p:blipFill>
          <a:blip r:embed="rId7"/>
          <a:stretch>
            <a:fillRect/>
          </a:stretch>
        </p:blipFill>
        <p:spPr>
          <a:xfrm>
            <a:off x="10901324" y="0"/>
            <a:ext cx="1353429" cy="823031"/>
          </a:xfrm>
          <a:prstGeom prst="rect">
            <a:avLst/>
          </a:prstGeom>
        </p:spPr>
      </p:pic>
    </p:spTree>
    <p:extLst>
      <p:ext uri="{BB962C8B-B14F-4D97-AF65-F5344CB8AC3E}">
        <p14:creationId xmlns:p14="http://schemas.microsoft.com/office/powerpoint/2010/main" val="2887380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63C504-23F5-438B-4538-1C98960433A2}"/>
              </a:ext>
            </a:extLst>
          </p:cNvPr>
          <p:cNvSpPr>
            <a:spLocks noGrp="1"/>
          </p:cNvSpPr>
          <p:nvPr>
            <p:ph type="title"/>
          </p:nvPr>
        </p:nvSpPr>
        <p:spPr/>
        <p:txBody>
          <a:bodyPr>
            <a:normAutofit/>
          </a:bodyPr>
          <a:lstStyle/>
          <a:p>
            <a:r>
              <a:rPr lang="es-ES" sz="4400" b="1"/>
              <a:t>2.4. Team (desarrolladores). Roles auxiliares.</a:t>
            </a:r>
            <a:endParaRPr lang="es-ES"/>
          </a:p>
        </p:txBody>
      </p:sp>
      <p:sp>
        <p:nvSpPr>
          <p:cNvPr id="3" name="Marcador de contenido 2">
            <a:extLst>
              <a:ext uri="{FF2B5EF4-FFF2-40B4-BE49-F238E27FC236}">
                <a16:creationId xmlns:a16="http://schemas.microsoft.com/office/drawing/2014/main" id="{FA018C5C-332B-41FD-BCE4-C4502FD91B3D}"/>
              </a:ext>
            </a:extLst>
          </p:cNvPr>
          <p:cNvSpPr>
            <a:spLocks noGrp="1"/>
          </p:cNvSpPr>
          <p:nvPr>
            <p:ph type="body" sz="quarter" idx="13"/>
          </p:nvPr>
        </p:nvSpPr>
        <p:spPr>
          <a:xfrm>
            <a:off x="263589" y="864053"/>
            <a:ext cx="11928411" cy="5129893"/>
          </a:xfrm>
        </p:spPr>
        <p:txBody>
          <a:bodyPr>
            <a:normAutofit fontScale="62500" lnSpcReduction="20000"/>
          </a:bodyPr>
          <a:lstStyle/>
          <a:p>
            <a:pPr marL="0" lvl="0" indent="0">
              <a:buNone/>
            </a:pPr>
            <a:r>
              <a:rPr lang="es-ES" sz="4500"/>
              <a:t>Development </a:t>
            </a:r>
            <a:r>
              <a:rPr lang="es-ES" sz="4500" dirty="0" err="1"/>
              <a:t>team</a:t>
            </a:r>
            <a:r>
              <a:rPr lang="es-ES" sz="4000" dirty="0"/>
              <a:t> o e quipo de construcción son los encargados de construir el producto. Si estamos  hablando de equipos de construcción de software estará formado por:</a:t>
            </a:r>
          </a:p>
          <a:p>
            <a:pPr lvl="0"/>
            <a:r>
              <a:rPr lang="es-ES" sz="4900" dirty="0"/>
              <a:t> </a:t>
            </a:r>
            <a:r>
              <a:rPr lang="es-ES" sz="4900" b="1" dirty="0"/>
              <a:t>Desarrolladores, diseñadores, arquitectos, </a:t>
            </a:r>
            <a:r>
              <a:rPr lang="es-ES" sz="4900" b="1" dirty="0" err="1"/>
              <a:t>testers</a:t>
            </a:r>
            <a:r>
              <a:rPr lang="es-ES" sz="4900" b="1" dirty="0"/>
              <a:t>, cualquier persona que esté implicada de una u otra manera en la construcción del producto. </a:t>
            </a:r>
          </a:p>
          <a:p>
            <a:pPr lvl="0"/>
            <a:r>
              <a:rPr lang="es-ES" sz="4900" b="1" dirty="0"/>
              <a:t> Pequeños de no más de 9 personas (10 personas según la última guía)</a:t>
            </a:r>
          </a:p>
          <a:p>
            <a:pPr lvl="0"/>
            <a:r>
              <a:rPr lang="es-ES" sz="4900" b="1" dirty="0"/>
              <a:t>Multidisciplinares, es decir, que entre todos los miembros puedan dar servicio al proyecto</a:t>
            </a:r>
          </a:p>
          <a:p>
            <a:pPr lvl="0"/>
            <a:r>
              <a:rPr lang="es-ES" sz="4900" b="1" dirty="0" err="1"/>
              <a:t>Auto-organizados</a:t>
            </a:r>
            <a:r>
              <a:rPr lang="es-ES" sz="4900" b="1" dirty="0"/>
              <a:t>, es decir, que ellos mismos decidan la mejor manera de desarrollar su trabajo. </a:t>
            </a:r>
          </a:p>
          <a:p>
            <a:pPr lvl="0"/>
            <a:r>
              <a:rPr lang="es-ES" sz="4900" b="1" dirty="0"/>
              <a:t>No deben existir jerarquías. </a:t>
            </a:r>
          </a:p>
          <a:p>
            <a:pPr marL="0" lvl="0" indent="0">
              <a:buNone/>
            </a:pPr>
            <a:endParaRPr lang="es-ES" sz="4000" dirty="0"/>
          </a:p>
          <a:p>
            <a:endParaRPr lang="es-ES" sz="3600" dirty="0"/>
          </a:p>
        </p:txBody>
      </p:sp>
      <p:pic>
        <p:nvPicPr>
          <p:cNvPr id="4" name="Imagen 3">
            <a:extLst>
              <a:ext uri="{FF2B5EF4-FFF2-40B4-BE49-F238E27FC236}">
                <a16:creationId xmlns:a16="http://schemas.microsoft.com/office/drawing/2014/main" id="{9F45B494-04EE-4AB8-BE71-633AC81BC549}"/>
              </a:ext>
            </a:extLst>
          </p:cNvPr>
          <p:cNvPicPr>
            <a:picLocks noChangeAspect="1"/>
          </p:cNvPicPr>
          <p:nvPr/>
        </p:nvPicPr>
        <p:blipFill>
          <a:blip r:embed="rId2"/>
          <a:stretch>
            <a:fillRect/>
          </a:stretch>
        </p:blipFill>
        <p:spPr>
          <a:xfrm>
            <a:off x="11134165" y="0"/>
            <a:ext cx="1120588" cy="681439"/>
          </a:xfrm>
          <a:prstGeom prst="rect">
            <a:avLst/>
          </a:prstGeom>
        </p:spPr>
      </p:pic>
      <p:pic>
        <p:nvPicPr>
          <p:cNvPr id="1026" name="Picture 2" descr="Programador, Mecanografía, Silueta, Ceo">
            <a:extLst>
              <a:ext uri="{FF2B5EF4-FFF2-40B4-BE49-F238E27FC236}">
                <a16:creationId xmlns:a16="http://schemas.microsoft.com/office/drawing/2014/main" id="{09A89DCB-0494-4CE3-BB85-6DD064E94A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8247" y="5651879"/>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rogramador, Mecanografía, Silueta, Ceo">
            <a:extLst>
              <a:ext uri="{FF2B5EF4-FFF2-40B4-BE49-F238E27FC236}">
                <a16:creationId xmlns:a16="http://schemas.microsoft.com/office/drawing/2014/main" id="{ED264C6A-E68F-4B2C-A2A2-E5A42C5ED7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4925" y="5646115"/>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rogramador, Mecanografía, Silueta, Ceo">
            <a:extLst>
              <a:ext uri="{FF2B5EF4-FFF2-40B4-BE49-F238E27FC236}">
                <a16:creationId xmlns:a16="http://schemas.microsoft.com/office/drawing/2014/main" id="{56BD6F32-503C-45E6-9012-C5461C4408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1603" y="5646115"/>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Programador, Mecanografía, Silueta, Ceo">
            <a:extLst>
              <a:ext uri="{FF2B5EF4-FFF2-40B4-BE49-F238E27FC236}">
                <a16:creationId xmlns:a16="http://schemas.microsoft.com/office/drawing/2014/main" id="{FDC54C0E-B000-4E27-869D-5797BE913A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4774" y="5683145"/>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rogramador, Mecanografía, Silueta, Ceo">
            <a:extLst>
              <a:ext uri="{FF2B5EF4-FFF2-40B4-BE49-F238E27FC236}">
                <a16:creationId xmlns:a16="http://schemas.microsoft.com/office/drawing/2014/main" id="{15ECDA6C-E5C9-4ECB-8316-BE87C515F5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1452" y="5683145"/>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Programador, Mecanografía, Silueta, Ceo">
            <a:extLst>
              <a:ext uri="{FF2B5EF4-FFF2-40B4-BE49-F238E27FC236}">
                <a16:creationId xmlns:a16="http://schemas.microsoft.com/office/drawing/2014/main" id="{0C6920AE-40D7-464F-BF06-0E2C7AB0FC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1043" y="5708092"/>
            <a:ext cx="1273434" cy="101160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rogramador, Mecanografía, Silueta, Ceo">
            <a:extLst>
              <a:ext uri="{FF2B5EF4-FFF2-40B4-BE49-F238E27FC236}">
                <a16:creationId xmlns:a16="http://schemas.microsoft.com/office/drawing/2014/main" id="{BF0A3EFB-EA63-44C8-AF82-3D1E282BA3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113" y="5646115"/>
            <a:ext cx="1273434" cy="1011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112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E8983D-AC1E-F327-B91F-48CD73565D4A}"/>
              </a:ext>
            </a:extLst>
          </p:cNvPr>
          <p:cNvSpPr>
            <a:spLocks noGrp="1"/>
          </p:cNvSpPr>
          <p:nvPr>
            <p:ph type="title"/>
          </p:nvPr>
        </p:nvSpPr>
        <p:spPr/>
        <p:txBody>
          <a:bodyPr/>
          <a:lstStyle/>
          <a:p>
            <a:r>
              <a:rPr lang="es-ES"/>
              <a:t>Tareas y habilidades del equipo Team</a:t>
            </a:r>
          </a:p>
        </p:txBody>
      </p:sp>
      <p:sp>
        <p:nvSpPr>
          <p:cNvPr id="3" name="Marcador de número de diapositiva 2">
            <a:extLst>
              <a:ext uri="{FF2B5EF4-FFF2-40B4-BE49-F238E27FC236}">
                <a16:creationId xmlns:a16="http://schemas.microsoft.com/office/drawing/2014/main" id="{E07EEDEC-7E9B-C9C8-583A-132F7B0871DC}"/>
              </a:ext>
            </a:extLst>
          </p:cNvPr>
          <p:cNvSpPr>
            <a:spLocks noGrp="1"/>
          </p:cNvSpPr>
          <p:nvPr>
            <p:ph type="sldNum" sz="quarter" idx="12"/>
          </p:nvPr>
        </p:nvSpPr>
        <p:spPr/>
        <p:txBody>
          <a:bodyPr/>
          <a:lstStyle/>
          <a:p>
            <a:pPr algn="ctr"/>
            <a:fld id="{817179DE-9BF3-494C-804F-0C7C90AC8700}" type="slidenum">
              <a:rPr lang="es-ES" smtClean="0"/>
              <a:pPr algn="ctr"/>
              <a:t>36</a:t>
            </a:fld>
            <a:endParaRPr lang="es-ES"/>
          </a:p>
        </p:txBody>
      </p:sp>
      <p:sp>
        <p:nvSpPr>
          <p:cNvPr id="4" name="Marcador de texto 3">
            <a:extLst>
              <a:ext uri="{FF2B5EF4-FFF2-40B4-BE49-F238E27FC236}">
                <a16:creationId xmlns:a16="http://schemas.microsoft.com/office/drawing/2014/main" id="{B8C92BDF-3AE5-D387-7BEB-C0EE49905A40}"/>
              </a:ext>
            </a:extLst>
          </p:cNvPr>
          <p:cNvSpPr>
            <a:spLocks noGrp="1"/>
          </p:cNvSpPr>
          <p:nvPr>
            <p:ph type="body" sz="quarter" idx="13"/>
          </p:nvPr>
        </p:nvSpPr>
        <p:spPr>
          <a:xfrm>
            <a:off x="552450" y="1217863"/>
            <a:ext cx="11224218" cy="5186550"/>
          </a:xfrm>
        </p:spPr>
        <p:txBody>
          <a:bodyPr>
            <a:normAutofit fontScale="55000" lnSpcReduction="20000"/>
          </a:bodyPr>
          <a:lstStyle/>
          <a:p>
            <a:pPr marL="0" lvl="0" indent="0">
              <a:buNone/>
            </a:pPr>
            <a:r>
              <a:rPr lang="es-ES" sz="4000"/>
              <a:t>Algunas </a:t>
            </a:r>
            <a:r>
              <a:rPr lang="es-ES" sz="4000" b="1"/>
              <a:t>tareas típicas </a:t>
            </a:r>
            <a:r>
              <a:rPr lang="es-ES" sz="4000"/>
              <a:t>de autoorganización de estos equipos son:</a:t>
            </a:r>
          </a:p>
          <a:p>
            <a:pPr marL="0" lvl="0" indent="0">
              <a:buNone/>
            </a:pPr>
            <a:endParaRPr lang="es-ES" sz="4000"/>
          </a:p>
          <a:p>
            <a:pPr lvl="0"/>
            <a:r>
              <a:rPr lang="es-ES" sz="4000" b="1"/>
              <a:t>-</a:t>
            </a:r>
            <a:r>
              <a:rPr lang="es-ES" sz="4900" b="1"/>
              <a:t>Asignación de tareas y estimación</a:t>
            </a:r>
          </a:p>
          <a:p>
            <a:pPr lvl="0"/>
            <a:r>
              <a:rPr lang="es-ES" sz="4900" b="1"/>
              <a:t>-El desglose técnico de los requisitos en tareas de bajo nivel. </a:t>
            </a:r>
            <a:endParaRPr lang="es-ES" sz="3100"/>
          </a:p>
          <a:p>
            <a:r>
              <a:rPr lang="es-ES" sz="4900" b="0" i="0" u="none" strike="noStrike" baseline="0">
                <a:solidFill>
                  <a:srgbClr val="000000"/>
                </a:solidFill>
                <a:latin typeface="Calibri" panose="020F0502020204030204" pitchFamily="34" charset="0"/>
              </a:rPr>
              <a:t>Los desarrolladores son las personas del equipo Scrum que se comprometen a </a:t>
            </a:r>
            <a:r>
              <a:rPr lang="es-ES" sz="4900" b="1" i="0" u="none" strike="noStrike" baseline="0">
                <a:solidFill>
                  <a:srgbClr val="000000"/>
                </a:solidFill>
                <a:latin typeface="Calibri" panose="020F0502020204030204" pitchFamily="34" charset="0"/>
              </a:rPr>
              <a:t>crear cualquier aspecto de un Incremento útil </a:t>
            </a:r>
            <a:r>
              <a:rPr lang="es-ES" sz="4900" b="0" i="0" u="none" strike="noStrike" baseline="0">
                <a:solidFill>
                  <a:srgbClr val="000000"/>
                </a:solidFill>
                <a:latin typeface="Calibri" panose="020F0502020204030204" pitchFamily="34" charset="0"/>
              </a:rPr>
              <a:t>(funcional) en cada Sprint. </a:t>
            </a:r>
          </a:p>
          <a:p>
            <a:pPr marL="0" indent="0">
              <a:buNone/>
            </a:pPr>
            <a:r>
              <a:rPr lang="es-ES" sz="4000" b="0" i="0" u="none" strike="noStrike" baseline="0">
                <a:solidFill>
                  <a:srgbClr val="000000"/>
                </a:solidFill>
                <a:latin typeface="Calibri" panose="020F0502020204030204" pitchFamily="34" charset="0"/>
              </a:rPr>
              <a:t>Las </a:t>
            </a:r>
            <a:r>
              <a:rPr lang="es-ES" sz="4000" b="1" i="0" u="none" strike="noStrike" baseline="0">
                <a:solidFill>
                  <a:srgbClr val="000000"/>
                </a:solidFill>
                <a:latin typeface="Calibri" panose="020F0502020204030204" pitchFamily="34" charset="0"/>
              </a:rPr>
              <a:t>habilidades específicas </a:t>
            </a:r>
            <a:r>
              <a:rPr lang="es-ES" sz="4000" b="0" i="0" u="none" strike="noStrike" baseline="0">
                <a:solidFill>
                  <a:srgbClr val="000000"/>
                </a:solidFill>
                <a:latin typeface="Calibri" panose="020F0502020204030204" pitchFamily="34" charset="0"/>
              </a:rPr>
              <a:t>que necesitan los desarrolladores son a menudo amplias y variarán con el dominio del trabajo. Sin embargo, los desarrolladores siempre son responsables de:</a:t>
            </a:r>
          </a:p>
          <a:p>
            <a:pPr marL="0" indent="0">
              <a:buNone/>
            </a:pPr>
            <a:endParaRPr lang="es-ES" sz="4000" b="0" i="0" u="none" strike="noStrike" baseline="0">
              <a:solidFill>
                <a:srgbClr val="000000"/>
              </a:solidFill>
              <a:latin typeface="Calibri" panose="020F0502020204030204" pitchFamily="34" charset="0"/>
            </a:endParaRPr>
          </a:p>
          <a:p>
            <a:pPr lvl="1"/>
            <a:r>
              <a:rPr lang="es-ES" sz="4500" b="1" i="0" u="none" strike="noStrike" baseline="0">
                <a:latin typeface="Calibri" panose="020F0502020204030204" pitchFamily="34" charset="0"/>
              </a:rPr>
              <a:t>Crear un plan </a:t>
            </a:r>
            <a:r>
              <a:rPr lang="es-ES" sz="4500" b="0" i="0" u="none" strike="noStrike" baseline="0">
                <a:latin typeface="Calibri" panose="020F0502020204030204" pitchFamily="34" charset="0"/>
              </a:rPr>
              <a:t>para el Sprint, el Sprint Backlog; </a:t>
            </a:r>
          </a:p>
          <a:p>
            <a:pPr lvl="1"/>
            <a:r>
              <a:rPr lang="es-ES" sz="4500" b="1" i="0" u="none" strike="noStrike" baseline="0">
                <a:latin typeface="Calibri" panose="020F0502020204030204" pitchFamily="34" charset="0"/>
              </a:rPr>
              <a:t>Inculcar la calidad </a:t>
            </a:r>
            <a:r>
              <a:rPr lang="es-ES" sz="4500" b="0" i="0" u="none" strike="noStrike" baseline="0">
                <a:latin typeface="Calibri" panose="020F0502020204030204" pitchFamily="34" charset="0"/>
              </a:rPr>
              <a:t>adhiriéndose a una definición de Hecho; </a:t>
            </a:r>
          </a:p>
          <a:p>
            <a:pPr lvl="1"/>
            <a:r>
              <a:rPr lang="es-ES" sz="4500" b="1" i="0" u="none" strike="noStrike" baseline="0">
                <a:latin typeface="Calibri" panose="020F0502020204030204" pitchFamily="34" charset="0"/>
              </a:rPr>
              <a:t>Adaptar su plan cada día </a:t>
            </a:r>
            <a:r>
              <a:rPr lang="es-ES" sz="4500" b="0" i="0" u="none" strike="noStrike" baseline="0">
                <a:latin typeface="Calibri" panose="020F0502020204030204" pitchFamily="34" charset="0"/>
              </a:rPr>
              <a:t>hacia el Objetivo Sprint; </a:t>
            </a:r>
          </a:p>
          <a:p>
            <a:pPr lvl="1"/>
            <a:r>
              <a:rPr lang="es-ES" sz="4500" b="1" i="0" u="none" strike="noStrike" baseline="0">
                <a:latin typeface="Calibri" panose="020F0502020204030204" pitchFamily="34" charset="0"/>
              </a:rPr>
              <a:t>Responsabilizarse </a:t>
            </a:r>
            <a:r>
              <a:rPr lang="es-ES" sz="4500" b="0" i="0" u="none" strike="noStrike" baseline="0">
                <a:latin typeface="Calibri" panose="020F0502020204030204" pitchFamily="34" charset="0"/>
              </a:rPr>
              <a:t>mutuamente como profesionales. </a:t>
            </a:r>
          </a:p>
          <a:p>
            <a:endParaRPr lang="es-ES"/>
          </a:p>
        </p:txBody>
      </p:sp>
    </p:spTree>
    <p:extLst>
      <p:ext uri="{BB962C8B-B14F-4D97-AF65-F5344CB8AC3E}">
        <p14:creationId xmlns:p14="http://schemas.microsoft.com/office/powerpoint/2010/main" val="3403522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0D7454-2981-A582-A636-BF7282CEE0B6}"/>
              </a:ext>
            </a:extLst>
          </p:cNvPr>
          <p:cNvSpPr>
            <a:spLocks noGrp="1"/>
          </p:cNvSpPr>
          <p:nvPr>
            <p:ph type="title"/>
          </p:nvPr>
        </p:nvSpPr>
        <p:spPr/>
        <p:txBody>
          <a:bodyPr>
            <a:normAutofit/>
          </a:bodyPr>
          <a:lstStyle/>
          <a:p>
            <a:r>
              <a:rPr lang="es-ES" b="1"/>
              <a:t>Roles auxiliares</a:t>
            </a:r>
            <a:endParaRPr lang="es-ES"/>
          </a:p>
        </p:txBody>
      </p:sp>
      <p:sp>
        <p:nvSpPr>
          <p:cNvPr id="3" name="Marcador de contenido 2">
            <a:extLst>
              <a:ext uri="{FF2B5EF4-FFF2-40B4-BE49-F238E27FC236}">
                <a16:creationId xmlns:a16="http://schemas.microsoft.com/office/drawing/2014/main" id="{B50088BF-321D-4D6D-8B59-A23D01D23F5E}"/>
              </a:ext>
            </a:extLst>
          </p:cNvPr>
          <p:cNvSpPr>
            <a:spLocks noGrp="1"/>
          </p:cNvSpPr>
          <p:nvPr>
            <p:ph type="body" sz="quarter" idx="13"/>
          </p:nvPr>
        </p:nvSpPr>
        <p:spPr>
          <a:xfrm>
            <a:off x="311499" y="1075174"/>
            <a:ext cx="11424976" cy="5295481"/>
          </a:xfrm>
        </p:spPr>
        <p:txBody>
          <a:bodyPr>
            <a:normAutofit fontScale="92500" lnSpcReduction="20000"/>
          </a:bodyPr>
          <a:lstStyle/>
          <a:p>
            <a:pPr algn="l" fontAlgn="base">
              <a:lnSpc>
                <a:spcPct val="110000"/>
              </a:lnSpc>
            </a:pPr>
            <a:r>
              <a:rPr lang="es-ES" sz="2600" b="0" i="0">
                <a:solidFill>
                  <a:srgbClr val="111111"/>
                </a:solidFill>
                <a:effectLst/>
                <a:latin typeface="Verdana" panose="020B0604030504040204" pitchFamily="34" charset="0"/>
                <a:ea typeface="Verdana" panose="020B0604030504040204" pitchFamily="34" charset="0"/>
              </a:rPr>
              <a:t>Los </a:t>
            </a:r>
            <a:r>
              <a:rPr lang="es-ES" sz="2600" b="0" i="0" dirty="0">
                <a:solidFill>
                  <a:srgbClr val="111111"/>
                </a:solidFill>
                <a:effectLst/>
                <a:latin typeface="Verdana" panose="020B0604030504040204" pitchFamily="34" charset="0"/>
                <a:ea typeface="Verdana" panose="020B0604030504040204" pitchFamily="34" charset="0"/>
              </a:rPr>
              <a:t>roles auxiliares en los “equipos Scrums” son aquellos que no tienen un rol formal y no se involucran frecuentemente en el “</a:t>
            </a:r>
            <a:r>
              <a:rPr lang="es-ES" sz="2600" b="1" i="0" dirty="0">
                <a:solidFill>
                  <a:srgbClr val="111111"/>
                </a:solidFill>
                <a:effectLst/>
                <a:latin typeface="Verdana" panose="020B0604030504040204" pitchFamily="34" charset="0"/>
                <a:ea typeface="Verdana" panose="020B0604030504040204" pitchFamily="34" charset="0"/>
              </a:rPr>
              <a:t>proceso Scrum</a:t>
            </a:r>
            <a:r>
              <a:rPr lang="es-ES" sz="2600" b="0" i="0" dirty="0">
                <a:solidFill>
                  <a:srgbClr val="111111"/>
                </a:solidFill>
                <a:effectLst/>
                <a:latin typeface="Verdana" panose="020B0604030504040204" pitchFamily="34" charset="0"/>
                <a:ea typeface="Verdana" panose="020B0604030504040204" pitchFamily="34" charset="0"/>
              </a:rPr>
              <a:t>”, sin embargo deben ser tomados en cuenta. Un aspecto importante de una aproximación ágil es la práctica de involucrar en el proceso a los usuarios, expertos del negocio y otros interesados (“</a:t>
            </a:r>
            <a:r>
              <a:rPr lang="es-ES" sz="2600" b="0" i="0" dirty="0" err="1">
                <a:solidFill>
                  <a:srgbClr val="111111"/>
                </a:solidFill>
                <a:effectLst/>
                <a:latin typeface="Verdana" panose="020B0604030504040204" pitchFamily="34" charset="0"/>
                <a:ea typeface="Verdana" panose="020B0604030504040204" pitchFamily="34" charset="0"/>
              </a:rPr>
              <a:t>stakeholders</a:t>
            </a:r>
            <a:r>
              <a:rPr lang="es-ES" sz="2600" b="0" i="0" dirty="0">
                <a:solidFill>
                  <a:srgbClr val="111111"/>
                </a:solidFill>
                <a:effectLst/>
                <a:latin typeface="Verdana" panose="020B0604030504040204" pitchFamily="34" charset="0"/>
                <a:ea typeface="Verdana" panose="020B0604030504040204" pitchFamily="34" charset="0"/>
              </a:rPr>
              <a:t>”). Es importante que esa gente participe y entregue retroalimentación con respecto a la salida del proceso a fin de revisar y planear cada sprint.</a:t>
            </a:r>
          </a:p>
          <a:p>
            <a:pPr algn="l" fontAlgn="base">
              <a:lnSpc>
                <a:spcPct val="110000"/>
              </a:lnSpc>
              <a:buFont typeface="Arial" panose="020B0604020202020204" pitchFamily="34" charset="0"/>
              <a:buChar char="•"/>
            </a:pPr>
            <a:r>
              <a:rPr lang="es-ES" sz="2600" b="1" i="1" dirty="0" err="1">
                <a:solidFill>
                  <a:srgbClr val="111111"/>
                </a:solidFill>
                <a:effectLst/>
                <a:latin typeface="Verdana" panose="020B0604030504040204" pitchFamily="34" charset="0"/>
                <a:ea typeface="Verdana" panose="020B0604030504040204" pitchFamily="34" charset="0"/>
              </a:rPr>
              <a:t>Stakeholders</a:t>
            </a:r>
            <a:r>
              <a:rPr lang="es-ES" sz="2600" b="1" i="1" dirty="0">
                <a:solidFill>
                  <a:srgbClr val="111111"/>
                </a:solidFill>
                <a:effectLst/>
                <a:latin typeface="Verdana" panose="020B0604030504040204" pitchFamily="34" charset="0"/>
                <a:ea typeface="Verdana" panose="020B0604030504040204" pitchFamily="34" charset="0"/>
              </a:rPr>
              <a:t> (Clientes, usuarios)</a:t>
            </a:r>
            <a:endParaRPr lang="es-ES" sz="2600" b="0" i="0" dirty="0">
              <a:solidFill>
                <a:srgbClr val="111111"/>
              </a:solidFill>
              <a:effectLst/>
              <a:latin typeface="Verdana" panose="020B0604030504040204" pitchFamily="34" charset="0"/>
              <a:ea typeface="Verdana" panose="020B0604030504040204" pitchFamily="34" charset="0"/>
            </a:endParaRPr>
          </a:p>
          <a:p>
            <a:pPr marL="742950" lvl="1" indent="-285750" algn="l" fontAlgn="base">
              <a:lnSpc>
                <a:spcPct val="110000"/>
              </a:lnSpc>
              <a:buFont typeface="Arial" panose="020B0604020202020204" pitchFamily="34" charset="0"/>
              <a:buChar char="•"/>
            </a:pPr>
            <a:r>
              <a:rPr lang="es-ES" sz="2200" b="0" i="0" dirty="0">
                <a:solidFill>
                  <a:srgbClr val="111111"/>
                </a:solidFill>
                <a:effectLst/>
                <a:latin typeface="Verdana" panose="020B0604030504040204" pitchFamily="34" charset="0"/>
                <a:ea typeface="Verdana" panose="020B0604030504040204" pitchFamily="34" charset="0"/>
              </a:rPr>
              <a:t>Son las personas que hacen posible el proyecto y para quienes el proyecto producirá el beneficio acordado que justifica su desarrollo. Sólo participan directamente durante las revisiones o demos del “sprint”.</a:t>
            </a:r>
          </a:p>
          <a:p>
            <a:pPr algn="l" fontAlgn="base">
              <a:lnSpc>
                <a:spcPct val="110000"/>
              </a:lnSpc>
              <a:buFont typeface="Arial" panose="020B0604020202020204" pitchFamily="34" charset="0"/>
              <a:buChar char="•"/>
            </a:pPr>
            <a:r>
              <a:rPr lang="es-ES" sz="2600" b="1" i="1" dirty="0">
                <a:solidFill>
                  <a:srgbClr val="111111"/>
                </a:solidFill>
                <a:effectLst/>
                <a:latin typeface="Verdana" panose="020B0604030504040204" pitchFamily="34" charset="0"/>
                <a:ea typeface="Verdana" panose="020B0604030504040204" pitchFamily="34" charset="0"/>
              </a:rPr>
              <a:t>Administradores (Managers)</a:t>
            </a:r>
            <a:endParaRPr lang="es-ES" sz="2600" b="0" i="0" dirty="0">
              <a:solidFill>
                <a:srgbClr val="111111"/>
              </a:solidFill>
              <a:effectLst/>
              <a:latin typeface="Verdana" panose="020B0604030504040204" pitchFamily="34" charset="0"/>
              <a:ea typeface="Verdana" panose="020B0604030504040204" pitchFamily="34" charset="0"/>
            </a:endParaRPr>
          </a:p>
          <a:p>
            <a:pPr marL="742950" lvl="1" indent="-285750" algn="l" fontAlgn="base">
              <a:lnSpc>
                <a:spcPct val="110000"/>
              </a:lnSpc>
              <a:buFont typeface="Arial" panose="020B0604020202020204" pitchFamily="34" charset="0"/>
              <a:buChar char="•"/>
            </a:pPr>
            <a:r>
              <a:rPr lang="es-ES" sz="2200" b="0" i="0" dirty="0">
                <a:solidFill>
                  <a:srgbClr val="111111"/>
                </a:solidFill>
                <a:effectLst/>
                <a:latin typeface="Verdana" panose="020B0604030504040204" pitchFamily="34" charset="0"/>
                <a:ea typeface="Verdana" panose="020B0604030504040204" pitchFamily="34" charset="0"/>
              </a:rPr>
              <a:t>Son los responsables de establecer el entorno para el desarrollo del proyecto.</a:t>
            </a:r>
          </a:p>
          <a:p>
            <a:endParaRPr lang="es-ES" dirty="0"/>
          </a:p>
        </p:txBody>
      </p:sp>
      <p:pic>
        <p:nvPicPr>
          <p:cNvPr id="4" name="Imagen 3">
            <a:extLst>
              <a:ext uri="{FF2B5EF4-FFF2-40B4-BE49-F238E27FC236}">
                <a16:creationId xmlns:a16="http://schemas.microsoft.com/office/drawing/2014/main" id="{AC76376D-6875-4C02-8196-810078D3FF20}"/>
              </a:ext>
            </a:extLst>
          </p:cNvPr>
          <p:cNvPicPr>
            <a:picLocks noChangeAspect="1"/>
          </p:cNvPicPr>
          <p:nvPr/>
        </p:nvPicPr>
        <p:blipFill>
          <a:blip r:embed="rId2"/>
          <a:stretch>
            <a:fillRect/>
          </a:stretch>
        </p:blipFill>
        <p:spPr>
          <a:xfrm>
            <a:off x="10901324" y="0"/>
            <a:ext cx="1353429" cy="823031"/>
          </a:xfrm>
          <a:prstGeom prst="rect">
            <a:avLst/>
          </a:prstGeom>
        </p:spPr>
      </p:pic>
    </p:spTree>
    <p:extLst>
      <p:ext uri="{BB962C8B-B14F-4D97-AF65-F5344CB8AC3E}">
        <p14:creationId xmlns:p14="http://schemas.microsoft.com/office/powerpoint/2010/main" val="16543570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95B82339-BBD4-F771-9768-DAB01D27E545}"/>
              </a:ext>
            </a:extLst>
          </p:cNvPr>
          <p:cNvSpPr>
            <a:spLocks noGrp="1"/>
          </p:cNvSpPr>
          <p:nvPr>
            <p:ph type="title"/>
          </p:nvPr>
        </p:nvSpPr>
        <p:spPr/>
        <p:txBody>
          <a:bodyPr>
            <a:normAutofit/>
          </a:bodyPr>
          <a:lstStyle/>
          <a:p>
            <a:r>
              <a:rPr lang="es-ES"/>
              <a:t>AGILE LEADERSHIP</a:t>
            </a:r>
          </a:p>
        </p:txBody>
      </p:sp>
      <p:pic>
        <p:nvPicPr>
          <p:cNvPr id="4" name="Imagen 3">
            <a:extLst>
              <a:ext uri="{FF2B5EF4-FFF2-40B4-BE49-F238E27FC236}">
                <a16:creationId xmlns:a16="http://schemas.microsoft.com/office/drawing/2014/main" id="{3A55BC13-2D0F-459A-9D0A-C8A96BCD3B54}"/>
              </a:ext>
            </a:extLst>
          </p:cNvPr>
          <p:cNvPicPr>
            <a:picLocks noChangeAspect="1"/>
          </p:cNvPicPr>
          <p:nvPr/>
        </p:nvPicPr>
        <p:blipFill>
          <a:blip r:embed="rId2"/>
          <a:stretch>
            <a:fillRect/>
          </a:stretch>
        </p:blipFill>
        <p:spPr>
          <a:xfrm>
            <a:off x="11467322" y="6296392"/>
            <a:ext cx="892206" cy="542558"/>
          </a:xfrm>
          <a:prstGeom prst="rect">
            <a:avLst/>
          </a:prstGeom>
        </p:spPr>
      </p:pic>
      <p:sp>
        <p:nvSpPr>
          <p:cNvPr id="13" name="AutoShape 2" descr="La Ventana de Johari y sus 4 Cuadrantes: Potente Herramienta de Autoanálisis">
            <a:extLst>
              <a:ext uri="{FF2B5EF4-FFF2-40B4-BE49-F238E27FC236}">
                <a16:creationId xmlns:a16="http://schemas.microsoft.com/office/drawing/2014/main" id="{75E76CFD-264B-4D6C-986E-4EA779DB0F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17" name="CuadroTexto 16">
            <a:extLst>
              <a:ext uri="{FF2B5EF4-FFF2-40B4-BE49-F238E27FC236}">
                <a16:creationId xmlns:a16="http://schemas.microsoft.com/office/drawing/2014/main" id="{ADA105E3-8CA6-458C-B47C-E846BC03257D}"/>
              </a:ext>
            </a:extLst>
          </p:cNvPr>
          <p:cNvSpPr txBox="1"/>
          <p:nvPr/>
        </p:nvSpPr>
        <p:spPr>
          <a:xfrm>
            <a:off x="552450" y="997880"/>
            <a:ext cx="11425185" cy="369332"/>
          </a:xfrm>
          <a:prstGeom prst="rect">
            <a:avLst/>
          </a:prstGeom>
          <a:noFill/>
        </p:spPr>
        <p:txBody>
          <a:bodyPr wrap="square">
            <a:spAutoFit/>
          </a:bodyPr>
          <a:lstStyle/>
          <a:p>
            <a:endParaRPr lang="es-ES" dirty="0"/>
          </a:p>
        </p:txBody>
      </p:sp>
      <p:sp>
        <p:nvSpPr>
          <p:cNvPr id="21" name="CuadroTexto 20">
            <a:extLst>
              <a:ext uri="{FF2B5EF4-FFF2-40B4-BE49-F238E27FC236}">
                <a16:creationId xmlns:a16="http://schemas.microsoft.com/office/drawing/2014/main" id="{D1801A0B-685F-8C43-A4CF-3570A19FFC81}"/>
              </a:ext>
            </a:extLst>
          </p:cNvPr>
          <p:cNvSpPr txBox="1"/>
          <p:nvPr/>
        </p:nvSpPr>
        <p:spPr>
          <a:xfrm>
            <a:off x="214365" y="785889"/>
            <a:ext cx="4327490" cy="6001643"/>
          </a:xfrm>
          <a:prstGeom prst="rect">
            <a:avLst/>
          </a:prstGeom>
          <a:noFill/>
        </p:spPr>
        <p:txBody>
          <a:bodyPr wrap="square">
            <a:spAutoFit/>
          </a:bodyPr>
          <a:lstStyle/>
          <a:p>
            <a:r>
              <a:rPr lang="es-ES" sz="3200" b="0" i="0">
                <a:solidFill>
                  <a:srgbClr val="444340"/>
                </a:solidFill>
                <a:effectLst/>
                <a:latin typeface="Source Sans Pro"/>
              </a:rPr>
              <a:t>El Agile leadership se basa en la idea de empoderar a los equipos para que sean capaces de hacer su trabajo. La relación de un líder con su equipo es la de líder servidor, poniéndose al servicio del equipo para que este sea efectivo en su entrega de valor. </a:t>
            </a:r>
            <a:endParaRPr lang="es-ES" sz="3200" dirty="0"/>
          </a:p>
        </p:txBody>
      </p:sp>
      <p:pic>
        <p:nvPicPr>
          <p:cNvPr id="1026" name="Picture 2" descr="The Future of Leadership: The Agile Leader™ - NEHRA">
            <a:extLst>
              <a:ext uri="{FF2B5EF4-FFF2-40B4-BE49-F238E27FC236}">
                <a16:creationId xmlns:a16="http://schemas.microsoft.com/office/drawing/2014/main" id="{65334B87-BC6E-2729-0414-81568C2446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750" y="997880"/>
            <a:ext cx="5780923" cy="5780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961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891305-5648-4A27-9AF4-C86DBE207593}"/>
              </a:ext>
            </a:extLst>
          </p:cNvPr>
          <p:cNvSpPr>
            <a:spLocks noGrp="1"/>
          </p:cNvSpPr>
          <p:nvPr>
            <p:ph type="title"/>
          </p:nvPr>
        </p:nvSpPr>
        <p:spPr/>
        <p:txBody>
          <a:bodyPr>
            <a:normAutofit/>
          </a:bodyPr>
          <a:lstStyle/>
          <a:p>
            <a:r>
              <a:rPr lang="es-ES" dirty="0"/>
              <a:t>3</a:t>
            </a:r>
            <a:r>
              <a:rPr lang="es-ES"/>
              <a:t>. </a:t>
            </a:r>
            <a:r>
              <a:rPr lang="es-ES" b="1"/>
              <a:t>GESTIÓN DEL TIEMPO</a:t>
            </a:r>
            <a:endParaRPr lang="es-ES" dirty="0"/>
          </a:p>
        </p:txBody>
      </p:sp>
      <p:pic>
        <p:nvPicPr>
          <p:cNvPr id="8" name="Imagen 7">
            <a:extLst>
              <a:ext uri="{FF2B5EF4-FFF2-40B4-BE49-F238E27FC236}">
                <a16:creationId xmlns:a16="http://schemas.microsoft.com/office/drawing/2014/main" id="{4EEF7E69-889B-4217-9770-09B5F00DEE31}"/>
              </a:ext>
            </a:extLst>
          </p:cNvPr>
          <p:cNvPicPr>
            <a:picLocks noChangeAspect="1"/>
          </p:cNvPicPr>
          <p:nvPr/>
        </p:nvPicPr>
        <p:blipFill>
          <a:blip r:embed="rId2"/>
          <a:stretch>
            <a:fillRect/>
          </a:stretch>
        </p:blipFill>
        <p:spPr>
          <a:xfrm>
            <a:off x="10901324" y="0"/>
            <a:ext cx="1353429" cy="823031"/>
          </a:xfrm>
          <a:prstGeom prst="rect">
            <a:avLst/>
          </a:prstGeom>
        </p:spPr>
      </p:pic>
      <p:sp>
        <p:nvSpPr>
          <p:cNvPr id="10" name="Marcador de contenido 2">
            <a:extLst>
              <a:ext uri="{FF2B5EF4-FFF2-40B4-BE49-F238E27FC236}">
                <a16:creationId xmlns:a16="http://schemas.microsoft.com/office/drawing/2014/main" id="{82FF97D0-E8CB-4A8A-AD5A-7AE1EE2558F2}"/>
              </a:ext>
            </a:extLst>
          </p:cNvPr>
          <p:cNvSpPr txBox="1">
            <a:spLocks/>
          </p:cNvSpPr>
          <p:nvPr/>
        </p:nvSpPr>
        <p:spPr>
          <a:xfrm>
            <a:off x="319088" y="1667435"/>
            <a:ext cx="11530012" cy="5126691"/>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fontAlgn="base">
              <a:lnSpc>
                <a:spcPct val="120000"/>
              </a:lnSpc>
              <a:buFont typeface="Arial" panose="020B0604020202020204" pitchFamily="34" charset="0"/>
              <a:buNone/>
            </a:pPr>
            <a:r>
              <a:rPr lang="es-ES" sz="3400" b="1" dirty="0"/>
              <a:t>3.1. Técnicas.</a:t>
            </a:r>
            <a:endParaRPr lang="es-ES" sz="3400" b="1" dirty="0">
              <a:solidFill>
                <a:srgbClr val="336699"/>
              </a:solidFill>
              <a:latin typeface="Verdana" panose="020B0604030504040204" pitchFamily="34" charset="0"/>
              <a:ea typeface="Verdana" panose="020B0604030504040204" pitchFamily="34" charset="0"/>
            </a:endParaRPr>
          </a:p>
          <a:p>
            <a:pPr marL="0" indent="0" fontAlgn="base">
              <a:lnSpc>
                <a:spcPct val="120000"/>
              </a:lnSpc>
              <a:buFont typeface="Arial" panose="020B0604020202020204" pitchFamily="34" charset="0"/>
              <a:buNone/>
            </a:pPr>
            <a:r>
              <a:rPr lang="es-ES" b="1" dirty="0">
                <a:solidFill>
                  <a:srgbClr val="336699"/>
                </a:solidFill>
                <a:latin typeface="Verdana" panose="020B0604030504040204" pitchFamily="34" charset="0"/>
                <a:ea typeface="Verdana" panose="020B0604030504040204" pitchFamily="34" charset="0"/>
              </a:rPr>
              <a:t>La disciplina de gestión del tiempo</a:t>
            </a:r>
          </a:p>
          <a:p>
            <a:pPr marL="0" indent="0" fontAlgn="base">
              <a:lnSpc>
                <a:spcPct val="120000"/>
              </a:lnSpc>
              <a:buFont typeface="Arial" panose="020B0604020202020204" pitchFamily="34" charset="0"/>
              <a:buNone/>
            </a:pPr>
            <a:r>
              <a:rPr lang="es-ES" dirty="0">
                <a:solidFill>
                  <a:srgbClr val="3A3A3A"/>
                </a:solidFill>
                <a:latin typeface="Verdana" panose="020B0604030504040204" pitchFamily="34" charset="0"/>
                <a:ea typeface="Verdana" panose="020B0604030504040204" pitchFamily="34" charset="0"/>
              </a:rPr>
              <a:t>Según Wikipedia:</a:t>
            </a:r>
          </a:p>
          <a:p>
            <a:pPr marL="0" indent="0" fontAlgn="base">
              <a:lnSpc>
                <a:spcPct val="120000"/>
              </a:lnSpc>
              <a:buFont typeface="Arial" panose="020B0604020202020204" pitchFamily="34" charset="0"/>
              <a:buNone/>
            </a:pPr>
            <a:r>
              <a:rPr lang="es-ES" dirty="0">
                <a:solidFill>
                  <a:srgbClr val="3A3A3A"/>
                </a:solidFill>
                <a:latin typeface="Verdana" panose="020B0604030504040204" pitchFamily="34" charset="0"/>
                <a:ea typeface="Verdana" panose="020B0604030504040204" pitchFamily="34" charset="0"/>
              </a:rPr>
              <a:t>“</a:t>
            </a:r>
            <a:r>
              <a:rPr lang="es-ES" i="1" dirty="0">
                <a:solidFill>
                  <a:srgbClr val="3A3A3A"/>
                </a:solidFill>
                <a:latin typeface="Verdana" panose="020B0604030504040204" pitchFamily="34" charset="0"/>
                <a:ea typeface="Verdana" panose="020B0604030504040204" pitchFamily="34" charset="0"/>
              </a:rPr>
              <a:t>la </a:t>
            </a:r>
            <a:r>
              <a:rPr lang="es-ES" i="1" dirty="0">
                <a:solidFill>
                  <a:srgbClr val="0274BE"/>
                </a:solidFill>
                <a:latin typeface="Verdana" panose="020B0604030504040204" pitchFamily="34" charset="0"/>
                <a:ea typeface="Verdana" panose="020B0604030504040204" pitchFamily="34" charset="0"/>
                <a:hlinkClick r:id="rId3"/>
              </a:rPr>
              <a:t>gestión del tiempo</a:t>
            </a:r>
            <a:r>
              <a:rPr lang="es-ES" i="1" dirty="0">
                <a:solidFill>
                  <a:srgbClr val="3A3A3A"/>
                </a:solidFill>
                <a:latin typeface="Verdana" panose="020B0604030504040204" pitchFamily="34" charset="0"/>
                <a:ea typeface="Verdana" panose="020B0604030504040204" pitchFamily="34" charset="0"/>
              </a:rPr>
              <a:t> es el proceso de planificar y ejercer un control consciente sobre el límite de tiempo dedicado a actividades específicas, especialmente para incrementar la efectividad, eficiencia y productividad. “</a:t>
            </a:r>
          </a:p>
          <a:p>
            <a:pPr marL="0" indent="0" fontAlgn="base">
              <a:lnSpc>
                <a:spcPct val="120000"/>
              </a:lnSpc>
              <a:buFont typeface="Arial" panose="020B0604020202020204" pitchFamily="34" charset="0"/>
              <a:buNone/>
            </a:pPr>
            <a:r>
              <a:rPr lang="es-ES" dirty="0">
                <a:solidFill>
                  <a:srgbClr val="3A3A3A"/>
                </a:solidFill>
                <a:latin typeface="Verdana" panose="020B0604030504040204" pitchFamily="34" charset="0"/>
                <a:ea typeface="Verdana" panose="020B0604030504040204" pitchFamily="34" charset="0"/>
              </a:rPr>
              <a:t>Algunas de las principales actividades para gestionar el tiempo son:</a:t>
            </a:r>
          </a:p>
          <a:p>
            <a:pPr marL="971550" lvl="1" indent="-514350" fontAlgn="base">
              <a:lnSpc>
                <a:spcPct val="120000"/>
              </a:lnSpc>
              <a:buFont typeface="+mj-lt"/>
              <a:buAutoNum type="arabicPeriod"/>
            </a:pPr>
            <a:r>
              <a:rPr lang="es-ES" b="1" dirty="0">
                <a:solidFill>
                  <a:srgbClr val="3A3A3A"/>
                </a:solidFill>
                <a:latin typeface="Verdana" panose="020B0604030504040204" pitchFamily="34" charset="0"/>
                <a:ea typeface="Verdana" panose="020B0604030504040204" pitchFamily="34" charset="0"/>
              </a:rPr>
              <a:t>Crear un entorno que facilite la efectividad.</a:t>
            </a:r>
          </a:p>
          <a:p>
            <a:pPr marL="971550" lvl="1" indent="-514350" fontAlgn="base">
              <a:lnSpc>
                <a:spcPct val="120000"/>
              </a:lnSpc>
              <a:buFont typeface="+mj-lt"/>
              <a:buAutoNum type="arabicPeriod"/>
            </a:pPr>
            <a:r>
              <a:rPr lang="es-ES" b="1" dirty="0">
                <a:solidFill>
                  <a:srgbClr val="3A3A3A"/>
                </a:solidFill>
                <a:latin typeface="Verdana" panose="020B0604030504040204" pitchFamily="34" charset="0"/>
                <a:ea typeface="Verdana" panose="020B0604030504040204" pitchFamily="34" charset="0"/>
              </a:rPr>
              <a:t>Fijar prioridades</a:t>
            </a:r>
          </a:p>
          <a:p>
            <a:pPr marL="971550" lvl="1" indent="-514350" fontAlgn="base">
              <a:lnSpc>
                <a:spcPct val="120000"/>
              </a:lnSpc>
              <a:buFont typeface="+mj-lt"/>
              <a:buAutoNum type="arabicPeriod"/>
            </a:pPr>
            <a:r>
              <a:rPr lang="es-ES" b="1" dirty="0">
                <a:solidFill>
                  <a:srgbClr val="3A3A3A"/>
                </a:solidFill>
                <a:latin typeface="Verdana" panose="020B0604030504040204" pitchFamily="34" charset="0"/>
                <a:ea typeface="Verdana" panose="020B0604030504040204" pitchFamily="34" charset="0"/>
              </a:rPr>
              <a:t>Realizar las actividades según las prioridades.</a:t>
            </a:r>
          </a:p>
          <a:p>
            <a:pPr marL="971550" lvl="1" indent="-514350" fontAlgn="base">
              <a:lnSpc>
                <a:spcPct val="120000"/>
              </a:lnSpc>
              <a:buFont typeface="+mj-lt"/>
              <a:buAutoNum type="arabicPeriod"/>
            </a:pPr>
            <a:r>
              <a:rPr lang="es-ES" b="1" dirty="0">
                <a:solidFill>
                  <a:srgbClr val="3A3A3A"/>
                </a:solidFill>
                <a:latin typeface="Verdana" panose="020B0604030504040204" pitchFamily="34" charset="0"/>
                <a:ea typeface="Verdana" panose="020B0604030504040204" pitchFamily="34" charset="0"/>
              </a:rPr>
              <a:t>Reducir el tiempo en actividades no prioritarias.</a:t>
            </a:r>
          </a:p>
          <a:p>
            <a:pPr marL="971550" lvl="1" indent="-514350" fontAlgn="base">
              <a:lnSpc>
                <a:spcPct val="120000"/>
              </a:lnSpc>
              <a:buFont typeface="+mj-lt"/>
              <a:buAutoNum type="arabicPeriod"/>
            </a:pPr>
            <a:r>
              <a:rPr lang="es-ES" b="1" dirty="0">
                <a:solidFill>
                  <a:srgbClr val="3A3A3A"/>
                </a:solidFill>
                <a:latin typeface="Verdana" panose="020B0604030504040204" pitchFamily="34" charset="0"/>
                <a:ea typeface="Verdana" panose="020B0604030504040204" pitchFamily="34" charset="0"/>
              </a:rPr>
              <a:t>Fijar incentivos para asegurar el cumplimiento de las fechas de entrega.</a:t>
            </a:r>
          </a:p>
          <a:p>
            <a:pPr>
              <a:lnSpc>
                <a:spcPct val="120000"/>
              </a:lnSpc>
            </a:pPr>
            <a:endParaRPr lang="es-E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68884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25DF8CA-2D71-4D39-85AF-82CD27EEBE51}"/>
              </a:ext>
            </a:extLst>
          </p:cNvPr>
          <p:cNvPicPr>
            <a:picLocks noChangeAspect="1"/>
          </p:cNvPicPr>
          <p:nvPr/>
        </p:nvPicPr>
        <p:blipFill>
          <a:blip r:embed="rId2"/>
          <a:stretch>
            <a:fillRect/>
          </a:stretch>
        </p:blipFill>
        <p:spPr>
          <a:xfrm>
            <a:off x="10901324" y="0"/>
            <a:ext cx="1353429" cy="823031"/>
          </a:xfrm>
          <a:prstGeom prst="rect">
            <a:avLst/>
          </a:prstGeom>
        </p:spPr>
      </p:pic>
      <p:sp>
        <p:nvSpPr>
          <p:cNvPr id="2" name="Título 1">
            <a:extLst>
              <a:ext uri="{FF2B5EF4-FFF2-40B4-BE49-F238E27FC236}">
                <a16:creationId xmlns:a16="http://schemas.microsoft.com/office/drawing/2014/main" id="{221C8F2A-6AA9-9226-52CB-654017A905AD}"/>
              </a:ext>
            </a:extLst>
          </p:cNvPr>
          <p:cNvSpPr>
            <a:spLocks noGrp="1"/>
          </p:cNvSpPr>
          <p:nvPr>
            <p:ph type="title"/>
          </p:nvPr>
        </p:nvSpPr>
        <p:spPr/>
        <p:txBody>
          <a:bodyPr>
            <a:normAutofit/>
          </a:bodyPr>
          <a:lstStyle/>
          <a:p>
            <a:r>
              <a:rPr lang="es-ES" sz="4400" b="1"/>
              <a:t>3.1. Técnicas.</a:t>
            </a:r>
            <a:endParaRPr lang="es-ES"/>
          </a:p>
        </p:txBody>
      </p:sp>
      <p:sp>
        <p:nvSpPr>
          <p:cNvPr id="3" name="Marcador de texto 2">
            <a:extLst>
              <a:ext uri="{FF2B5EF4-FFF2-40B4-BE49-F238E27FC236}">
                <a16:creationId xmlns:a16="http://schemas.microsoft.com/office/drawing/2014/main" id="{7D91BC2E-8D97-973F-F819-C6CA80B78A5B}"/>
              </a:ext>
            </a:extLst>
          </p:cNvPr>
          <p:cNvSpPr>
            <a:spLocks noGrp="1"/>
          </p:cNvSpPr>
          <p:nvPr>
            <p:ph type="body" sz="quarter" idx="13"/>
          </p:nvPr>
        </p:nvSpPr>
        <p:spPr/>
        <p:txBody>
          <a:bodyPr/>
          <a:lstStyle/>
          <a:p>
            <a:endParaRPr lang="es-ES"/>
          </a:p>
        </p:txBody>
      </p:sp>
      <p:graphicFrame>
        <p:nvGraphicFramePr>
          <p:cNvPr id="8" name="Marcador de contenido 7">
            <a:extLst>
              <a:ext uri="{FF2B5EF4-FFF2-40B4-BE49-F238E27FC236}">
                <a16:creationId xmlns:a16="http://schemas.microsoft.com/office/drawing/2014/main" id="{D0221E94-3127-4415-8A5E-21CFA18CE252}"/>
              </a:ext>
            </a:extLst>
          </p:cNvPr>
          <p:cNvGraphicFramePr>
            <a:graphicFrameLocks noGrp="1"/>
          </p:cNvGraphicFramePr>
          <p:nvPr>
            <p:ph idx="4294967295"/>
            <p:extLst>
              <p:ext uri="{D42A27DB-BD31-4B8C-83A1-F6EECF244321}">
                <p14:modId xmlns:p14="http://schemas.microsoft.com/office/powerpoint/2010/main" val="2493839686"/>
              </p:ext>
            </p:extLst>
          </p:nvPr>
        </p:nvGraphicFramePr>
        <p:xfrm>
          <a:off x="0" y="1284550"/>
          <a:ext cx="10515600" cy="5354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uadroTexto 6">
            <a:extLst>
              <a:ext uri="{FF2B5EF4-FFF2-40B4-BE49-F238E27FC236}">
                <a16:creationId xmlns:a16="http://schemas.microsoft.com/office/drawing/2014/main" id="{391216CA-C315-4C77-855D-511809BA3DCD}"/>
              </a:ext>
            </a:extLst>
          </p:cNvPr>
          <p:cNvSpPr txBox="1"/>
          <p:nvPr/>
        </p:nvSpPr>
        <p:spPr>
          <a:xfrm>
            <a:off x="838200" y="226849"/>
            <a:ext cx="6127376" cy="369332"/>
          </a:xfrm>
          <a:prstGeom prst="rect">
            <a:avLst/>
          </a:prstGeom>
          <a:noFill/>
        </p:spPr>
        <p:txBody>
          <a:bodyPr wrap="square">
            <a:spAutoFit/>
          </a:bodyPr>
          <a:lstStyle/>
          <a:p>
            <a:endParaRPr lang="es-ES" sz="1800" b="1" i="0" dirty="0">
              <a:solidFill>
                <a:srgbClr val="336699"/>
              </a:solidFill>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27875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C006D365-07B2-44C0-88EC-19349B3BD132}"/>
              </a:ext>
            </a:extLst>
          </p:cNvPr>
          <p:cNvSpPr txBox="1"/>
          <p:nvPr/>
        </p:nvSpPr>
        <p:spPr>
          <a:xfrm>
            <a:off x="371475" y="352425"/>
            <a:ext cx="11506200" cy="64325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s-ES" sz="1800" b="1" dirty="0"/>
              <a:t>3.1. Técnicas.</a:t>
            </a:r>
            <a:endParaRPr lang="es-ES" sz="1800" b="1" i="0" dirty="0">
              <a:solidFill>
                <a:srgbClr val="336699"/>
              </a:solidFill>
              <a:effectLst/>
              <a:latin typeface="Verdana" panose="020B0604030504040204" pitchFamily="34" charset="0"/>
              <a:ea typeface="Verdana" panose="020B0604030504040204" pitchFamily="34" charset="0"/>
            </a:endParaRPr>
          </a:p>
          <a:p>
            <a:endParaRPr lang="es-ES" dirty="0"/>
          </a:p>
          <a:p>
            <a:endParaRPr lang="es-ES" dirty="0"/>
          </a:p>
          <a:p>
            <a:r>
              <a:rPr lang="es-ES" dirty="0"/>
              <a:t>Cada miembro del equipo es responsable de mantener su foco y su productividad. Los métodos de gestión del tiempo pueden ayudarle. Dos de los más populares son:</a:t>
            </a:r>
          </a:p>
          <a:p>
            <a:endParaRPr lang="es-ES" dirty="0"/>
          </a:p>
          <a:p>
            <a:pPr marL="342900" indent="-342900">
              <a:buFont typeface="+mj-lt"/>
              <a:buAutoNum type="arabicPeriod"/>
            </a:pPr>
            <a:r>
              <a:rPr lang="es-ES" sz="2800" b="1" dirty="0"/>
              <a:t>El método </a:t>
            </a:r>
            <a:r>
              <a:rPr lang="es-ES" sz="2800" b="1" dirty="0" err="1"/>
              <a:t>Getting</a:t>
            </a:r>
            <a:r>
              <a:rPr lang="es-ES" sz="2800" b="1" dirty="0"/>
              <a:t> </a:t>
            </a:r>
            <a:r>
              <a:rPr lang="es-ES" sz="2800" b="1" dirty="0" err="1"/>
              <a:t>Things</a:t>
            </a:r>
            <a:r>
              <a:rPr lang="es-ES" sz="2800" b="1" dirty="0"/>
              <a:t> Done </a:t>
            </a:r>
            <a:r>
              <a:rPr lang="es-ES" sz="2800" dirty="0"/>
              <a:t>(</a:t>
            </a:r>
            <a:r>
              <a:rPr lang="es-ES" sz="2800"/>
              <a:t>GTD):</a:t>
            </a:r>
          </a:p>
          <a:p>
            <a:endParaRPr lang="es-ES" sz="2800" dirty="0"/>
          </a:p>
          <a:p>
            <a:r>
              <a:rPr lang="es-ES" dirty="0"/>
              <a:t>Se basa en planificar el trabajo en una herramienta para «sacarlo de la cabeza» y realizar posteriormente esta planificación. Esto aumenta la eficacia y reduce el estrés. Más allá de la fuente de tareas que es el Backlog del Sprint, así como la planificación diaria del trabajo del </a:t>
            </a:r>
            <a:r>
              <a:rPr lang="es-ES" dirty="0" err="1"/>
              <a:t>Daily</a:t>
            </a:r>
            <a:r>
              <a:rPr lang="es-ES" dirty="0"/>
              <a:t> Scrum, estas necesidades suelen salir de llamadas, correos, chats y visitas físicas al puesto de trabajo.</a:t>
            </a:r>
          </a:p>
          <a:p>
            <a:endParaRPr lang="es-ES" dirty="0"/>
          </a:p>
          <a:p>
            <a:pPr marL="342900" indent="-342900">
              <a:buFont typeface="+mj-lt"/>
              <a:buAutoNum type="arabicPeriod"/>
            </a:pPr>
            <a:r>
              <a:rPr lang="es-ES" sz="2800" b="1" dirty="0"/>
              <a:t>El método </a:t>
            </a:r>
            <a:r>
              <a:rPr lang="es-ES" sz="2800" b="1" dirty="0" err="1"/>
              <a:t>Pomodoro</a:t>
            </a:r>
            <a:r>
              <a:rPr lang="es-ES" sz="2800" b="1" dirty="0"/>
              <a:t>:</a:t>
            </a:r>
          </a:p>
          <a:p>
            <a:r>
              <a:rPr lang="es-ES" b="1" dirty="0"/>
              <a:t>S</a:t>
            </a:r>
            <a:r>
              <a:rPr lang="es-ES" dirty="0"/>
              <a:t>e fija exclusivamente en mantener la concentración y es sumamente simple. Se basa en fijar </a:t>
            </a:r>
            <a:r>
              <a:rPr lang="es-ES" sz="2000" b="1" dirty="0"/>
              <a:t>bloques de 25 minutos </a:t>
            </a:r>
            <a:r>
              <a:rPr lang="es-ES" dirty="0"/>
              <a:t>durante los cuales no podemos realizar nada excepto la tarea en curso y bloques de 5 minutos para otras actividades que suelen «robarnos» el tiempo, como correo, chats, llamadas, etc. </a:t>
            </a:r>
          </a:p>
          <a:p>
            <a:endParaRPr lang="es-ES" dirty="0"/>
          </a:p>
          <a:p>
            <a:r>
              <a:rPr lang="es-ES" dirty="0"/>
              <a:t>Al final del día se </a:t>
            </a:r>
            <a:r>
              <a:rPr lang="es-ES" sz="2000" b="1" dirty="0"/>
              <a:t>cuentan los </a:t>
            </a:r>
            <a:r>
              <a:rPr lang="es-ES" sz="2000" b="1" dirty="0" err="1"/>
              <a:t>pomodoros</a:t>
            </a:r>
            <a:r>
              <a:rPr lang="es-ES" dirty="0"/>
              <a:t>, y nos permite ver cuanta concentración hemos conseguido. El creador de la técnica aconseja usar herramientas simples como el papel, pero también hay herramientas gratuitas (</a:t>
            </a:r>
            <a:r>
              <a:rPr lang="es-ES" dirty="0" err="1"/>
              <a:t>p.e</a:t>
            </a:r>
            <a:r>
              <a:rPr lang="es-ES" dirty="0"/>
              <a:t>. esta) que nos ayudan a contar los </a:t>
            </a:r>
            <a:r>
              <a:rPr lang="es-ES" dirty="0" err="1"/>
              <a:t>pomodoros</a:t>
            </a:r>
            <a:r>
              <a:rPr lang="es-ES" dirty="0"/>
              <a:t>.</a:t>
            </a:r>
          </a:p>
        </p:txBody>
      </p:sp>
      <p:pic>
        <p:nvPicPr>
          <p:cNvPr id="10" name="Imagen 9">
            <a:extLst>
              <a:ext uri="{FF2B5EF4-FFF2-40B4-BE49-F238E27FC236}">
                <a16:creationId xmlns:a16="http://schemas.microsoft.com/office/drawing/2014/main" id="{67F03DEE-698A-49FC-8962-8B20E90AFF79}"/>
              </a:ext>
            </a:extLst>
          </p:cNvPr>
          <p:cNvPicPr>
            <a:picLocks noChangeAspect="1"/>
          </p:cNvPicPr>
          <p:nvPr/>
        </p:nvPicPr>
        <p:blipFill>
          <a:blip r:embed="rId2"/>
          <a:stretch>
            <a:fillRect/>
          </a:stretch>
        </p:blipFill>
        <p:spPr>
          <a:xfrm>
            <a:off x="10901324" y="0"/>
            <a:ext cx="1353429" cy="823031"/>
          </a:xfrm>
          <a:prstGeom prst="rect">
            <a:avLst/>
          </a:prstGeom>
        </p:spPr>
      </p:pic>
      <p:sp>
        <p:nvSpPr>
          <p:cNvPr id="2" name="Título 1">
            <a:extLst>
              <a:ext uri="{FF2B5EF4-FFF2-40B4-BE49-F238E27FC236}">
                <a16:creationId xmlns:a16="http://schemas.microsoft.com/office/drawing/2014/main" id="{AA913175-AC14-0E09-2029-B95ED0C5C156}"/>
              </a:ext>
            </a:extLst>
          </p:cNvPr>
          <p:cNvSpPr>
            <a:spLocks noGrp="1"/>
          </p:cNvSpPr>
          <p:nvPr>
            <p:ph type="title"/>
          </p:nvPr>
        </p:nvSpPr>
        <p:spPr/>
        <p:txBody>
          <a:bodyPr>
            <a:normAutofit/>
          </a:bodyPr>
          <a:lstStyle/>
          <a:p>
            <a:r>
              <a:rPr lang="es-ES" b="1"/>
              <a:t>Métodos de gestión de tiempo en Scrum</a:t>
            </a:r>
            <a:endParaRPr lang="es-ES"/>
          </a:p>
        </p:txBody>
      </p:sp>
    </p:spTree>
    <p:extLst>
      <p:ext uri="{BB962C8B-B14F-4D97-AF65-F5344CB8AC3E}">
        <p14:creationId xmlns:p14="http://schemas.microsoft.com/office/powerpoint/2010/main" val="3180889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8C4D02-6FD1-3B24-86C9-8231ED7E90B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3AE8B458-5DE0-435A-AD01-DFFFDFF9155F}"/>
              </a:ext>
            </a:extLst>
          </p:cNvPr>
          <p:cNvSpPr>
            <a:spLocks noGrp="1"/>
          </p:cNvSpPr>
          <p:nvPr>
            <p:ph type="body" sz="quarter" idx="13"/>
          </p:nvPr>
        </p:nvSpPr>
        <p:spPr/>
        <p:txBody>
          <a:bodyPr>
            <a:normAutofit fontScale="77500" lnSpcReduction="20000"/>
          </a:bodyPr>
          <a:lstStyle/>
          <a:p>
            <a:pPr marL="0" indent="0">
              <a:lnSpc>
                <a:spcPct val="120000"/>
              </a:lnSpc>
              <a:buNone/>
            </a:pPr>
            <a:r>
              <a:rPr lang="es-ES" sz="2400" b="1" dirty="0"/>
              <a:t>3.2. </a:t>
            </a:r>
            <a:r>
              <a:rPr lang="es-ES" sz="2400" b="1" dirty="0" err="1"/>
              <a:t>Timeboxing</a:t>
            </a:r>
            <a:r>
              <a:rPr lang="es-ES" sz="2400" b="1" dirty="0"/>
              <a:t>: limitar el tiempo de reunión.</a:t>
            </a:r>
          </a:p>
          <a:p>
            <a:pPr marL="0" indent="0">
              <a:lnSpc>
                <a:spcPct val="120000"/>
              </a:lnSpc>
              <a:buNone/>
            </a:pPr>
            <a:endParaRPr lang="es-ES" sz="1600" dirty="0"/>
          </a:p>
          <a:p>
            <a:pPr marL="0" indent="0">
              <a:lnSpc>
                <a:spcPct val="120000"/>
              </a:lnSpc>
              <a:buNone/>
            </a:pPr>
            <a:r>
              <a:rPr lang="es-ES" sz="2100" b="1" i="0" dirty="0">
                <a:solidFill>
                  <a:srgbClr val="202124"/>
                </a:solidFill>
                <a:effectLst/>
                <a:latin typeface="arial" panose="020B0604020202020204" pitchFamily="34" charset="0"/>
              </a:rPr>
              <a:t>1. El time-box o bloque de tiempo:</a:t>
            </a:r>
          </a:p>
          <a:p>
            <a:pPr marL="0" indent="0">
              <a:lnSpc>
                <a:spcPct val="120000"/>
              </a:lnSpc>
              <a:buNone/>
            </a:pPr>
            <a:r>
              <a:rPr lang="es-ES" sz="2100" dirty="0">
                <a:solidFill>
                  <a:srgbClr val="202124"/>
                </a:solidFill>
                <a:latin typeface="arial" panose="020B0604020202020204" pitchFamily="34" charset="0"/>
              </a:rPr>
              <a:t>E</a:t>
            </a:r>
            <a:r>
              <a:rPr lang="es-ES" sz="2100" b="0" i="0" dirty="0">
                <a:solidFill>
                  <a:srgbClr val="202124"/>
                </a:solidFill>
                <a:effectLst/>
                <a:latin typeface="arial" panose="020B0604020202020204" pitchFamily="34" charset="0"/>
              </a:rPr>
              <a:t>s de uno de los conceptos clave en </a:t>
            </a:r>
            <a:r>
              <a:rPr lang="es-ES" sz="2100" b="1" i="0" dirty="0">
                <a:solidFill>
                  <a:srgbClr val="202124"/>
                </a:solidFill>
                <a:effectLst/>
                <a:latin typeface="arial" panose="020B0604020202020204" pitchFamily="34" charset="0"/>
              </a:rPr>
              <a:t>Scrum</a:t>
            </a:r>
            <a:r>
              <a:rPr lang="es-ES" sz="2100" b="0" i="0" dirty="0">
                <a:solidFill>
                  <a:srgbClr val="202124"/>
                </a:solidFill>
                <a:effectLst/>
                <a:latin typeface="arial" panose="020B0604020202020204" pitchFamily="34" charset="0"/>
              </a:rPr>
              <a:t>. Todos los eventos de </a:t>
            </a:r>
            <a:r>
              <a:rPr lang="es-ES" sz="2100" b="1" i="0" dirty="0">
                <a:solidFill>
                  <a:srgbClr val="202124"/>
                </a:solidFill>
                <a:effectLst/>
                <a:latin typeface="arial" panose="020B0604020202020204" pitchFamily="34" charset="0"/>
              </a:rPr>
              <a:t>Scrum</a:t>
            </a:r>
            <a:r>
              <a:rPr lang="es-ES" sz="2100" b="0" i="0" dirty="0">
                <a:solidFill>
                  <a:srgbClr val="202124"/>
                </a:solidFill>
                <a:effectLst/>
                <a:latin typeface="arial" panose="020B0604020202020204" pitchFamily="34" charset="0"/>
              </a:rPr>
              <a:t> son </a:t>
            </a:r>
            <a:r>
              <a:rPr lang="es-ES" sz="2100" b="1" i="0" dirty="0">
                <a:solidFill>
                  <a:srgbClr val="202124"/>
                </a:solidFill>
                <a:effectLst/>
                <a:latin typeface="arial" panose="020B0604020202020204" pitchFamily="34" charset="0"/>
              </a:rPr>
              <a:t>bloques de tiempo</a:t>
            </a:r>
            <a:r>
              <a:rPr lang="es-ES" sz="2100" b="0" i="0" dirty="0">
                <a:solidFill>
                  <a:srgbClr val="202124"/>
                </a:solidFill>
                <a:effectLst/>
                <a:latin typeface="arial" panose="020B0604020202020204" pitchFamily="34" charset="0"/>
              </a:rPr>
              <a:t> con una duración máxima. Esta circunstancia nos ayuda a focalizar el objetivo de cada evento y a optimizar el </a:t>
            </a:r>
            <a:r>
              <a:rPr lang="es-ES" sz="2100" b="1" i="0" dirty="0">
                <a:solidFill>
                  <a:srgbClr val="202124"/>
                </a:solidFill>
                <a:effectLst/>
                <a:latin typeface="arial" panose="020B0604020202020204" pitchFamily="34" charset="0"/>
              </a:rPr>
              <a:t>tiempo</a:t>
            </a:r>
            <a:r>
              <a:rPr lang="es-ES" sz="2100" b="0" i="0" dirty="0">
                <a:solidFill>
                  <a:srgbClr val="202124"/>
                </a:solidFill>
                <a:effectLst/>
                <a:latin typeface="arial" panose="020B0604020202020204" pitchFamily="34" charset="0"/>
              </a:rPr>
              <a:t> dedicado por parte de los asistentes.</a:t>
            </a:r>
          </a:p>
          <a:p>
            <a:pPr marL="0" indent="0">
              <a:lnSpc>
                <a:spcPct val="120000"/>
              </a:lnSpc>
              <a:buNone/>
            </a:pPr>
            <a:r>
              <a:rPr lang="es-ES" sz="2100" b="0" i="0" dirty="0">
                <a:solidFill>
                  <a:srgbClr val="202124"/>
                </a:solidFill>
                <a:effectLst/>
                <a:latin typeface="arial" panose="020B0604020202020204" pitchFamily="34" charset="0"/>
              </a:rPr>
              <a:t>El </a:t>
            </a:r>
            <a:r>
              <a:rPr lang="es-ES" sz="2100" b="1" i="0" dirty="0" err="1">
                <a:solidFill>
                  <a:srgbClr val="202124"/>
                </a:solidFill>
                <a:effectLst/>
                <a:latin typeface="arial" panose="020B0604020202020204" pitchFamily="34" charset="0"/>
              </a:rPr>
              <a:t>timebox</a:t>
            </a:r>
            <a:r>
              <a:rPr lang="es-ES" sz="2100" b="0" i="0" dirty="0">
                <a:solidFill>
                  <a:srgbClr val="202124"/>
                </a:solidFill>
                <a:effectLst/>
                <a:latin typeface="arial" panose="020B0604020202020204" pitchFamily="34" charset="0"/>
              </a:rPr>
              <a:t> significa que los eventos </a:t>
            </a:r>
            <a:r>
              <a:rPr lang="es-ES" sz="2100" b="1" i="0" dirty="0">
                <a:solidFill>
                  <a:srgbClr val="202124"/>
                </a:solidFill>
                <a:effectLst/>
                <a:latin typeface="arial" panose="020B0604020202020204" pitchFamily="34" charset="0"/>
              </a:rPr>
              <a:t>de Scrum</a:t>
            </a:r>
            <a:r>
              <a:rPr lang="es-ES" sz="2100" b="0" i="0" dirty="0">
                <a:solidFill>
                  <a:srgbClr val="202124"/>
                </a:solidFill>
                <a:effectLst/>
                <a:latin typeface="arial" panose="020B0604020202020204" pitchFamily="34" charset="0"/>
              </a:rPr>
              <a:t> tienen una duración máxima preestablecida, tal y </a:t>
            </a:r>
            <a:r>
              <a:rPr lang="es-ES" sz="2100" b="1" i="0" dirty="0">
                <a:solidFill>
                  <a:srgbClr val="202124"/>
                </a:solidFill>
                <a:effectLst/>
                <a:latin typeface="arial" panose="020B0604020202020204" pitchFamily="34" charset="0"/>
              </a:rPr>
              <a:t>como</a:t>
            </a:r>
            <a:r>
              <a:rPr lang="es-ES" sz="2100" b="0" i="0" dirty="0">
                <a:solidFill>
                  <a:srgbClr val="202124"/>
                </a:solidFill>
                <a:effectLst/>
                <a:latin typeface="arial" panose="020B0604020202020204" pitchFamily="34" charset="0"/>
              </a:rPr>
              <a:t> indica la Guía </a:t>
            </a:r>
            <a:r>
              <a:rPr lang="es-ES" sz="2100" b="1" i="0" dirty="0">
                <a:solidFill>
                  <a:srgbClr val="202124"/>
                </a:solidFill>
                <a:effectLst/>
                <a:latin typeface="arial" panose="020B0604020202020204" pitchFamily="34" charset="0"/>
              </a:rPr>
              <a:t>Scrum</a:t>
            </a:r>
            <a:r>
              <a:rPr lang="es-ES" sz="2100" b="0" i="0" dirty="0">
                <a:solidFill>
                  <a:srgbClr val="202124"/>
                </a:solidFill>
                <a:effectLst/>
                <a:latin typeface="arial" panose="020B0604020202020204" pitchFamily="34" charset="0"/>
              </a:rPr>
              <a:t>. Con ello, la Guía consigue eliminar complejidad, puesto que nos ahorra tener que debatir sobre cuánto debe durar </a:t>
            </a:r>
            <a:r>
              <a:rPr lang="es-ES" sz="2100" b="1" i="0" dirty="0">
                <a:solidFill>
                  <a:srgbClr val="202124"/>
                </a:solidFill>
                <a:effectLst/>
                <a:latin typeface="arial" panose="020B0604020202020204" pitchFamily="34" charset="0"/>
              </a:rPr>
              <a:t>qué</a:t>
            </a:r>
            <a:r>
              <a:rPr lang="es-ES" sz="2100" b="0" i="0" dirty="0">
                <a:solidFill>
                  <a:srgbClr val="202124"/>
                </a:solidFill>
                <a:effectLst/>
                <a:latin typeface="arial" panose="020B0604020202020204" pitchFamily="34" charset="0"/>
              </a:rPr>
              <a:t> reunión, y evita que los eventos se alarguen más allá </a:t>
            </a:r>
            <a:r>
              <a:rPr lang="es-ES" sz="2100" b="1" i="0" dirty="0">
                <a:solidFill>
                  <a:srgbClr val="202124"/>
                </a:solidFill>
                <a:effectLst/>
                <a:latin typeface="arial" panose="020B0604020202020204" pitchFamily="34" charset="0"/>
              </a:rPr>
              <a:t>de</a:t>
            </a:r>
            <a:r>
              <a:rPr lang="es-ES" sz="2100" b="0" i="0" dirty="0">
                <a:solidFill>
                  <a:srgbClr val="202124"/>
                </a:solidFill>
                <a:effectLst/>
                <a:latin typeface="arial" panose="020B0604020202020204" pitchFamily="34" charset="0"/>
              </a:rPr>
              <a:t> lo razonable.</a:t>
            </a:r>
          </a:p>
          <a:p>
            <a:pPr marL="0" indent="0">
              <a:lnSpc>
                <a:spcPct val="120000"/>
              </a:lnSpc>
              <a:buNone/>
            </a:pPr>
            <a:endParaRPr lang="es-ES" sz="2100" dirty="0">
              <a:solidFill>
                <a:srgbClr val="202124"/>
              </a:solidFill>
              <a:latin typeface="arial" panose="020B0604020202020204" pitchFamily="34" charset="0"/>
            </a:endParaRPr>
          </a:p>
          <a:p>
            <a:pPr marL="0" indent="0">
              <a:lnSpc>
                <a:spcPct val="120000"/>
              </a:lnSpc>
              <a:buNone/>
            </a:pPr>
            <a:r>
              <a:rPr lang="es-ES" sz="2100" b="1" dirty="0">
                <a:solidFill>
                  <a:srgbClr val="202124"/>
                </a:solidFill>
                <a:latin typeface="arial" panose="020B0604020202020204" pitchFamily="34" charset="0"/>
              </a:rPr>
              <a:t>2. </a:t>
            </a:r>
            <a:r>
              <a:rPr lang="es-ES" sz="2100" b="1" dirty="0" err="1">
                <a:solidFill>
                  <a:srgbClr val="202124"/>
                </a:solidFill>
                <a:latin typeface="arial" panose="020B0604020202020204" pitchFamily="34" charset="0"/>
              </a:rPr>
              <a:t>Timeboxing</a:t>
            </a:r>
            <a:endParaRPr lang="es-ES" sz="2100" b="1" dirty="0">
              <a:solidFill>
                <a:srgbClr val="202124"/>
              </a:solidFill>
              <a:latin typeface="arial" panose="020B0604020202020204" pitchFamily="34" charset="0"/>
            </a:endParaRPr>
          </a:p>
          <a:p>
            <a:pPr marL="0" indent="0">
              <a:lnSpc>
                <a:spcPct val="120000"/>
              </a:lnSpc>
              <a:buNone/>
            </a:pPr>
            <a:r>
              <a:rPr lang="es-ES" sz="2100" dirty="0">
                <a:solidFill>
                  <a:srgbClr val="202124"/>
                </a:solidFill>
                <a:latin typeface="arial" panose="020B0604020202020204" pitchFamily="34" charset="0"/>
              </a:rPr>
              <a:t>Es asignar una unidad de tiempo fija y máxima para una actividad. Esa unidad de tiempo se llama caja de tiempo. El objetivo del </a:t>
            </a:r>
            <a:r>
              <a:rPr lang="es-ES" sz="2100" dirty="0" err="1">
                <a:solidFill>
                  <a:srgbClr val="202124"/>
                </a:solidFill>
                <a:latin typeface="arial" panose="020B0604020202020204" pitchFamily="34" charset="0"/>
              </a:rPr>
              <a:t>timeboxing</a:t>
            </a:r>
            <a:r>
              <a:rPr lang="es-ES" sz="2100" dirty="0">
                <a:solidFill>
                  <a:srgbClr val="202124"/>
                </a:solidFill>
                <a:latin typeface="arial" panose="020B0604020202020204" pitchFamily="34" charset="0"/>
              </a:rPr>
              <a:t> es definir y limitar la cantidad de tiempo dedicado a una actividad.</a:t>
            </a:r>
          </a:p>
          <a:p>
            <a:pPr marL="0" indent="0">
              <a:lnSpc>
                <a:spcPct val="120000"/>
              </a:lnSpc>
              <a:buNone/>
            </a:pPr>
            <a:endParaRPr lang="es-ES" sz="2100" dirty="0">
              <a:solidFill>
                <a:srgbClr val="202124"/>
              </a:solidFill>
              <a:latin typeface="arial" panose="020B0604020202020204" pitchFamily="34" charset="0"/>
            </a:endParaRPr>
          </a:p>
          <a:p>
            <a:pPr marL="0" indent="0">
              <a:lnSpc>
                <a:spcPct val="120000"/>
              </a:lnSpc>
              <a:buNone/>
            </a:pPr>
            <a:endParaRPr lang="es-ES" sz="1600" dirty="0"/>
          </a:p>
        </p:txBody>
      </p:sp>
      <p:pic>
        <p:nvPicPr>
          <p:cNvPr id="4" name="Imagen 3">
            <a:extLst>
              <a:ext uri="{FF2B5EF4-FFF2-40B4-BE49-F238E27FC236}">
                <a16:creationId xmlns:a16="http://schemas.microsoft.com/office/drawing/2014/main" id="{80811E01-8A02-4197-98E2-0FDF1DD9B70B}"/>
              </a:ext>
            </a:extLst>
          </p:cNvPr>
          <p:cNvPicPr>
            <a:picLocks noChangeAspect="1"/>
          </p:cNvPicPr>
          <p:nvPr/>
        </p:nvPicPr>
        <p:blipFill>
          <a:blip r:embed="rId2"/>
          <a:stretch>
            <a:fillRect/>
          </a:stretch>
        </p:blipFill>
        <p:spPr>
          <a:xfrm>
            <a:off x="10901324" y="0"/>
            <a:ext cx="1353429" cy="823031"/>
          </a:xfrm>
          <a:prstGeom prst="rect">
            <a:avLst/>
          </a:prstGeom>
        </p:spPr>
      </p:pic>
    </p:spTree>
    <p:extLst>
      <p:ext uri="{BB962C8B-B14F-4D97-AF65-F5344CB8AC3E}">
        <p14:creationId xmlns:p14="http://schemas.microsoft.com/office/powerpoint/2010/main" val="2736313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2A4CEB-E4EE-6114-1D25-23164DC62E6B}"/>
              </a:ext>
            </a:extLst>
          </p:cNvPr>
          <p:cNvSpPr>
            <a:spLocks noGrp="1"/>
          </p:cNvSpPr>
          <p:nvPr>
            <p:ph type="title"/>
          </p:nvPr>
        </p:nvSpPr>
        <p:spPr/>
        <p:txBody>
          <a:bodyPr/>
          <a:lstStyle/>
          <a:p>
            <a:r>
              <a:rPr lang="es-ES"/>
              <a:t>METODO EISENHOWER</a:t>
            </a:r>
          </a:p>
        </p:txBody>
      </p:sp>
      <p:sp>
        <p:nvSpPr>
          <p:cNvPr id="3" name="Marcador de número de diapositiva 2">
            <a:extLst>
              <a:ext uri="{FF2B5EF4-FFF2-40B4-BE49-F238E27FC236}">
                <a16:creationId xmlns:a16="http://schemas.microsoft.com/office/drawing/2014/main" id="{79EE200C-A651-5757-5BB6-244D410038C9}"/>
              </a:ext>
            </a:extLst>
          </p:cNvPr>
          <p:cNvSpPr>
            <a:spLocks noGrp="1"/>
          </p:cNvSpPr>
          <p:nvPr>
            <p:ph type="sldNum" sz="quarter" idx="12"/>
          </p:nvPr>
        </p:nvSpPr>
        <p:spPr/>
        <p:txBody>
          <a:bodyPr/>
          <a:lstStyle/>
          <a:p>
            <a:pPr algn="ctr"/>
            <a:fld id="{817179DE-9BF3-494C-804F-0C7C90AC8700}" type="slidenum">
              <a:rPr lang="es-ES" smtClean="0"/>
              <a:pPr algn="ctr"/>
              <a:t>43</a:t>
            </a:fld>
            <a:endParaRPr lang="es-ES"/>
          </a:p>
        </p:txBody>
      </p:sp>
      <p:sp>
        <p:nvSpPr>
          <p:cNvPr id="4" name="Marcador de texto 3">
            <a:extLst>
              <a:ext uri="{FF2B5EF4-FFF2-40B4-BE49-F238E27FC236}">
                <a16:creationId xmlns:a16="http://schemas.microsoft.com/office/drawing/2014/main" id="{A8365431-F12F-DFE7-638D-9A210520D61C}"/>
              </a:ext>
            </a:extLst>
          </p:cNvPr>
          <p:cNvSpPr>
            <a:spLocks noGrp="1"/>
          </p:cNvSpPr>
          <p:nvPr>
            <p:ph type="body" sz="quarter" idx="13"/>
          </p:nvPr>
        </p:nvSpPr>
        <p:spPr/>
        <p:txBody>
          <a:bodyPr/>
          <a:lstStyle/>
          <a:p>
            <a:endParaRPr lang="es-ES"/>
          </a:p>
        </p:txBody>
      </p:sp>
      <p:pic>
        <p:nvPicPr>
          <p:cNvPr id="6" name="Imagen 5">
            <a:extLst>
              <a:ext uri="{FF2B5EF4-FFF2-40B4-BE49-F238E27FC236}">
                <a16:creationId xmlns:a16="http://schemas.microsoft.com/office/drawing/2014/main" id="{43C2B2E9-3F13-B7B2-4325-2B81FF634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3297" y="928892"/>
            <a:ext cx="7903642" cy="5929107"/>
          </a:xfrm>
          <a:prstGeom prst="rect">
            <a:avLst/>
          </a:prstGeom>
        </p:spPr>
      </p:pic>
    </p:spTree>
    <p:extLst>
      <p:ext uri="{BB962C8B-B14F-4D97-AF65-F5344CB8AC3E}">
        <p14:creationId xmlns:p14="http://schemas.microsoft.com/office/powerpoint/2010/main" val="1136741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3AD84-14DE-4510-8DA4-23654E38226F}"/>
              </a:ext>
            </a:extLst>
          </p:cNvPr>
          <p:cNvSpPr>
            <a:spLocks noGrp="1"/>
          </p:cNvSpPr>
          <p:nvPr>
            <p:ph type="title"/>
          </p:nvPr>
        </p:nvSpPr>
        <p:spPr/>
        <p:txBody>
          <a:bodyPr/>
          <a:lstStyle/>
          <a:p>
            <a:r>
              <a:rPr lang="es-ES" dirty="0"/>
              <a:t>Consejo</a:t>
            </a:r>
          </a:p>
        </p:txBody>
      </p:sp>
      <p:sp>
        <p:nvSpPr>
          <p:cNvPr id="3" name="Marcador de contenido 2">
            <a:extLst>
              <a:ext uri="{FF2B5EF4-FFF2-40B4-BE49-F238E27FC236}">
                <a16:creationId xmlns:a16="http://schemas.microsoft.com/office/drawing/2014/main" id="{11F939A8-5C3C-4C33-8607-3FCBC7DC9182}"/>
              </a:ext>
            </a:extLst>
          </p:cNvPr>
          <p:cNvSpPr>
            <a:spLocks noGrp="1"/>
          </p:cNvSpPr>
          <p:nvPr>
            <p:ph type="body" sz="quarter" idx="13"/>
          </p:nvPr>
        </p:nvSpPr>
        <p:spPr/>
        <p:txBody>
          <a:bodyPr>
            <a:normAutofit lnSpcReduction="10000"/>
          </a:bodyPr>
          <a:lstStyle/>
          <a:p>
            <a:pPr marL="0" indent="0" algn="l" fontAlgn="base">
              <a:buNone/>
            </a:pPr>
            <a:r>
              <a:rPr lang="es-ES" sz="4000" b="1" i="0" dirty="0">
                <a:effectLst/>
                <a:latin typeface="Exo"/>
              </a:rPr>
              <a:t>Autocontrol</a:t>
            </a:r>
          </a:p>
          <a:p>
            <a:pPr marL="514350" indent="-514350" algn="l" fontAlgn="base">
              <a:buFont typeface="+mj-lt"/>
              <a:buAutoNum type="arabicPeriod"/>
            </a:pPr>
            <a:r>
              <a:rPr lang="es-ES" sz="2800" b="0" i="0" dirty="0">
                <a:effectLst/>
                <a:latin typeface="Raleway"/>
              </a:rPr>
              <a:t>Un aspecto fundamental, en el que puede ayudar el Scrum Master como coach personal, es el autocontrol. Reconocer el impacto de los «ladrones de tiempo» en el trabajo puede ser el primer paso para ponerles freno.</a:t>
            </a:r>
          </a:p>
          <a:p>
            <a:pPr marL="514350" indent="-514350" algn="l" fontAlgn="base">
              <a:buFont typeface="+mj-lt"/>
              <a:buAutoNum type="arabicPeriod"/>
            </a:pPr>
            <a:r>
              <a:rPr lang="es-ES" sz="2800" b="0" i="0" dirty="0">
                <a:effectLst/>
                <a:latin typeface="Raleway"/>
              </a:rPr>
              <a:t>No tener abierto el correo (</a:t>
            </a:r>
            <a:r>
              <a:rPr lang="es-ES" sz="2800" b="0" i="0" dirty="0" err="1">
                <a:effectLst/>
                <a:latin typeface="Raleway"/>
              </a:rPr>
              <a:t>p.e</a:t>
            </a:r>
            <a:r>
              <a:rPr lang="es-ES" sz="2800" b="0" i="0" dirty="0">
                <a:effectLst/>
                <a:latin typeface="Raleway"/>
              </a:rPr>
              <a:t>. Gmail) permanentemente, sino a horas concretas.</a:t>
            </a:r>
          </a:p>
          <a:p>
            <a:pPr marL="514350" indent="-514350" algn="l" fontAlgn="base">
              <a:buFont typeface="+mj-lt"/>
              <a:buAutoNum type="arabicPeriod"/>
            </a:pPr>
            <a:r>
              <a:rPr lang="es-ES" sz="2800" b="0" i="0" dirty="0">
                <a:effectLst/>
                <a:latin typeface="Raleway"/>
              </a:rPr>
              <a:t>Quitar las notificaciones de las aplicaciones de chat y redes sociales.</a:t>
            </a:r>
          </a:p>
          <a:p>
            <a:pPr marL="514350" indent="-514350" algn="l" fontAlgn="base">
              <a:buFont typeface="+mj-lt"/>
              <a:buAutoNum type="arabicPeriod"/>
            </a:pPr>
            <a:r>
              <a:rPr lang="es-ES" sz="2800" b="0" i="0" dirty="0">
                <a:effectLst/>
                <a:latin typeface="Raleway"/>
              </a:rPr>
              <a:t>Revisar al final de la jornada cuantos accesos hemos hecho a páginas web (diarios, redes sociales, etc.)</a:t>
            </a:r>
          </a:p>
          <a:p>
            <a:endParaRPr lang="es-ES" dirty="0"/>
          </a:p>
        </p:txBody>
      </p:sp>
      <p:pic>
        <p:nvPicPr>
          <p:cNvPr id="4" name="Imagen 3">
            <a:extLst>
              <a:ext uri="{FF2B5EF4-FFF2-40B4-BE49-F238E27FC236}">
                <a16:creationId xmlns:a16="http://schemas.microsoft.com/office/drawing/2014/main" id="{D54AD44E-DF57-46C6-A63E-A5033FB75700}"/>
              </a:ext>
            </a:extLst>
          </p:cNvPr>
          <p:cNvPicPr>
            <a:picLocks noChangeAspect="1"/>
          </p:cNvPicPr>
          <p:nvPr/>
        </p:nvPicPr>
        <p:blipFill>
          <a:blip r:embed="rId2"/>
          <a:stretch>
            <a:fillRect/>
          </a:stretch>
        </p:blipFill>
        <p:spPr>
          <a:xfrm>
            <a:off x="11025149" y="-46391"/>
            <a:ext cx="1353429" cy="823031"/>
          </a:xfrm>
          <a:prstGeom prst="rect">
            <a:avLst/>
          </a:prstGeom>
        </p:spPr>
      </p:pic>
      <p:pic>
        <p:nvPicPr>
          <p:cNvPr id="9218" name="Picture 2" descr="Dibujo animado de einstein vector, gráfico vectorial, imágenes de Dibujo  animado de einstein vectoriales de stock | Depositphotos®">
            <a:extLst>
              <a:ext uri="{FF2B5EF4-FFF2-40B4-BE49-F238E27FC236}">
                <a16:creationId xmlns:a16="http://schemas.microsoft.com/office/drawing/2014/main" id="{DDCB6BE4-D7A7-4F7F-93BA-F63184BBA2D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58" b="89700" l="9677" r="100000"/>
                    </a14:imgEffect>
                  </a14:imgLayer>
                </a14:imgProps>
              </a:ext>
              <a:ext uri="{28A0092B-C50C-407E-A947-70E740481C1C}">
                <a14:useLocalDpi xmlns:a14="http://schemas.microsoft.com/office/drawing/2010/main" val="0"/>
              </a:ext>
            </a:extLst>
          </a:blip>
          <a:srcRect/>
          <a:stretch>
            <a:fillRect/>
          </a:stretch>
        </p:blipFill>
        <p:spPr bwMode="auto">
          <a:xfrm>
            <a:off x="3343275" y="137674"/>
            <a:ext cx="1562099" cy="1677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301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70E76-12F5-4727-AC2E-5636CE439F89}"/>
              </a:ext>
            </a:extLst>
          </p:cNvPr>
          <p:cNvSpPr>
            <a:spLocks noGrp="1"/>
          </p:cNvSpPr>
          <p:nvPr>
            <p:ph type="title"/>
          </p:nvPr>
        </p:nvSpPr>
        <p:spPr/>
        <p:txBody>
          <a:bodyPr/>
          <a:lstStyle/>
          <a:p>
            <a:r>
              <a:rPr lang="es-ES"/>
              <a:t>4. ¿</a:t>
            </a:r>
            <a:r>
              <a:rPr lang="es-ES" dirty="0"/>
              <a:t>Qué es un Sprint?</a:t>
            </a:r>
          </a:p>
        </p:txBody>
      </p:sp>
      <p:sp>
        <p:nvSpPr>
          <p:cNvPr id="3" name="Marcador de contenido 2">
            <a:extLst>
              <a:ext uri="{FF2B5EF4-FFF2-40B4-BE49-F238E27FC236}">
                <a16:creationId xmlns:a16="http://schemas.microsoft.com/office/drawing/2014/main" id="{BFC0367C-B0E2-4A8A-9D9A-0390876211E5}"/>
              </a:ext>
            </a:extLst>
          </p:cNvPr>
          <p:cNvSpPr>
            <a:spLocks noGrp="1"/>
          </p:cNvSpPr>
          <p:nvPr>
            <p:ph type="body" sz="quarter" idx="13"/>
          </p:nvPr>
        </p:nvSpPr>
        <p:spPr/>
        <p:txBody>
          <a:bodyPr/>
          <a:lstStyle/>
          <a:p>
            <a:r>
              <a:rPr lang="es-ES" b="0" i="0" dirty="0">
                <a:solidFill>
                  <a:srgbClr val="202124"/>
                </a:solidFill>
                <a:effectLst/>
                <a:latin typeface="arial" panose="020B0604020202020204" pitchFamily="34" charset="0"/>
              </a:rPr>
              <a:t>Se trata de un </a:t>
            </a:r>
            <a:r>
              <a:rPr lang="es-ES" b="0" i="0" dirty="0" err="1">
                <a:solidFill>
                  <a:srgbClr val="202124"/>
                </a:solidFill>
                <a:effectLst/>
                <a:latin typeface="arial" panose="020B0604020202020204" pitchFamily="34" charset="0"/>
              </a:rPr>
              <a:t>miniproyecto</a:t>
            </a:r>
            <a:r>
              <a:rPr lang="es-ES" b="0" i="0" dirty="0">
                <a:solidFill>
                  <a:srgbClr val="202124"/>
                </a:solidFill>
                <a:effectLst/>
                <a:latin typeface="arial" panose="020B0604020202020204" pitchFamily="34" charset="0"/>
              </a:rPr>
              <a:t> de no más de un mes (ciclos de ejecución muy cortos -entre una y cuatro semanas), cuyo objetivo es conseguir un incremento de valor en el producto que estamos construyendo. </a:t>
            </a:r>
            <a:endParaRPr lang="es-ES" dirty="0"/>
          </a:p>
        </p:txBody>
      </p:sp>
      <p:sp>
        <p:nvSpPr>
          <p:cNvPr id="4" name="Título 1">
            <a:extLst>
              <a:ext uri="{FF2B5EF4-FFF2-40B4-BE49-F238E27FC236}">
                <a16:creationId xmlns:a16="http://schemas.microsoft.com/office/drawing/2014/main" id="{2D7D1DAB-390C-4977-891F-AFBB6D730B69}"/>
              </a:ext>
            </a:extLst>
          </p:cNvPr>
          <p:cNvSpPr txBox="1">
            <a:spLocks/>
          </p:cNvSpPr>
          <p:nvPr/>
        </p:nvSpPr>
        <p:spPr>
          <a:xfrm>
            <a:off x="3576675" y="3142733"/>
            <a:ext cx="10515600" cy="4115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600" b="1" dirty="0"/>
              <a:t>4.1. periodos de tiempo.</a:t>
            </a:r>
          </a:p>
        </p:txBody>
      </p:sp>
      <p:pic>
        <p:nvPicPr>
          <p:cNvPr id="5" name="Picture 2" descr="Qué es el timebox en Scrum?">
            <a:extLst>
              <a:ext uri="{FF2B5EF4-FFF2-40B4-BE49-F238E27FC236}">
                <a16:creationId xmlns:a16="http://schemas.microsoft.com/office/drawing/2014/main" id="{CA86552D-245C-4962-9784-7ECF55224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3867588"/>
            <a:ext cx="10752415" cy="253682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F641A2BE-7E4C-4B5F-81EF-F8A58ECA72B3}"/>
              </a:ext>
            </a:extLst>
          </p:cNvPr>
          <p:cNvPicPr>
            <a:picLocks noChangeAspect="1"/>
          </p:cNvPicPr>
          <p:nvPr/>
        </p:nvPicPr>
        <p:blipFill>
          <a:blip r:embed="rId3"/>
          <a:stretch>
            <a:fillRect/>
          </a:stretch>
        </p:blipFill>
        <p:spPr>
          <a:xfrm>
            <a:off x="11025149" y="-46391"/>
            <a:ext cx="1353429" cy="823031"/>
          </a:xfrm>
          <a:prstGeom prst="rect">
            <a:avLst/>
          </a:prstGeom>
        </p:spPr>
      </p:pic>
    </p:spTree>
    <p:extLst>
      <p:ext uri="{BB962C8B-B14F-4D97-AF65-F5344CB8AC3E}">
        <p14:creationId xmlns:p14="http://schemas.microsoft.com/office/powerpoint/2010/main" val="1370005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81CE8-7396-20B7-5235-B5DA366642A6}"/>
              </a:ext>
            </a:extLst>
          </p:cNvPr>
          <p:cNvSpPr>
            <a:spLocks noGrp="1"/>
          </p:cNvSpPr>
          <p:nvPr>
            <p:ph type="title"/>
          </p:nvPr>
        </p:nvSpPr>
        <p:spPr/>
        <p:txBody>
          <a:bodyPr/>
          <a:lstStyle/>
          <a:p>
            <a:r>
              <a:rPr lang="es-ES"/>
              <a:t>Timeboxing</a:t>
            </a:r>
          </a:p>
        </p:txBody>
      </p:sp>
      <p:sp>
        <p:nvSpPr>
          <p:cNvPr id="3" name="Marcador de texto 2">
            <a:extLst>
              <a:ext uri="{FF2B5EF4-FFF2-40B4-BE49-F238E27FC236}">
                <a16:creationId xmlns:a16="http://schemas.microsoft.com/office/drawing/2014/main" id="{942B50D4-BEE0-4497-74B6-93401A55E527}"/>
              </a:ext>
            </a:extLst>
          </p:cNvPr>
          <p:cNvSpPr>
            <a:spLocks noGrp="1"/>
          </p:cNvSpPr>
          <p:nvPr>
            <p:ph type="body" sz="quarter" idx="13"/>
          </p:nvPr>
        </p:nvSpPr>
        <p:spPr/>
        <p:txBody>
          <a:bodyPr/>
          <a:lstStyle/>
          <a:p>
            <a:endParaRPr lang="es-ES"/>
          </a:p>
        </p:txBody>
      </p:sp>
      <p:pic>
        <p:nvPicPr>
          <p:cNvPr id="4" name="Marcador de contenido 3">
            <a:extLst>
              <a:ext uri="{FF2B5EF4-FFF2-40B4-BE49-F238E27FC236}">
                <a16:creationId xmlns:a16="http://schemas.microsoft.com/office/drawing/2014/main" id="{1526937C-7AF8-4A66-BAAD-F66933EA8BBE}"/>
              </a:ext>
            </a:extLst>
          </p:cNvPr>
          <p:cNvPicPr>
            <a:picLocks noGrp="1" noChangeAspect="1"/>
          </p:cNvPicPr>
          <p:nvPr>
            <p:ph idx="4294967295"/>
          </p:nvPr>
        </p:nvPicPr>
        <p:blipFill>
          <a:blip r:embed="rId2"/>
          <a:stretch>
            <a:fillRect/>
          </a:stretch>
        </p:blipFill>
        <p:spPr>
          <a:xfrm>
            <a:off x="0" y="1333500"/>
            <a:ext cx="6102350" cy="5122863"/>
          </a:xfrm>
          <a:prstGeom prst="rect">
            <a:avLst/>
          </a:prstGeom>
        </p:spPr>
      </p:pic>
      <p:pic>
        <p:nvPicPr>
          <p:cNvPr id="6146" name="Picture 2" descr="Qué es el timebox en Scrum?">
            <a:extLst>
              <a:ext uri="{FF2B5EF4-FFF2-40B4-BE49-F238E27FC236}">
                <a16:creationId xmlns:a16="http://schemas.microsoft.com/office/drawing/2014/main" id="{1E88AE88-E4AF-437A-90EC-E4F7F08A4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697" y="1021466"/>
            <a:ext cx="6197103" cy="1462087"/>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4D6624D1-E77A-4CA5-9177-BA032BC5C1C0}"/>
              </a:ext>
            </a:extLst>
          </p:cNvPr>
          <p:cNvSpPr txBox="1"/>
          <p:nvPr/>
        </p:nvSpPr>
        <p:spPr>
          <a:xfrm>
            <a:off x="6971360" y="2635007"/>
            <a:ext cx="4244175" cy="954107"/>
          </a:xfrm>
          <a:prstGeom prst="rect">
            <a:avLst/>
          </a:prstGeom>
          <a:noFill/>
        </p:spPr>
        <p:txBody>
          <a:bodyPr wrap="none" rtlCol="0">
            <a:spAutoFit/>
          </a:bodyPr>
          <a:lstStyle/>
          <a:p>
            <a:r>
              <a:rPr lang="es-ES" sz="2800" b="1" dirty="0"/>
              <a:t>Haz un cálculo para el caso </a:t>
            </a:r>
          </a:p>
          <a:p>
            <a:r>
              <a:rPr lang="es-ES" sz="2800" b="1" dirty="0"/>
              <a:t>de 2 semanas o 2 meses</a:t>
            </a:r>
          </a:p>
        </p:txBody>
      </p:sp>
      <p:pic>
        <p:nvPicPr>
          <p:cNvPr id="7" name="Imagen 6">
            <a:extLst>
              <a:ext uri="{FF2B5EF4-FFF2-40B4-BE49-F238E27FC236}">
                <a16:creationId xmlns:a16="http://schemas.microsoft.com/office/drawing/2014/main" id="{8C97FF74-49B0-4732-AB93-20A64C4979B0}"/>
              </a:ext>
            </a:extLst>
          </p:cNvPr>
          <p:cNvPicPr>
            <a:picLocks noChangeAspect="1"/>
          </p:cNvPicPr>
          <p:nvPr/>
        </p:nvPicPr>
        <p:blipFill>
          <a:blip r:embed="rId4"/>
          <a:stretch>
            <a:fillRect/>
          </a:stretch>
        </p:blipFill>
        <p:spPr>
          <a:xfrm>
            <a:off x="10948949" y="5992107"/>
            <a:ext cx="1353429" cy="823031"/>
          </a:xfrm>
          <a:prstGeom prst="rect">
            <a:avLst/>
          </a:prstGeom>
        </p:spPr>
      </p:pic>
    </p:spTree>
    <p:extLst>
      <p:ext uri="{BB962C8B-B14F-4D97-AF65-F5344CB8AC3E}">
        <p14:creationId xmlns:p14="http://schemas.microsoft.com/office/powerpoint/2010/main" val="7815773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5BB858-F77F-4255-9F36-B57DF2C12780}"/>
              </a:ext>
            </a:extLst>
          </p:cNvPr>
          <p:cNvSpPr>
            <a:spLocks noGrp="1"/>
          </p:cNvSpPr>
          <p:nvPr>
            <p:ph type="title"/>
          </p:nvPr>
        </p:nvSpPr>
        <p:spPr/>
        <p:txBody>
          <a:bodyPr>
            <a:normAutofit/>
          </a:bodyPr>
          <a:lstStyle/>
          <a:p>
            <a:r>
              <a:rPr lang="es-ES" sz="4400" b="0" i="0" u="none" strike="noStrike" baseline="0">
                <a:solidFill>
                  <a:schemeClr val="bg1"/>
                </a:solidFill>
                <a:latin typeface="Raleway-Light"/>
              </a:rPr>
              <a:t>Características</a:t>
            </a:r>
            <a:endParaRPr lang="es-ES" dirty="0">
              <a:solidFill>
                <a:schemeClr val="bg1"/>
              </a:solidFill>
            </a:endParaRPr>
          </a:p>
        </p:txBody>
      </p:sp>
      <p:sp>
        <p:nvSpPr>
          <p:cNvPr id="3" name="Marcador de contenido 2">
            <a:extLst>
              <a:ext uri="{FF2B5EF4-FFF2-40B4-BE49-F238E27FC236}">
                <a16:creationId xmlns:a16="http://schemas.microsoft.com/office/drawing/2014/main" id="{806772A9-7D91-4A09-9ABC-B8CE5FD03BCB}"/>
              </a:ext>
            </a:extLst>
          </p:cNvPr>
          <p:cNvSpPr>
            <a:spLocks noGrp="1"/>
          </p:cNvSpPr>
          <p:nvPr>
            <p:ph type="body" sz="quarter" idx="13"/>
          </p:nvPr>
        </p:nvSpPr>
        <p:spPr/>
        <p:txBody>
          <a:bodyPr/>
          <a:lstStyle/>
          <a:p>
            <a:pPr marL="514350" indent="-514350" algn="l">
              <a:buFont typeface="+mj-lt"/>
              <a:buAutoNum type="arabicPeriod"/>
            </a:pPr>
            <a:r>
              <a:rPr lang="es-ES" b="1" i="0" u="none" strike="noStrike" baseline="0" dirty="0">
                <a:solidFill>
                  <a:srgbClr val="666767"/>
                </a:solidFill>
                <a:latin typeface="Raleway-Light"/>
              </a:rPr>
              <a:t>No se realizan cambios </a:t>
            </a:r>
            <a:r>
              <a:rPr lang="es-ES" b="0" i="0" u="none" strike="noStrike" baseline="0" dirty="0">
                <a:solidFill>
                  <a:srgbClr val="666767"/>
                </a:solidFill>
                <a:latin typeface="Raleway-Light"/>
              </a:rPr>
              <a:t>que puedan afectar al Objetivo del Sprint (Sprint </a:t>
            </a:r>
            <a:r>
              <a:rPr lang="es-ES" b="0" i="0" u="none" strike="noStrike" baseline="0" dirty="0" err="1">
                <a:solidFill>
                  <a:srgbClr val="666767"/>
                </a:solidFill>
                <a:latin typeface="Raleway-Light"/>
              </a:rPr>
              <a:t>Goal</a:t>
            </a:r>
            <a:r>
              <a:rPr lang="es-ES" b="0" i="0" u="none" strike="noStrike" baseline="0" dirty="0">
                <a:solidFill>
                  <a:srgbClr val="666767"/>
                </a:solidFill>
                <a:latin typeface="Raleway-Light"/>
              </a:rPr>
              <a:t>).</a:t>
            </a:r>
          </a:p>
          <a:p>
            <a:pPr marL="514350" indent="-514350" algn="l">
              <a:buFont typeface="+mj-lt"/>
              <a:buAutoNum type="arabicPeriod"/>
            </a:pPr>
            <a:r>
              <a:rPr lang="es-ES" b="1" i="0" u="none" strike="noStrike" baseline="0" dirty="0">
                <a:solidFill>
                  <a:srgbClr val="666767"/>
                </a:solidFill>
                <a:latin typeface="Raleway-Light"/>
              </a:rPr>
              <a:t>Los objetivos de calidad no disminuyen</a:t>
            </a:r>
            <a:r>
              <a:rPr lang="es-ES" b="0" i="0" u="none" strike="noStrike" baseline="0" dirty="0">
                <a:solidFill>
                  <a:srgbClr val="666767"/>
                </a:solidFill>
                <a:latin typeface="Raleway-Light"/>
              </a:rPr>
              <a:t>.</a:t>
            </a:r>
          </a:p>
          <a:p>
            <a:pPr marL="514350" indent="-514350" algn="l">
              <a:buFont typeface="+mj-lt"/>
              <a:buAutoNum type="arabicPeriod"/>
            </a:pPr>
            <a:r>
              <a:rPr lang="es-ES" dirty="0"/>
              <a:t>El trabajo pendiente del producto se </a:t>
            </a:r>
            <a:r>
              <a:rPr lang="es-ES" b="1" dirty="0"/>
              <a:t>refina </a:t>
            </a:r>
            <a:r>
              <a:rPr lang="es-ES" dirty="0"/>
              <a:t>según sea necesario. </a:t>
            </a:r>
            <a:endParaRPr lang="es-ES" b="0" i="0" u="none" strike="noStrike" baseline="0" dirty="0">
              <a:solidFill>
                <a:srgbClr val="666767"/>
              </a:solidFill>
              <a:latin typeface="Raleway-Light"/>
            </a:endParaRPr>
          </a:p>
          <a:p>
            <a:pPr marL="514350" indent="-514350" algn="l">
              <a:buFont typeface="+mj-lt"/>
              <a:buAutoNum type="arabicPeriod"/>
            </a:pPr>
            <a:r>
              <a:rPr lang="es-ES" b="1" i="0" u="none" strike="noStrike" baseline="0" dirty="0">
                <a:solidFill>
                  <a:srgbClr val="666767"/>
                </a:solidFill>
                <a:latin typeface="Raleway-Light"/>
              </a:rPr>
              <a:t>El alcance puede clarificarse y renegociarse </a:t>
            </a:r>
            <a:r>
              <a:rPr lang="es-ES" b="0" i="0" u="none" strike="noStrike" baseline="0" dirty="0">
                <a:solidFill>
                  <a:srgbClr val="666767"/>
                </a:solidFill>
                <a:latin typeface="Raleway-Light"/>
              </a:rPr>
              <a:t>entre el Dueño de Producto y el Equipo de Desarrollo a medida que se va aprendiendo más.</a:t>
            </a:r>
            <a:endParaRPr lang="es-ES" dirty="0"/>
          </a:p>
        </p:txBody>
      </p:sp>
      <p:pic>
        <p:nvPicPr>
          <p:cNvPr id="4" name="Imagen 3">
            <a:extLst>
              <a:ext uri="{FF2B5EF4-FFF2-40B4-BE49-F238E27FC236}">
                <a16:creationId xmlns:a16="http://schemas.microsoft.com/office/drawing/2014/main" id="{1A35E77E-4A61-4984-BCB2-90C2ABC6A92F}"/>
              </a:ext>
            </a:extLst>
          </p:cNvPr>
          <p:cNvPicPr>
            <a:picLocks noChangeAspect="1"/>
          </p:cNvPicPr>
          <p:nvPr/>
        </p:nvPicPr>
        <p:blipFill>
          <a:blip r:embed="rId2"/>
          <a:stretch>
            <a:fillRect/>
          </a:stretch>
        </p:blipFill>
        <p:spPr>
          <a:xfrm>
            <a:off x="11025149" y="-46391"/>
            <a:ext cx="1353429" cy="823031"/>
          </a:xfrm>
          <a:prstGeom prst="rect">
            <a:avLst/>
          </a:prstGeom>
        </p:spPr>
      </p:pic>
      <p:sp>
        <p:nvSpPr>
          <p:cNvPr id="6" name="CuadroTexto 5">
            <a:extLst>
              <a:ext uri="{FF2B5EF4-FFF2-40B4-BE49-F238E27FC236}">
                <a16:creationId xmlns:a16="http://schemas.microsoft.com/office/drawing/2014/main" id="{80D040D5-AAE2-4A85-92F5-95D1EE31F3F2}"/>
              </a:ext>
            </a:extLst>
          </p:cNvPr>
          <p:cNvSpPr txBox="1"/>
          <p:nvPr/>
        </p:nvSpPr>
        <p:spPr>
          <a:xfrm>
            <a:off x="619125" y="6308209"/>
            <a:ext cx="10620375" cy="369332"/>
          </a:xfrm>
          <a:prstGeom prst="rect">
            <a:avLst/>
          </a:prstGeom>
          <a:noFill/>
        </p:spPr>
        <p:txBody>
          <a:bodyPr wrap="square">
            <a:spAutoFit/>
          </a:bodyPr>
          <a:lstStyle/>
          <a:p>
            <a:r>
              <a:rPr lang="es-ES" dirty="0">
                <a:hlinkClick r:id="rId3"/>
              </a:rPr>
              <a:t>https://scrumguides.org/docs/scrumguide/v2020/2020-Scrum-Guide-Spanish-European.pdf</a:t>
            </a:r>
            <a:r>
              <a:rPr lang="es-ES" dirty="0"/>
              <a:t> </a:t>
            </a:r>
          </a:p>
        </p:txBody>
      </p:sp>
      <p:sp>
        <p:nvSpPr>
          <p:cNvPr id="5" name="Rectángulo 4">
            <a:extLst>
              <a:ext uri="{FF2B5EF4-FFF2-40B4-BE49-F238E27FC236}">
                <a16:creationId xmlns:a16="http://schemas.microsoft.com/office/drawing/2014/main" id="{2F689A19-22F7-42B9-9E93-F8AF4B40A547}"/>
              </a:ext>
            </a:extLst>
          </p:cNvPr>
          <p:cNvSpPr/>
          <p:nvPr/>
        </p:nvSpPr>
        <p:spPr>
          <a:xfrm>
            <a:off x="1133474" y="5226423"/>
            <a:ext cx="9591675" cy="44823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b="1" dirty="0"/>
              <a:t>La cancelación del Sprint, solo puede hacerla el </a:t>
            </a:r>
            <a:r>
              <a:rPr lang="es-ES" sz="2400" b="1" dirty="0" err="1"/>
              <a:t>product</a:t>
            </a:r>
            <a:r>
              <a:rPr lang="es-ES" sz="2400" b="1" dirty="0"/>
              <a:t> </a:t>
            </a:r>
            <a:r>
              <a:rPr lang="es-ES" sz="2400" b="1" dirty="0" err="1"/>
              <a:t>owner</a:t>
            </a:r>
            <a:endParaRPr lang="es-ES" sz="2400" b="1" dirty="0"/>
          </a:p>
        </p:txBody>
      </p:sp>
    </p:spTree>
    <p:extLst>
      <p:ext uri="{BB962C8B-B14F-4D97-AF65-F5344CB8AC3E}">
        <p14:creationId xmlns:p14="http://schemas.microsoft.com/office/powerpoint/2010/main" val="4115780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D9D216-E300-6A3F-60FC-BCA501C91D38}"/>
              </a:ext>
            </a:extLst>
          </p:cNvPr>
          <p:cNvSpPr>
            <a:spLocks noGrp="1"/>
          </p:cNvSpPr>
          <p:nvPr>
            <p:ph type="title"/>
          </p:nvPr>
        </p:nvSpPr>
        <p:spPr/>
        <p:txBody>
          <a:bodyPr/>
          <a:lstStyle/>
          <a:p>
            <a:r>
              <a:rPr lang="es-ES"/>
              <a:t>Fases</a:t>
            </a:r>
          </a:p>
        </p:txBody>
      </p:sp>
      <p:pic>
        <p:nvPicPr>
          <p:cNvPr id="4" name="Imagen 3">
            <a:extLst>
              <a:ext uri="{FF2B5EF4-FFF2-40B4-BE49-F238E27FC236}">
                <a16:creationId xmlns:a16="http://schemas.microsoft.com/office/drawing/2014/main" id="{32F232B2-4999-496F-89CF-53A2178A45D9}"/>
              </a:ext>
            </a:extLst>
          </p:cNvPr>
          <p:cNvPicPr>
            <a:picLocks noChangeAspect="1"/>
          </p:cNvPicPr>
          <p:nvPr/>
        </p:nvPicPr>
        <p:blipFill>
          <a:blip r:embed="rId3"/>
          <a:stretch>
            <a:fillRect/>
          </a:stretch>
        </p:blipFill>
        <p:spPr>
          <a:xfrm>
            <a:off x="11025149" y="-46391"/>
            <a:ext cx="1353429" cy="823031"/>
          </a:xfrm>
          <a:prstGeom prst="rect">
            <a:avLst/>
          </a:prstGeom>
        </p:spPr>
      </p:pic>
      <p:pic>
        <p:nvPicPr>
          <p:cNvPr id="10242" name="Picture 2" descr="Avatar, Clientela, Clientes, Iconos">
            <a:extLst>
              <a:ext uri="{FF2B5EF4-FFF2-40B4-BE49-F238E27FC236}">
                <a16:creationId xmlns:a16="http://schemas.microsoft.com/office/drawing/2014/main" id="{52D6F078-BF1D-4517-99F1-09D2DB4BD0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05400" y="5514974"/>
            <a:ext cx="2277290" cy="128191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DE1D908F-4BB6-4823-83A0-694B78974402}"/>
              </a:ext>
            </a:extLst>
          </p:cNvPr>
          <p:cNvSpPr txBox="1"/>
          <p:nvPr/>
        </p:nvSpPr>
        <p:spPr>
          <a:xfrm>
            <a:off x="421340" y="4568414"/>
            <a:ext cx="11436724" cy="1497461"/>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indent="0">
              <a:lnSpc>
                <a:spcPct val="120000"/>
              </a:lnSpc>
              <a:buNone/>
            </a:pPr>
            <a:r>
              <a:rPr lang="es-ES" sz="1800" b="0" i="0" dirty="0">
                <a:solidFill>
                  <a:srgbClr val="202124"/>
                </a:solidFill>
                <a:effectLst/>
                <a:latin typeface="Verdana" panose="020B0604030504040204" pitchFamily="34" charset="0"/>
                <a:ea typeface="Verdana" panose="020B0604030504040204" pitchFamily="34" charset="0"/>
              </a:rPr>
              <a:t>Al </a:t>
            </a:r>
            <a:r>
              <a:rPr lang="es-ES" sz="2400" dirty="0">
                <a:solidFill>
                  <a:schemeClr val="tx1"/>
                </a:solidFill>
              </a:rPr>
              <a:t>final</a:t>
            </a:r>
            <a:r>
              <a:rPr lang="es-ES" sz="1800" b="0" i="0" dirty="0">
                <a:solidFill>
                  <a:srgbClr val="202124"/>
                </a:solidFill>
                <a:effectLst/>
                <a:latin typeface="Verdana" panose="020B0604030504040204" pitchFamily="34" charset="0"/>
                <a:ea typeface="Verdana" panose="020B0604030504040204" pitchFamily="34" charset="0"/>
              </a:rPr>
              <a:t> de cada '</a:t>
            </a:r>
            <a:r>
              <a:rPr lang="es-ES" sz="1800" b="1" i="0" dirty="0">
                <a:solidFill>
                  <a:srgbClr val="202124"/>
                </a:solidFill>
                <a:effectLst/>
                <a:latin typeface="Verdana" panose="020B0604030504040204" pitchFamily="34" charset="0"/>
                <a:ea typeface="Verdana" panose="020B0604030504040204" pitchFamily="34" charset="0"/>
              </a:rPr>
              <a:t>sprint</a:t>
            </a:r>
            <a:r>
              <a:rPr lang="es-ES" sz="1800" b="0" i="0" dirty="0">
                <a:solidFill>
                  <a:srgbClr val="202124"/>
                </a:solidFill>
                <a:effectLst/>
                <a:latin typeface="Verdana" panose="020B0604030504040204" pitchFamily="34" charset="0"/>
                <a:ea typeface="Verdana" panose="020B0604030504040204" pitchFamily="34" charset="0"/>
              </a:rPr>
              <a:t>' </a:t>
            </a:r>
            <a:r>
              <a:rPr lang="es-ES" sz="1800" b="1" i="0" dirty="0">
                <a:solidFill>
                  <a:srgbClr val="202124"/>
                </a:solidFill>
                <a:effectLst/>
                <a:latin typeface="Verdana" panose="020B0604030504040204" pitchFamily="34" charset="0"/>
                <a:ea typeface="Verdana" panose="020B0604030504040204" pitchFamily="34" charset="0"/>
              </a:rPr>
              <a:t>se</a:t>
            </a:r>
            <a:r>
              <a:rPr lang="es-ES" sz="1800" b="0" i="0" dirty="0">
                <a:solidFill>
                  <a:srgbClr val="202124"/>
                </a:solidFill>
                <a:effectLst/>
                <a:latin typeface="Verdana" panose="020B0604030504040204" pitchFamily="34" charset="0"/>
                <a:ea typeface="Verdana" panose="020B0604030504040204" pitchFamily="34" charset="0"/>
              </a:rPr>
              <a:t> lleva a cabo una labor de inspección y revisión del trabajo realizado, en la que el '</a:t>
            </a:r>
            <a:r>
              <a:rPr lang="es-ES" sz="1800" b="0" i="0" dirty="0" err="1">
                <a:solidFill>
                  <a:srgbClr val="202124"/>
                </a:solidFill>
                <a:effectLst/>
                <a:latin typeface="Verdana" panose="020B0604030504040204" pitchFamily="34" charset="0"/>
                <a:ea typeface="Verdana" panose="020B0604030504040204" pitchFamily="34" charset="0"/>
              </a:rPr>
              <a:t>Product</a:t>
            </a:r>
            <a:r>
              <a:rPr lang="es-ES" sz="1800" b="0" i="0" dirty="0">
                <a:solidFill>
                  <a:srgbClr val="202124"/>
                </a:solidFill>
                <a:effectLst/>
                <a:latin typeface="Verdana" panose="020B0604030504040204" pitchFamily="34" charset="0"/>
                <a:ea typeface="Verdana" panose="020B0604030504040204" pitchFamily="34" charset="0"/>
              </a:rPr>
              <a:t> </a:t>
            </a:r>
            <a:r>
              <a:rPr lang="es-ES" sz="1800" b="0" i="0" dirty="0" err="1">
                <a:solidFill>
                  <a:srgbClr val="202124"/>
                </a:solidFill>
                <a:effectLst/>
                <a:latin typeface="Verdana" panose="020B0604030504040204" pitchFamily="34" charset="0"/>
                <a:ea typeface="Verdana" panose="020B0604030504040204" pitchFamily="34" charset="0"/>
              </a:rPr>
              <a:t>owner</a:t>
            </a:r>
            <a:r>
              <a:rPr lang="es-ES" sz="1800" b="0" i="0" dirty="0">
                <a:solidFill>
                  <a:srgbClr val="202124"/>
                </a:solidFill>
                <a:effectLst/>
                <a:latin typeface="Verdana" panose="020B0604030504040204" pitchFamily="34" charset="0"/>
                <a:ea typeface="Verdana" panose="020B0604030504040204" pitchFamily="34" charset="0"/>
              </a:rPr>
              <a:t>' (o incluso el propio cliente) da '</a:t>
            </a:r>
            <a:r>
              <a:rPr lang="es-ES" sz="1800" b="0" i="0" dirty="0" err="1">
                <a:solidFill>
                  <a:srgbClr val="202124"/>
                </a:solidFill>
                <a:effectLst/>
                <a:latin typeface="Verdana" panose="020B0604030504040204" pitchFamily="34" charset="0"/>
                <a:ea typeface="Verdana" panose="020B0604030504040204" pitchFamily="34" charset="0"/>
              </a:rPr>
              <a:t>feedback</a:t>
            </a:r>
            <a:r>
              <a:rPr lang="es-ES" sz="1800" b="0" i="0" dirty="0">
                <a:solidFill>
                  <a:srgbClr val="202124"/>
                </a:solidFill>
                <a:effectLst/>
                <a:latin typeface="Verdana" panose="020B0604030504040204" pitchFamily="34" charset="0"/>
                <a:ea typeface="Verdana" panose="020B0604030504040204" pitchFamily="34" charset="0"/>
              </a:rPr>
              <a:t>' al equipo. En esta sesión, el propietario del producto decide si </a:t>
            </a:r>
            <a:r>
              <a:rPr lang="es-ES" sz="1800" b="1" i="0" dirty="0">
                <a:solidFill>
                  <a:srgbClr val="202124"/>
                </a:solidFill>
                <a:effectLst/>
                <a:latin typeface="Verdana" panose="020B0604030504040204" pitchFamily="34" charset="0"/>
                <a:ea typeface="Verdana" panose="020B0604030504040204" pitchFamily="34" charset="0"/>
              </a:rPr>
              <a:t>se</a:t>
            </a:r>
            <a:r>
              <a:rPr lang="es-ES" sz="1800" b="0" i="0" dirty="0">
                <a:solidFill>
                  <a:srgbClr val="202124"/>
                </a:solidFill>
                <a:effectLst/>
                <a:latin typeface="Verdana" panose="020B0604030504040204" pitchFamily="34" charset="0"/>
                <a:ea typeface="Verdana" panose="020B0604030504040204" pitchFamily="34" charset="0"/>
              </a:rPr>
              <a:t> acepta o no como válida la funcionalidad o entregable desarrollado.</a:t>
            </a:r>
          </a:p>
        </p:txBody>
      </p:sp>
      <p:sp>
        <p:nvSpPr>
          <p:cNvPr id="5" name="Rectángulo 4">
            <a:extLst>
              <a:ext uri="{FF2B5EF4-FFF2-40B4-BE49-F238E27FC236}">
                <a16:creationId xmlns:a16="http://schemas.microsoft.com/office/drawing/2014/main" id="{8024CF9D-7A99-493E-89C4-7F4BA1A81674}"/>
              </a:ext>
            </a:extLst>
          </p:cNvPr>
          <p:cNvSpPr/>
          <p:nvPr/>
        </p:nvSpPr>
        <p:spPr>
          <a:xfrm>
            <a:off x="421340" y="1131478"/>
            <a:ext cx="3666565" cy="454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Primera parte</a:t>
            </a:r>
          </a:p>
        </p:txBody>
      </p:sp>
      <p:sp>
        <p:nvSpPr>
          <p:cNvPr id="7" name="Rectángulo 6">
            <a:extLst>
              <a:ext uri="{FF2B5EF4-FFF2-40B4-BE49-F238E27FC236}">
                <a16:creationId xmlns:a16="http://schemas.microsoft.com/office/drawing/2014/main" id="{F0067776-0044-42CF-9287-EDD9CCFFC31D}"/>
              </a:ext>
            </a:extLst>
          </p:cNvPr>
          <p:cNvSpPr/>
          <p:nvPr/>
        </p:nvSpPr>
        <p:spPr>
          <a:xfrm>
            <a:off x="412376" y="1733932"/>
            <a:ext cx="3684495" cy="271929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Font typeface="+mj-lt"/>
              <a:buAutoNum type="arabicPeriod"/>
            </a:pPr>
            <a:r>
              <a:rPr lang="es-ES" sz="2400" dirty="0">
                <a:solidFill>
                  <a:schemeClr val="tx1"/>
                </a:solidFill>
              </a:rPr>
              <a:t>El producto </a:t>
            </a:r>
            <a:r>
              <a:rPr lang="es-ES" sz="2400" dirty="0" err="1">
                <a:solidFill>
                  <a:schemeClr val="tx1"/>
                </a:solidFill>
              </a:rPr>
              <a:t>owner</a:t>
            </a:r>
            <a:r>
              <a:rPr lang="es-ES" sz="2400" dirty="0">
                <a:solidFill>
                  <a:schemeClr val="tx1"/>
                </a:solidFill>
              </a:rPr>
              <a:t> y el equipo, revisan los elementos prioritarios del producto backlog</a:t>
            </a:r>
          </a:p>
          <a:p>
            <a:pPr marL="342900" indent="-342900" algn="ctr">
              <a:buFont typeface="+mj-lt"/>
              <a:buAutoNum type="arabicPeriod"/>
            </a:pPr>
            <a:r>
              <a:rPr lang="es-ES" sz="2400" dirty="0">
                <a:solidFill>
                  <a:schemeClr val="tx1"/>
                </a:solidFill>
              </a:rPr>
              <a:t>Se establecen los objetivos del sprint.</a:t>
            </a:r>
          </a:p>
          <a:p>
            <a:pPr marL="342900" indent="-342900" algn="ctr">
              <a:buFont typeface="+mj-lt"/>
              <a:buAutoNum type="arabicPeriod"/>
            </a:pPr>
            <a:endParaRPr lang="es-ES" sz="2400" dirty="0"/>
          </a:p>
        </p:txBody>
      </p:sp>
      <p:sp>
        <p:nvSpPr>
          <p:cNvPr id="8" name="Flecha: a la derecha 7">
            <a:extLst>
              <a:ext uri="{FF2B5EF4-FFF2-40B4-BE49-F238E27FC236}">
                <a16:creationId xmlns:a16="http://schemas.microsoft.com/office/drawing/2014/main" id="{E29B9C9D-B6CB-47AF-868E-AC1DA2BEF775}"/>
              </a:ext>
            </a:extLst>
          </p:cNvPr>
          <p:cNvSpPr/>
          <p:nvPr/>
        </p:nvSpPr>
        <p:spPr>
          <a:xfrm>
            <a:off x="4365812" y="2136590"/>
            <a:ext cx="739588" cy="4542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5639CEFF-1E54-4165-B23F-4DFC85B8FE3B}"/>
              </a:ext>
            </a:extLst>
          </p:cNvPr>
          <p:cNvSpPr/>
          <p:nvPr/>
        </p:nvSpPr>
        <p:spPr>
          <a:xfrm>
            <a:off x="5722725" y="1131478"/>
            <a:ext cx="3666565" cy="454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Segunda parte</a:t>
            </a:r>
          </a:p>
        </p:txBody>
      </p:sp>
      <p:sp>
        <p:nvSpPr>
          <p:cNvPr id="11" name="Rectángulo 10">
            <a:extLst>
              <a:ext uri="{FF2B5EF4-FFF2-40B4-BE49-F238E27FC236}">
                <a16:creationId xmlns:a16="http://schemas.microsoft.com/office/drawing/2014/main" id="{C88E2208-D772-4AF7-9F42-A5B15EF36611}"/>
              </a:ext>
            </a:extLst>
          </p:cNvPr>
          <p:cNvSpPr/>
          <p:nvPr/>
        </p:nvSpPr>
        <p:spPr>
          <a:xfrm>
            <a:off x="5722725" y="1617074"/>
            <a:ext cx="3774142" cy="1670423"/>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lgn="ctr">
              <a:buFont typeface="+mj-lt"/>
              <a:buAutoNum type="arabicPeriod"/>
            </a:pPr>
            <a:r>
              <a:rPr lang="es-ES" sz="2400" dirty="0">
                <a:solidFill>
                  <a:schemeClr val="tx1"/>
                </a:solidFill>
              </a:rPr>
              <a:t>Como implementar los elementos que el equipo decide incluir en el sprint</a:t>
            </a:r>
          </a:p>
          <a:p>
            <a:pPr marL="342900" indent="-342900" algn="ctr">
              <a:buFont typeface="+mj-lt"/>
              <a:buAutoNum type="arabicPeriod"/>
            </a:pPr>
            <a:endParaRPr lang="es-ES" sz="2400" dirty="0"/>
          </a:p>
        </p:txBody>
      </p:sp>
      <p:sp>
        <p:nvSpPr>
          <p:cNvPr id="12" name="Flecha: a la derecha 11">
            <a:extLst>
              <a:ext uri="{FF2B5EF4-FFF2-40B4-BE49-F238E27FC236}">
                <a16:creationId xmlns:a16="http://schemas.microsoft.com/office/drawing/2014/main" id="{1A6E32C8-A0D7-45F0-A56C-1FDF77017F28}"/>
              </a:ext>
            </a:extLst>
          </p:cNvPr>
          <p:cNvSpPr/>
          <p:nvPr/>
        </p:nvSpPr>
        <p:spPr>
          <a:xfrm rot="5400000">
            <a:off x="7240002" y="3824942"/>
            <a:ext cx="739588" cy="4542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557153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96D920-084C-5BB0-3B59-8C4983312918}"/>
              </a:ext>
            </a:extLst>
          </p:cNvPr>
          <p:cNvSpPr>
            <a:spLocks noGrp="1"/>
          </p:cNvSpPr>
          <p:nvPr>
            <p:ph type="title"/>
          </p:nvPr>
        </p:nvSpPr>
        <p:spPr/>
        <p:txBody>
          <a:bodyPr/>
          <a:lstStyle/>
          <a:p>
            <a:r>
              <a:rPr lang="es-ES" sz="4400" b="1"/>
              <a:t>Sprint planning</a:t>
            </a:r>
            <a:endParaRPr lang="es-ES"/>
          </a:p>
        </p:txBody>
      </p:sp>
      <p:sp>
        <p:nvSpPr>
          <p:cNvPr id="3" name="Marcador de contenido 2">
            <a:extLst>
              <a:ext uri="{FF2B5EF4-FFF2-40B4-BE49-F238E27FC236}">
                <a16:creationId xmlns:a16="http://schemas.microsoft.com/office/drawing/2014/main" id="{C25202A9-BADA-4260-99FB-322B3AF83AAC}"/>
              </a:ext>
            </a:extLst>
          </p:cNvPr>
          <p:cNvSpPr>
            <a:spLocks noGrp="1"/>
          </p:cNvSpPr>
          <p:nvPr>
            <p:ph type="body" sz="quarter" idx="13"/>
          </p:nvPr>
        </p:nvSpPr>
        <p:spPr>
          <a:xfrm>
            <a:off x="316171" y="989936"/>
            <a:ext cx="11370061" cy="4838700"/>
          </a:xfrm>
        </p:spPr>
        <p:txBody>
          <a:bodyPr>
            <a:normAutofit/>
          </a:bodyPr>
          <a:lstStyle/>
          <a:p>
            <a:pPr marL="0" indent="0">
              <a:lnSpc>
                <a:spcPct val="120000"/>
              </a:lnSpc>
              <a:buNone/>
            </a:pPr>
            <a:r>
              <a:rPr lang="es-ES" sz="1800">
                <a:latin typeface="Verdana" panose="020B0604030504040204" pitchFamily="34" charset="0"/>
                <a:ea typeface="Verdana" panose="020B0604030504040204" pitchFamily="34" charset="0"/>
              </a:rPr>
              <a:t>El </a:t>
            </a:r>
            <a:r>
              <a:rPr lang="es-ES" sz="1800" b="1" dirty="0">
                <a:latin typeface="Verdana" panose="020B0604030504040204" pitchFamily="34" charset="0"/>
                <a:ea typeface="Verdana" panose="020B0604030504040204" pitchFamily="34" charset="0"/>
              </a:rPr>
              <a:t>Sprint </a:t>
            </a:r>
            <a:r>
              <a:rPr lang="es-ES" sz="1800" b="1" dirty="0" err="1">
                <a:latin typeface="Verdana" panose="020B0604030504040204" pitchFamily="34" charset="0"/>
                <a:ea typeface="Verdana" panose="020B0604030504040204" pitchFamily="34" charset="0"/>
              </a:rPr>
              <a:t>Planning</a:t>
            </a:r>
            <a:r>
              <a:rPr lang="es-ES" sz="1800" b="1" dirty="0">
                <a:latin typeface="Verdana" panose="020B0604030504040204" pitchFamily="34" charset="0"/>
                <a:ea typeface="Verdana" panose="020B0604030504040204" pitchFamily="34" charset="0"/>
              </a:rPr>
              <a:t> </a:t>
            </a:r>
            <a:r>
              <a:rPr lang="es-ES" sz="1800" dirty="0">
                <a:latin typeface="Verdana" panose="020B0604030504040204" pitchFamily="34" charset="0"/>
                <a:ea typeface="Verdana" panose="020B0604030504040204" pitchFamily="34" charset="0"/>
              </a:rPr>
              <a:t>es una reunión(sprint </a:t>
            </a:r>
            <a:r>
              <a:rPr lang="es-ES" sz="1800" dirty="0" err="1">
                <a:latin typeface="Verdana" panose="020B0604030504040204" pitchFamily="34" charset="0"/>
                <a:ea typeface="Verdana" panose="020B0604030504040204" pitchFamily="34" charset="0"/>
              </a:rPr>
              <a:t>planning</a:t>
            </a:r>
            <a:r>
              <a:rPr lang="es-ES" sz="1800" dirty="0">
                <a:latin typeface="Verdana" panose="020B0604030504040204" pitchFamily="34" charset="0"/>
                <a:ea typeface="Verdana" panose="020B0604030504040204" pitchFamily="34" charset="0"/>
              </a:rPr>
              <a:t> meeting) que se realiza al comienzo de cada Sprint donde participa el equipo Scrum al completo; sirve para inspeccionar el Backlog del Producto (</a:t>
            </a:r>
            <a:r>
              <a:rPr lang="es-ES" sz="1800" dirty="0" err="1">
                <a:latin typeface="Verdana" panose="020B0604030504040204" pitchFamily="34" charset="0"/>
                <a:ea typeface="Verdana" panose="020B0604030504040204" pitchFamily="34" charset="0"/>
              </a:rPr>
              <a:t>Product</a:t>
            </a:r>
            <a:r>
              <a:rPr lang="es-ES" sz="1800" dirty="0">
                <a:latin typeface="Verdana" panose="020B0604030504040204" pitchFamily="34" charset="0"/>
                <a:ea typeface="Verdana" panose="020B0604030504040204" pitchFamily="34" charset="0"/>
              </a:rPr>
              <a:t> Backlog ) y que el equipo de desarrollo seleccione los </a:t>
            </a:r>
            <a:r>
              <a:rPr lang="es-ES" sz="1800" dirty="0" err="1">
                <a:latin typeface="Verdana" panose="020B0604030504040204" pitchFamily="34" charset="0"/>
                <a:ea typeface="Verdana" panose="020B0604030504040204" pitchFamily="34" charset="0"/>
              </a:rPr>
              <a:t>Product</a:t>
            </a:r>
            <a:r>
              <a:rPr lang="es-ES" sz="1800" dirty="0">
                <a:latin typeface="Verdana" panose="020B0604030504040204" pitchFamily="34" charset="0"/>
                <a:ea typeface="Verdana" panose="020B0604030504040204" pitchFamily="34" charset="0"/>
              </a:rPr>
              <a:t> Backlog </a:t>
            </a:r>
            <a:r>
              <a:rPr lang="es-ES" sz="1800" dirty="0" err="1">
                <a:latin typeface="Verdana" panose="020B0604030504040204" pitchFamily="34" charset="0"/>
                <a:ea typeface="Verdana" panose="020B0604030504040204" pitchFamily="34" charset="0"/>
              </a:rPr>
              <a:t>Items</a:t>
            </a:r>
            <a:r>
              <a:rPr lang="es-ES" sz="1800" dirty="0">
                <a:latin typeface="Verdana" panose="020B0604030504040204" pitchFamily="34" charset="0"/>
                <a:ea typeface="Verdana" panose="020B0604030504040204" pitchFamily="34" charset="0"/>
              </a:rPr>
              <a:t> en los que va a trabajar durante el siguiente </a:t>
            </a:r>
            <a:r>
              <a:rPr lang="es-ES" sz="2700" dirty="0">
                <a:latin typeface="Verdana" panose="020B0604030504040204" pitchFamily="34" charset="0"/>
                <a:ea typeface="Verdana" panose="020B0604030504040204" pitchFamily="34" charset="0"/>
              </a:rPr>
              <a:t>Sprint. </a:t>
            </a:r>
            <a:r>
              <a:rPr lang="es-ES" sz="1800" b="0" i="0" u="none" strike="noStrike" baseline="0" dirty="0">
                <a:solidFill>
                  <a:srgbClr val="000000"/>
                </a:solidFill>
                <a:latin typeface="Verdana" panose="020B0604030504040204" pitchFamily="34" charset="0"/>
                <a:ea typeface="Verdana" panose="020B0604030504040204" pitchFamily="34" charset="0"/>
              </a:rPr>
              <a:t>El Sprint </a:t>
            </a:r>
            <a:r>
              <a:rPr lang="es-ES" sz="1800" b="0" i="0" u="none" strike="noStrike" baseline="0" dirty="0" err="1">
                <a:solidFill>
                  <a:srgbClr val="000000"/>
                </a:solidFill>
                <a:latin typeface="Verdana" panose="020B0604030504040204" pitchFamily="34" charset="0"/>
                <a:ea typeface="Verdana" panose="020B0604030504040204" pitchFamily="34" charset="0"/>
              </a:rPr>
              <a:t>Planning</a:t>
            </a:r>
            <a:r>
              <a:rPr lang="es-ES" sz="1800" b="0" i="0" u="none" strike="noStrike" baseline="0" dirty="0">
                <a:solidFill>
                  <a:srgbClr val="000000"/>
                </a:solidFill>
                <a:latin typeface="Verdana" panose="020B0604030504040204" pitchFamily="34" charset="0"/>
                <a:ea typeface="Verdana" panose="020B0604030504040204" pitchFamily="34" charset="0"/>
              </a:rPr>
              <a:t> tiene una duración máxima de ocho horas para un Sprint de un mes. Para </a:t>
            </a:r>
            <a:r>
              <a:rPr lang="es-ES" sz="1800" b="0" i="0" u="none" strike="noStrike" baseline="0" dirty="0" err="1">
                <a:solidFill>
                  <a:srgbClr val="000000"/>
                </a:solidFill>
                <a:latin typeface="Verdana" panose="020B0604030504040204" pitchFamily="34" charset="0"/>
                <a:ea typeface="Verdana" panose="020B0604030504040204" pitchFamily="34" charset="0"/>
              </a:rPr>
              <a:t>sprints</a:t>
            </a:r>
            <a:r>
              <a:rPr lang="es-ES" sz="1800" b="0" i="0" u="none" strike="noStrike" baseline="0" dirty="0">
                <a:solidFill>
                  <a:srgbClr val="000000"/>
                </a:solidFill>
                <a:latin typeface="Verdana" panose="020B0604030504040204" pitchFamily="34" charset="0"/>
                <a:ea typeface="Verdana" panose="020B0604030504040204" pitchFamily="34" charset="0"/>
              </a:rPr>
              <a:t> más cortos, el evento suele ser más corto. </a:t>
            </a:r>
            <a:endParaRPr lang="es-ES" sz="3200" dirty="0">
              <a:latin typeface="Verdana" panose="020B0604030504040204" pitchFamily="34" charset="0"/>
              <a:ea typeface="Verdana" panose="020B0604030504040204" pitchFamily="34" charset="0"/>
            </a:endParaRPr>
          </a:p>
          <a:p>
            <a:pPr marL="0" indent="0">
              <a:lnSpc>
                <a:spcPct val="120000"/>
              </a:lnSpc>
              <a:buNone/>
            </a:pPr>
            <a:endParaRPr lang="es-ES" sz="2700" dirty="0">
              <a:latin typeface="Verdana" panose="020B0604030504040204" pitchFamily="34" charset="0"/>
              <a:ea typeface="Verdana" panose="020B0604030504040204" pitchFamily="34" charset="0"/>
            </a:endParaRPr>
          </a:p>
          <a:p>
            <a:pPr marL="0" indent="0">
              <a:lnSpc>
                <a:spcPct val="120000"/>
              </a:lnSpc>
              <a:buNone/>
            </a:pPr>
            <a:endParaRPr lang="es-ES" sz="2700" dirty="0">
              <a:latin typeface="Verdana" panose="020B0604030504040204" pitchFamily="34" charset="0"/>
              <a:ea typeface="Verdana" panose="020B0604030504040204" pitchFamily="34" charset="0"/>
            </a:endParaRPr>
          </a:p>
          <a:p>
            <a:endParaRPr lang="es-ES" dirty="0"/>
          </a:p>
        </p:txBody>
      </p:sp>
      <p:pic>
        <p:nvPicPr>
          <p:cNvPr id="5" name="Imagen 4">
            <a:extLst>
              <a:ext uri="{FF2B5EF4-FFF2-40B4-BE49-F238E27FC236}">
                <a16:creationId xmlns:a16="http://schemas.microsoft.com/office/drawing/2014/main" id="{0F18AACB-FCAE-45F6-95C8-74F33E9390BC}"/>
              </a:ext>
            </a:extLst>
          </p:cNvPr>
          <p:cNvPicPr>
            <a:picLocks noChangeAspect="1"/>
          </p:cNvPicPr>
          <p:nvPr/>
        </p:nvPicPr>
        <p:blipFill>
          <a:blip r:embed="rId2"/>
          <a:stretch>
            <a:fillRect/>
          </a:stretch>
        </p:blipFill>
        <p:spPr>
          <a:xfrm>
            <a:off x="10961527" y="6034969"/>
            <a:ext cx="1353429" cy="823031"/>
          </a:xfrm>
          <a:prstGeom prst="rect">
            <a:avLst/>
          </a:prstGeom>
        </p:spPr>
      </p:pic>
      <p:sp>
        <p:nvSpPr>
          <p:cNvPr id="6" name="Rectángulo 5">
            <a:extLst>
              <a:ext uri="{FF2B5EF4-FFF2-40B4-BE49-F238E27FC236}">
                <a16:creationId xmlns:a16="http://schemas.microsoft.com/office/drawing/2014/main" id="{6D96B33C-17C3-4FAD-BEA8-0D18C8097313}"/>
              </a:ext>
            </a:extLst>
          </p:cNvPr>
          <p:cNvSpPr/>
          <p:nvPr/>
        </p:nvSpPr>
        <p:spPr>
          <a:xfrm>
            <a:off x="100269" y="3570322"/>
            <a:ext cx="2555690" cy="295835"/>
          </a:xfrm>
          <a:prstGeom prst="rect">
            <a:avLst/>
          </a:prstGeom>
          <a:solidFill>
            <a:srgbClr val="00206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PRODUCT BACKLOG</a:t>
            </a:r>
          </a:p>
        </p:txBody>
      </p:sp>
      <p:sp>
        <p:nvSpPr>
          <p:cNvPr id="7" name="Rectángulo 6">
            <a:extLst>
              <a:ext uri="{FF2B5EF4-FFF2-40B4-BE49-F238E27FC236}">
                <a16:creationId xmlns:a16="http://schemas.microsoft.com/office/drawing/2014/main" id="{9022F732-A7CB-4532-886B-A3C67B1BD064}"/>
              </a:ext>
            </a:extLst>
          </p:cNvPr>
          <p:cNvSpPr/>
          <p:nvPr/>
        </p:nvSpPr>
        <p:spPr>
          <a:xfrm>
            <a:off x="100269" y="5021114"/>
            <a:ext cx="2720788" cy="295835"/>
          </a:xfrm>
          <a:prstGeom prst="rect">
            <a:avLst/>
          </a:prstGeom>
          <a:solidFill>
            <a:srgbClr val="00206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PRODUCT BACKLOG ITEM</a:t>
            </a:r>
          </a:p>
        </p:txBody>
      </p:sp>
      <p:sp>
        <p:nvSpPr>
          <p:cNvPr id="8" name="Flecha: a la derecha 7">
            <a:extLst>
              <a:ext uri="{FF2B5EF4-FFF2-40B4-BE49-F238E27FC236}">
                <a16:creationId xmlns:a16="http://schemas.microsoft.com/office/drawing/2014/main" id="{DBDB42A1-4DAD-4B76-8945-A2580807F294}"/>
              </a:ext>
            </a:extLst>
          </p:cNvPr>
          <p:cNvSpPr/>
          <p:nvPr/>
        </p:nvSpPr>
        <p:spPr>
          <a:xfrm>
            <a:off x="3047137" y="5024132"/>
            <a:ext cx="726141" cy="29583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A4E30C2A-763E-40FB-94FD-30BE937ED38F}"/>
              </a:ext>
            </a:extLst>
          </p:cNvPr>
          <p:cNvSpPr txBox="1"/>
          <p:nvPr/>
        </p:nvSpPr>
        <p:spPr>
          <a:xfrm>
            <a:off x="3999358" y="4855284"/>
            <a:ext cx="7883337"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s-ES" b="0" i="0" dirty="0">
                <a:solidFill>
                  <a:srgbClr val="666666"/>
                </a:solidFill>
                <a:effectLst/>
                <a:latin typeface="Open Sans"/>
              </a:rPr>
              <a:t>Un </a:t>
            </a:r>
            <a:r>
              <a:rPr lang="es-ES" b="0" i="0" dirty="0" err="1">
                <a:solidFill>
                  <a:srgbClr val="666666"/>
                </a:solidFill>
                <a:effectLst/>
                <a:latin typeface="Open Sans"/>
              </a:rPr>
              <a:t>Product</a:t>
            </a:r>
            <a:r>
              <a:rPr lang="es-ES" b="0" i="0" dirty="0">
                <a:solidFill>
                  <a:srgbClr val="666666"/>
                </a:solidFill>
                <a:effectLst/>
                <a:latin typeface="Open Sans"/>
              </a:rPr>
              <a:t> Backlog </a:t>
            </a:r>
            <a:r>
              <a:rPr lang="es-ES" b="0" i="0" dirty="0" err="1">
                <a:solidFill>
                  <a:srgbClr val="666666"/>
                </a:solidFill>
                <a:effectLst/>
                <a:latin typeface="Open Sans"/>
              </a:rPr>
              <a:t>Item</a:t>
            </a:r>
            <a:r>
              <a:rPr lang="es-ES" b="0" i="0" dirty="0">
                <a:solidFill>
                  <a:srgbClr val="666666"/>
                </a:solidFill>
                <a:effectLst/>
                <a:latin typeface="Open Sans"/>
              </a:rPr>
              <a:t> </a:t>
            </a:r>
            <a:r>
              <a:rPr lang="es-ES" b="0" i="0" dirty="0" err="1">
                <a:solidFill>
                  <a:srgbClr val="666666"/>
                </a:solidFill>
                <a:effectLst/>
                <a:latin typeface="Open Sans"/>
              </a:rPr>
              <a:t>ó</a:t>
            </a:r>
            <a:r>
              <a:rPr lang="es-ES" b="0" i="0" dirty="0">
                <a:solidFill>
                  <a:srgbClr val="666666"/>
                </a:solidFill>
                <a:effectLst/>
                <a:latin typeface="Open Sans"/>
              </a:rPr>
              <a:t> PBI son funcionalidades, </a:t>
            </a:r>
          </a:p>
          <a:p>
            <a:r>
              <a:rPr lang="es-ES" b="0" i="0" dirty="0">
                <a:solidFill>
                  <a:srgbClr val="666666"/>
                </a:solidFill>
                <a:effectLst/>
                <a:latin typeface="Open Sans"/>
              </a:rPr>
              <a:t>requisitos, mejoras y correcciones que se encuentran dentro </a:t>
            </a:r>
          </a:p>
          <a:p>
            <a:r>
              <a:rPr lang="es-ES" b="0" i="0" dirty="0">
                <a:solidFill>
                  <a:srgbClr val="666666"/>
                </a:solidFill>
                <a:effectLst/>
                <a:latin typeface="Open Sans"/>
              </a:rPr>
              <a:t>del </a:t>
            </a:r>
            <a:r>
              <a:rPr lang="es-ES" b="0" i="0" u="none" strike="noStrike" dirty="0" err="1">
                <a:solidFill>
                  <a:srgbClr val="54ABAA"/>
                </a:solidFill>
                <a:effectLst/>
                <a:latin typeface="Open Sans"/>
                <a:hlinkClick r:id="rId3"/>
              </a:rPr>
              <a:t>Product</a:t>
            </a:r>
            <a:r>
              <a:rPr lang="es-ES" b="0" i="0" u="none" strike="noStrike" dirty="0">
                <a:solidFill>
                  <a:srgbClr val="54ABAA"/>
                </a:solidFill>
                <a:effectLst/>
                <a:latin typeface="Open Sans"/>
                <a:hlinkClick r:id="rId3"/>
              </a:rPr>
              <a:t> Backlog</a:t>
            </a:r>
            <a:r>
              <a:rPr lang="es-ES" b="0" i="0" dirty="0">
                <a:solidFill>
                  <a:srgbClr val="666666"/>
                </a:solidFill>
                <a:effectLst/>
                <a:latin typeface="Open Sans"/>
              </a:rPr>
              <a:t>.</a:t>
            </a:r>
            <a:endParaRPr lang="es-ES" dirty="0"/>
          </a:p>
        </p:txBody>
      </p:sp>
      <p:sp>
        <p:nvSpPr>
          <p:cNvPr id="10" name="Flecha: a la derecha 9">
            <a:extLst>
              <a:ext uri="{FF2B5EF4-FFF2-40B4-BE49-F238E27FC236}">
                <a16:creationId xmlns:a16="http://schemas.microsoft.com/office/drawing/2014/main" id="{632AEE9E-3860-4435-BF5D-C5777794054B}"/>
              </a:ext>
            </a:extLst>
          </p:cNvPr>
          <p:cNvSpPr/>
          <p:nvPr/>
        </p:nvSpPr>
        <p:spPr>
          <a:xfrm>
            <a:off x="2821057" y="3577168"/>
            <a:ext cx="726141" cy="295835"/>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8E79C863-936D-465F-8FA1-CC27EE31DDE3}"/>
              </a:ext>
            </a:extLst>
          </p:cNvPr>
          <p:cNvSpPr txBox="1"/>
          <p:nvPr/>
        </p:nvSpPr>
        <p:spPr>
          <a:xfrm>
            <a:off x="3818961" y="3223527"/>
            <a:ext cx="8606119" cy="1354217"/>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s-ES" sz="1600" b="0" i="0" dirty="0">
                <a:solidFill>
                  <a:srgbClr val="202124"/>
                </a:solidFill>
                <a:effectLst/>
                <a:latin typeface="arial" panose="020B0604020202020204" pitchFamily="34" charset="0"/>
              </a:rPr>
              <a:t>El </a:t>
            </a:r>
            <a:r>
              <a:rPr lang="es-ES" sz="1600" b="1" i="0" dirty="0" err="1">
                <a:solidFill>
                  <a:srgbClr val="202124"/>
                </a:solidFill>
                <a:effectLst/>
                <a:latin typeface="arial" panose="020B0604020202020204" pitchFamily="34" charset="0"/>
              </a:rPr>
              <a:t>product</a:t>
            </a:r>
            <a:r>
              <a:rPr lang="es-ES" sz="1600" b="1" i="0" dirty="0">
                <a:solidFill>
                  <a:srgbClr val="202124"/>
                </a:solidFill>
                <a:effectLst/>
                <a:latin typeface="arial" panose="020B0604020202020204" pitchFamily="34" charset="0"/>
              </a:rPr>
              <a:t> backlog</a:t>
            </a:r>
            <a:r>
              <a:rPr lang="es-ES" sz="1600" b="0" i="0" dirty="0">
                <a:solidFill>
                  <a:srgbClr val="202124"/>
                </a:solidFill>
                <a:effectLst/>
                <a:latin typeface="arial" panose="020B0604020202020204" pitchFamily="34" charset="0"/>
              </a:rPr>
              <a:t> (o pila de producto) es un listado de todas las tareas </a:t>
            </a:r>
          </a:p>
          <a:p>
            <a:r>
              <a:rPr lang="es-ES" sz="1600" b="0" i="0" dirty="0">
                <a:solidFill>
                  <a:srgbClr val="202124"/>
                </a:solidFill>
                <a:effectLst/>
                <a:latin typeface="arial" panose="020B0604020202020204" pitchFamily="34" charset="0"/>
              </a:rPr>
              <a:t>que se pretenden hacer durante el desarrollo de un proyecto. ... </a:t>
            </a:r>
          </a:p>
          <a:p>
            <a:r>
              <a:rPr lang="es-ES" sz="1600" b="0" i="0" dirty="0">
                <a:solidFill>
                  <a:srgbClr val="202124"/>
                </a:solidFill>
                <a:effectLst/>
                <a:latin typeface="arial" panose="020B0604020202020204" pitchFamily="34" charset="0"/>
              </a:rPr>
              <a:t>Todas las tareas deben listarse en el </a:t>
            </a:r>
            <a:r>
              <a:rPr lang="es-ES" sz="1600" b="1" i="0" dirty="0" err="1">
                <a:solidFill>
                  <a:srgbClr val="202124"/>
                </a:solidFill>
                <a:effectLst/>
                <a:latin typeface="arial" panose="020B0604020202020204" pitchFamily="34" charset="0"/>
              </a:rPr>
              <a:t>product</a:t>
            </a:r>
            <a:r>
              <a:rPr lang="es-ES" sz="1600" b="1" i="0" dirty="0">
                <a:solidFill>
                  <a:srgbClr val="202124"/>
                </a:solidFill>
                <a:effectLst/>
                <a:latin typeface="arial" panose="020B0604020202020204" pitchFamily="34" charset="0"/>
              </a:rPr>
              <a:t> backlog</a:t>
            </a:r>
            <a:r>
              <a:rPr lang="es-ES" sz="1600" b="0" i="0" dirty="0">
                <a:solidFill>
                  <a:srgbClr val="202124"/>
                </a:solidFill>
                <a:effectLst/>
                <a:latin typeface="arial" panose="020B0604020202020204" pitchFamily="34" charset="0"/>
              </a:rPr>
              <a:t>, </a:t>
            </a:r>
          </a:p>
          <a:p>
            <a:r>
              <a:rPr lang="es-ES" sz="1600" b="0" i="0" dirty="0">
                <a:solidFill>
                  <a:srgbClr val="202124"/>
                </a:solidFill>
                <a:effectLst/>
                <a:latin typeface="arial" panose="020B0604020202020204" pitchFamily="34" charset="0"/>
              </a:rPr>
              <a:t>para que estén visibles ante todo el equipo y se pueda tener una visión </a:t>
            </a:r>
          </a:p>
          <a:p>
            <a:r>
              <a:rPr lang="es-ES" sz="1600" b="0" i="0" dirty="0">
                <a:solidFill>
                  <a:srgbClr val="202124"/>
                </a:solidFill>
                <a:effectLst/>
                <a:latin typeface="arial" panose="020B0604020202020204" pitchFamily="34" charset="0"/>
              </a:rPr>
              <a:t>panorámica de todo lo que se espera realizar.</a:t>
            </a:r>
            <a:endParaRPr lang="es-ES" sz="1600" dirty="0"/>
          </a:p>
        </p:txBody>
      </p:sp>
      <p:sp>
        <p:nvSpPr>
          <p:cNvPr id="12" name="CuadroTexto 11">
            <a:extLst>
              <a:ext uri="{FF2B5EF4-FFF2-40B4-BE49-F238E27FC236}">
                <a16:creationId xmlns:a16="http://schemas.microsoft.com/office/drawing/2014/main" id="{538FE448-05B9-4B76-A61B-76252A9A445E}"/>
              </a:ext>
            </a:extLst>
          </p:cNvPr>
          <p:cNvSpPr txBox="1"/>
          <p:nvPr/>
        </p:nvSpPr>
        <p:spPr>
          <a:xfrm>
            <a:off x="211854" y="6364473"/>
            <a:ext cx="7680374" cy="369332"/>
          </a:xfrm>
          <a:prstGeom prst="rect">
            <a:avLst/>
          </a:prstGeom>
          <a:noFill/>
        </p:spPr>
        <p:txBody>
          <a:bodyPr wrap="square">
            <a:spAutoFit/>
          </a:bodyPr>
          <a:lstStyle/>
          <a:p>
            <a:r>
              <a:rPr lang="es-ES" dirty="0">
                <a:hlinkClick r:id="rId4"/>
              </a:rPr>
              <a:t>¿Qué es el Backlog? - </a:t>
            </a:r>
            <a:r>
              <a:rPr lang="es-ES">
                <a:hlinkClick r:id="rId4"/>
              </a:rPr>
              <a:t>Muy Agile</a:t>
            </a:r>
            <a:endParaRPr lang="es-ES" dirty="0"/>
          </a:p>
        </p:txBody>
      </p:sp>
    </p:spTree>
    <p:extLst>
      <p:ext uri="{BB962C8B-B14F-4D97-AF65-F5344CB8AC3E}">
        <p14:creationId xmlns:p14="http://schemas.microsoft.com/office/powerpoint/2010/main" val="2660133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6FED1F8A-C0F6-455C-B92E-18512303384D}"/>
              </a:ext>
            </a:extLst>
          </p:cNvPr>
          <p:cNvGraphicFramePr/>
          <p:nvPr>
            <p:extLst>
              <p:ext uri="{D42A27DB-BD31-4B8C-83A1-F6EECF244321}">
                <p14:modId xmlns:p14="http://schemas.microsoft.com/office/powerpoint/2010/main" val="3863288852"/>
              </p:ext>
            </p:extLst>
          </p:nvPr>
        </p:nvGraphicFramePr>
        <p:xfrm>
          <a:off x="1559859" y="5030103"/>
          <a:ext cx="9072282" cy="2052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ítulo 1">
            <a:extLst>
              <a:ext uri="{FF2B5EF4-FFF2-40B4-BE49-F238E27FC236}">
                <a16:creationId xmlns:a16="http://schemas.microsoft.com/office/drawing/2014/main" id="{6B22CD59-1599-3BEB-44C5-A70130296784}"/>
              </a:ext>
            </a:extLst>
          </p:cNvPr>
          <p:cNvSpPr>
            <a:spLocks noGrp="1"/>
          </p:cNvSpPr>
          <p:nvPr>
            <p:ph type="title"/>
          </p:nvPr>
        </p:nvSpPr>
        <p:spPr/>
        <p:txBody>
          <a:bodyPr/>
          <a:lstStyle/>
          <a:p>
            <a:r>
              <a:rPr lang="es-ES"/>
              <a:t>Objetivos del sprint planning</a:t>
            </a:r>
          </a:p>
        </p:txBody>
      </p:sp>
      <p:sp>
        <p:nvSpPr>
          <p:cNvPr id="3" name="Marcador de contenido 2">
            <a:extLst>
              <a:ext uri="{FF2B5EF4-FFF2-40B4-BE49-F238E27FC236}">
                <a16:creationId xmlns:a16="http://schemas.microsoft.com/office/drawing/2014/main" id="{C25202A9-BADA-4260-99FB-322B3AF83AAC}"/>
              </a:ext>
            </a:extLst>
          </p:cNvPr>
          <p:cNvSpPr>
            <a:spLocks noGrp="1"/>
          </p:cNvSpPr>
          <p:nvPr>
            <p:ph type="body" sz="quarter" idx="13"/>
          </p:nvPr>
        </p:nvSpPr>
        <p:spPr>
          <a:xfrm>
            <a:off x="120580" y="870013"/>
            <a:ext cx="11867104" cy="5186550"/>
          </a:xfrm>
        </p:spPr>
        <p:txBody>
          <a:bodyPr>
            <a:normAutofit fontScale="62500" lnSpcReduction="20000"/>
          </a:bodyPr>
          <a:lstStyle/>
          <a:p>
            <a:pPr algn="l">
              <a:lnSpc>
                <a:spcPct val="120000"/>
              </a:lnSpc>
              <a:buFont typeface="Arial" panose="020B0604020202020204" pitchFamily="34" charset="0"/>
              <a:buChar char="•"/>
            </a:pPr>
            <a:r>
              <a:rPr lang="es-ES" sz="2700" b="1" i="0">
                <a:solidFill>
                  <a:srgbClr val="243B56"/>
                </a:solidFill>
                <a:effectLst/>
                <a:latin typeface="Verdana" panose="020B0604030504040204" pitchFamily="34" charset="0"/>
                <a:ea typeface="Verdana" panose="020B0604030504040204" pitchFamily="34" charset="0"/>
              </a:rPr>
              <a:t>Objetivos </a:t>
            </a:r>
            <a:r>
              <a:rPr lang="es-ES" sz="2700" b="1" i="0" dirty="0">
                <a:solidFill>
                  <a:srgbClr val="243B56"/>
                </a:solidFill>
                <a:effectLst/>
                <a:latin typeface="Verdana" panose="020B0604030504040204" pitchFamily="34" charset="0"/>
                <a:ea typeface="Verdana" panose="020B0604030504040204" pitchFamily="34" charset="0"/>
              </a:rPr>
              <a:t>(el qué):</a:t>
            </a:r>
            <a:r>
              <a:rPr lang="es-ES" sz="2700" b="0" i="0" dirty="0">
                <a:solidFill>
                  <a:srgbClr val="243B56"/>
                </a:solidFill>
                <a:effectLst/>
                <a:latin typeface="Verdana" panose="020B0604030504040204" pitchFamily="34" charset="0"/>
                <a:ea typeface="Verdana" panose="020B0604030504040204" pitchFamily="34" charset="0"/>
              </a:rPr>
              <a:t> se define el objetivo del sprint, definiendo los </a:t>
            </a:r>
            <a:r>
              <a:rPr lang="es-ES" sz="2700" b="1" i="0" dirty="0">
                <a:solidFill>
                  <a:srgbClr val="2872FA"/>
                </a:solidFill>
                <a:effectLst/>
                <a:latin typeface="Verdana" panose="020B0604030504040204" pitchFamily="34" charset="0"/>
                <a:ea typeface="Verdana" panose="020B0604030504040204" pitchFamily="34" charset="0"/>
                <a:hlinkClick r:id="rId7"/>
              </a:rPr>
              <a:t>elementos del backlog</a:t>
            </a:r>
            <a:r>
              <a:rPr lang="es-ES" sz="2700" b="0" i="0" dirty="0">
                <a:solidFill>
                  <a:srgbClr val="243B56"/>
                </a:solidFill>
                <a:effectLst/>
                <a:latin typeface="Verdana" panose="020B0604030504040204" pitchFamily="34" charset="0"/>
                <a:ea typeface="Verdana" panose="020B0604030504040204" pitchFamily="34" charset="0"/>
              </a:rPr>
              <a:t> que se han seleccionado para trabajar. El </a:t>
            </a:r>
            <a:r>
              <a:rPr lang="es-ES" sz="2700" b="0" i="0" dirty="0" err="1">
                <a:solidFill>
                  <a:srgbClr val="243B56"/>
                </a:solidFill>
                <a:effectLst/>
                <a:latin typeface="Verdana" panose="020B0604030504040204" pitchFamily="34" charset="0"/>
                <a:ea typeface="Verdana" panose="020B0604030504040204" pitchFamily="34" charset="0"/>
              </a:rPr>
              <a:t>Product</a:t>
            </a:r>
            <a:r>
              <a:rPr lang="es-ES" sz="2700" b="0" i="0" dirty="0">
                <a:solidFill>
                  <a:srgbClr val="243B56"/>
                </a:solidFill>
                <a:effectLst/>
                <a:latin typeface="Verdana" panose="020B0604030504040204" pitchFamily="34" charset="0"/>
                <a:ea typeface="Verdana" panose="020B0604030504040204" pitchFamily="34" charset="0"/>
              </a:rPr>
              <a:t> </a:t>
            </a:r>
            <a:r>
              <a:rPr lang="es-ES" sz="2700" b="0" i="0" dirty="0" err="1">
                <a:solidFill>
                  <a:srgbClr val="243B56"/>
                </a:solidFill>
                <a:effectLst/>
                <a:latin typeface="Verdana" panose="020B0604030504040204" pitchFamily="34" charset="0"/>
                <a:ea typeface="Verdana" panose="020B0604030504040204" pitchFamily="34" charset="0"/>
              </a:rPr>
              <a:t>Owner</a:t>
            </a:r>
            <a:r>
              <a:rPr lang="es-ES" sz="2700" b="0" i="0" dirty="0">
                <a:solidFill>
                  <a:srgbClr val="243B56"/>
                </a:solidFill>
                <a:effectLst/>
                <a:latin typeface="Verdana" panose="020B0604030504040204" pitchFamily="34" charset="0"/>
                <a:ea typeface="Verdana" panose="020B0604030504040204" pitchFamily="34" charset="0"/>
              </a:rPr>
              <a:t>, es quien presenta el conjunto de características que le gustaría ver completadas en el sprint. A estos objetivos se los conoce como sprint backlogs.</a:t>
            </a:r>
          </a:p>
          <a:p>
            <a:pPr algn="l">
              <a:lnSpc>
                <a:spcPct val="120000"/>
              </a:lnSpc>
              <a:buFont typeface="Arial" panose="020B0604020202020204" pitchFamily="34" charset="0"/>
              <a:buChar char="•"/>
            </a:pPr>
            <a:r>
              <a:rPr lang="es-ES" sz="2700" b="1" i="0" dirty="0">
                <a:solidFill>
                  <a:srgbClr val="243B56"/>
                </a:solidFill>
                <a:effectLst/>
                <a:latin typeface="Verdana" panose="020B0604030504040204" pitchFamily="34" charset="0"/>
                <a:ea typeface="Verdana" panose="020B0604030504040204" pitchFamily="34" charset="0"/>
              </a:rPr>
              <a:t>El desglose de tareas (el cómo)</a:t>
            </a:r>
            <a:r>
              <a:rPr lang="es-ES" sz="2700" b="0" i="0" dirty="0">
                <a:solidFill>
                  <a:srgbClr val="243B56"/>
                </a:solidFill>
                <a:effectLst/>
                <a:latin typeface="Verdana" panose="020B0604030504040204" pitchFamily="34" charset="0"/>
                <a:ea typeface="Verdana" panose="020B0604030504040204" pitchFamily="34" charset="0"/>
              </a:rPr>
              <a:t>: el equipo determina las tareas necesarias para implementar estas características del objetivo.</a:t>
            </a:r>
          </a:p>
          <a:p>
            <a:pPr algn="l">
              <a:lnSpc>
                <a:spcPct val="120000"/>
              </a:lnSpc>
              <a:buFont typeface="Arial" panose="020B0604020202020204" pitchFamily="34" charset="0"/>
              <a:buChar char="•"/>
            </a:pPr>
            <a:r>
              <a:rPr lang="es-ES" sz="2700" b="1" i="0" dirty="0">
                <a:solidFill>
                  <a:srgbClr val="243B56"/>
                </a:solidFill>
                <a:effectLst/>
                <a:latin typeface="Verdana" panose="020B0604030504040204" pitchFamily="34" charset="0"/>
                <a:ea typeface="Verdana" panose="020B0604030504040204" pitchFamily="34" charset="0"/>
              </a:rPr>
              <a:t>Designación de actividades</a:t>
            </a:r>
            <a:r>
              <a:rPr lang="es-ES" sz="2700" b="0" i="0" dirty="0">
                <a:solidFill>
                  <a:srgbClr val="243B56"/>
                </a:solidFill>
                <a:effectLst/>
                <a:latin typeface="Verdana" panose="020B0604030504040204" pitchFamily="34" charset="0"/>
                <a:ea typeface="Verdana" panose="020B0604030504040204" pitchFamily="34" charset="0"/>
              </a:rPr>
              <a:t>: durante el sprint </a:t>
            </a:r>
            <a:r>
              <a:rPr lang="es-ES" sz="2700" b="0" i="0" dirty="0" err="1">
                <a:solidFill>
                  <a:srgbClr val="243B56"/>
                </a:solidFill>
                <a:effectLst/>
                <a:latin typeface="Verdana" panose="020B0604030504040204" pitchFamily="34" charset="0"/>
                <a:ea typeface="Verdana" panose="020B0604030504040204" pitchFamily="34" charset="0"/>
              </a:rPr>
              <a:t>planning</a:t>
            </a:r>
            <a:r>
              <a:rPr lang="es-ES" sz="2700" b="0" i="0" dirty="0">
                <a:solidFill>
                  <a:srgbClr val="243B56"/>
                </a:solidFill>
                <a:effectLst/>
                <a:latin typeface="Verdana" panose="020B0604030504040204" pitchFamily="34" charset="0"/>
                <a:ea typeface="Verdana" panose="020B0604030504040204" pitchFamily="34" charset="0"/>
              </a:rPr>
              <a:t> meeting, también deben quedar claras las asignaciones de cada miembro del equipo.</a:t>
            </a:r>
          </a:p>
          <a:p>
            <a:pPr algn="l">
              <a:lnSpc>
                <a:spcPct val="120000"/>
              </a:lnSpc>
              <a:buFont typeface="Arial" panose="020B0604020202020204" pitchFamily="34" charset="0"/>
              <a:buChar char="•"/>
            </a:pPr>
            <a:r>
              <a:rPr lang="es-ES" sz="2700" b="1" i="0" dirty="0">
                <a:solidFill>
                  <a:srgbClr val="243B56"/>
                </a:solidFill>
                <a:effectLst/>
                <a:latin typeface="Verdana" panose="020B0604030504040204" pitchFamily="34" charset="0"/>
                <a:ea typeface="Verdana" panose="020B0604030504040204" pitchFamily="34" charset="0"/>
              </a:rPr>
              <a:t>El plan de Sprint</a:t>
            </a:r>
            <a:r>
              <a:rPr lang="es-ES" sz="2700" b="0" i="0" dirty="0">
                <a:solidFill>
                  <a:srgbClr val="243B56"/>
                </a:solidFill>
                <a:effectLst/>
                <a:latin typeface="Verdana" panose="020B0604030504040204" pitchFamily="34" charset="0"/>
                <a:ea typeface="Verdana" panose="020B0604030504040204" pitchFamily="34" charset="0"/>
              </a:rPr>
              <a:t>: se definen los tiempos de cada tarea, y se acuerda el plan de sprint. Este suele ser el resultante de una negociación entre el equipo de desarrollo y </a:t>
            </a:r>
            <a:r>
              <a:rPr lang="es-ES" sz="2700" b="0" i="0" dirty="0" err="1">
                <a:solidFill>
                  <a:srgbClr val="243B56"/>
                </a:solidFill>
                <a:effectLst/>
                <a:latin typeface="Verdana" panose="020B0604030504040204" pitchFamily="34" charset="0"/>
                <a:ea typeface="Verdana" panose="020B0604030504040204" pitchFamily="34" charset="0"/>
              </a:rPr>
              <a:t>Product</a:t>
            </a:r>
            <a:r>
              <a:rPr lang="es-ES" sz="2700" b="0" i="0" dirty="0">
                <a:solidFill>
                  <a:srgbClr val="243B56"/>
                </a:solidFill>
                <a:effectLst/>
                <a:latin typeface="Verdana" panose="020B0604030504040204" pitchFamily="34" charset="0"/>
                <a:ea typeface="Verdana" panose="020B0604030504040204" pitchFamily="34" charset="0"/>
              </a:rPr>
              <a:t> </a:t>
            </a:r>
            <a:r>
              <a:rPr lang="es-ES" sz="2700" b="0" i="0" dirty="0" err="1">
                <a:solidFill>
                  <a:srgbClr val="243B56"/>
                </a:solidFill>
                <a:effectLst/>
                <a:latin typeface="Verdana" panose="020B0604030504040204" pitchFamily="34" charset="0"/>
                <a:ea typeface="Verdana" panose="020B0604030504040204" pitchFamily="34" charset="0"/>
              </a:rPr>
              <a:t>Owner</a:t>
            </a:r>
            <a:r>
              <a:rPr lang="es-ES" sz="2700" b="0" i="0" dirty="0">
                <a:solidFill>
                  <a:srgbClr val="243B56"/>
                </a:solidFill>
                <a:effectLst/>
                <a:latin typeface="Verdana" panose="020B0604030504040204" pitchFamily="34" charset="0"/>
                <a:ea typeface="Verdana" panose="020B0604030504040204" pitchFamily="34" charset="0"/>
              </a:rPr>
              <a:t> en función del valor y el esfuerzo necesario en cada tarea.</a:t>
            </a:r>
          </a:p>
          <a:p>
            <a:pPr algn="l">
              <a:lnSpc>
                <a:spcPct val="120000"/>
              </a:lnSpc>
              <a:buFont typeface="Arial" panose="020B0604020202020204" pitchFamily="34" charset="0"/>
              <a:buChar char="•"/>
            </a:pPr>
            <a:r>
              <a:rPr lang="es-ES" sz="2700" b="1" i="0" dirty="0">
                <a:solidFill>
                  <a:srgbClr val="243B56"/>
                </a:solidFill>
                <a:effectLst/>
                <a:latin typeface="Verdana" panose="020B0604030504040204" pitchFamily="34" charset="0"/>
                <a:ea typeface="Verdana" panose="020B0604030504040204" pitchFamily="34" charset="0"/>
              </a:rPr>
              <a:t>Conclusión y compromiso</a:t>
            </a:r>
            <a:r>
              <a:rPr lang="es-ES" sz="2700" b="0" i="0" dirty="0">
                <a:solidFill>
                  <a:srgbClr val="243B56"/>
                </a:solidFill>
                <a:effectLst/>
                <a:latin typeface="Verdana" panose="020B0604030504040204" pitchFamily="34" charset="0"/>
                <a:ea typeface="Verdana" panose="020B0604030504040204" pitchFamily="34" charset="0"/>
              </a:rPr>
              <a:t>: un buen momento para dar por cerrada la reunión es cuando los miembros del equipo pueden describir el objetivo del sprint y cómo comenzarán a trabajar hacia ese objetivo. Se trata del compromiso del equipo de que está de acuerdo con el tiempo para completar todas las funciones solicitadas y que las comprende profundamente.</a:t>
            </a:r>
            <a:endParaRPr lang="es-ES" sz="2800" dirty="0">
              <a:solidFill>
                <a:srgbClr val="8EC741"/>
              </a:solidFill>
              <a:latin typeface="Raleway-Medium"/>
            </a:endParaRPr>
          </a:p>
          <a:p>
            <a:endParaRPr lang="es-ES" dirty="0"/>
          </a:p>
        </p:txBody>
      </p:sp>
      <p:pic>
        <p:nvPicPr>
          <p:cNvPr id="5" name="Imagen 4">
            <a:extLst>
              <a:ext uri="{FF2B5EF4-FFF2-40B4-BE49-F238E27FC236}">
                <a16:creationId xmlns:a16="http://schemas.microsoft.com/office/drawing/2014/main" id="{0F18AACB-FCAE-45F6-95C8-74F33E9390BC}"/>
              </a:ext>
            </a:extLst>
          </p:cNvPr>
          <p:cNvPicPr>
            <a:picLocks noChangeAspect="1"/>
          </p:cNvPicPr>
          <p:nvPr/>
        </p:nvPicPr>
        <p:blipFill>
          <a:blip r:embed="rId8"/>
          <a:stretch>
            <a:fillRect/>
          </a:stretch>
        </p:blipFill>
        <p:spPr>
          <a:xfrm>
            <a:off x="10961527" y="6034969"/>
            <a:ext cx="1353429" cy="823031"/>
          </a:xfrm>
          <a:prstGeom prst="rect">
            <a:avLst/>
          </a:prstGeom>
        </p:spPr>
      </p:pic>
    </p:spTree>
    <p:extLst>
      <p:ext uri="{BB962C8B-B14F-4D97-AF65-F5344CB8AC3E}">
        <p14:creationId xmlns:p14="http://schemas.microsoft.com/office/powerpoint/2010/main" val="1284255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48E4E-FAA1-DE26-3885-BF93CE03083D}"/>
              </a:ext>
            </a:extLst>
          </p:cNvPr>
          <p:cNvSpPr>
            <a:spLocks noGrp="1"/>
          </p:cNvSpPr>
          <p:nvPr>
            <p:ph type="title"/>
          </p:nvPr>
        </p:nvSpPr>
        <p:spPr/>
        <p:txBody>
          <a:bodyPr/>
          <a:lstStyle/>
          <a:p>
            <a:r>
              <a:rPr lang="es-ES"/>
              <a:t>Tarea</a:t>
            </a:r>
          </a:p>
        </p:txBody>
      </p:sp>
      <p:sp>
        <p:nvSpPr>
          <p:cNvPr id="3" name="Marcador de contenido 2">
            <a:extLst>
              <a:ext uri="{FF2B5EF4-FFF2-40B4-BE49-F238E27FC236}">
                <a16:creationId xmlns:a16="http://schemas.microsoft.com/office/drawing/2014/main" id="{77F3AAD1-AB20-4750-AF24-670D8E4954BA}"/>
              </a:ext>
            </a:extLst>
          </p:cNvPr>
          <p:cNvSpPr>
            <a:spLocks noGrp="1"/>
          </p:cNvSpPr>
          <p:nvPr>
            <p:ph type="body" sz="quarter" idx="13"/>
          </p:nvPr>
        </p:nvSpPr>
        <p:spPr>
          <a:xfrm>
            <a:off x="291402" y="1217863"/>
            <a:ext cx="11605846" cy="4838700"/>
          </a:xfrm>
          <a:noFill/>
        </p:spPr>
        <p:style>
          <a:lnRef idx="2">
            <a:schemeClr val="accent3"/>
          </a:lnRef>
          <a:fillRef idx="1">
            <a:schemeClr val="lt1"/>
          </a:fillRef>
          <a:effectRef idx="0">
            <a:schemeClr val="accent3"/>
          </a:effectRef>
          <a:fontRef idx="minor">
            <a:schemeClr val="dk1"/>
          </a:fontRef>
        </p:style>
        <p:txBody>
          <a:bodyPr>
            <a:normAutofit fontScale="85000" lnSpcReduction="10000"/>
          </a:bodyPr>
          <a:lstStyle/>
          <a:p>
            <a:pPr marL="0" indent="0" algn="just">
              <a:lnSpc>
                <a:spcPct val="120000"/>
              </a:lnSpc>
              <a:buNone/>
            </a:pPr>
            <a:endParaRPr lang="es-ES" sz="1100" dirty="0">
              <a:latin typeface="Verdana" panose="020B0604030504040204" pitchFamily="34" charset="0"/>
              <a:ea typeface="Verdana" panose="020B0604030504040204" pitchFamily="34" charset="0"/>
            </a:endParaRPr>
          </a:p>
          <a:p>
            <a:pPr marL="0" indent="0" algn="just">
              <a:lnSpc>
                <a:spcPct val="120000"/>
              </a:lnSpc>
              <a:buNone/>
            </a:pPr>
            <a:r>
              <a:rPr lang="es-ES" sz="2400" b="1" i="0" dirty="0">
                <a:effectLst/>
                <a:latin typeface="Verdana" panose="020B0604030504040204" pitchFamily="34" charset="0"/>
                <a:ea typeface="Verdana" panose="020B0604030504040204" pitchFamily="34" charset="0"/>
              </a:rPr>
              <a:t>¿Qué </a:t>
            </a:r>
            <a:r>
              <a:rPr lang="es-ES" sz="2400" b="1" dirty="0">
                <a:latin typeface="Verdana" panose="020B0604030504040204" pitchFamily="34" charset="0"/>
                <a:ea typeface="Verdana" panose="020B0604030504040204" pitchFamily="34" charset="0"/>
              </a:rPr>
              <a:t>es una tarea?</a:t>
            </a:r>
          </a:p>
          <a:p>
            <a:pPr marL="0" indent="0" algn="just">
              <a:lnSpc>
                <a:spcPct val="120000"/>
              </a:lnSpc>
              <a:buNone/>
            </a:pPr>
            <a:r>
              <a:rPr lang="es-ES" sz="2300" b="0" dirty="0">
                <a:effectLst/>
                <a:latin typeface="Verdana" panose="020B0604030504040204" pitchFamily="34" charset="0"/>
                <a:ea typeface="Verdana" panose="020B0604030504040204" pitchFamily="34" charset="0"/>
              </a:rPr>
              <a:t>Unidad de trabajo gestionada por el equipo. Una tarea tiene asignada una persona para su realización, y es recomendable que el esfuerzo estimado parara llevarla a cabo sea como máximo el equivalente al realizable en una jornada de trabajo, en ingles </a:t>
            </a:r>
            <a:r>
              <a:rPr lang="es-ES" sz="2300" b="0" dirty="0" err="1">
                <a:effectLst/>
                <a:latin typeface="Verdana" panose="020B0604030504040204" pitchFamily="34" charset="0"/>
                <a:ea typeface="Verdana" panose="020B0604030504040204" pitchFamily="34" charset="0"/>
              </a:rPr>
              <a:t>Task</a:t>
            </a:r>
            <a:r>
              <a:rPr lang="es-ES" sz="2300" b="0" dirty="0">
                <a:effectLst/>
                <a:latin typeface="Verdana" panose="020B0604030504040204" pitchFamily="34" charset="0"/>
                <a:ea typeface="Verdana" panose="020B0604030504040204" pitchFamily="34" charset="0"/>
              </a:rPr>
              <a:t>.</a:t>
            </a:r>
          </a:p>
          <a:p>
            <a:pPr marL="0" indent="0" algn="just">
              <a:lnSpc>
                <a:spcPct val="120000"/>
              </a:lnSpc>
              <a:buNone/>
            </a:pPr>
            <a:r>
              <a:rPr lang="es-ES" sz="2300" b="1" dirty="0">
                <a:latin typeface="Verdana" panose="020B0604030504040204" pitchFamily="34" charset="0"/>
                <a:ea typeface="Verdana" panose="020B0604030504040204" pitchFamily="34" charset="0"/>
              </a:rPr>
              <a:t>Estimación de la velocidad</a:t>
            </a:r>
          </a:p>
          <a:p>
            <a:pPr marL="0" indent="0" algn="just">
              <a:lnSpc>
                <a:spcPct val="120000"/>
              </a:lnSpc>
              <a:buNone/>
            </a:pPr>
            <a:r>
              <a:rPr lang="es-ES" sz="2300" b="0" dirty="0">
                <a:effectLst/>
                <a:latin typeface="Verdana" panose="020B0604030504040204" pitchFamily="34" charset="0"/>
                <a:ea typeface="Verdana" panose="020B0604030504040204" pitchFamily="34" charset="0"/>
              </a:rPr>
              <a:t>An</a:t>
            </a:r>
            <a:r>
              <a:rPr lang="es-ES" sz="2300" dirty="0">
                <a:latin typeface="Verdana" panose="020B0604030504040204" pitchFamily="34" charset="0"/>
                <a:ea typeface="Verdana" panose="020B0604030504040204" pitchFamily="34" charset="0"/>
              </a:rPr>
              <a:t>tes de cada sprint se selecciona una serie de historias, con sus puntos de historia, por ejemplo, un usuario va a entrar en la web y va a darse de alta, hay que subdividir en diferentes puntos.</a:t>
            </a:r>
          </a:p>
          <a:p>
            <a:pPr algn="just">
              <a:lnSpc>
                <a:spcPct val="120000"/>
              </a:lnSpc>
              <a:buFontTx/>
              <a:buChar char="-"/>
            </a:pPr>
            <a:r>
              <a:rPr lang="es-ES" sz="2300" b="0" dirty="0">
                <a:effectLst/>
                <a:latin typeface="Verdana" panose="020B0604030504040204" pitchFamily="34" charset="0"/>
                <a:ea typeface="Verdana" panose="020B0604030504040204" pitchFamily="34" charset="0"/>
              </a:rPr>
              <a:t>Entrada del usuario, diferentes posibilidades de alta</a:t>
            </a:r>
          </a:p>
          <a:p>
            <a:pPr algn="just">
              <a:lnSpc>
                <a:spcPct val="120000"/>
              </a:lnSpc>
              <a:buFontTx/>
              <a:buChar char="-"/>
            </a:pPr>
            <a:r>
              <a:rPr lang="es-ES" sz="2300" dirty="0">
                <a:latin typeface="Verdana" panose="020B0604030504040204" pitchFamily="34" charset="0"/>
                <a:ea typeface="Verdana" panose="020B0604030504040204" pitchFamily="34" charset="0"/>
              </a:rPr>
              <a:t>Formulario de entrada</a:t>
            </a:r>
          </a:p>
          <a:p>
            <a:pPr algn="just">
              <a:lnSpc>
                <a:spcPct val="120000"/>
              </a:lnSpc>
              <a:buFontTx/>
              <a:buChar char="-"/>
            </a:pPr>
            <a:r>
              <a:rPr lang="es-ES" sz="2300" b="0" dirty="0">
                <a:effectLst/>
                <a:latin typeface="Verdana" panose="020B0604030504040204" pitchFamily="34" charset="0"/>
                <a:ea typeface="Verdana" panose="020B0604030504040204" pitchFamily="34" charset="0"/>
              </a:rPr>
              <a:t>Validación</a:t>
            </a:r>
          </a:p>
          <a:p>
            <a:pPr marL="0" indent="0" algn="l">
              <a:buNone/>
            </a:pPr>
            <a:endParaRPr lang="es-ES" sz="3200" b="1" i="0" dirty="0">
              <a:solidFill>
                <a:srgbClr val="555555"/>
              </a:solidFill>
              <a:effectLst/>
              <a:latin typeface="Ubuntu"/>
            </a:endParaRPr>
          </a:p>
        </p:txBody>
      </p:sp>
      <p:pic>
        <p:nvPicPr>
          <p:cNvPr id="4" name="Imagen 3">
            <a:extLst>
              <a:ext uri="{FF2B5EF4-FFF2-40B4-BE49-F238E27FC236}">
                <a16:creationId xmlns:a16="http://schemas.microsoft.com/office/drawing/2014/main" id="{1F1A8965-6C9B-415D-A234-C9586E1AA60A}"/>
              </a:ext>
            </a:extLst>
          </p:cNvPr>
          <p:cNvPicPr>
            <a:picLocks noChangeAspect="1"/>
          </p:cNvPicPr>
          <p:nvPr/>
        </p:nvPicPr>
        <p:blipFill>
          <a:blip r:embed="rId2"/>
          <a:stretch>
            <a:fillRect/>
          </a:stretch>
        </p:blipFill>
        <p:spPr>
          <a:xfrm>
            <a:off x="10925668" y="0"/>
            <a:ext cx="1353429" cy="823031"/>
          </a:xfrm>
          <a:prstGeom prst="rect">
            <a:avLst/>
          </a:prstGeom>
        </p:spPr>
      </p:pic>
    </p:spTree>
    <p:extLst>
      <p:ext uri="{BB962C8B-B14F-4D97-AF65-F5344CB8AC3E}">
        <p14:creationId xmlns:p14="http://schemas.microsoft.com/office/powerpoint/2010/main" val="3457271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007614-54A2-8959-3CFC-20EB0D139CF1}"/>
              </a:ext>
            </a:extLst>
          </p:cNvPr>
          <p:cNvSpPr>
            <a:spLocks noGrp="1"/>
          </p:cNvSpPr>
          <p:nvPr>
            <p:ph type="title"/>
          </p:nvPr>
        </p:nvSpPr>
        <p:spPr/>
        <p:txBody>
          <a:bodyPr>
            <a:normAutofit/>
          </a:bodyPr>
          <a:lstStyle/>
          <a:p>
            <a:r>
              <a:rPr lang="es-ES" sz="4400" b="1">
                <a:solidFill>
                  <a:schemeClr val="bg1"/>
                </a:solidFill>
              </a:rPr>
              <a:t>TIPOS DE TAREAS POR SU ESTADO</a:t>
            </a:r>
            <a:endParaRPr lang="es-ES"/>
          </a:p>
        </p:txBody>
      </p:sp>
      <p:sp>
        <p:nvSpPr>
          <p:cNvPr id="3" name="Marcador de contenido 2">
            <a:extLst>
              <a:ext uri="{FF2B5EF4-FFF2-40B4-BE49-F238E27FC236}">
                <a16:creationId xmlns:a16="http://schemas.microsoft.com/office/drawing/2014/main" id="{1378C4BE-509E-4349-8317-0825519BB4C0}"/>
              </a:ext>
            </a:extLst>
          </p:cNvPr>
          <p:cNvSpPr>
            <a:spLocks noGrp="1"/>
          </p:cNvSpPr>
          <p:nvPr>
            <p:ph type="body" sz="quarter" idx="13"/>
          </p:nvPr>
        </p:nvSpPr>
        <p:spPr>
          <a:xfrm>
            <a:off x="295367" y="825564"/>
            <a:ext cx="10198100" cy="4838700"/>
          </a:xfrm>
        </p:spPr>
        <p:txBody>
          <a:bodyPr/>
          <a:lstStyle/>
          <a:p>
            <a:r>
              <a:rPr lang="es-ES" dirty="0"/>
              <a:t>PENDIENTE		  EN PROGRESO		 TERMINADO</a:t>
            </a:r>
          </a:p>
        </p:txBody>
      </p:sp>
      <p:pic>
        <p:nvPicPr>
          <p:cNvPr id="4" name="Picture 2" descr="Nota, Nota Adhesiva, Papel, Escocés">
            <a:extLst>
              <a:ext uri="{FF2B5EF4-FFF2-40B4-BE49-F238E27FC236}">
                <a16:creationId xmlns:a16="http://schemas.microsoft.com/office/drawing/2014/main" id="{746701E7-A57F-4E26-AA21-EDE07C1B8C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426" y="1182294"/>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ta, Nota Adhesiva, Papel, Escocés">
            <a:extLst>
              <a:ext uri="{FF2B5EF4-FFF2-40B4-BE49-F238E27FC236}">
                <a16:creationId xmlns:a16="http://schemas.microsoft.com/office/drawing/2014/main" id="{AED98058-7F99-41C2-A254-1788ABB612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8980" y="1255753"/>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ota, Nota Adhesiva, Papel, Escocés">
            <a:extLst>
              <a:ext uri="{FF2B5EF4-FFF2-40B4-BE49-F238E27FC236}">
                <a16:creationId xmlns:a16="http://schemas.microsoft.com/office/drawing/2014/main" id="{EB0A78A6-0C46-44A2-8AE0-E58D60C72C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435" y="1956918"/>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Nota, Nota Adhesiva, Papel, Escocés">
            <a:extLst>
              <a:ext uri="{FF2B5EF4-FFF2-40B4-BE49-F238E27FC236}">
                <a16:creationId xmlns:a16="http://schemas.microsoft.com/office/drawing/2014/main" id="{E01CA257-43A8-43CB-B37D-477014E0C2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8963" y="1981294"/>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ota, Nota Adhesiva, Papel, Escocés">
            <a:extLst>
              <a:ext uri="{FF2B5EF4-FFF2-40B4-BE49-F238E27FC236}">
                <a16:creationId xmlns:a16="http://schemas.microsoft.com/office/drawing/2014/main" id="{13CC2B7A-67A4-40B6-84EE-87B89A037B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2888" y="1333370"/>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ota, Nota Adhesiva, Papel, Escocés">
            <a:extLst>
              <a:ext uri="{FF2B5EF4-FFF2-40B4-BE49-F238E27FC236}">
                <a16:creationId xmlns:a16="http://schemas.microsoft.com/office/drawing/2014/main" id="{5253586D-9A67-4D42-81E2-846D8BB6FD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5962" y="1340217"/>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Nota, Nota Adhesiva, Papel, Escocés">
            <a:extLst>
              <a:ext uri="{FF2B5EF4-FFF2-40B4-BE49-F238E27FC236}">
                <a16:creationId xmlns:a16="http://schemas.microsoft.com/office/drawing/2014/main" id="{2401175E-28B0-40E1-A235-6E16E4E4C5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35310" y="1255753"/>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Nota, Nota Adhesiva, Papel, Escocés">
            <a:extLst>
              <a:ext uri="{FF2B5EF4-FFF2-40B4-BE49-F238E27FC236}">
                <a16:creationId xmlns:a16="http://schemas.microsoft.com/office/drawing/2014/main" id="{7A1ECB01-B049-45D5-9D06-44BC59088C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45593" y="1255763"/>
            <a:ext cx="1481529" cy="10612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Nota, Nota Adhesiva, Papel, Escocés">
            <a:extLst>
              <a:ext uri="{FF2B5EF4-FFF2-40B4-BE49-F238E27FC236}">
                <a16:creationId xmlns:a16="http://schemas.microsoft.com/office/drawing/2014/main" id="{1F30A409-E1B8-4852-B262-5E24E3B6AE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0745" y="2151579"/>
            <a:ext cx="1481529" cy="1061227"/>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F5BC3A4B-184D-49E6-89F6-4E53D68158DD}"/>
              </a:ext>
            </a:extLst>
          </p:cNvPr>
          <p:cNvSpPr txBox="1"/>
          <p:nvPr/>
        </p:nvSpPr>
        <p:spPr>
          <a:xfrm>
            <a:off x="179293" y="3469518"/>
            <a:ext cx="6355978" cy="400110"/>
          </a:xfrm>
          <a:prstGeom prst="rect">
            <a:avLst/>
          </a:prstGeom>
          <a:noFill/>
        </p:spPr>
        <p:txBody>
          <a:bodyPr wrap="square" rtlCol="0">
            <a:spAutoFit/>
          </a:bodyPr>
          <a:lstStyle/>
          <a:p>
            <a:r>
              <a:rPr lang="es-ES" sz="2000" b="1" dirty="0"/>
              <a:t>TIPOS DE TAREAS POR SU IMPORTANCIA O URGENCIA</a:t>
            </a:r>
          </a:p>
        </p:txBody>
      </p:sp>
      <p:pic>
        <p:nvPicPr>
          <p:cNvPr id="15" name="Picture 2" descr="Nota, Nota Adhesiva, Papel, Escocés">
            <a:extLst>
              <a:ext uri="{FF2B5EF4-FFF2-40B4-BE49-F238E27FC236}">
                <a16:creationId xmlns:a16="http://schemas.microsoft.com/office/drawing/2014/main" id="{A58F7C33-20ED-4BFC-9DCD-E936A7B308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4588" y="3753823"/>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966126B9-CA70-4EAF-B704-442D8D1561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3529" y="4480494"/>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ota, Nota Adhesiva, Papel, Escocés">
            <a:extLst>
              <a:ext uri="{FF2B5EF4-FFF2-40B4-BE49-F238E27FC236}">
                <a16:creationId xmlns:a16="http://schemas.microsoft.com/office/drawing/2014/main" id="{FEC7D545-C1E0-4599-B9E9-FFE02C880C0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9058" y="5115735"/>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ota, Nota Adhesiva, Papel, Escocés">
            <a:extLst>
              <a:ext uri="{FF2B5EF4-FFF2-40B4-BE49-F238E27FC236}">
                <a16:creationId xmlns:a16="http://schemas.microsoft.com/office/drawing/2014/main" id="{C019862C-FB46-47CD-8E06-D32B4623CE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9058" y="5910470"/>
            <a:ext cx="1481529" cy="108560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6A5262DE-F40E-499C-B959-759DA1C20AB3}"/>
              </a:ext>
            </a:extLst>
          </p:cNvPr>
          <p:cNvSpPr/>
          <p:nvPr/>
        </p:nvSpPr>
        <p:spPr>
          <a:xfrm>
            <a:off x="358588" y="3995595"/>
            <a:ext cx="447059" cy="484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p>
        </p:txBody>
      </p:sp>
      <p:sp>
        <p:nvSpPr>
          <p:cNvPr id="20" name="Rectángulo 19">
            <a:extLst>
              <a:ext uri="{FF2B5EF4-FFF2-40B4-BE49-F238E27FC236}">
                <a16:creationId xmlns:a16="http://schemas.microsoft.com/office/drawing/2014/main" id="{A3F6C895-DDAD-4490-85CD-8CCE60CAA1FA}"/>
              </a:ext>
            </a:extLst>
          </p:cNvPr>
          <p:cNvSpPr/>
          <p:nvPr/>
        </p:nvSpPr>
        <p:spPr>
          <a:xfrm>
            <a:off x="372623" y="4647599"/>
            <a:ext cx="447059" cy="484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p>
        </p:txBody>
      </p:sp>
      <p:sp>
        <p:nvSpPr>
          <p:cNvPr id="21" name="Rectángulo 20">
            <a:extLst>
              <a:ext uri="{FF2B5EF4-FFF2-40B4-BE49-F238E27FC236}">
                <a16:creationId xmlns:a16="http://schemas.microsoft.com/office/drawing/2014/main" id="{30625694-585D-45AE-9E9B-BC156A0ECC89}"/>
              </a:ext>
            </a:extLst>
          </p:cNvPr>
          <p:cNvSpPr/>
          <p:nvPr/>
        </p:nvSpPr>
        <p:spPr>
          <a:xfrm>
            <a:off x="403999" y="5412281"/>
            <a:ext cx="447059" cy="484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p>
        </p:txBody>
      </p:sp>
      <p:sp>
        <p:nvSpPr>
          <p:cNvPr id="22" name="Rectángulo 21">
            <a:extLst>
              <a:ext uri="{FF2B5EF4-FFF2-40B4-BE49-F238E27FC236}">
                <a16:creationId xmlns:a16="http://schemas.microsoft.com/office/drawing/2014/main" id="{D146E521-4E6D-4CDD-911C-8637BC3911AD}"/>
              </a:ext>
            </a:extLst>
          </p:cNvPr>
          <p:cNvSpPr/>
          <p:nvPr/>
        </p:nvSpPr>
        <p:spPr>
          <a:xfrm>
            <a:off x="376517" y="6190252"/>
            <a:ext cx="447059" cy="484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4</a:t>
            </a:r>
          </a:p>
        </p:txBody>
      </p:sp>
      <p:pic>
        <p:nvPicPr>
          <p:cNvPr id="23" name="Imagen 22">
            <a:extLst>
              <a:ext uri="{FF2B5EF4-FFF2-40B4-BE49-F238E27FC236}">
                <a16:creationId xmlns:a16="http://schemas.microsoft.com/office/drawing/2014/main" id="{FBE03662-D228-4666-A5E3-F37AEA3F0942}"/>
              </a:ext>
            </a:extLst>
          </p:cNvPr>
          <p:cNvPicPr>
            <a:picLocks noChangeAspect="1"/>
          </p:cNvPicPr>
          <p:nvPr/>
        </p:nvPicPr>
        <p:blipFill>
          <a:blip r:embed="rId4"/>
          <a:stretch>
            <a:fillRect/>
          </a:stretch>
        </p:blipFill>
        <p:spPr>
          <a:xfrm>
            <a:off x="11143966" y="0"/>
            <a:ext cx="1135131" cy="690282"/>
          </a:xfrm>
          <a:prstGeom prst="rect">
            <a:avLst/>
          </a:prstGeom>
        </p:spPr>
      </p:pic>
    </p:spTree>
    <p:extLst>
      <p:ext uri="{BB962C8B-B14F-4D97-AF65-F5344CB8AC3E}">
        <p14:creationId xmlns:p14="http://schemas.microsoft.com/office/powerpoint/2010/main" val="40392407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25E56C-1989-FDB8-A152-94772D114CE8}"/>
              </a:ext>
            </a:extLst>
          </p:cNvPr>
          <p:cNvSpPr>
            <a:spLocks noGrp="1"/>
          </p:cNvSpPr>
          <p:nvPr>
            <p:ph type="title"/>
          </p:nvPr>
        </p:nvSpPr>
        <p:spPr>
          <a:xfrm>
            <a:off x="-180871" y="0"/>
            <a:ext cx="11796609" cy="870013"/>
          </a:xfrm>
        </p:spPr>
        <p:txBody>
          <a:bodyPr>
            <a:noAutofit/>
          </a:bodyPr>
          <a:lstStyle/>
          <a:p>
            <a:r>
              <a:rPr lang="es-ES" sz="3200"/>
              <a:t>PRODUCTIVIDAD PERSONAL-MÉTODO KANBAN (TAREAS)</a:t>
            </a:r>
            <a:endParaRPr lang="es-ES" sz="3600"/>
          </a:p>
        </p:txBody>
      </p:sp>
      <p:sp>
        <p:nvSpPr>
          <p:cNvPr id="3" name="Marcador de texto 2">
            <a:extLst>
              <a:ext uri="{FF2B5EF4-FFF2-40B4-BE49-F238E27FC236}">
                <a16:creationId xmlns:a16="http://schemas.microsoft.com/office/drawing/2014/main" id="{EF9BD8A8-D90E-D9F8-BB51-A3D337B714B2}"/>
              </a:ext>
            </a:extLst>
          </p:cNvPr>
          <p:cNvSpPr>
            <a:spLocks noGrp="1"/>
          </p:cNvSpPr>
          <p:nvPr>
            <p:ph type="body" sz="quarter" idx="13"/>
          </p:nvPr>
        </p:nvSpPr>
        <p:spPr/>
        <p:txBody>
          <a:bodyPr/>
          <a:lstStyle/>
          <a:p>
            <a:endParaRPr lang="es-ES"/>
          </a:p>
        </p:txBody>
      </p:sp>
      <p:graphicFrame>
        <p:nvGraphicFramePr>
          <p:cNvPr id="4" name="Marcador de contenido 3">
            <a:extLst>
              <a:ext uri="{FF2B5EF4-FFF2-40B4-BE49-F238E27FC236}">
                <a16:creationId xmlns:a16="http://schemas.microsoft.com/office/drawing/2014/main" id="{B0D11597-8403-41AD-B443-A30531FC5847}"/>
              </a:ext>
            </a:extLst>
          </p:cNvPr>
          <p:cNvGraphicFramePr>
            <a:graphicFrameLocks noGrp="1"/>
          </p:cNvGraphicFramePr>
          <p:nvPr>
            <p:ph idx="4294967295"/>
            <p:extLst>
              <p:ext uri="{D42A27DB-BD31-4B8C-83A1-F6EECF244321}">
                <p14:modId xmlns:p14="http://schemas.microsoft.com/office/powerpoint/2010/main" val="2717260582"/>
              </p:ext>
            </p:extLst>
          </p:nvPr>
        </p:nvGraphicFramePr>
        <p:xfrm>
          <a:off x="370542" y="1217863"/>
          <a:ext cx="11501716" cy="5504328"/>
        </p:xfrm>
        <a:graphic>
          <a:graphicData uri="http://schemas.openxmlformats.org/drawingml/2006/table">
            <a:tbl>
              <a:tblPr>
                <a:tableStyleId>{5C22544A-7EE6-4342-B048-85BDC9FD1C3A}</a:tableStyleId>
              </a:tblPr>
              <a:tblGrid>
                <a:gridCol w="2731102">
                  <a:extLst>
                    <a:ext uri="{9D8B030D-6E8A-4147-A177-3AD203B41FA5}">
                      <a16:colId xmlns:a16="http://schemas.microsoft.com/office/drawing/2014/main" val="3223631350"/>
                    </a:ext>
                  </a:extLst>
                </a:gridCol>
                <a:gridCol w="2109388">
                  <a:extLst>
                    <a:ext uri="{9D8B030D-6E8A-4147-A177-3AD203B41FA5}">
                      <a16:colId xmlns:a16="http://schemas.microsoft.com/office/drawing/2014/main" val="2633115296"/>
                    </a:ext>
                  </a:extLst>
                </a:gridCol>
                <a:gridCol w="2375838">
                  <a:extLst>
                    <a:ext uri="{9D8B030D-6E8A-4147-A177-3AD203B41FA5}">
                      <a16:colId xmlns:a16="http://schemas.microsoft.com/office/drawing/2014/main" val="910647537"/>
                    </a:ext>
                  </a:extLst>
                </a:gridCol>
                <a:gridCol w="2153796">
                  <a:extLst>
                    <a:ext uri="{9D8B030D-6E8A-4147-A177-3AD203B41FA5}">
                      <a16:colId xmlns:a16="http://schemas.microsoft.com/office/drawing/2014/main" val="102633513"/>
                    </a:ext>
                  </a:extLst>
                </a:gridCol>
                <a:gridCol w="2131592">
                  <a:extLst>
                    <a:ext uri="{9D8B030D-6E8A-4147-A177-3AD203B41FA5}">
                      <a16:colId xmlns:a16="http://schemas.microsoft.com/office/drawing/2014/main" val="816228464"/>
                    </a:ext>
                  </a:extLst>
                </a:gridCol>
              </a:tblGrid>
              <a:tr h="292782">
                <a:tc>
                  <a:txBody>
                    <a:bodyPr/>
                    <a:lstStyle/>
                    <a:p>
                      <a:pPr algn="l" fontAlgn="b"/>
                      <a:r>
                        <a:rPr lang="es-ES" sz="1100" u="none" strike="noStrike">
                          <a:effectLst/>
                        </a:rPr>
                        <a:t>PENDIENTE</a:t>
                      </a:r>
                      <a:endParaRPr lang="es-E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HOY</a:t>
                      </a:r>
                      <a:endParaRPr lang="es-E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HACIENDO</a:t>
                      </a:r>
                      <a:endParaRPr lang="es-E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LISTO</a:t>
                      </a:r>
                      <a:endParaRPr lang="es-E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s-ES" sz="1100" u="none" strike="noStrike" dirty="0">
                          <a:effectLst/>
                        </a:rPr>
                        <a:t>REVISADO</a:t>
                      </a:r>
                      <a:endParaRPr lang="es-ES" sz="1100" b="1" i="0" u="none" strike="noStrike" dirty="0">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40505167"/>
                  </a:ext>
                </a:extLst>
              </a:tr>
              <a:tr h="614845">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s-ES" sz="1100" u="none" strike="noStrike">
                          <a:effectLst/>
                        </a:rPr>
                        <a:t>TEMA 1: SCRUM</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85102758"/>
                  </a:ext>
                </a:extLst>
              </a:tr>
              <a:tr h="629486">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s-ES" sz="1100" u="none" strike="noStrike">
                          <a:effectLst/>
                        </a:rPr>
                        <a:t>TEMA 2: SCRUM</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3334592"/>
                  </a:ext>
                </a:extLst>
              </a:tr>
              <a:tr h="541649">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s-ES" sz="1100" u="none" strike="noStrike">
                          <a:effectLst/>
                        </a:rPr>
                        <a:t>TEMA 3: SCRUM</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60453311"/>
                  </a:ext>
                </a:extLst>
              </a:tr>
              <a:tr h="644124">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s-ES" sz="1100" u="none" strike="noStrike">
                          <a:effectLst/>
                        </a:rPr>
                        <a:t>TEMA 4: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039560174"/>
                  </a:ext>
                </a:extLst>
              </a:tr>
              <a:tr h="673401">
                <a:tc>
                  <a:txBody>
                    <a:bodyPr/>
                    <a:lstStyle/>
                    <a:p>
                      <a:pPr algn="l" fontAlgn="b"/>
                      <a:endParaRPr lang="es-E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s-ES" sz="1100" u="none" strike="noStrike">
                          <a:effectLst/>
                        </a:rPr>
                        <a:t>TEMA 5: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9384540"/>
                  </a:ext>
                </a:extLst>
              </a:tr>
              <a:tr h="600206">
                <a:tc>
                  <a:txBody>
                    <a:bodyPr/>
                    <a:lstStyle/>
                    <a:p>
                      <a:pPr algn="ctr" fontAlgn="ctr"/>
                      <a:r>
                        <a:rPr lang="es-ES" sz="1100" u="none" strike="noStrike">
                          <a:effectLst/>
                        </a:rPr>
                        <a:t>TEMA 6: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06060509"/>
                  </a:ext>
                </a:extLst>
              </a:tr>
              <a:tr h="453814">
                <a:tc>
                  <a:txBody>
                    <a:bodyPr/>
                    <a:lstStyle/>
                    <a:p>
                      <a:pPr algn="ctr" fontAlgn="ctr"/>
                      <a:r>
                        <a:rPr lang="es-ES" sz="1100" u="none" strike="noStrike">
                          <a:effectLst/>
                        </a:rPr>
                        <a:t>TEMA 7: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2468184"/>
                  </a:ext>
                </a:extLst>
              </a:tr>
              <a:tr h="468454">
                <a:tc>
                  <a:txBody>
                    <a:bodyPr/>
                    <a:lstStyle/>
                    <a:p>
                      <a:pPr algn="ctr" fontAlgn="ctr"/>
                      <a:r>
                        <a:rPr lang="es-ES" sz="1100" u="none" strike="noStrike">
                          <a:effectLst/>
                        </a:rPr>
                        <a:t>TEMA 8: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74952258"/>
                  </a:ext>
                </a:extLst>
              </a:tr>
              <a:tr h="585567">
                <a:tc>
                  <a:txBody>
                    <a:bodyPr/>
                    <a:lstStyle/>
                    <a:p>
                      <a:pPr algn="ctr" fontAlgn="ctr"/>
                      <a:r>
                        <a:rPr lang="es-ES" sz="1100" u="none" strike="noStrike">
                          <a:effectLst/>
                        </a:rPr>
                        <a:t>TEMA 9: SCRUM</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a:effectLst/>
                        </a:rPr>
                        <a:t> </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100" u="none" strike="noStrike" dirty="0">
                          <a:effectLst/>
                        </a:rPr>
                        <a:t> </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65032884"/>
                  </a:ext>
                </a:extLst>
              </a:tr>
            </a:tbl>
          </a:graphicData>
        </a:graphic>
      </p:graphicFrame>
      <p:pic>
        <p:nvPicPr>
          <p:cNvPr id="6" name="Imagen 5">
            <a:extLst>
              <a:ext uri="{FF2B5EF4-FFF2-40B4-BE49-F238E27FC236}">
                <a16:creationId xmlns:a16="http://schemas.microsoft.com/office/drawing/2014/main" id="{467C493D-20C6-4A9C-97C0-CB2FCE3A98C4}"/>
              </a:ext>
            </a:extLst>
          </p:cNvPr>
          <p:cNvPicPr>
            <a:picLocks noChangeAspect="1"/>
          </p:cNvPicPr>
          <p:nvPr/>
        </p:nvPicPr>
        <p:blipFill>
          <a:blip r:embed="rId2"/>
          <a:stretch>
            <a:fillRect/>
          </a:stretch>
        </p:blipFill>
        <p:spPr>
          <a:xfrm>
            <a:off x="11143966" y="0"/>
            <a:ext cx="1135131" cy="690282"/>
          </a:xfrm>
          <a:prstGeom prst="rect">
            <a:avLst/>
          </a:prstGeom>
        </p:spPr>
      </p:pic>
    </p:spTree>
    <p:extLst>
      <p:ext uri="{BB962C8B-B14F-4D97-AF65-F5344CB8AC3E}">
        <p14:creationId xmlns:p14="http://schemas.microsoft.com/office/powerpoint/2010/main" val="165986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79D55640-EBA9-CA68-1751-57BF96885E71}"/>
              </a:ext>
            </a:extLst>
          </p:cNvPr>
          <p:cNvSpPr>
            <a:spLocks noGrp="1"/>
          </p:cNvSpPr>
          <p:nvPr>
            <p:ph type="title"/>
          </p:nvPr>
        </p:nvSpPr>
        <p:spPr/>
        <p:txBody>
          <a:bodyPr>
            <a:normAutofit/>
          </a:bodyPr>
          <a:lstStyle/>
          <a:p>
            <a:r>
              <a:rPr lang="es-ES"/>
              <a:t>Incrementos del producto.</a:t>
            </a:r>
          </a:p>
        </p:txBody>
      </p:sp>
      <p:sp>
        <p:nvSpPr>
          <p:cNvPr id="3" name="Marcador de contenido 2">
            <a:extLst>
              <a:ext uri="{FF2B5EF4-FFF2-40B4-BE49-F238E27FC236}">
                <a16:creationId xmlns:a16="http://schemas.microsoft.com/office/drawing/2014/main" id="{9D7399FA-83E7-4BB2-8D35-67B3B005473A}"/>
              </a:ext>
            </a:extLst>
          </p:cNvPr>
          <p:cNvSpPr>
            <a:spLocks noGrp="1"/>
          </p:cNvSpPr>
          <p:nvPr>
            <p:ph type="body" sz="quarter" idx="13"/>
          </p:nvPr>
        </p:nvSpPr>
        <p:spPr>
          <a:xfrm>
            <a:off x="449594" y="1009650"/>
            <a:ext cx="10198100" cy="4838700"/>
          </a:xfrm>
        </p:spPr>
        <p:txBody>
          <a:bodyPr>
            <a:normAutofit/>
          </a:bodyPr>
          <a:lstStyle/>
          <a:p>
            <a:pPr marL="0" indent="0">
              <a:buNone/>
            </a:pPr>
            <a:endParaRPr lang="es-ES" sz="2000" b="0" i="0" u="none" strike="noStrike" baseline="0" dirty="0">
              <a:solidFill>
                <a:srgbClr val="000000"/>
              </a:solidFill>
              <a:latin typeface="Raleway"/>
            </a:endParaRPr>
          </a:p>
          <a:p>
            <a:r>
              <a:rPr lang="es-ES" sz="2000" b="0" i="0" u="none" strike="noStrike" baseline="0" dirty="0">
                <a:solidFill>
                  <a:srgbClr val="000000"/>
                </a:solidFill>
                <a:latin typeface="Raleway"/>
              </a:rPr>
              <a:t>El incremento de producto es el </a:t>
            </a:r>
            <a:r>
              <a:rPr lang="es-ES" sz="2000" b="1" i="0" u="none" strike="noStrike" baseline="0" dirty="0">
                <a:solidFill>
                  <a:srgbClr val="000000"/>
                </a:solidFill>
                <a:latin typeface="Raleway"/>
              </a:rPr>
              <a:t>resultado de cada Sprint</a:t>
            </a:r>
            <a:r>
              <a:rPr lang="es-ES" sz="2000" b="0" i="0" u="none" strike="noStrike" baseline="0" dirty="0">
                <a:solidFill>
                  <a:srgbClr val="000000"/>
                </a:solidFill>
                <a:latin typeface="Raleway"/>
              </a:rPr>
              <a:t>. Las dos características más importantes que debe reunir este incremento son: </a:t>
            </a:r>
          </a:p>
          <a:p>
            <a:r>
              <a:rPr lang="es-ES" sz="2000" b="0" i="0" u="none" strike="noStrike" baseline="0" dirty="0">
                <a:solidFill>
                  <a:srgbClr val="000000"/>
                </a:solidFill>
                <a:latin typeface="Raleway"/>
              </a:rPr>
              <a:t>Potencialmente se pueda poner en producción. El Manifiesto Ágil lo deja claro, el incremento debe ser </a:t>
            </a:r>
            <a:r>
              <a:rPr lang="es-ES" sz="2000" b="1" i="0" u="none" strike="noStrike" baseline="0" dirty="0">
                <a:solidFill>
                  <a:srgbClr val="000000"/>
                </a:solidFill>
                <a:latin typeface="Raleway"/>
              </a:rPr>
              <a:t>algo funcional</a:t>
            </a:r>
            <a:r>
              <a:rPr lang="es-ES" sz="2000" b="0" i="0" u="none" strike="noStrike" baseline="0" dirty="0">
                <a:solidFill>
                  <a:srgbClr val="000000"/>
                </a:solidFill>
                <a:latin typeface="Raleway"/>
              </a:rPr>
              <a:t>. No sirve entregar algo de cartón piedra que no funcione realmente. No quiere decir que al final de cada Sprint este Incremento se vaya desplegar, pero sí que debería poder hacerse si quisiéramos. </a:t>
            </a:r>
          </a:p>
          <a:p>
            <a:r>
              <a:rPr lang="es-ES" sz="2000" b="0" i="0" u="none" strike="noStrike" baseline="0" dirty="0">
                <a:solidFill>
                  <a:srgbClr val="000000"/>
                </a:solidFill>
                <a:latin typeface="Raleway"/>
              </a:rPr>
              <a:t>Debe </a:t>
            </a:r>
            <a:r>
              <a:rPr lang="es-ES" sz="2000" b="1" i="0" u="none" strike="noStrike" baseline="0" dirty="0">
                <a:solidFill>
                  <a:srgbClr val="000000"/>
                </a:solidFill>
                <a:latin typeface="Raleway"/>
              </a:rPr>
              <a:t>aportar valor a nuestros Clientes </a:t>
            </a:r>
            <a:r>
              <a:rPr lang="es-ES" sz="2000" b="0" i="0" u="none" strike="noStrike" baseline="0" dirty="0">
                <a:solidFill>
                  <a:srgbClr val="000000"/>
                </a:solidFill>
                <a:latin typeface="Raleway"/>
              </a:rPr>
              <a:t>/ Usuarios. No sirve de nada entregar funcionalidad que no cubra las necesidades de nuestros clientes ya que es el objetivo fundamental por el que estamos trabajando. </a:t>
            </a:r>
          </a:p>
          <a:p>
            <a:endParaRPr lang="es-ES" sz="3200" dirty="0"/>
          </a:p>
          <a:p>
            <a:endParaRPr lang="es-ES" sz="3200" dirty="0"/>
          </a:p>
        </p:txBody>
      </p:sp>
      <p:sp>
        <p:nvSpPr>
          <p:cNvPr id="4" name="Rectángulo 3">
            <a:extLst>
              <a:ext uri="{FF2B5EF4-FFF2-40B4-BE49-F238E27FC236}">
                <a16:creationId xmlns:a16="http://schemas.microsoft.com/office/drawing/2014/main" id="{3EFD93B0-B62F-408B-B15B-FB966671DB8D}"/>
              </a:ext>
            </a:extLst>
          </p:cNvPr>
          <p:cNvSpPr/>
          <p:nvPr/>
        </p:nvSpPr>
        <p:spPr>
          <a:xfrm>
            <a:off x="2088779" y="4697506"/>
            <a:ext cx="1541930" cy="6364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sprint</a:t>
            </a:r>
          </a:p>
        </p:txBody>
      </p:sp>
      <p:sp>
        <p:nvSpPr>
          <p:cNvPr id="5" name="Rectángulo 4">
            <a:extLst>
              <a:ext uri="{FF2B5EF4-FFF2-40B4-BE49-F238E27FC236}">
                <a16:creationId xmlns:a16="http://schemas.microsoft.com/office/drawing/2014/main" id="{6E813C10-851D-461E-87D1-015CBB4ACA23}"/>
              </a:ext>
            </a:extLst>
          </p:cNvPr>
          <p:cNvSpPr/>
          <p:nvPr/>
        </p:nvSpPr>
        <p:spPr>
          <a:xfrm>
            <a:off x="4303062" y="4697506"/>
            <a:ext cx="1900516" cy="63649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dirty="0"/>
              <a:t>INCREMENTO DEL PRODUCTO</a:t>
            </a:r>
          </a:p>
        </p:txBody>
      </p:sp>
      <p:sp>
        <p:nvSpPr>
          <p:cNvPr id="6" name="Flecha: a la derecha 5">
            <a:extLst>
              <a:ext uri="{FF2B5EF4-FFF2-40B4-BE49-F238E27FC236}">
                <a16:creationId xmlns:a16="http://schemas.microsoft.com/office/drawing/2014/main" id="{740169C0-1C7C-4B80-A71D-39B69A705390}"/>
              </a:ext>
            </a:extLst>
          </p:cNvPr>
          <p:cNvSpPr/>
          <p:nvPr/>
        </p:nvSpPr>
        <p:spPr>
          <a:xfrm>
            <a:off x="3805522" y="4773437"/>
            <a:ext cx="340659"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7" name="Flecha: a la derecha 6">
            <a:extLst>
              <a:ext uri="{FF2B5EF4-FFF2-40B4-BE49-F238E27FC236}">
                <a16:creationId xmlns:a16="http://schemas.microsoft.com/office/drawing/2014/main" id="{82FD0ECF-8015-4A6E-8F6A-697775C28E57}"/>
              </a:ext>
            </a:extLst>
          </p:cNvPr>
          <p:cNvSpPr/>
          <p:nvPr/>
        </p:nvSpPr>
        <p:spPr>
          <a:xfrm>
            <a:off x="6519586" y="4455190"/>
            <a:ext cx="340659"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8" name="Flecha: a la derecha 7">
            <a:extLst>
              <a:ext uri="{FF2B5EF4-FFF2-40B4-BE49-F238E27FC236}">
                <a16:creationId xmlns:a16="http://schemas.microsoft.com/office/drawing/2014/main" id="{7F05C23F-AC87-43BF-B4E0-D012D7A528B8}"/>
              </a:ext>
            </a:extLst>
          </p:cNvPr>
          <p:cNvSpPr/>
          <p:nvPr/>
        </p:nvSpPr>
        <p:spPr>
          <a:xfrm>
            <a:off x="6519585" y="5015753"/>
            <a:ext cx="340659"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2FCE0CD2-7641-459B-AC9A-1C9737824EB0}"/>
              </a:ext>
            </a:extLst>
          </p:cNvPr>
          <p:cNvSpPr/>
          <p:nvPr/>
        </p:nvSpPr>
        <p:spPr>
          <a:xfrm>
            <a:off x="7035057" y="4527984"/>
            <a:ext cx="2135839" cy="9724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342900" indent="-342900">
              <a:buAutoNum type="arabicPeriod"/>
            </a:pPr>
            <a:r>
              <a:rPr lang="es-ES" dirty="0"/>
              <a:t>Aportar valor</a:t>
            </a:r>
          </a:p>
          <a:p>
            <a:pPr marL="342900" indent="-342900">
              <a:buAutoNum type="arabicPeriod"/>
            </a:pPr>
            <a:r>
              <a:rPr lang="es-ES" dirty="0"/>
              <a:t>Algo funcional</a:t>
            </a:r>
          </a:p>
        </p:txBody>
      </p:sp>
      <p:pic>
        <p:nvPicPr>
          <p:cNvPr id="10" name="Imagen 9">
            <a:extLst>
              <a:ext uri="{FF2B5EF4-FFF2-40B4-BE49-F238E27FC236}">
                <a16:creationId xmlns:a16="http://schemas.microsoft.com/office/drawing/2014/main" id="{63B88EEA-1BAB-4251-87A6-76E6056F618D}"/>
              </a:ext>
            </a:extLst>
          </p:cNvPr>
          <p:cNvPicPr>
            <a:picLocks noChangeAspect="1"/>
          </p:cNvPicPr>
          <p:nvPr/>
        </p:nvPicPr>
        <p:blipFill>
          <a:blip r:embed="rId2"/>
          <a:stretch>
            <a:fillRect/>
          </a:stretch>
        </p:blipFill>
        <p:spPr>
          <a:xfrm>
            <a:off x="11143966" y="0"/>
            <a:ext cx="1135131" cy="690282"/>
          </a:xfrm>
          <a:prstGeom prst="rect">
            <a:avLst/>
          </a:prstGeom>
        </p:spPr>
      </p:pic>
    </p:spTree>
    <p:extLst>
      <p:ext uri="{BB962C8B-B14F-4D97-AF65-F5344CB8AC3E}">
        <p14:creationId xmlns:p14="http://schemas.microsoft.com/office/powerpoint/2010/main" val="4062351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41F25-64CE-477A-AA38-0A18FC4E0876}"/>
              </a:ext>
            </a:extLst>
          </p:cNvPr>
          <p:cNvSpPr>
            <a:spLocks noGrp="1"/>
          </p:cNvSpPr>
          <p:nvPr>
            <p:ph type="title"/>
          </p:nvPr>
        </p:nvSpPr>
        <p:spPr/>
        <p:txBody>
          <a:bodyPr>
            <a:noAutofit/>
          </a:bodyPr>
          <a:lstStyle/>
          <a:p>
            <a:r>
              <a:rPr lang="es-ES" sz="3200" b="1" dirty="0"/>
              <a:t>Estructura de un PRODUCT backlog</a:t>
            </a:r>
          </a:p>
        </p:txBody>
      </p:sp>
      <p:sp>
        <p:nvSpPr>
          <p:cNvPr id="3" name="Marcador de texto 2">
            <a:extLst>
              <a:ext uri="{FF2B5EF4-FFF2-40B4-BE49-F238E27FC236}">
                <a16:creationId xmlns:a16="http://schemas.microsoft.com/office/drawing/2014/main" id="{6B3836CC-9637-F8FC-A818-C5117D6C95AE}"/>
              </a:ext>
            </a:extLst>
          </p:cNvPr>
          <p:cNvSpPr>
            <a:spLocks noGrp="1"/>
          </p:cNvSpPr>
          <p:nvPr>
            <p:ph type="body" sz="quarter" idx="13"/>
          </p:nvPr>
        </p:nvSpPr>
        <p:spPr/>
        <p:txBody>
          <a:bodyPr/>
          <a:lstStyle/>
          <a:p>
            <a:endParaRPr lang="es-ES"/>
          </a:p>
        </p:txBody>
      </p:sp>
      <p:sp>
        <p:nvSpPr>
          <p:cNvPr id="4" name="Rectángulo 3">
            <a:extLst>
              <a:ext uri="{FF2B5EF4-FFF2-40B4-BE49-F238E27FC236}">
                <a16:creationId xmlns:a16="http://schemas.microsoft.com/office/drawing/2014/main" id="{DB0E4285-B974-45A4-9AC2-3103EFB919BB}"/>
              </a:ext>
            </a:extLst>
          </p:cNvPr>
          <p:cNvSpPr/>
          <p:nvPr/>
        </p:nvSpPr>
        <p:spPr>
          <a:xfrm>
            <a:off x="1066799" y="949990"/>
            <a:ext cx="2070847" cy="7709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Épicas</a:t>
            </a:r>
          </a:p>
        </p:txBody>
      </p:sp>
      <p:sp>
        <p:nvSpPr>
          <p:cNvPr id="5" name="Rectángulo 4">
            <a:extLst>
              <a:ext uri="{FF2B5EF4-FFF2-40B4-BE49-F238E27FC236}">
                <a16:creationId xmlns:a16="http://schemas.microsoft.com/office/drawing/2014/main" id="{A78EC8A6-92AE-4E98-AAA8-3C656693CDAD}"/>
              </a:ext>
            </a:extLst>
          </p:cNvPr>
          <p:cNvSpPr/>
          <p:nvPr/>
        </p:nvSpPr>
        <p:spPr>
          <a:xfrm>
            <a:off x="1066799" y="3200960"/>
            <a:ext cx="2070847" cy="7709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temas</a:t>
            </a:r>
          </a:p>
        </p:txBody>
      </p:sp>
      <p:sp>
        <p:nvSpPr>
          <p:cNvPr id="6" name="Rectángulo 5">
            <a:extLst>
              <a:ext uri="{FF2B5EF4-FFF2-40B4-BE49-F238E27FC236}">
                <a16:creationId xmlns:a16="http://schemas.microsoft.com/office/drawing/2014/main" id="{799EF405-8876-4027-AB47-7CD8401C36CF}"/>
              </a:ext>
            </a:extLst>
          </p:cNvPr>
          <p:cNvSpPr/>
          <p:nvPr/>
        </p:nvSpPr>
        <p:spPr>
          <a:xfrm>
            <a:off x="1066800" y="2071127"/>
            <a:ext cx="2070847" cy="7709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Historias de usuario </a:t>
            </a:r>
            <a:r>
              <a:rPr lang="es-ES" sz="2400" baseline="30000" dirty="0"/>
              <a:t>1</a:t>
            </a:r>
          </a:p>
        </p:txBody>
      </p:sp>
      <p:sp>
        <p:nvSpPr>
          <p:cNvPr id="7" name="Flecha: a la derecha 6">
            <a:extLst>
              <a:ext uri="{FF2B5EF4-FFF2-40B4-BE49-F238E27FC236}">
                <a16:creationId xmlns:a16="http://schemas.microsoft.com/office/drawing/2014/main" id="{A617BAD5-9C91-4407-B7EE-2887AB53FC62}"/>
              </a:ext>
            </a:extLst>
          </p:cNvPr>
          <p:cNvSpPr/>
          <p:nvPr/>
        </p:nvSpPr>
        <p:spPr>
          <a:xfrm>
            <a:off x="3558988" y="1003778"/>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9" name="Flecha: a la derecha 8">
            <a:extLst>
              <a:ext uri="{FF2B5EF4-FFF2-40B4-BE49-F238E27FC236}">
                <a16:creationId xmlns:a16="http://schemas.microsoft.com/office/drawing/2014/main" id="{61F03670-351A-4EBC-B1D4-E7812B068395}"/>
              </a:ext>
            </a:extLst>
          </p:cNvPr>
          <p:cNvSpPr/>
          <p:nvPr/>
        </p:nvSpPr>
        <p:spPr>
          <a:xfrm>
            <a:off x="3558988" y="3344126"/>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0" name="Flecha: a la derecha 9">
            <a:extLst>
              <a:ext uri="{FF2B5EF4-FFF2-40B4-BE49-F238E27FC236}">
                <a16:creationId xmlns:a16="http://schemas.microsoft.com/office/drawing/2014/main" id="{ACF58DAB-B10E-4507-B952-3BCC604A36F3}"/>
              </a:ext>
            </a:extLst>
          </p:cNvPr>
          <p:cNvSpPr/>
          <p:nvPr/>
        </p:nvSpPr>
        <p:spPr>
          <a:xfrm>
            <a:off x="3558988" y="2223527"/>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71D8CB72-13A8-42EE-9AF7-002DA745541B}"/>
              </a:ext>
            </a:extLst>
          </p:cNvPr>
          <p:cNvSpPr/>
          <p:nvPr/>
        </p:nvSpPr>
        <p:spPr>
          <a:xfrm>
            <a:off x="4805081" y="936811"/>
            <a:ext cx="7225554" cy="7709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sz="2000" b="0" i="0" dirty="0">
                <a:solidFill>
                  <a:srgbClr val="202124"/>
                </a:solidFill>
                <a:effectLst/>
                <a:latin typeface="arial" panose="020B0604020202020204" pitchFamily="34" charset="0"/>
              </a:rPr>
              <a:t>Una historia de usuario que por su gran tamaño, el equipo descompone en historias con un tamaño más adecuado</a:t>
            </a:r>
            <a:endParaRPr lang="es-ES" sz="2000" dirty="0">
              <a:solidFill>
                <a:schemeClr val="tx1"/>
              </a:solidFill>
            </a:endParaRPr>
          </a:p>
        </p:txBody>
      </p:sp>
      <p:sp>
        <p:nvSpPr>
          <p:cNvPr id="12" name="Rectángulo 11">
            <a:extLst>
              <a:ext uri="{FF2B5EF4-FFF2-40B4-BE49-F238E27FC236}">
                <a16:creationId xmlns:a16="http://schemas.microsoft.com/office/drawing/2014/main" id="{27BF79B4-FD7F-46C0-B86F-52D2FCFDF331}"/>
              </a:ext>
            </a:extLst>
          </p:cNvPr>
          <p:cNvSpPr/>
          <p:nvPr/>
        </p:nvSpPr>
        <p:spPr>
          <a:xfrm>
            <a:off x="4805082" y="2055532"/>
            <a:ext cx="7153836" cy="7709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sz="2400" dirty="0">
                <a:solidFill>
                  <a:schemeClr val="tx1"/>
                </a:solidFill>
              </a:rPr>
              <a:t>Importante implementarlas</a:t>
            </a:r>
          </a:p>
        </p:txBody>
      </p:sp>
      <p:sp>
        <p:nvSpPr>
          <p:cNvPr id="13" name="Rectángulo 12">
            <a:extLst>
              <a:ext uri="{FF2B5EF4-FFF2-40B4-BE49-F238E27FC236}">
                <a16:creationId xmlns:a16="http://schemas.microsoft.com/office/drawing/2014/main" id="{F0F38A22-825C-4887-B1D7-FA2B96191C3E}"/>
              </a:ext>
            </a:extLst>
          </p:cNvPr>
          <p:cNvSpPr/>
          <p:nvPr/>
        </p:nvSpPr>
        <p:spPr>
          <a:xfrm>
            <a:off x="4805081" y="3174253"/>
            <a:ext cx="7153835" cy="7709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sz="2400" dirty="0">
                <a:solidFill>
                  <a:schemeClr val="tx1"/>
                </a:solidFill>
              </a:rPr>
              <a:t>Forma de etiquetar varias historias</a:t>
            </a:r>
          </a:p>
        </p:txBody>
      </p:sp>
      <p:sp>
        <p:nvSpPr>
          <p:cNvPr id="18" name="CuadroTexto 17">
            <a:extLst>
              <a:ext uri="{FF2B5EF4-FFF2-40B4-BE49-F238E27FC236}">
                <a16:creationId xmlns:a16="http://schemas.microsoft.com/office/drawing/2014/main" id="{38D1595A-66EF-4810-867F-A3C16D3E7658}"/>
              </a:ext>
            </a:extLst>
          </p:cNvPr>
          <p:cNvSpPr txBox="1"/>
          <p:nvPr/>
        </p:nvSpPr>
        <p:spPr>
          <a:xfrm>
            <a:off x="576086" y="4167992"/>
            <a:ext cx="4693024" cy="2585323"/>
          </a:xfrm>
          <a:prstGeom prst="rect">
            <a:avLst/>
          </a:prstGeom>
          <a:noFill/>
        </p:spPr>
        <p:txBody>
          <a:bodyPr wrap="square">
            <a:spAutoFit/>
          </a:bodyPr>
          <a:lstStyle/>
          <a:p>
            <a:r>
              <a:rPr lang="es-ES" b="1" i="0" dirty="0">
                <a:solidFill>
                  <a:srgbClr val="202124"/>
                </a:solidFill>
                <a:effectLst/>
                <a:latin typeface="arial" panose="020B0604020202020204" pitchFamily="34" charset="0"/>
              </a:rPr>
              <a:t>¿Quién escribe historias de usuario? </a:t>
            </a:r>
          </a:p>
          <a:p>
            <a:endParaRPr lang="es-ES" b="1" i="0" dirty="0">
              <a:solidFill>
                <a:srgbClr val="202124"/>
              </a:solidFill>
              <a:effectLst/>
              <a:latin typeface="arial" panose="020B0604020202020204" pitchFamily="34" charset="0"/>
            </a:endParaRPr>
          </a:p>
          <a:p>
            <a:pPr marL="0" indent="0">
              <a:buNone/>
            </a:pPr>
            <a:r>
              <a:rPr lang="es-ES" b="0" i="0" dirty="0">
                <a:solidFill>
                  <a:srgbClr val="202124"/>
                </a:solidFill>
                <a:effectLst/>
                <a:latin typeface="arial" panose="020B0604020202020204" pitchFamily="34" charset="0"/>
              </a:rPr>
              <a:t>Cualquiera puede escribir historias de usuario. Es responsabilidad del </a:t>
            </a:r>
            <a:r>
              <a:rPr lang="es-ES" b="0" i="0" dirty="0" err="1">
                <a:solidFill>
                  <a:srgbClr val="202124"/>
                </a:solidFill>
                <a:effectLst/>
                <a:latin typeface="arial" panose="020B0604020202020204" pitchFamily="34" charset="0"/>
              </a:rPr>
              <a:t>Product</a:t>
            </a:r>
            <a:r>
              <a:rPr lang="es-ES" b="0" i="0" dirty="0">
                <a:solidFill>
                  <a:srgbClr val="202124"/>
                </a:solidFill>
                <a:effectLst/>
                <a:latin typeface="arial" panose="020B0604020202020204" pitchFamily="34" charset="0"/>
              </a:rPr>
              <a:t> </a:t>
            </a:r>
            <a:r>
              <a:rPr lang="es-ES" b="0" i="0" dirty="0" err="1">
                <a:solidFill>
                  <a:srgbClr val="202124"/>
                </a:solidFill>
                <a:effectLst/>
                <a:latin typeface="arial" panose="020B0604020202020204" pitchFamily="34" charset="0"/>
              </a:rPr>
              <a:t>Owner</a:t>
            </a:r>
            <a:r>
              <a:rPr lang="es-ES" b="0" i="0" dirty="0">
                <a:solidFill>
                  <a:srgbClr val="202124"/>
                </a:solidFill>
                <a:effectLst/>
                <a:latin typeface="arial" panose="020B0604020202020204" pitchFamily="34" charset="0"/>
              </a:rPr>
              <a:t> asegurarse de que exista una </a:t>
            </a:r>
            <a:r>
              <a:rPr lang="es-ES" b="0" i="0" dirty="0" err="1">
                <a:solidFill>
                  <a:srgbClr val="202124"/>
                </a:solidFill>
                <a:effectLst/>
                <a:latin typeface="arial" panose="020B0604020202020204" pitchFamily="34" charset="0"/>
              </a:rPr>
              <a:t>Product</a:t>
            </a:r>
            <a:r>
              <a:rPr lang="es-ES" b="0" i="0" dirty="0">
                <a:solidFill>
                  <a:srgbClr val="202124"/>
                </a:solidFill>
                <a:effectLst/>
                <a:latin typeface="arial" panose="020B0604020202020204" pitchFamily="34" charset="0"/>
              </a:rPr>
              <a:t> Backlog actualizado y priorizado de historias de usuario ágiles, pero eso no significa que el </a:t>
            </a:r>
            <a:r>
              <a:rPr lang="es-ES" b="0" i="0" dirty="0" err="1">
                <a:solidFill>
                  <a:srgbClr val="202124"/>
                </a:solidFill>
                <a:effectLst/>
                <a:latin typeface="arial" panose="020B0604020202020204" pitchFamily="34" charset="0"/>
              </a:rPr>
              <a:t>Product</a:t>
            </a:r>
            <a:r>
              <a:rPr lang="es-ES" b="0" i="0" dirty="0">
                <a:solidFill>
                  <a:srgbClr val="202124"/>
                </a:solidFill>
                <a:effectLst/>
                <a:latin typeface="arial" panose="020B0604020202020204" pitchFamily="34" charset="0"/>
              </a:rPr>
              <a:t> </a:t>
            </a:r>
            <a:r>
              <a:rPr lang="es-ES" b="0" i="0" dirty="0" err="1">
                <a:solidFill>
                  <a:srgbClr val="202124"/>
                </a:solidFill>
                <a:effectLst/>
                <a:latin typeface="arial" panose="020B0604020202020204" pitchFamily="34" charset="0"/>
              </a:rPr>
              <a:t>Owner</a:t>
            </a:r>
            <a:r>
              <a:rPr lang="es-ES" b="0" i="0" dirty="0">
                <a:solidFill>
                  <a:srgbClr val="202124"/>
                </a:solidFill>
                <a:effectLst/>
                <a:latin typeface="arial" panose="020B0604020202020204" pitchFamily="34" charset="0"/>
              </a:rPr>
              <a:t> es quien los escribe.</a:t>
            </a:r>
          </a:p>
        </p:txBody>
      </p:sp>
      <p:pic>
        <p:nvPicPr>
          <p:cNvPr id="19" name="Picture 2" descr="Nota, Nota Adhesiva, Papel, Escocés">
            <a:extLst>
              <a:ext uri="{FF2B5EF4-FFF2-40B4-BE49-F238E27FC236}">
                <a16:creationId xmlns:a16="http://schemas.microsoft.com/office/drawing/2014/main" id="{5A21A821-A1CE-4224-8757-8A2B5DD4D9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59838" y="5772397"/>
            <a:ext cx="1481528" cy="1085603"/>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n 19">
            <a:extLst>
              <a:ext uri="{FF2B5EF4-FFF2-40B4-BE49-F238E27FC236}">
                <a16:creationId xmlns:a16="http://schemas.microsoft.com/office/drawing/2014/main" id="{F78C62ED-F2D3-41CB-B0F6-5CDF47552FC3}"/>
              </a:ext>
            </a:extLst>
          </p:cNvPr>
          <p:cNvPicPr>
            <a:picLocks noChangeAspect="1"/>
          </p:cNvPicPr>
          <p:nvPr/>
        </p:nvPicPr>
        <p:blipFill>
          <a:blip r:embed="rId3"/>
          <a:stretch>
            <a:fillRect/>
          </a:stretch>
        </p:blipFill>
        <p:spPr>
          <a:xfrm>
            <a:off x="11185163" y="-11346"/>
            <a:ext cx="1135131" cy="690282"/>
          </a:xfrm>
          <a:prstGeom prst="rect">
            <a:avLst/>
          </a:prstGeom>
        </p:spPr>
      </p:pic>
      <p:sp>
        <p:nvSpPr>
          <p:cNvPr id="21" name="CuadroTexto 20">
            <a:extLst>
              <a:ext uri="{FF2B5EF4-FFF2-40B4-BE49-F238E27FC236}">
                <a16:creationId xmlns:a16="http://schemas.microsoft.com/office/drawing/2014/main" id="{9052B99E-24C3-4F0E-8B53-4B86AAADBEE8}"/>
              </a:ext>
            </a:extLst>
          </p:cNvPr>
          <p:cNvSpPr txBox="1"/>
          <p:nvPr/>
        </p:nvSpPr>
        <p:spPr>
          <a:xfrm>
            <a:off x="5269110" y="5904313"/>
            <a:ext cx="1117614" cy="646331"/>
          </a:xfrm>
          <a:prstGeom prst="rect">
            <a:avLst/>
          </a:prstGeom>
          <a:noFill/>
        </p:spPr>
        <p:txBody>
          <a:bodyPr wrap="none" rtlCol="0">
            <a:spAutoFit/>
          </a:bodyPr>
          <a:lstStyle/>
          <a:p>
            <a:r>
              <a:rPr lang="es-ES" dirty="0">
                <a:latin typeface="Brush Script Std" panose="03060802040607070404" pitchFamily="66" charset="0"/>
              </a:rPr>
              <a:t>Historias </a:t>
            </a:r>
          </a:p>
          <a:p>
            <a:r>
              <a:rPr lang="es-ES" dirty="0">
                <a:latin typeface="Brush Script Std" panose="03060802040607070404" pitchFamily="66" charset="0"/>
              </a:rPr>
              <a:t>de usuario</a:t>
            </a:r>
          </a:p>
        </p:txBody>
      </p:sp>
      <p:sp>
        <p:nvSpPr>
          <p:cNvPr id="23" name="CuadroTexto 22">
            <a:extLst>
              <a:ext uri="{FF2B5EF4-FFF2-40B4-BE49-F238E27FC236}">
                <a16:creationId xmlns:a16="http://schemas.microsoft.com/office/drawing/2014/main" id="{88854620-AF38-4D84-8FCC-D0358FD6E8B4}"/>
              </a:ext>
            </a:extLst>
          </p:cNvPr>
          <p:cNvSpPr txBox="1"/>
          <p:nvPr/>
        </p:nvSpPr>
        <p:spPr>
          <a:xfrm>
            <a:off x="6033248" y="4108741"/>
            <a:ext cx="6158752" cy="1722908"/>
          </a:xfrm>
          <a:prstGeom prst="rect">
            <a:avLst/>
          </a:prstGeom>
          <a:noFill/>
        </p:spPr>
        <p:txBody>
          <a:bodyPr wrap="square">
            <a:spAutoFit/>
          </a:bodyPr>
          <a:lstStyle/>
          <a:p>
            <a:pPr marL="0" indent="0">
              <a:lnSpc>
                <a:spcPct val="120000"/>
              </a:lnSpc>
              <a:buNone/>
            </a:pPr>
            <a:r>
              <a:rPr lang="es-ES" sz="1800" b="0" i="0" dirty="0">
                <a:solidFill>
                  <a:srgbClr val="202124"/>
                </a:solidFill>
                <a:effectLst/>
                <a:latin typeface="arial" panose="020B0604020202020204" pitchFamily="34" charset="0"/>
              </a:rPr>
              <a:t>En </a:t>
            </a:r>
            <a:r>
              <a:rPr lang="es-ES" sz="1800" b="1" i="0" dirty="0">
                <a:solidFill>
                  <a:srgbClr val="202124"/>
                </a:solidFill>
                <a:effectLst/>
                <a:latin typeface="arial" panose="020B0604020202020204" pitchFamily="34" charset="0"/>
              </a:rPr>
              <a:t>Scrum</a:t>
            </a:r>
            <a:r>
              <a:rPr lang="es-ES" sz="1800" b="0" i="0" dirty="0">
                <a:solidFill>
                  <a:srgbClr val="202124"/>
                </a:solidFill>
                <a:effectLst/>
                <a:latin typeface="arial" panose="020B0604020202020204" pitchFamily="34" charset="0"/>
              </a:rPr>
              <a:t>, a cada uno de los elementos del </a:t>
            </a:r>
            <a:r>
              <a:rPr lang="es-ES" sz="1800" b="0" i="0" dirty="0" err="1">
                <a:solidFill>
                  <a:srgbClr val="202124"/>
                </a:solidFill>
                <a:effectLst/>
                <a:latin typeface="arial" panose="020B0604020202020204" pitchFamily="34" charset="0"/>
              </a:rPr>
              <a:t>Product</a:t>
            </a:r>
            <a:r>
              <a:rPr lang="es-ES" sz="1800" b="0" i="0" dirty="0">
                <a:solidFill>
                  <a:srgbClr val="202124"/>
                </a:solidFill>
                <a:effectLst/>
                <a:latin typeface="arial" panose="020B0604020202020204" pitchFamily="34" charset="0"/>
              </a:rPr>
              <a:t> Backlog se le conoce como “</a:t>
            </a:r>
            <a:r>
              <a:rPr lang="es-ES" sz="1800" b="0" i="0" dirty="0" err="1">
                <a:solidFill>
                  <a:srgbClr val="202124"/>
                </a:solidFill>
                <a:effectLst/>
                <a:latin typeface="arial" panose="020B0604020202020204" pitchFamily="34" charset="0"/>
              </a:rPr>
              <a:t>Product</a:t>
            </a:r>
            <a:r>
              <a:rPr lang="es-ES" sz="1800" b="0" i="0" dirty="0">
                <a:solidFill>
                  <a:srgbClr val="202124"/>
                </a:solidFill>
                <a:effectLst/>
                <a:latin typeface="arial" panose="020B0604020202020204" pitchFamily="34" charset="0"/>
              </a:rPr>
              <a:t> Backlog </a:t>
            </a:r>
            <a:r>
              <a:rPr lang="es-ES" sz="1800" b="0" i="0" dirty="0" err="1">
                <a:solidFill>
                  <a:srgbClr val="202124"/>
                </a:solidFill>
                <a:effectLst/>
                <a:latin typeface="arial" panose="020B0604020202020204" pitchFamily="34" charset="0"/>
              </a:rPr>
              <a:t>Item</a:t>
            </a:r>
            <a:r>
              <a:rPr lang="es-ES" sz="1800" b="0" i="0" dirty="0">
                <a:solidFill>
                  <a:srgbClr val="202124"/>
                </a:solidFill>
                <a:effectLst/>
                <a:latin typeface="arial" panose="020B0604020202020204" pitchFamily="34" charset="0"/>
              </a:rPr>
              <a:t>”, o de forma abreviada: PBIS </a:t>
            </a:r>
            <a:r>
              <a:rPr lang="es-ES" sz="1800" b="1" i="0" dirty="0">
                <a:solidFill>
                  <a:srgbClr val="202124"/>
                </a:solidFill>
                <a:effectLst/>
                <a:latin typeface="arial" panose="020B0604020202020204" pitchFamily="34" charset="0"/>
              </a:rPr>
              <a:t>Scrum</a:t>
            </a:r>
            <a:r>
              <a:rPr lang="es-ES" sz="1800" b="0" i="0" dirty="0">
                <a:solidFill>
                  <a:srgbClr val="202124"/>
                </a:solidFill>
                <a:effectLst/>
                <a:latin typeface="arial" panose="020B0604020202020204" pitchFamily="34" charset="0"/>
              </a:rPr>
              <a:t>. Estos elementos son en conjunto: funcionalidades, requisitos de cambio, mejoras y corrección de errores</a:t>
            </a:r>
            <a:endParaRPr lang="es-ES" sz="2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544130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354802A1-69DD-3EDC-3CB1-B028519A39C0}"/>
              </a:ext>
            </a:extLst>
          </p:cNvPr>
          <p:cNvSpPr>
            <a:spLocks noGrp="1"/>
          </p:cNvSpPr>
          <p:nvPr>
            <p:ph type="title"/>
          </p:nvPr>
        </p:nvSpPr>
        <p:spPr/>
        <p:txBody>
          <a:bodyPr>
            <a:normAutofit/>
          </a:bodyPr>
          <a:lstStyle/>
          <a:p>
            <a:r>
              <a:rPr lang="es-ES" sz="4400" b="1">
                <a:latin typeface="Verdana" panose="020B0604030504040204" pitchFamily="34" charset="0"/>
                <a:ea typeface="Verdana" panose="020B0604030504040204" pitchFamily="34" charset="0"/>
              </a:rPr>
              <a:t>pila de productos (sprint backlog)</a:t>
            </a:r>
            <a:endParaRPr lang="es-ES"/>
          </a:p>
        </p:txBody>
      </p:sp>
      <p:sp>
        <p:nvSpPr>
          <p:cNvPr id="3" name="Marcador de contenido 2">
            <a:extLst>
              <a:ext uri="{FF2B5EF4-FFF2-40B4-BE49-F238E27FC236}">
                <a16:creationId xmlns:a16="http://schemas.microsoft.com/office/drawing/2014/main" id="{88CA834C-6EF2-439E-B594-41CD70E34BB7}"/>
              </a:ext>
            </a:extLst>
          </p:cNvPr>
          <p:cNvSpPr>
            <a:spLocks noGrp="1"/>
          </p:cNvSpPr>
          <p:nvPr>
            <p:ph type="body" sz="quarter" idx="13"/>
          </p:nvPr>
        </p:nvSpPr>
        <p:spPr>
          <a:xfrm>
            <a:off x="339062" y="916404"/>
            <a:ext cx="11548138" cy="4838700"/>
          </a:xfrm>
        </p:spPr>
        <p:txBody>
          <a:bodyPr>
            <a:noAutofit/>
          </a:bodyPr>
          <a:lstStyle/>
          <a:p>
            <a:pPr marL="0" indent="0">
              <a:lnSpc>
                <a:spcPct val="120000"/>
              </a:lnSpc>
              <a:buNone/>
            </a:pPr>
            <a:r>
              <a:rPr lang="es-ES" sz="1600">
                <a:latin typeface="Verdana" panose="020B0604030504040204" pitchFamily="34" charset="0"/>
                <a:ea typeface="Verdana" panose="020B0604030504040204" pitchFamily="34" charset="0"/>
              </a:rPr>
              <a:t>Es </a:t>
            </a:r>
            <a:r>
              <a:rPr lang="es-ES" sz="1600" dirty="0">
                <a:latin typeface="Verdana" panose="020B0604030504040204" pitchFamily="34" charset="0"/>
                <a:ea typeface="Verdana" panose="020B0604030504040204" pitchFamily="34" charset="0"/>
              </a:rPr>
              <a:t>un listado de todas las tareas que se pretenden hacer durante el desarrollo de un proyecto. Todas las tareas deben listarse en el </a:t>
            </a:r>
            <a:r>
              <a:rPr lang="es-ES" sz="1600" dirty="0" err="1">
                <a:latin typeface="Verdana" panose="020B0604030504040204" pitchFamily="34" charset="0"/>
                <a:ea typeface="Verdana" panose="020B0604030504040204" pitchFamily="34" charset="0"/>
              </a:rPr>
              <a:t>product</a:t>
            </a:r>
            <a:r>
              <a:rPr lang="es-ES" sz="1600" dirty="0">
                <a:latin typeface="Verdana" panose="020B0604030504040204" pitchFamily="34" charset="0"/>
                <a:ea typeface="Verdana" panose="020B0604030504040204" pitchFamily="34" charset="0"/>
              </a:rPr>
              <a:t> backlog, para que estén visibles ante todo el equipo y se pueda tener una visión panorámica de todo lo que se espera realizar:</a:t>
            </a:r>
          </a:p>
          <a:p>
            <a:pPr marL="0" indent="0">
              <a:lnSpc>
                <a:spcPct val="120000"/>
              </a:lnSpc>
              <a:buNone/>
            </a:pPr>
            <a:endParaRPr lang="es-ES" sz="1400"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43F3949A-486C-41C4-9558-F52AEC9181F0}"/>
              </a:ext>
            </a:extLst>
          </p:cNvPr>
          <p:cNvPicPr>
            <a:picLocks noChangeAspect="1"/>
          </p:cNvPicPr>
          <p:nvPr/>
        </p:nvPicPr>
        <p:blipFill>
          <a:blip r:embed="rId3"/>
          <a:stretch>
            <a:fillRect/>
          </a:stretch>
        </p:blipFill>
        <p:spPr>
          <a:xfrm>
            <a:off x="11492753" y="-46391"/>
            <a:ext cx="885825" cy="538677"/>
          </a:xfrm>
          <a:prstGeom prst="rect">
            <a:avLst/>
          </a:prstGeom>
        </p:spPr>
      </p:pic>
      <p:sp>
        <p:nvSpPr>
          <p:cNvPr id="2" name="Rectángulo 1">
            <a:extLst>
              <a:ext uri="{FF2B5EF4-FFF2-40B4-BE49-F238E27FC236}">
                <a16:creationId xmlns:a16="http://schemas.microsoft.com/office/drawing/2014/main" id="{BA75DD7E-0F28-43F3-A3A5-44B1A1E9D15A}"/>
              </a:ext>
            </a:extLst>
          </p:cNvPr>
          <p:cNvSpPr/>
          <p:nvPr/>
        </p:nvSpPr>
        <p:spPr>
          <a:xfrm>
            <a:off x="999886" y="2114193"/>
            <a:ext cx="1748118" cy="672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HISTORIAS</a:t>
            </a:r>
          </a:p>
        </p:txBody>
      </p:sp>
      <p:sp>
        <p:nvSpPr>
          <p:cNvPr id="5" name="Rectángulo 4">
            <a:extLst>
              <a:ext uri="{FF2B5EF4-FFF2-40B4-BE49-F238E27FC236}">
                <a16:creationId xmlns:a16="http://schemas.microsoft.com/office/drawing/2014/main" id="{21496D88-FFFA-4AE2-A7E8-1258BAEEAA06}"/>
              </a:ext>
            </a:extLst>
          </p:cNvPr>
          <p:cNvSpPr/>
          <p:nvPr/>
        </p:nvSpPr>
        <p:spPr>
          <a:xfrm>
            <a:off x="6463604" y="2114193"/>
            <a:ext cx="2129116" cy="54684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ES" sz="2000" dirty="0"/>
              <a:t>TAREAS o </a:t>
            </a:r>
            <a:r>
              <a:rPr lang="es-ES" sz="2000" dirty="0" err="1"/>
              <a:t>PBIs</a:t>
            </a:r>
            <a:endParaRPr lang="es-ES" sz="2000" baseline="30000" dirty="0"/>
          </a:p>
        </p:txBody>
      </p:sp>
      <p:sp>
        <p:nvSpPr>
          <p:cNvPr id="6" name="Flecha: a la derecha 5">
            <a:extLst>
              <a:ext uri="{FF2B5EF4-FFF2-40B4-BE49-F238E27FC236}">
                <a16:creationId xmlns:a16="http://schemas.microsoft.com/office/drawing/2014/main" id="{A5C567FB-0E14-40DF-97C9-7889A25AB828}"/>
              </a:ext>
            </a:extLst>
          </p:cNvPr>
          <p:cNvSpPr/>
          <p:nvPr/>
        </p:nvSpPr>
        <p:spPr>
          <a:xfrm>
            <a:off x="3476387" y="2037992"/>
            <a:ext cx="2129116" cy="824753"/>
          </a:xfrm>
          <a:prstGeom prst="rightArrow">
            <a:avLst>
              <a:gd name="adj1" fmla="val 50000"/>
              <a:gd name="adj2" fmla="val 6109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sz="2000" dirty="0"/>
              <a:t>SE CONVIERTEN</a:t>
            </a:r>
          </a:p>
        </p:txBody>
      </p:sp>
      <p:sp>
        <p:nvSpPr>
          <p:cNvPr id="7" name="Diagrama de flujo: proceso predefinido 6">
            <a:extLst>
              <a:ext uri="{FF2B5EF4-FFF2-40B4-BE49-F238E27FC236}">
                <a16:creationId xmlns:a16="http://schemas.microsoft.com/office/drawing/2014/main" id="{18D1DFE8-0A15-4A8B-A967-C5828324538F}"/>
              </a:ext>
            </a:extLst>
          </p:cNvPr>
          <p:cNvSpPr/>
          <p:nvPr/>
        </p:nvSpPr>
        <p:spPr>
          <a:xfrm>
            <a:off x="1061038" y="3065931"/>
            <a:ext cx="9433430" cy="1228164"/>
          </a:xfrm>
          <a:prstGeom prst="flowChartPredefinedProcess">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s-ES" sz="2000" dirty="0"/>
              <a:t>1- IMPORTANTE EL USO DE </a:t>
            </a:r>
            <a:r>
              <a:rPr lang="es-ES" sz="2800" dirty="0"/>
              <a:t>DIFERENTES</a:t>
            </a:r>
            <a:r>
              <a:rPr lang="es-ES" sz="2000" dirty="0"/>
              <a:t> TABLONES, PARA INDICAR TAREAS PENDIENTES, EN PROGRESO, EN ESPERA, Y TERMINADAS. EL </a:t>
            </a:r>
            <a:r>
              <a:rPr lang="es-ES" sz="2000" b="1" dirty="0"/>
              <a:t>PBI</a:t>
            </a:r>
            <a:r>
              <a:rPr lang="es-ES" sz="2000" dirty="0"/>
              <a:t> ES producto backlog </a:t>
            </a:r>
            <a:r>
              <a:rPr lang="es-ES" sz="2000" dirty="0" err="1"/>
              <a:t>item</a:t>
            </a:r>
            <a:r>
              <a:rPr lang="es-ES" sz="2000" dirty="0"/>
              <a:t> o </a:t>
            </a:r>
            <a:r>
              <a:rPr lang="es-ES" sz="2000" dirty="0" err="1"/>
              <a:t>funcionalides</a:t>
            </a:r>
            <a:r>
              <a:rPr lang="es-ES" sz="2000" dirty="0"/>
              <a:t> priorizadas</a:t>
            </a:r>
          </a:p>
        </p:txBody>
      </p:sp>
      <p:sp>
        <p:nvSpPr>
          <p:cNvPr id="8" name="Rectángulo: esquinas redondeadas 7">
            <a:extLst>
              <a:ext uri="{FF2B5EF4-FFF2-40B4-BE49-F238E27FC236}">
                <a16:creationId xmlns:a16="http://schemas.microsoft.com/office/drawing/2014/main" id="{DB929BD1-64D9-43FA-8F40-BBDCE70C20C9}"/>
              </a:ext>
            </a:extLst>
          </p:cNvPr>
          <p:cNvSpPr/>
          <p:nvPr/>
        </p:nvSpPr>
        <p:spPr>
          <a:xfrm>
            <a:off x="2301073" y="4497281"/>
            <a:ext cx="6933362" cy="2102223"/>
          </a:xfrm>
          <a:prstGeom prst="roundRect">
            <a:avLst/>
          </a:prstGeom>
          <a:solidFill>
            <a:schemeClr val="accent1">
              <a:lumMod val="5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s-ES" sz="2400" dirty="0"/>
              <a:t>EL SPRINT BACKLOG TIENE TRES DIMENSIONES:</a:t>
            </a:r>
          </a:p>
          <a:p>
            <a:r>
              <a:rPr lang="es-ES" sz="2400" dirty="0"/>
              <a:t>1 PRIORIDAD</a:t>
            </a:r>
          </a:p>
          <a:p>
            <a:r>
              <a:rPr lang="es-ES" sz="2400" dirty="0"/>
              <a:t>2 DETALLE</a:t>
            </a:r>
          </a:p>
          <a:p>
            <a:r>
              <a:rPr lang="es-ES" sz="2400" dirty="0"/>
              <a:t>3 ESTADO</a:t>
            </a:r>
          </a:p>
        </p:txBody>
      </p:sp>
    </p:spTree>
    <p:extLst>
      <p:ext uri="{BB962C8B-B14F-4D97-AF65-F5344CB8AC3E}">
        <p14:creationId xmlns:p14="http://schemas.microsoft.com/office/powerpoint/2010/main" val="172689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Nota, Nota Adhesiva, Papel, Escocés">
            <a:extLst>
              <a:ext uri="{FF2B5EF4-FFF2-40B4-BE49-F238E27FC236}">
                <a16:creationId xmlns:a16="http://schemas.microsoft.com/office/drawing/2014/main" id="{35C6F7A8-5830-41E4-ABA7-F748923107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3759" y="1213565"/>
            <a:ext cx="1481529" cy="108560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519CECE7-AE82-40B8-A1AF-D05AB41654B2}"/>
              </a:ext>
            </a:extLst>
          </p:cNvPr>
          <p:cNvSpPr txBox="1"/>
          <p:nvPr/>
        </p:nvSpPr>
        <p:spPr>
          <a:xfrm>
            <a:off x="2524664" y="724310"/>
            <a:ext cx="1741246" cy="523220"/>
          </a:xfrm>
          <a:prstGeom prst="rect">
            <a:avLst/>
          </a:prstGeom>
          <a:noFill/>
        </p:spPr>
        <p:txBody>
          <a:bodyPr wrap="none" rtlCol="0">
            <a:spAutoFit/>
          </a:bodyPr>
          <a:lstStyle/>
          <a:p>
            <a:r>
              <a:rPr lang="es-ES" sz="2800" dirty="0"/>
              <a:t>Pendiente </a:t>
            </a:r>
          </a:p>
        </p:txBody>
      </p:sp>
      <p:sp>
        <p:nvSpPr>
          <p:cNvPr id="5" name="CuadroTexto 4">
            <a:extLst>
              <a:ext uri="{FF2B5EF4-FFF2-40B4-BE49-F238E27FC236}">
                <a16:creationId xmlns:a16="http://schemas.microsoft.com/office/drawing/2014/main" id="{F5DE4347-C4CB-4BA8-A7BD-24019735B912}"/>
              </a:ext>
            </a:extLst>
          </p:cNvPr>
          <p:cNvSpPr txBox="1"/>
          <p:nvPr/>
        </p:nvSpPr>
        <p:spPr>
          <a:xfrm>
            <a:off x="5702170" y="724310"/>
            <a:ext cx="1924629" cy="523220"/>
          </a:xfrm>
          <a:prstGeom prst="rect">
            <a:avLst/>
          </a:prstGeom>
          <a:noFill/>
        </p:spPr>
        <p:txBody>
          <a:bodyPr wrap="none" rtlCol="0">
            <a:spAutoFit/>
          </a:bodyPr>
          <a:lstStyle/>
          <a:p>
            <a:r>
              <a:rPr lang="es-ES" sz="2800" dirty="0"/>
              <a:t>En progreso</a:t>
            </a:r>
          </a:p>
        </p:txBody>
      </p:sp>
      <p:sp>
        <p:nvSpPr>
          <p:cNvPr id="6" name="CuadroTexto 5">
            <a:extLst>
              <a:ext uri="{FF2B5EF4-FFF2-40B4-BE49-F238E27FC236}">
                <a16:creationId xmlns:a16="http://schemas.microsoft.com/office/drawing/2014/main" id="{A1F20356-A64D-4C76-8CA3-9FC73376529B}"/>
              </a:ext>
            </a:extLst>
          </p:cNvPr>
          <p:cNvSpPr txBox="1"/>
          <p:nvPr/>
        </p:nvSpPr>
        <p:spPr>
          <a:xfrm>
            <a:off x="9271413" y="769065"/>
            <a:ext cx="1738105" cy="523220"/>
          </a:xfrm>
          <a:prstGeom prst="rect">
            <a:avLst/>
          </a:prstGeom>
          <a:noFill/>
        </p:spPr>
        <p:txBody>
          <a:bodyPr wrap="none" rtlCol="0">
            <a:spAutoFit/>
          </a:bodyPr>
          <a:lstStyle/>
          <a:p>
            <a:r>
              <a:rPr lang="es-ES" sz="2800" dirty="0"/>
              <a:t>Terminado</a:t>
            </a:r>
          </a:p>
        </p:txBody>
      </p:sp>
      <p:pic>
        <p:nvPicPr>
          <p:cNvPr id="9" name="Picture 2" descr="Nota, Nota Adhesiva, Papel, Escocés">
            <a:extLst>
              <a:ext uri="{FF2B5EF4-FFF2-40B4-BE49-F238E27FC236}">
                <a16:creationId xmlns:a16="http://schemas.microsoft.com/office/drawing/2014/main" id="{948180AA-D085-4F90-9CCB-CBC6D0C4A3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3759" y="2314658"/>
            <a:ext cx="1481528"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Nota, Nota Adhesiva, Papel, Escocés">
            <a:extLst>
              <a:ext uri="{FF2B5EF4-FFF2-40B4-BE49-F238E27FC236}">
                <a16:creationId xmlns:a16="http://schemas.microsoft.com/office/drawing/2014/main" id="{CF41098A-46D7-4DBA-810F-2DE383E05B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3457" y="2299168"/>
            <a:ext cx="1481529" cy="108560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E3F251D8-2D08-48A9-BED7-A1A045365E5B}"/>
              </a:ext>
            </a:extLst>
          </p:cNvPr>
          <p:cNvSpPr/>
          <p:nvPr/>
        </p:nvSpPr>
        <p:spPr>
          <a:xfrm>
            <a:off x="4560795" y="72399"/>
            <a:ext cx="2575111" cy="592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TABLON EJEMPLO SPRINT BACKLOG</a:t>
            </a:r>
          </a:p>
        </p:txBody>
      </p:sp>
      <p:pic>
        <p:nvPicPr>
          <p:cNvPr id="17" name="Imagen 16">
            <a:extLst>
              <a:ext uri="{FF2B5EF4-FFF2-40B4-BE49-F238E27FC236}">
                <a16:creationId xmlns:a16="http://schemas.microsoft.com/office/drawing/2014/main" id="{7754F267-6D78-4B74-A2A1-C6650A0E05BE}"/>
              </a:ext>
            </a:extLst>
          </p:cNvPr>
          <p:cNvPicPr>
            <a:picLocks noChangeAspect="1"/>
          </p:cNvPicPr>
          <p:nvPr/>
        </p:nvPicPr>
        <p:blipFill>
          <a:blip r:embed="rId3"/>
          <a:stretch>
            <a:fillRect/>
          </a:stretch>
        </p:blipFill>
        <p:spPr>
          <a:xfrm>
            <a:off x="11149305" y="49306"/>
            <a:ext cx="1135131" cy="690282"/>
          </a:xfrm>
          <a:prstGeom prst="rect">
            <a:avLst/>
          </a:prstGeom>
        </p:spPr>
      </p:pic>
      <p:pic>
        <p:nvPicPr>
          <p:cNvPr id="16" name="Picture 2" descr="Nota, Nota Adhesiva, Papel, Escocés">
            <a:extLst>
              <a:ext uri="{FF2B5EF4-FFF2-40B4-BE49-F238E27FC236}">
                <a16:creationId xmlns:a16="http://schemas.microsoft.com/office/drawing/2014/main" id="{D052A8BD-1F59-4000-B3B4-BDCC7F83AD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23719" y="1285150"/>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ota, Nota Adhesiva, Papel, Escocés">
            <a:extLst>
              <a:ext uri="{FF2B5EF4-FFF2-40B4-BE49-F238E27FC236}">
                <a16:creationId xmlns:a16="http://schemas.microsoft.com/office/drawing/2014/main" id="{35B061AA-C8FD-4585-B55A-BCF04EF7DB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55974" y="2333133"/>
            <a:ext cx="1481528" cy="108560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Nota, Nota Adhesiva, Papel, Escocés">
            <a:extLst>
              <a:ext uri="{FF2B5EF4-FFF2-40B4-BE49-F238E27FC236}">
                <a16:creationId xmlns:a16="http://schemas.microsoft.com/office/drawing/2014/main" id="{8384B69A-DB15-4207-82A2-4C1C3D045F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96712" y="1285151"/>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Nota, Nota Adhesiva, Papel, Escocés">
            <a:extLst>
              <a:ext uri="{FF2B5EF4-FFF2-40B4-BE49-F238E27FC236}">
                <a16:creationId xmlns:a16="http://schemas.microsoft.com/office/drawing/2014/main" id="{796F542C-FA91-4403-A109-F4803CAEB8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70256" y="1302061"/>
            <a:ext cx="1481528" cy="108560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Nota, Nota Adhesiva, Papel, Escocés">
            <a:extLst>
              <a:ext uri="{FF2B5EF4-FFF2-40B4-BE49-F238E27FC236}">
                <a16:creationId xmlns:a16="http://schemas.microsoft.com/office/drawing/2014/main" id="{58E5C751-01AA-4A91-BF73-66C92CB640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8540" y="2333133"/>
            <a:ext cx="1481529" cy="108560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Nota, Nota Adhesiva, Papel, Escocés">
            <a:extLst>
              <a:ext uri="{FF2B5EF4-FFF2-40B4-BE49-F238E27FC236}">
                <a16:creationId xmlns:a16="http://schemas.microsoft.com/office/drawing/2014/main" id="{950D468E-47FB-46DD-B7D5-FD7C9F9038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4458" y="2314658"/>
            <a:ext cx="1481528" cy="1085603"/>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0B1025C2-0F68-4546-9729-4111BD7ABFAD}"/>
              </a:ext>
            </a:extLst>
          </p:cNvPr>
          <p:cNvSpPr txBox="1"/>
          <p:nvPr/>
        </p:nvSpPr>
        <p:spPr>
          <a:xfrm>
            <a:off x="194607" y="3912502"/>
            <a:ext cx="1064587" cy="369332"/>
          </a:xfrm>
          <a:prstGeom prst="rect">
            <a:avLst/>
          </a:prstGeom>
          <a:noFill/>
        </p:spPr>
        <p:txBody>
          <a:bodyPr wrap="none" rtlCol="0">
            <a:spAutoFit/>
          </a:bodyPr>
          <a:lstStyle/>
          <a:p>
            <a:r>
              <a:rPr lang="es-ES" dirty="0"/>
              <a:t>HISTORIA</a:t>
            </a:r>
          </a:p>
        </p:txBody>
      </p:sp>
      <p:sp>
        <p:nvSpPr>
          <p:cNvPr id="23" name="CuadroTexto 22">
            <a:extLst>
              <a:ext uri="{FF2B5EF4-FFF2-40B4-BE49-F238E27FC236}">
                <a16:creationId xmlns:a16="http://schemas.microsoft.com/office/drawing/2014/main" id="{88440606-87BA-4DB7-8DA5-FE8308582149}"/>
              </a:ext>
            </a:extLst>
          </p:cNvPr>
          <p:cNvSpPr txBox="1"/>
          <p:nvPr/>
        </p:nvSpPr>
        <p:spPr>
          <a:xfrm>
            <a:off x="3531614" y="3681101"/>
            <a:ext cx="1739153" cy="646331"/>
          </a:xfrm>
          <a:prstGeom prst="rect">
            <a:avLst/>
          </a:prstGeom>
          <a:noFill/>
        </p:spPr>
        <p:txBody>
          <a:bodyPr wrap="square" rtlCol="0">
            <a:spAutoFit/>
          </a:bodyPr>
          <a:lstStyle/>
          <a:p>
            <a:endParaRPr lang="es-ES" dirty="0"/>
          </a:p>
          <a:p>
            <a:r>
              <a:rPr lang="es-ES" dirty="0"/>
              <a:t>TAREAS-PBI</a:t>
            </a:r>
          </a:p>
        </p:txBody>
      </p:sp>
      <p:sp>
        <p:nvSpPr>
          <p:cNvPr id="3" name="Rectángulo 2">
            <a:extLst>
              <a:ext uri="{FF2B5EF4-FFF2-40B4-BE49-F238E27FC236}">
                <a16:creationId xmlns:a16="http://schemas.microsoft.com/office/drawing/2014/main" id="{5B03E88B-797C-4263-8156-98421C8E7B68}"/>
              </a:ext>
            </a:extLst>
          </p:cNvPr>
          <p:cNvSpPr/>
          <p:nvPr/>
        </p:nvSpPr>
        <p:spPr>
          <a:xfrm>
            <a:off x="243727" y="4792787"/>
            <a:ext cx="1739153" cy="1703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UN USUARIO PUEDA DARSE DE ALTA EN NUESTRA WEB PARA ACCEDER A CONTENIDOS</a:t>
            </a:r>
          </a:p>
        </p:txBody>
      </p:sp>
      <p:sp>
        <p:nvSpPr>
          <p:cNvPr id="25" name="Rectángulo 24">
            <a:extLst>
              <a:ext uri="{FF2B5EF4-FFF2-40B4-BE49-F238E27FC236}">
                <a16:creationId xmlns:a16="http://schemas.microsoft.com/office/drawing/2014/main" id="{9259F504-3400-4F27-A635-574A0302AF5B}"/>
              </a:ext>
            </a:extLst>
          </p:cNvPr>
          <p:cNvSpPr/>
          <p:nvPr/>
        </p:nvSpPr>
        <p:spPr>
          <a:xfrm>
            <a:off x="266570" y="1386071"/>
            <a:ext cx="1693466" cy="75585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r>
              <a:rPr lang="es-ES" dirty="0"/>
              <a:t>1º CREAR UN FORMULARIO DE ACCESO</a:t>
            </a:r>
          </a:p>
        </p:txBody>
      </p:sp>
      <p:sp>
        <p:nvSpPr>
          <p:cNvPr id="7" name="Flecha: a la derecha con muesca 6">
            <a:extLst>
              <a:ext uri="{FF2B5EF4-FFF2-40B4-BE49-F238E27FC236}">
                <a16:creationId xmlns:a16="http://schemas.microsoft.com/office/drawing/2014/main" id="{4E3146F1-AB8C-4B75-A055-7068A337DD80}"/>
              </a:ext>
            </a:extLst>
          </p:cNvPr>
          <p:cNvSpPr/>
          <p:nvPr/>
        </p:nvSpPr>
        <p:spPr>
          <a:xfrm>
            <a:off x="2151529" y="5348073"/>
            <a:ext cx="484095" cy="380374"/>
          </a:xfrm>
          <a:prstGeom prst="notch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28" name="Flecha: a la derecha con muesca 27">
            <a:extLst>
              <a:ext uri="{FF2B5EF4-FFF2-40B4-BE49-F238E27FC236}">
                <a16:creationId xmlns:a16="http://schemas.microsoft.com/office/drawing/2014/main" id="{F9167D41-0B50-4E9D-B27E-C33B695B70CE}"/>
              </a:ext>
            </a:extLst>
          </p:cNvPr>
          <p:cNvSpPr/>
          <p:nvPr/>
        </p:nvSpPr>
        <p:spPr>
          <a:xfrm>
            <a:off x="7086593" y="4767919"/>
            <a:ext cx="484095" cy="380374"/>
          </a:xfrm>
          <a:prstGeom prst="notch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60691082-8FB0-4480-83F3-2D455201B117}"/>
              </a:ext>
            </a:extLst>
          </p:cNvPr>
          <p:cNvSpPr/>
          <p:nvPr/>
        </p:nvSpPr>
        <p:spPr>
          <a:xfrm>
            <a:off x="7826481" y="4541960"/>
            <a:ext cx="4138143" cy="1065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1º CREAR UNA BASE DE DATOS USUARIOS</a:t>
            </a:r>
          </a:p>
          <a:p>
            <a:r>
              <a:rPr lang="es-ES" dirty="0"/>
              <a:t>2º CREAR UN FORMULARIO DE ALTA</a:t>
            </a:r>
          </a:p>
          <a:p>
            <a:r>
              <a:rPr lang="es-ES" dirty="0"/>
              <a:t>3º CONTROL DE ERRORES</a:t>
            </a:r>
          </a:p>
        </p:txBody>
      </p:sp>
      <p:sp>
        <p:nvSpPr>
          <p:cNvPr id="30" name="CuadroTexto 29">
            <a:extLst>
              <a:ext uri="{FF2B5EF4-FFF2-40B4-BE49-F238E27FC236}">
                <a16:creationId xmlns:a16="http://schemas.microsoft.com/office/drawing/2014/main" id="{1C933334-1B52-4882-AB0A-1651002BF847}"/>
              </a:ext>
            </a:extLst>
          </p:cNvPr>
          <p:cNvSpPr txBox="1"/>
          <p:nvPr/>
        </p:nvSpPr>
        <p:spPr>
          <a:xfrm>
            <a:off x="7999517" y="3813974"/>
            <a:ext cx="3890552" cy="646331"/>
          </a:xfrm>
          <a:prstGeom prst="rect">
            <a:avLst/>
          </a:prstGeom>
          <a:noFill/>
        </p:spPr>
        <p:txBody>
          <a:bodyPr wrap="none" rtlCol="0">
            <a:spAutoFit/>
          </a:bodyPr>
          <a:lstStyle/>
          <a:p>
            <a:r>
              <a:rPr lang="es-ES" dirty="0"/>
              <a:t>PILA DE SPRINT</a:t>
            </a:r>
          </a:p>
          <a:p>
            <a:r>
              <a:rPr lang="es-ES" dirty="0"/>
              <a:t> (Tareas técnicas relacionadas con cada </a:t>
            </a:r>
          </a:p>
        </p:txBody>
      </p:sp>
      <p:sp>
        <p:nvSpPr>
          <p:cNvPr id="31" name="Rectángulo 30">
            <a:extLst>
              <a:ext uri="{FF2B5EF4-FFF2-40B4-BE49-F238E27FC236}">
                <a16:creationId xmlns:a16="http://schemas.microsoft.com/office/drawing/2014/main" id="{7ABDB2EF-C396-453A-8BB0-1C1314E49AA0}"/>
              </a:ext>
            </a:extLst>
          </p:cNvPr>
          <p:cNvSpPr/>
          <p:nvPr/>
        </p:nvSpPr>
        <p:spPr>
          <a:xfrm>
            <a:off x="7868195" y="5774935"/>
            <a:ext cx="3848675" cy="9368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t>1º ENVIO CORREO CONFIRMACION</a:t>
            </a:r>
          </a:p>
          <a:p>
            <a:r>
              <a:rPr lang="es-ES" dirty="0"/>
              <a:t>2º AUTORIZAR ACCESO A CONTENIDO</a:t>
            </a:r>
          </a:p>
        </p:txBody>
      </p:sp>
      <p:sp>
        <p:nvSpPr>
          <p:cNvPr id="32" name="Flecha: a la derecha con muesca 31">
            <a:extLst>
              <a:ext uri="{FF2B5EF4-FFF2-40B4-BE49-F238E27FC236}">
                <a16:creationId xmlns:a16="http://schemas.microsoft.com/office/drawing/2014/main" id="{7E10D433-2B15-42B4-A430-914F0A3CDD50}"/>
              </a:ext>
            </a:extLst>
          </p:cNvPr>
          <p:cNvSpPr/>
          <p:nvPr/>
        </p:nvSpPr>
        <p:spPr>
          <a:xfrm rot="1584598">
            <a:off x="7101380" y="5679192"/>
            <a:ext cx="577377" cy="380374"/>
          </a:xfrm>
          <a:prstGeom prst="notch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36" name="CuadroTexto 35">
            <a:extLst>
              <a:ext uri="{FF2B5EF4-FFF2-40B4-BE49-F238E27FC236}">
                <a16:creationId xmlns:a16="http://schemas.microsoft.com/office/drawing/2014/main" id="{E96B6C16-142C-4A08-88A0-B90524579A58}"/>
              </a:ext>
            </a:extLst>
          </p:cNvPr>
          <p:cNvSpPr txBox="1"/>
          <p:nvPr/>
        </p:nvSpPr>
        <p:spPr>
          <a:xfrm>
            <a:off x="2060763" y="2582770"/>
            <a:ext cx="1142375" cy="646331"/>
          </a:xfrm>
          <a:prstGeom prst="rect">
            <a:avLst/>
          </a:prstGeom>
          <a:noFill/>
        </p:spPr>
        <p:txBody>
          <a:bodyPr wrap="square">
            <a:spAutoFit/>
          </a:bodyPr>
          <a:lstStyle/>
          <a:p>
            <a:r>
              <a:rPr lang="es-ES" sz="1200" dirty="0"/>
              <a:t>ENVIO CORREO CONFIRMACION</a:t>
            </a:r>
          </a:p>
        </p:txBody>
      </p:sp>
      <p:sp>
        <p:nvSpPr>
          <p:cNvPr id="38" name="CuadroTexto 37">
            <a:extLst>
              <a:ext uri="{FF2B5EF4-FFF2-40B4-BE49-F238E27FC236}">
                <a16:creationId xmlns:a16="http://schemas.microsoft.com/office/drawing/2014/main" id="{0B0D7C6E-46A7-4004-9174-98387BDEFB3B}"/>
              </a:ext>
            </a:extLst>
          </p:cNvPr>
          <p:cNvSpPr txBox="1"/>
          <p:nvPr/>
        </p:nvSpPr>
        <p:spPr>
          <a:xfrm>
            <a:off x="3602214" y="2481875"/>
            <a:ext cx="977383" cy="646331"/>
          </a:xfrm>
          <a:prstGeom prst="rect">
            <a:avLst/>
          </a:prstGeom>
          <a:noFill/>
        </p:spPr>
        <p:txBody>
          <a:bodyPr wrap="square">
            <a:spAutoFit/>
          </a:bodyPr>
          <a:lstStyle/>
          <a:p>
            <a:r>
              <a:rPr lang="es-ES" sz="1200" dirty="0"/>
              <a:t>AUTORIZAR ACCESO A CONTENIDO</a:t>
            </a:r>
          </a:p>
        </p:txBody>
      </p:sp>
      <p:sp>
        <p:nvSpPr>
          <p:cNvPr id="40" name="CuadroTexto 39">
            <a:extLst>
              <a:ext uri="{FF2B5EF4-FFF2-40B4-BE49-F238E27FC236}">
                <a16:creationId xmlns:a16="http://schemas.microsoft.com/office/drawing/2014/main" id="{461318BB-B1ED-4A74-A990-E2772A91126D}"/>
              </a:ext>
            </a:extLst>
          </p:cNvPr>
          <p:cNvSpPr txBox="1"/>
          <p:nvPr/>
        </p:nvSpPr>
        <p:spPr>
          <a:xfrm>
            <a:off x="9066524" y="1485205"/>
            <a:ext cx="1211717" cy="646331"/>
          </a:xfrm>
          <a:prstGeom prst="rect">
            <a:avLst/>
          </a:prstGeom>
          <a:noFill/>
        </p:spPr>
        <p:txBody>
          <a:bodyPr wrap="square">
            <a:spAutoFit/>
          </a:bodyPr>
          <a:lstStyle/>
          <a:p>
            <a:r>
              <a:rPr lang="es-ES" sz="1200" dirty="0"/>
              <a:t>CREAR UNA BASE DE DATOS USUARIOS</a:t>
            </a:r>
          </a:p>
        </p:txBody>
      </p:sp>
      <p:sp>
        <p:nvSpPr>
          <p:cNvPr id="42" name="CuadroTexto 41">
            <a:extLst>
              <a:ext uri="{FF2B5EF4-FFF2-40B4-BE49-F238E27FC236}">
                <a16:creationId xmlns:a16="http://schemas.microsoft.com/office/drawing/2014/main" id="{9E905436-FAEE-4BB0-80F5-BC4DD1940FC0}"/>
              </a:ext>
            </a:extLst>
          </p:cNvPr>
          <p:cNvSpPr txBox="1"/>
          <p:nvPr/>
        </p:nvSpPr>
        <p:spPr>
          <a:xfrm>
            <a:off x="10728392" y="1544780"/>
            <a:ext cx="1095527" cy="600164"/>
          </a:xfrm>
          <a:prstGeom prst="rect">
            <a:avLst/>
          </a:prstGeom>
          <a:noFill/>
        </p:spPr>
        <p:txBody>
          <a:bodyPr wrap="square">
            <a:spAutoFit/>
          </a:bodyPr>
          <a:lstStyle/>
          <a:p>
            <a:r>
              <a:rPr lang="es-ES" sz="1100" dirty="0"/>
              <a:t>CREAR UN FORMULARIO DE ALTA</a:t>
            </a:r>
          </a:p>
        </p:txBody>
      </p:sp>
      <p:sp>
        <p:nvSpPr>
          <p:cNvPr id="44" name="CuadroTexto 43">
            <a:extLst>
              <a:ext uri="{FF2B5EF4-FFF2-40B4-BE49-F238E27FC236}">
                <a16:creationId xmlns:a16="http://schemas.microsoft.com/office/drawing/2014/main" id="{813D2A73-67FD-4986-AA7F-3F5D74150A33}"/>
              </a:ext>
            </a:extLst>
          </p:cNvPr>
          <p:cNvSpPr txBox="1"/>
          <p:nvPr/>
        </p:nvSpPr>
        <p:spPr>
          <a:xfrm>
            <a:off x="6209777" y="1473888"/>
            <a:ext cx="926130" cy="646331"/>
          </a:xfrm>
          <a:prstGeom prst="rect">
            <a:avLst/>
          </a:prstGeom>
          <a:noFill/>
        </p:spPr>
        <p:txBody>
          <a:bodyPr wrap="square">
            <a:spAutoFit/>
          </a:bodyPr>
          <a:lstStyle/>
          <a:p>
            <a:r>
              <a:rPr lang="es-ES" sz="1200" dirty="0"/>
              <a:t>CONTROL DE ERRORES</a:t>
            </a:r>
          </a:p>
        </p:txBody>
      </p:sp>
      <p:sp>
        <p:nvSpPr>
          <p:cNvPr id="46" name="CuadroTexto 45">
            <a:extLst>
              <a:ext uri="{FF2B5EF4-FFF2-40B4-BE49-F238E27FC236}">
                <a16:creationId xmlns:a16="http://schemas.microsoft.com/office/drawing/2014/main" id="{8A9604E9-19A8-4D16-AE0D-8315A1B61AC8}"/>
              </a:ext>
            </a:extLst>
          </p:cNvPr>
          <p:cNvSpPr txBox="1"/>
          <p:nvPr/>
        </p:nvSpPr>
        <p:spPr>
          <a:xfrm>
            <a:off x="234741" y="2264830"/>
            <a:ext cx="1623864" cy="9233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s-ES" dirty="0"/>
              <a:t>2º CONFIRMACION DE CORREO.</a:t>
            </a:r>
          </a:p>
        </p:txBody>
      </p:sp>
      <p:sp>
        <p:nvSpPr>
          <p:cNvPr id="48" name="Rectángulo 47">
            <a:extLst>
              <a:ext uri="{FF2B5EF4-FFF2-40B4-BE49-F238E27FC236}">
                <a16:creationId xmlns:a16="http://schemas.microsoft.com/office/drawing/2014/main" id="{8A94C6D3-A1BC-4ADF-8FEE-CBE05A8AB202}"/>
              </a:ext>
            </a:extLst>
          </p:cNvPr>
          <p:cNvSpPr/>
          <p:nvPr/>
        </p:nvSpPr>
        <p:spPr>
          <a:xfrm>
            <a:off x="3395286" y="4554516"/>
            <a:ext cx="3590201" cy="75585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r>
              <a:rPr lang="es-ES" dirty="0"/>
              <a:t>1º CREAR UN FORMULARIO DE ACCESO</a:t>
            </a:r>
          </a:p>
        </p:txBody>
      </p:sp>
      <p:sp>
        <p:nvSpPr>
          <p:cNvPr id="49" name="CuadroTexto 48">
            <a:extLst>
              <a:ext uri="{FF2B5EF4-FFF2-40B4-BE49-F238E27FC236}">
                <a16:creationId xmlns:a16="http://schemas.microsoft.com/office/drawing/2014/main" id="{44143422-F907-48AD-A864-6133E668987D}"/>
              </a:ext>
            </a:extLst>
          </p:cNvPr>
          <p:cNvSpPr txBox="1"/>
          <p:nvPr/>
        </p:nvSpPr>
        <p:spPr>
          <a:xfrm>
            <a:off x="3363457" y="5433275"/>
            <a:ext cx="3590201"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s-ES" dirty="0"/>
              <a:t>2º CONFIRMACION DE CORREO.</a:t>
            </a:r>
          </a:p>
        </p:txBody>
      </p:sp>
      <p:sp>
        <p:nvSpPr>
          <p:cNvPr id="8" name="Título 7">
            <a:extLst>
              <a:ext uri="{FF2B5EF4-FFF2-40B4-BE49-F238E27FC236}">
                <a16:creationId xmlns:a16="http://schemas.microsoft.com/office/drawing/2014/main" id="{7561A076-0E71-4EE0-2430-60047B6C9D9A}"/>
              </a:ext>
            </a:extLst>
          </p:cNvPr>
          <p:cNvSpPr>
            <a:spLocks noGrp="1"/>
          </p:cNvSpPr>
          <p:nvPr>
            <p:ph type="title"/>
          </p:nvPr>
        </p:nvSpPr>
        <p:spPr/>
        <p:txBody>
          <a:bodyPr/>
          <a:lstStyle/>
          <a:p>
            <a:r>
              <a:rPr lang="es-ES"/>
              <a:t>Ejemplo:</a:t>
            </a:r>
          </a:p>
        </p:txBody>
      </p:sp>
    </p:spTree>
    <p:extLst>
      <p:ext uri="{BB962C8B-B14F-4D97-AF65-F5344CB8AC3E}">
        <p14:creationId xmlns:p14="http://schemas.microsoft.com/office/powerpoint/2010/main" val="15261855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1ED6DB3-098A-9F8C-4E77-50865E172972}"/>
              </a:ext>
            </a:extLst>
          </p:cNvPr>
          <p:cNvSpPr>
            <a:spLocks noGrp="1"/>
          </p:cNvSpPr>
          <p:nvPr>
            <p:ph type="title"/>
          </p:nvPr>
        </p:nvSpPr>
        <p:spPr/>
        <p:txBody>
          <a:bodyPr/>
          <a:lstStyle/>
          <a:p>
            <a:r>
              <a:rPr lang="es-ES"/>
              <a:t>Problemas en la implantación Scrum</a:t>
            </a:r>
          </a:p>
        </p:txBody>
      </p:sp>
      <p:pic>
        <p:nvPicPr>
          <p:cNvPr id="4" name="Imagen 3">
            <a:extLst>
              <a:ext uri="{FF2B5EF4-FFF2-40B4-BE49-F238E27FC236}">
                <a16:creationId xmlns:a16="http://schemas.microsoft.com/office/drawing/2014/main" id="{43F3949A-486C-41C4-9558-F52AEC9181F0}"/>
              </a:ext>
            </a:extLst>
          </p:cNvPr>
          <p:cNvPicPr>
            <a:picLocks noChangeAspect="1"/>
          </p:cNvPicPr>
          <p:nvPr/>
        </p:nvPicPr>
        <p:blipFill>
          <a:blip r:embed="rId2"/>
          <a:stretch>
            <a:fillRect/>
          </a:stretch>
        </p:blipFill>
        <p:spPr>
          <a:xfrm>
            <a:off x="11025149" y="-46391"/>
            <a:ext cx="1353429" cy="823031"/>
          </a:xfrm>
          <a:prstGeom prst="rect">
            <a:avLst/>
          </a:prstGeom>
        </p:spPr>
      </p:pic>
      <p:graphicFrame>
        <p:nvGraphicFramePr>
          <p:cNvPr id="2" name="Diagrama 1">
            <a:extLst>
              <a:ext uri="{FF2B5EF4-FFF2-40B4-BE49-F238E27FC236}">
                <a16:creationId xmlns:a16="http://schemas.microsoft.com/office/drawing/2014/main" id="{74EA6F43-7A4C-4946-892B-8055086AC6BA}"/>
              </a:ext>
            </a:extLst>
          </p:cNvPr>
          <p:cNvGraphicFramePr/>
          <p:nvPr>
            <p:extLst>
              <p:ext uri="{D42A27DB-BD31-4B8C-83A1-F6EECF244321}">
                <p14:modId xmlns:p14="http://schemas.microsoft.com/office/powerpoint/2010/main" val="2111718922"/>
              </p:ext>
            </p:extLst>
          </p:nvPr>
        </p:nvGraphicFramePr>
        <p:xfrm>
          <a:off x="2132483" y="119193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51165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7A92E0-F39F-4BC8-BA17-6D2BACDC291E}"/>
              </a:ext>
            </a:extLst>
          </p:cNvPr>
          <p:cNvSpPr>
            <a:spLocks noGrp="1"/>
          </p:cNvSpPr>
          <p:nvPr>
            <p:ph type="title"/>
          </p:nvPr>
        </p:nvSpPr>
        <p:spPr/>
        <p:txBody>
          <a:bodyPr>
            <a:normAutofit/>
          </a:bodyPr>
          <a:lstStyle/>
          <a:p>
            <a:r>
              <a:rPr lang="es-ES"/>
              <a:t>Ejemplo: Pizarra </a:t>
            </a:r>
            <a:r>
              <a:rPr lang="es-ES" dirty="0"/>
              <a:t>o scrum </a:t>
            </a:r>
            <a:r>
              <a:rPr lang="es-ES" dirty="0" err="1"/>
              <a:t>task</a:t>
            </a:r>
            <a:r>
              <a:rPr lang="es-ES" dirty="0"/>
              <a:t> </a:t>
            </a:r>
            <a:r>
              <a:rPr lang="es-ES" dirty="0" err="1"/>
              <a:t>board</a:t>
            </a:r>
            <a:endParaRPr lang="es-ES" dirty="0"/>
          </a:p>
        </p:txBody>
      </p:sp>
      <p:sp>
        <p:nvSpPr>
          <p:cNvPr id="4" name="Marcador de texto 3">
            <a:extLst>
              <a:ext uri="{FF2B5EF4-FFF2-40B4-BE49-F238E27FC236}">
                <a16:creationId xmlns:a16="http://schemas.microsoft.com/office/drawing/2014/main" id="{F4E799D1-C8FE-8EA8-E037-7646430C281C}"/>
              </a:ext>
            </a:extLst>
          </p:cNvPr>
          <p:cNvSpPr>
            <a:spLocks noGrp="1"/>
          </p:cNvSpPr>
          <p:nvPr>
            <p:ph type="body" sz="quarter" idx="13"/>
          </p:nvPr>
        </p:nvSpPr>
        <p:spPr/>
        <p:txBody>
          <a:bodyPr/>
          <a:lstStyle/>
          <a:p>
            <a:endParaRPr lang="es-ES"/>
          </a:p>
        </p:txBody>
      </p:sp>
      <p:pic>
        <p:nvPicPr>
          <p:cNvPr id="33794" name="Picture 2" descr="Ejemplo de uso del tablero o pizarra de tareas (Scrum Taskboard) –  Proyectos Ágiles">
            <a:extLst>
              <a:ext uri="{FF2B5EF4-FFF2-40B4-BE49-F238E27FC236}">
                <a16:creationId xmlns:a16="http://schemas.microsoft.com/office/drawing/2014/main" id="{315CC025-55B1-490B-877A-D731B9996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651" y="1016887"/>
            <a:ext cx="7772401" cy="548712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FBD4D8A8-1FE7-4327-B120-0461DC22AF61}"/>
              </a:ext>
            </a:extLst>
          </p:cNvPr>
          <p:cNvPicPr>
            <a:picLocks noChangeAspect="1"/>
          </p:cNvPicPr>
          <p:nvPr/>
        </p:nvPicPr>
        <p:blipFill>
          <a:blip r:embed="rId3"/>
          <a:stretch>
            <a:fillRect/>
          </a:stretch>
        </p:blipFill>
        <p:spPr>
          <a:xfrm>
            <a:off x="11025149" y="-46391"/>
            <a:ext cx="1353429" cy="823031"/>
          </a:xfrm>
          <a:prstGeom prst="rect">
            <a:avLst/>
          </a:prstGeom>
        </p:spPr>
      </p:pic>
    </p:spTree>
    <p:extLst>
      <p:ext uri="{BB962C8B-B14F-4D97-AF65-F5344CB8AC3E}">
        <p14:creationId xmlns:p14="http://schemas.microsoft.com/office/powerpoint/2010/main" val="1592464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DA76F3F3-99B3-AF68-0102-6BCD65223D89}"/>
              </a:ext>
            </a:extLst>
          </p:cNvPr>
          <p:cNvSpPr>
            <a:spLocks noGrp="1"/>
          </p:cNvSpPr>
          <p:nvPr>
            <p:ph type="title"/>
          </p:nvPr>
        </p:nvSpPr>
        <p:spPr/>
        <p:txBody>
          <a:bodyPr>
            <a:noAutofit/>
          </a:bodyPr>
          <a:lstStyle/>
          <a:p>
            <a:r>
              <a:rPr lang="es-ES" sz="3200" b="1">
                <a:latin typeface="Verdana" panose="020B0604030504040204" pitchFamily="34" charset="0"/>
                <a:ea typeface="Verdana" panose="020B0604030504040204" pitchFamily="34" charset="0"/>
              </a:rPr>
              <a:t>Tipos de reuniones</a:t>
            </a:r>
            <a:endParaRPr lang="es-ES" sz="3200"/>
          </a:p>
        </p:txBody>
      </p:sp>
      <p:pic>
        <p:nvPicPr>
          <p:cNvPr id="4" name="Imagen 3">
            <a:extLst>
              <a:ext uri="{FF2B5EF4-FFF2-40B4-BE49-F238E27FC236}">
                <a16:creationId xmlns:a16="http://schemas.microsoft.com/office/drawing/2014/main" id="{3822FC7E-C178-4CDC-8A95-1B95E1408201}"/>
              </a:ext>
            </a:extLst>
          </p:cNvPr>
          <p:cNvPicPr>
            <a:picLocks noChangeAspect="1"/>
          </p:cNvPicPr>
          <p:nvPr/>
        </p:nvPicPr>
        <p:blipFill>
          <a:blip r:embed="rId2"/>
          <a:stretch>
            <a:fillRect/>
          </a:stretch>
        </p:blipFill>
        <p:spPr>
          <a:xfrm>
            <a:off x="11025149" y="-46391"/>
            <a:ext cx="1353429" cy="823031"/>
          </a:xfrm>
          <a:prstGeom prst="rect">
            <a:avLst/>
          </a:prstGeom>
        </p:spPr>
      </p:pic>
      <p:sp>
        <p:nvSpPr>
          <p:cNvPr id="2" name="Rectángulo 1">
            <a:extLst>
              <a:ext uri="{FF2B5EF4-FFF2-40B4-BE49-F238E27FC236}">
                <a16:creationId xmlns:a16="http://schemas.microsoft.com/office/drawing/2014/main" id="{1A4E845E-D645-4F4E-90B6-8BA1EEE4DA4A}"/>
              </a:ext>
            </a:extLst>
          </p:cNvPr>
          <p:cNvSpPr/>
          <p:nvPr/>
        </p:nvSpPr>
        <p:spPr>
          <a:xfrm>
            <a:off x="4216587" y="1459301"/>
            <a:ext cx="1882588"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1º historias de usuario</a:t>
            </a:r>
          </a:p>
        </p:txBody>
      </p:sp>
      <p:sp>
        <p:nvSpPr>
          <p:cNvPr id="5" name="Rectángulo 4">
            <a:extLst>
              <a:ext uri="{FF2B5EF4-FFF2-40B4-BE49-F238E27FC236}">
                <a16:creationId xmlns:a16="http://schemas.microsoft.com/office/drawing/2014/main" id="{D44BF007-6FAB-4C71-9AFC-94B8DD6B493E}"/>
              </a:ext>
            </a:extLst>
          </p:cNvPr>
          <p:cNvSpPr/>
          <p:nvPr/>
        </p:nvSpPr>
        <p:spPr>
          <a:xfrm>
            <a:off x="7099258" y="1446296"/>
            <a:ext cx="1882588" cy="5782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2º trabajo a realizar</a:t>
            </a:r>
          </a:p>
        </p:txBody>
      </p:sp>
      <p:sp>
        <p:nvSpPr>
          <p:cNvPr id="6" name="Flecha: a la derecha 5">
            <a:extLst>
              <a:ext uri="{FF2B5EF4-FFF2-40B4-BE49-F238E27FC236}">
                <a16:creationId xmlns:a16="http://schemas.microsoft.com/office/drawing/2014/main" id="{2632DEBB-3E4D-4E67-B530-D7CE4D808809}"/>
              </a:ext>
            </a:extLst>
          </p:cNvPr>
          <p:cNvSpPr/>
          <p:nvPr/>
        </p:nvSpPr>
        <p:spPr>
          <a:xfrm>
            <a:off x="6268286" y="1495405"/>
            <a:ext cx="457200" cy="27790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
        <p:nvSpPr>
          <p:cNvPr id="11" name="CuadroTexto 10">
            <a:extLst>
              <a:ext uri="{FF2B5EF4-FFF2-40B4-BE49-F238E27FC236}">
                <a16:creationId xmlns:a16="http://schemas.microsoft.com/office/drawing/2014/main" id="{667A6E6E-B524-E0B0-6D13-75650F636081}"/>
              </a:ext>
            </a:extLst>
          </p:cNvPr>
          <p:cNvSpPr txBox="1"/>
          <p:nvPr/>
        </p:nvSpPr>
        <p:spPr>
          <a:xfrm>
            <a:off x="200966" y="1563747"/>
            <a:ext cx="6189784" cy="369332"/>
          </a:xfrm>
          <a:prstGeom prst="rect">
            <a:avLst/>
          </a:prstGeom>
          <a:noFill/>
        </p:spPr>
        <p:txBody>
          <a:bodyPr wrap="square">
            <a:spAutoFit/>
          </a:bodyPr>
          <a:lstStyle/>
          <a:p>
            <a:r>
              <a:rPr lang="es-ES" sz="1800" b="1">
                <a:latin typeface="Verdana" panose="020B0604030504040204" pitchFamily="34" charset="0"/>
                <a:ea typeface="Verdana" panose="020B0604030504040204" pitchFamily="34" charset="0"/>
              </a:rPr>
              <a:t>sprint planning meeting.</a:t>
            </a:r>
            <a:endParaRPr lang="es-ES"/>
          </a:p>
        </p:txBody>
      </p:sp>
      <p:sp>
        <p:nvSpPr>
          <p:cNvPr id="13" name="CuadroTexto 12">
            <a:extLst>
              <a:ext uri="{FF2B5EF4-FFF2-40B4-BE49-F238E27FC236}">
                <a16:creationId xmlns:a16="http://schemas.microsoft.com/office/drawing/2014/main" id="{47E6B37F-45D5-6F4D-3155-843D56701DD5}"/>
              </a:ext>
            </a:extLst>
          </p:cNvPr>
          <p:cNvSpPr txBox="1"/>
          <p:nvPr/>
        </p:nvSpPr>
        <p:spPr>
          <a:xfrm>
            <a:off x="200966" y="2546593"/>
            <a:ext cx="6189784" cy="369332"/>
          </a:xfrm>
          <a:prstGeom prst="rect">
            <a:avLst/>
          </a:prstGeom>
          <a:noFill/>
        </p:spPr>
        <p:txBody>
          <a:bodyPr wrap="square">
            <a:spAutoFit/>
          </a:bodyPr>
          <a:lstStyle/>
          <a:p>
            <a:r>
              <a:rPr lang="es-ES" sz="1800" b="1">
                <a:latin typeface="Verdana" panose="020B0604030504040204" pitchFamily="34" charset="0"/>
                <a:ea typeface="Verdana" panose="020B0604030504040204" pitchFamily="34" charset="0"/>
              </a:rPr>
              <a:t>Daily Scrum</a:t>
            </a:r>
            <a:endParaRPr lang="es-ES"/>
          </a:p>
        </p:txBody>
      </p:sp>
      <p:sp>
        <p:nvSpPr>
          <p:cNvPr id="14" name="Rectángulo 13">
            <a:extLst>
              <a:ext uri="{FF2B5EF4-FFF2-40B4-BE49-F238E27FC236}">
                <a16:creationId xmlns:a16="http://schemas.microsoft.com/office/drawing/2014/main" id="{FA1126CE-1457-8A78-7E77-8F500DB32ABD}"/>
              </a:ext>
            </a:extLst>
          </p:cNvPr>
          <p:cNvSpPr/>
          <p:nvPr/>
        </p:nvSpPr>
        <p:spPr>
          <a:xfrm>
            <a:off x="4216587" y="2442147"/>
            <a:ext cx="4598291"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t>Reuniones diarias, trabajo a realizar</a:t>
            </a:r>
            <a:endParaRPr lang="es-ES" dirty="0"/>
          </a:p>
        </p:txBody>
      </p:sp>
      <p:sp>
        <p:nvSpPr>
          <p:cNvPr id="16" name="CuadroTexto 15">
            <a:extLst>
              <a:ext uri="{FF2B5EF4-FFF2-40B4-BE49-F238E27FC236}">
                <a16:creationId xmlns:a16="http://schemas.microsoft.com/office/drawing/2014/main" id="{DB61A2D6-641D-8F01-B82D-44B04AED378E}"/>
              </a:ext>
            </a:extLst>
          </p:cNvPr>
          <p:cNvSpPr txBox="1"/>
          <p:nvPr/>
        </p:nvSpPr>
        <p:spPr>
          <a:xfrm>
            <a:off x="200966" y="3504541"/>
            <a:ext cx="4015621" cy="369332"/>
          </a:xfrm>
          <a:prstGeom prst="rect">
            <a:avLst/>
          </a:prstGeom>
          <a:noFill/>
        </p:spPr>
        <p:txBody>
          <a:bodyPr wrap="square">
            <a:spAutoFit/>
          </a:bodyPr>
          <a:lstStyle/>
          <a:p>
            <a:r>
              <a:rPr lang="es-ES" sz="1800" b="1">
                <a:latin typeface="Verdana" panose="020B0604030504040204" pitchFamily="34" charset="0"/>
                <a:ea typeface="Verdana" panose="020B0604030504040204" pitchFamily="34" charset="0"/>
              </a:rPr>
              <a:t>Revisión (sprint review): </a:t>
            </a:r>
            <a:endParaRPr lang="es-ES"/>
          </a:p>
        </p:txBody>
      </p:sp>
      <p:sp>
        <p:nvSpPr>
          <p:cNvPr id="17" name="Rectángulo 16">
            <a:extLst>
              <a:ext uri="{FF2B5EF4-FFF2-40B4-BE49-F238E27FC236}">
                <a16:creationId xmlns:a16="http://schemas.microsoft.com/office/drawing/2014/main" id="{D3F3BB8E-954D-25D3-6EB8-1F4472AF03A0}"/>
              </a:ext>
            </a:extLst>
          </p:cNvPr>
          <p:cNvSpPr/>
          <p:nvPr/>
        </p:nvSpPr>
        <p:spPr>
          <a:xfrm>
            <a:off x="4197740" y="3345445"/>
            <a:ext cx="4598291"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t>Revisión del producto</a:t>
            </a:r>
            <a:endParaRPr lang="es-ES" dirty="0"/>
          </a:p>
        </p:txBody>
      </p:sp>
      <p:sp>
        <p:nvSpPr>
          <p:cNvPr id="19" name="CuadroTexto 18">
            <a:extLst>
              <a:ext uri="{FF2B5EF4-FFF2-40B4-BE49-F238E27FC236}">
                <a16:creationId xmlns:a16="http://schemas.microsoft.com/office/drawing/2014/main" id="{E46E78AC-6166-1138-3F7F-59931CE81749}"/>
              </a:ext>
            </a:extLst>
          </p:cNvPr>
          <p:cNvSpPr txBox="1"/>
          <p:nvPr/>
        </p:nvSpPr>
        <p:spPr>
          <a:xfrm>
            <a:off x="200966" y="4353189"/>
            <a:ext cx="6189784" cy="369332"/>
          </a:xfrm>
          <a:prstGeom prst="rect">
            <a:avLst/>
          </a:prstGeom>
          <a:noFill/>
        </p:spPr>
        <p:txBody>
          <a:bodyPr wrap="square">
            <a:spAutoFit/>
          </a:bodyPr>
          <a:lstStyle/>
          <a:p>
            <a:r>
              <a:rPr lang="es-ES" sz="1800" b="1">
                <a:latin typeface="Verdana" panose="020B0604030504040204" pitchFamily="34" charset="0"/>
                <a:ea typeface="Verdana" panose="020B0604030504040204" pitchFamily="34" charset="0"/>
              </a:rPr>
              <a:t>sprint retrospective</a:t>
            </a:r>
            <a:endParaRPr lang="es-ES"/>
          </a:p>
        </p:txBody>
      </p:sp>
      <p:sp>
        <p:nvSpPr>
          <p:cNvPr id="20" name="Rectángulo 19">
            <a:extLst>
              <a:ext uri="{FF2B5EF4-FFF2-40B4-BE49-F238E27FC236}">
                <a16:creationId xmlns:a16="http://schemas.microsoft.com/office/drawing/2014/main" id="{63F98482-05B5-2FEE-6D46-75387414C5A9}"/>
              </a:ext>
            </a:extLst>
          </p:cNvPr>
          <p:cNvSpPr/>
          <p:nvPr/>
        </p:nvSpPr>
        <p:spPr>
          <a:xfrm>
            <a:off x="4197739" y="4223173"/>
            <a:ext cx="4598291"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t>Revisión  del equipo Scrum</a:t>
            </a:r>
            <a:endParaRPr lang="es-ES" dirty="0"/>
          </a:p>
        </p:txBody>
      </p:sp>
      <p:sp>
        <p:nvSpPr>
          <p:cNvPr id="21" name="CuadroTexto 20">
            <a:extLst>
              <a:ext uri="{FF2B5EF4-FFF2-40B4-BE49-F238E27FC236}">
                <a16:creationId xmlns:a16="http://schemas.microsoft.com/office/drawing/2014/main" id="{99E7C6A5-D6DF-7753-0C80-CA62DF5CBAFA}"/>
              </a:ext>
            </a:extLst>
          </p:cNvPr>
          <p:cNvSpPr txBox="1"/>
          <p:nvPr/>
        </p:nvSpPr>
        <p:spPr>
          <a:xfrm>
            <a:off x="200966" y="5490327"/>
            <a:ext cx="3868616" cy="369332"/>
          </a:xfrm>
          <a:prstGeom prst="rect">
            <a:avLst/>
          </a:prstGeom>
          <a:noFill/>
        </p:spPr>
        <p:txBody>
          <a:bodyPr wrap="square">
            <a:spAutoFit/>
          </a:bodyPr>
          <a:lstStyle/>
          <a:p>
            <a:r>
              <a:rPr lang="es-ES" sz="1800" b="1">
                <a:latin typeface="Verdana" panose="020B0604030504040204" pitchFamily="34" charset="0"/>
                <a:ea typeface="Verdana" panose="020B0604030504040204" pitchFamily="34" charset="0"/>
              </a:rPr>
              <a:t>sprint refinament</a:t>
            </a:r>
            <a:endParaRPr lang="es-ES"/>
          </a:p>
        </p:txBody>
      </p:sp>
      <p:sp>
        <p:nvSpPr>
          <p:cNvPr id="24" name="Rectángulo 23">
            <a:extLst>
              <a:ext uri="{FF2B5EF4-FFF2-40B4-BE49-F238E27FC236}">
                <a16:creationId xmlns:a16="http://schemas.microsoft.com/office/drawing/2014/main" id="{C2331783-7F5E-1C02-D1EF-6FA8B0A072FA}"/>
              </a:ext>
            </a:extLst>
          </p:cNvPr>
          <p:cNvSpPr/>
          <p:nvPr/>
        </p:nvSpPr>
        <p:spPr>
          <a:xfrm>
            <a:off x="4197738" y="5307258"/>
            <a:ext cx="4598291"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a:t>Revisión  de los objetivos del spring</a:t>
            </a:r>
            <a:endParaRPr lang="es-ES" dirty="0"/>
          </a:p>
        </p:txBody>
      </p:sp>
    </p:spTree>
    <p:extLst>
      <p:ext uri="{BB962C8B-B14F-4D97-AF65-F5344CB8AC3E}">
        <p14:creationId xmlns:p14="http://schemas.microsoft.com/office/powerpoint/2010/main" val="3928107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DA76F3F3-99B3-AF68-0102-6BCD65223D89}"/>
              </a:ext>
            </a:extLst>
          </p:cNvPr>
          <p:cNvSpPr>
            <a:spLocks noGrp="1"/>
          </p:cNvSpPr>
          <p:nvPr>
            <p:ph type="title"/>
          </p:nvPr>
        </p:nvSpPr>
        <p:spPr/>
        <p:txBody>
          <a:bodyPr>
            <a:noAutofit/>
          </a:bodyPr>
          <a:lstStyle/>
          <a:p>
            <a:r>
              <a:rPr lang="es-ES" sz="3200" b="1">
                <a:latin typeface="Verdana" panose="020B0604030504040204" pitchFamily="34" charset="0"/>
                <a:ea typeface="Verdana" panose="020B0604030504040204" pitchFamily="34" charset="0"/>
              </a:rPr>
              <a:t>Reunión de planificación del sprint (sprint planning meeting).</a:t>
            </a:r>
            <a:endParaRPr lang="es-ES" sz="3200"/>
          </a:p>
        </p:txBody>
      </p:sp>
      <p:sp>
        <p:nvSpPr>
          <p:cNvPr id="3" name="Marcador de contenido 2">
            <a:extLst>
              <a:ext uri="{FF2B5EF4-FFF2-40B4-BE49-F238E27FC236}">
                <a16:creationId xmlns:a16="http://schemas.microsoft.com/office/drawing/2014/main" id="{67DFFA46-E230-424F-AAD3-589894E4ABDC}"/>
              </a:ext>
            </a:extLst>
          </p:cNvPr>
          <p:cNvSpPr>
            <a:spLocks noGrp="1"/>
          </p:cNvSpPr>
          <p:nvPr>
            <p:ph type="body" sz="quarter" idx="13"/>
          </p:nvPr>
        </p:nvSpPr>
        <p:spPr>
          <a:xfrm>
            <a:off x="281354" y="1009649"/>
            <a:ext cx="11099870" cy="4838700"/>
          </a:xfrm>
        </p:spPr>
        <p:txBody>
          <a:bodyPr>
            <a:normAutofit fontScale="77500" lnSpcReduction="20000"/>
          </a:bodyPr>
          <a:lstStyle/>
          <a:p>
            <a:pPr algn="l">
              <a:lnSpc>
                <a:spcPct val="120000"/>
              </a:lnSpc>
            </a:pPr>
            <a:r>
              <a:rPr lang="es-ES" sz="1800" b="0" i="0" u="none" strike="noStrike" baseline="0">
                <a:solidFill>
                  <a:srgbClr val="666767"/>
                </a:solidFill>
                <a:latin typeface="Verdana" panose="020B0604030504040204" pitchFamily="34" charset="0"/>
                <a:ea typeface="Verdana" panose="020B0604030504040204" pitchFamily="34" charset="0"/>
              </a:rPr>
              <a:t>Tiene </a:t>
            </a:r>
            <a:r>
              <a:rPr lang="es-ES" sz="1800" b="0" i="0" u="none" strike="noStrike" baseline="0" dirty="0">
                <a:solidFill>
                  <a:srgbClr val="666767"/>
                </a:solidFill>
                <a:latin typeface="Verdana" panose="020B0604030504040204" pitchFamily="34" charset="0"/>
                <a:ea typeface="Verdana" panose="020B0604030504040204" pitchFamily="34" charset="0"/>
              </a:rPr>
              <a:t>una duración de 8 horas para </a:t>
            </a:r>
            <a:r>
              <a:rPr lang="es-ES" sz="1800" b="0" i="0" u="none" strike="noStrike" baseline="0" dirty="0" err="1">
                <a:solidFill>
                  <a:srgbClr val="666767"/>
                </a:solidFill>
                <a:latin typeface="Verdana" panose="020B0604030504040204" pitchFamily="34" charset="0"/>
                <a:ea typeface="Verdana" panose="020B0604030504040204" pitchFamily="34" charset="0"/>
              </a:rPr>
              <a:t>sprints</a:t>
            </a:r>
            <a:r>
              <a:rPr lang="es-ES" sz="1800" b="0" i="0" u="none" strike="noStrike" baseline="0" dirty="0">
                <a:solidFill>
                  <a:srgbClr val="666767"/>
                </a:solidFill>
                <a:latin typeface="Verdana" panose="020B0604030504040204" pitchFamily="34" charset="0"/>
                <a:ea typeface="Verdana" panose="020B0604030504040204" pitchFamily="34" charset="0"/>
              </a:rPr>
              <a:t> de un mes. Para </a:t>
            </a:r>
            <a:r>
              <a:rPr lang="es-ES" sz="1800" b="0" i="0" u="none" strike="noStrike" baseline="0" dirty="0" err="1">
                <a:solidFill>
                  <a:srgbClr val="666767"/>
                </a:solidFill>
                <a:latin typeface="Verdana" panose="020B0604030504040204" pitchFamily="34" charset="0"/>
                <a:ea typeface="Verdana" panose="020B0604030504040204" pitchFamily="34" charset="0"/>
              </a:rPr>
              <a:t>sprints</a:t>
            </a:r>
            <a:r>
              <a:rPr lang="es-ES" sz="1800" b="0" i="0" u="none" strike="noStrike" baseline="0" dirty="0">
                <a:solidFill>
                  <a:srgbClr val="666767"/>
                </a:solidFill>
                <a:latin typeface="Verdana" panose="020B0604030504040204" pitchFamily="34" charset="0"/>
                <a:ea typeface="Verdana" panose="020B0604030504040204" pitchFamily="34" charset="0"/>
              </a:rPr>
              <a:t> más cortos la duración es severamente más corta.</a:t>
            </a:r>
          </a:p>
          <a:p>
            <a:pPr marL="0" indent="0" algn="l">
              <a:lnSpc>
                <a:spcPct val="120000"/>
              </a:lnSpc>
              <a:buNone/>
            </a:pPr>
            <a:r>
              <a:rPr lang="es-ES" sz="1800" b="1" i="0" u="none" strike="noStrike" baseline="0" dirty="0">
                <a:solidFill>
                  <a:srgbClr val="666767"/>
                </a:solidFill>
                <a:latin typeface="Verdana" panose="020B0604030504040204" pitchFamily="34" charset="0"/>
                <a:ea typeface="Verdana" panose="020B0604030504040204" pitchFamily="34" charset="0"/>
              </a:rPr>
              <a:t>Objetivo</a:t>
            </a:r>
          </a:p>
          <a:p>
            <a:pPr algn="l">
              <a:lnSpc>
                <a:spcPct val="120000"/>
              </a:lnSpc>
            </a:pPr>
            <a:r>
              <a:rPr lang="es-ES" sz="1800" b="0" i="0" u="none" strike="noStrike" baseline="0" dirty="0">
                <a:solidFill>
                  <a:srgbClr val="666767"/>
                </a:solidFill>
                <a:latin typeface="Verdana" panose="020B0604030504040204" pitchFamily="34" charset="0"/>
                <a:ea typeface="Verdana" panose="020B0604030504040204" pitchFamily="34" charset="0"/>
              </a:rPr>
              <a:t>El objetivo de la reunión es el de planificar la cantidad de trabajo a la que el equipo se va a comprometer a construir durante el próximo sprint.</a:t>
            </a:r>
          </a:p>
          <a:p>
            <a:pPr marL="0" indent="0" algn="l">
              <a:lnSpc>
                <a:spcPct val="120000"/>
              </a:lnSpc>
              <a:buNone/>
            </a:pPr>
            <a:r>
              <a:rPr lang="es-ES" sz="1800" b="1" i="0" u="none" strike="noStrike" baseline="0" dirty="0">
                <a:solidFill>
                  <a:srgbClr val="666767"/>
                </a:solidFill>
                <a:latin typeface="Verdana" panose="020B0604030504040204" pitchFamily="34" charset="0"/>
                <a:ea typeface="Verdana" panose="020B0604030504040204" pitchFamily="34" charset="0"/>
              </a:rPr>
              <a:t>Organización</a:t>
            </a:r>
          </a:p>
          <a:p>
            <a:pPr algn="l">
              <a:lnSpc>
                <a:spcPct val="120000"/>
              </a:lnSpc>
            </a:pPr>
            <a:r>
              <a:rPr lang="es-ES" sz="1800" b="0" i="0" u="none" strike="noStrike" baseline="0" dirty="0">
                <a:solidFill>
                  <a:srgbClr val="666767"/>
                </a:solidFill>
                <a:latin typeface="Verdana" panose="020B0604030504040204" pitchFamily="34" charset="0"/>
                <a:ea typeface="Verdana" panose="020B0604030504040204" pitchFamily="34" charset="0"/>
              </a:rPr>
              <a:t>La reunión de planificación responde a dos preguntas: </a:t>
            </a:r>
          </a:p>
          <a:p>
            <a:pPr marL="0" indent="0" algn="l">
              <a:lnSpc>
                <a:spcPct val="120000"/>
              </a:lnSpc>
              <a:buNone/>
            </a:pPr>
            <a:r>
              <a:rPr lang="es-ES" sz="1800" dirty="0">
                <a:solidFill>
                  <a:srgbClr val="666767"/>
                </a:solidFill>
                <a:latin typeface="Verdana" panose="020B0604030504040204" pitchFamily="34" charset="0"/>
                <a:ea typeface="Verdana" panose="020B0604030504040204" pitchFamily="34" charset="0"/>
              </a:rPr>
              <a:t>	</a:t>
            </a:r>
            <a:r>
              <a:rPr lang="es-ES" sz="1800" b="1" dirty="0">
                <a:solidFill>
                  <a:srgbClr val="666767"/>
                </a:solidFill>
                <a:latin typeface="Verdana" panose="020B0604030504040204" pitchFamily="34" charset="0"/>
                <a:ea typeface="Verdana" panose="020B0604030504040204" pitchFamily="34" charset="0"/>
              </a:rPr>
              <a:t>1º Estratégica: </a:t>
            </a:r>
          </a:p>
          <a:p>
            <a:pPr marL="0" indent="0" algn="l">
              <a:lnSpc>
                <a:spcPct val="120000"/>
              </a:lnSpc>
              <a:buNone/>
            </a:pPr>
            <a:r>
              <a:rPr lang="es-ES" sz="1800" b="0" i="0" u="none" strike="noStrike" baseline="0" dirty="0">
                <a:solidFill>
                  <a:srgbClr val="666767"/>
                </a:solidFill>
                <a:latin typeface="Verdana" panose="020B0604030504040204" pitchFamily="34" charset="0"/>
                <a:ea typeface="Verdana" panose="020B0604030504040204" pitchFamily="34" charset="0"/>
              </a:rPr>
              <a:t>		</a:t>
            </a:r>
            <a:r>
              <a:rPr lang="es-ES" sz="1800" b="0" i="0" u="sng" strike="noStrike" baseline="0" dirty="0">
                <a:solidFill>
                  <a:srgbClr val="666767"/>
                </a:solidFill>
                <a:latin typeface="Verdana" panose="020B0604030504040204" pitchFamily="34" charset="0"/>
                <a:ea typeface="Verdana" panose="020B0604030504040204" pitchFamily="34" charset="0"/>
              </a:rPr>
              <a:t>Pregunta</a:t>
            </a:r>
            <a:r>
              <a:rPr lang="es-ES" sz="1800" b="0" i="0" u="none" strike="noStrike" baseline="0" dirty="0">
                <a:solidFill>
                  <a:srgbClr val="666767"/>
                </a:solidFill>
                <a:latin typeface="Verdana" panose="020B0604030504040204" pitchFamily="34" charset="0"/>
                <a:ea typeface="Verdana" panose="020B0604030504040204" pitchFamily="34" charset="0"/>
              </a:rPr>
              <a:t>: ¿Qué puede entregarse? </a:t>
            </a:r>
          </a:p>
          <a:p>
            <a:pPr marL="0" indent="0" algn="l">
              <a:lnSpc>
                <a:spcPct val="120000"/>
              </a:lnSpc>
              <a:buNone/>
            </a:pPr>
            <a:r>
              <a:rPr lang="es-ES" sz="1800" b="0" i="0" u="none" strike="noStrike" baseline="0" dirty="0">
                <a:solidFill>
                  <a:srgbClr val="666767"/>
                </a:solidFill>
                <a:latin typeface="Verdana" panose="020B0604030504040204" pitchFamily="34" charset="0"/>
                <a:ea typeface="Verdana" panose="020B0604030504040204" pitchFamily="34" charset="0"/>
              </a:rPr>
              <a:t>		</a:t>
            </a:r>
            <a:r>
              <a:rPr lang="es-ES" sz="1800" u="sng" dirty="0">
                <a:solidFill>
                  <a:srgbClr val="666767"/>
                </a:solidFill>
                <a:latin typeface="Verdana" panose="020B0604030504040204" pitchFamily="34" charset="0"/>
                <a:ea typeface="Verdana" panose="020B0604030504040204" pitchFamily="34" charset="0"/>
              </a:rPr>
              <a:t>Respuesta</a:t>
            </a:r>
            <a:r>
              <a:rPr lang="es-ES" sz="1800" dirty="0">
                <a:solidFill>
                  <a:srgbClr val="666767"/>
                </a:solidFill>
                <a:latin typeface="Verdana" panose="020B0604030504040204" pitchFamily="34" charset="0"/>
                <a:ea typeface="Verdana" panose="020B0604030504040204" pitchFamily="34" charset="0"/>
              </a:rPr>
              <a:t>: El dueño del producto explica al equipo de desarrollo las funcionalidades 		que habría que construir	en este sprint.</a:t>
            </a:r>
            <a:endParaRPr lang="es-ES" sz="1800" b="0" i="0" u="none" strike="noStrike" baseline="0" dirty="0">
              <a:solidFill>
                <a:srgbClr val="666767"/>
              </a:solidFill>
              <a:latin typeface="Verdana" panose="020B0604030504040204" pitchFamily="34" charset="0"/>
              <a:ea typeface="Verdana" panose="020B0604030504040204" pitchFamily="34" charset="0"/>
            </a:endParaRPr>
          </a:p>
          <a:p>
            <a:pPr marL="0" indent="0" algn="l">
              <a:lnSpc>
                <a:spcPct val="120000"/>
              </a:lnSpc>
              <a:buNone/>
            </a:pPr>
            <a:r>
              <a:rPr lang="es-ES" sz="1800" b="0" i="0" u="none" strike="noStrike" baseline="0" dirty="0">
                <a:solidFill>
                  <a:srgbClr val="666767"/>
                </a:solidFill>
                <a:latin typeface="Verdana" panose="020B0604030504040204" pitchFamily="34" charset="0"/>
                <a:ea typeface="Verdana" panose="020B0604030504040204" pitchFamily="34" charset="0"/>
              </a:rPr>
              <a:t>	</a:t>
            </a:r>
            <a:r>
              <a:rPr lang="es-ES" sz="1800" b="1" i="0" u="none" strike="noStrike" baseline="0" dirty="0">
                <a:solidFill>
                  <a:srgbClr val="666767"/>
                </a:solidFill>
                <a:latin typeface="Verdana" panose="020B0604030504040204" pitchFamily="34" charset="0"/>
                <a:ea typeface="Verdana" panose="020B0604030504040204" pitchFamily="34" charset="0"/>
              </a:rPr>
              <a:t>2º Táctica</a:t>
            </a:r>
            <a:r>
              <a:rPr lang="es-ES" sz="1800" b="0" i="0" u="none" strike="noStrike" baseline="0" dirty="0">
                <a:solidFill>
                  <a:srgbClr val="666767"/>
                </a:solidFill>
                <a:latin typeface="Verdana" panose="020B0604030504040204" pitchFamily="34" charset="0"/>
                <a:ea typeface="Verdana" panose="020B0604030504040204" pitchFamily="34" charset="0"/>
              </a:rPr>
              <a:t>:</a:t>
            </a:r>
          </a:p>
          <a:p>
            <a:pPr marL="0" indent="0" algn="l">
              <a:lnSpc>
                <a:spcPct val="120000"/>
              </a:lnSpc>
              <a:buNone/>
            </a:pPr>
            <a:r>
              <a:rPr lang="es-ES" sz="1800" b="0" i="0" u="none" strike="noStrike" baseline="0" dirty="0">
                <a:solidFill>
                  <a:srgbClr val="666767"/>
                </a:solidFill>
                <a:latin typeface="Verdana" panose="020B0604030504040204" pitchFamily="34" charset="0"/>
                <a:ea typeface="Verdana" panose="020B0604030504040204" pitchFamily="34" charset="0"/>
              </a:rPr>
              <a:t>		</a:t>
            </a:r>
            <a:r>
              <a:rPr lang="es-ES" sz="1800" b="0" i="0" u="sng" strike="noStrike" baseline="0" dirty="0">
                <a:solidFill>
                  <a:srgbClr val="666767"/>
                </a:solidFill>
                <a:latin typeface="Verdana" panose="020B0604030504040204" pitchFamily="34" charset="0"/>
                <a:ea typeface="Verdana" panose="020B0604030504040204" pitchFamily="34" charset="0"/>
              </a:rPr>
              <a:t>Pregunta:</a:t>
            </a:r>
            <a:r>
              <a:rPr lang="es-ES" sz="1800" b="0" i="0" u="none" strike="noStrike" baseline="0" dirty="0">
                <a:solidFill>
                  <a:srgbClr val="666767"/>
                </a:solidFill>
                <a:latin typeface="Verdana" panose="020B0604030504040204" pitchFamily="34" charset="0"/>
                <a:ea typeface="Verdana" panose="020B0604030504040204" pitchFamily="34" charset="0"/>
              </a:rPr>
              <a:t> ¿Cómo se conseguirá realizar el trabajo? </a:t>
            </a:r>
          </a:p>
          <a:p>
            <a:pPr marL="0" indent="0" algn="l">
              <a:lnSpc>
                <a:spcPct val="120000"/>
              </a:lnSpc>
              <a:buNone/>
            </a:pPr>
            <a:r>
              <a:rPr lang="es-ES" sz="1800" b="0" i="0" u="none" strike="noStrike" baseline="0" dirty="0">
                <a:solidFill>
                  <a:srgbClr val="666767"/>
                </a:solidFill>
                <a:latin typeface="Verdana" panose="020B0604030504040204" pitchFamily="34" charset="0"/>
                <a:ea typeface="Verdana" panose="020B0604030504040204" pitchFamily="34" charset="0"/>
              </a:rPr>
              <a:t>		</a:t>
            </a:r>
            <a:r>
              <a:rPr lang="es-ES" sz="1800" b="0" i="0" u="sng" strike="noStrike" baseline="0" dirty="0">
                <a:solidFill>
                  <a:srgbClr val="666767"/>
                </a:solidFill>
                <a:latin typeface="Verdana" panose="020B0604030504040204" pitchFamily="34" charset="0"/>
                <a:ea typeface="Verdana" panose="020B0604030504040204" pitchFamily="34" charset="0"/>
              </a:rPr>
              <a:t>Respuesta:</a:t>
            </a:r>
            <a:r>
              <a:rPr lang="es-ES" sz="1800" b="0" i="0" u="none" strike="noStrike" baseline="0" dirty="0">
                <a:solidFill>
                  <a:srgbClr val="666767"/>
                </a:solidFill>
                <a:latin typeface="Verdana" panose="020B0604030504040204" pitchFamily="34" charset="0"/>
                <a:ea typeface="Verdana" panose="020B0604030504040204" pitchFamily="34" charset="0"/>
              </a:rPr>
              <a:t> Los miembros del equipo irán desgranando en tareas más técnicas cada 		una de las historias para posteriormente establecer una conversación sobre la mejor 		manera de realizarlas y el esfuerzo que será necesario. </a:t>
            </a:r>
            <a:endParaRPr lang="es-ES"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3822FC7E-C178-4CDC-8A95-1B95E1408201}"/>
              </a:ext>
            </a:extLst>
          </p:cNvPr>
          <p:cNvPicPr>
            <a:picLocks noChangeAspect="1"/>
          </p:cNvPicPr>
          <p:nvPr/>
        </p:nvPicPr>
        <p:blipFill>
          <a:blip r:embed="rId2"/>
          <a:stretch>
            <a:fillRect/>
          </a:stretch>
        </p:blipFill>
        <p:spPr>
          <a:xfrm>
            <a:off x="11025149" y="-46391"/>
            <a:ext cx="1353429" cy="823031"/>
          </a:xfrm>
          <a:prstGeom prst="rect">
            <a:avLst/>
          </a:prstGeom>
        </p:spPr>
      </p:pic>
      <p:sp>
        <p:nvSpPr>
          <p:cNvPr id="2" name="Rectángulo 1">
            <a:extLst>
              <a:ext uri="{FF2B5EF4-FFF2-40B4-BE49-F238E27FC236}">
                <a16:creationId xmlns:a16="http://schemas.microsoft.com/office/drawing/2014/main" id="{1A4E845E-D645-4F4E-90B6-8BA1EEE4DA4A}"/>
              </a:ext>
            </a:extLst>
          </p:cNvPr>
          <p:cNvSpPr/>
          <p:nvPr/>
        </p:nvSpPr>
        <p:spPr>
          <a:xfrm>
            <a:off x="7377953" y="2850776"/>
            <a:ext cx="1882588" cy="5782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1º historias de usuario</a:t>
            </a:r>
          </a:p>
        </p:txBody>
      </p:sp>
      <p:sp>
        <p:nvSpPr>
          <p:cNvPr id="5" name="Rectángulo 4">
            <a:extLst>
              <a:ext uri="{FF2B5EF4-FFF2-40B4-BE49-F238E27FC236}">
                <a16:creationId xmlns:a16="http://schemas.microsoft.com/office/drawing/2014/main" id="{D44BF007-6FAB-4C71-9AFC-94B8DD6B493E}"/>
              </a:ext>
            </a:extLst>
          </p:cNvPr>
          <p:cNvSpPr/>
          <p:nvPr/>
        </p:nvSpPr>
        <p:spPr>
          <a:xfrm>
            <a:off x="9932893" y="2850775"/>
            <a:ext cx="1882588" cy="5782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2º trabajo a realizar</a:t>
            </a:r>
          </a:p>
        </p:txBody>
      </p:sp>
      <p:sp>
        <p:nvSpPr>
          <p:cNvPr id="6" name="Flecha: a la derecha 5">
            <a:extLst>
              <a:ext uri="{FF2B5EF4-FFF2-40B4-BE49-F238E27FC236}">
                <a16:creationId xmlns:a16="http://schemas.microsoft.com/office/drawing/2014/main" id="{2632DEBB-3E4D-4E67-B530-D7CE4D808809}"/>
              </a:ext>
            </a:extLst>
          </p:cNvPr>
          <p:cNvSpPr/>
          <p:nvPr/>
        </p:nvSpPr>
        <p:spPr>
          <a:xfrm>
            <a:off x="9368117" y="3000934"/>
            <a:ext cx="457200" cy="27790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714375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7EED6E-EE53-4F07-A508-0FFEF4BA80B0}"/>
              </a:ext>
            </a:extLst>
          </p:cNvPr>
          <p:cNvSpPr>
            <a:spLocks noGrp="1"/>
          </p:cNvSpPr>
          <p:nvPr>
            <p:ph type="title"/>
          </p:nvPr>
        </p:nvSpPr>
        <p:spPr/>
        <p:txBody>
          <a:bodyPr>
            <a:normAutofit/>
          </a:bodyPr>
          <a:lstStyle/>
          <a:p>
            <a:r>
              <a:rPr lang="es-ES" sz="4400" b="1">
                <a:latin typeface="Verdana" panose="020B0604030504040204" pitchFamily="34" charset="0"/>
                <a:ea typeface="Verdana" panose="020B0604030504040204" pitchFamily="34" charset="0"/>
              </a:rPr>
              <a:t>Daily Scrum</a:t>
            </a:r>
            <a:endParaRPr lang="es-ES" dirty="0"/>
          </a:p>
        </p:txBody>
      </p:sp>
      <p:pic>
        <p:nvPicPr>
          <p:cNvPr id="4" name="Imagen 3">
            <a:extLst>
              <a:ext uri="{FF2B5EF4-FFF2-40B4-BE49-F238E27FC236}">
                <a16:creationId xmlns:a16="http://schemas.microsoft.com/office/drawing/2014/main" id="{8ED40B60-E487-4DA4-B88C-928123454D5E}"/>
              </a:ext>
            </a:extLst>
          </p:cNvPr>
          <p:cNvPicPr>
            <a:picLocks noChangeAspect="1"/>
          </p:cNvPicPr>
          <p:nvPr/>
        </p:nvPicPr>
        <p:blipFill>
          <a:blip r:embed="rId2"/>
          <a:stretch>
            <a:fillRect/>
          </a:stretch>
        </p:blipFill>
        <p:spPr>
          <a:xfrm>
            <a:off x="11025149" y="-46391"/>
            <a:ext cx="1353429" cy="823031"/>
          </a:xfrm>
          <a:prstGeom prst="rect">
            <a:avLst/>
          </a:prstGeom>
        </p:spPr>
      </p:pic>
      <p:sp>
        <p:nvSpPr>
          <p:cNvPr id="6" name="CuadroTexto 5">
            <a:extLst>
              <a:ext uri="{FF2B5EF4-FFF2-40B4-BE49-F238E27FC236}">
                <a16:creationId xmlns:a16="http://schemas.microsoft.com/office/drawing/2014/main" id="{3C0B4165-3F05-4B05-6B30-7B214A2311C6}"/>
              </a:ext>
            </a:extLst>
          </p:cNvPr>
          <p:cNvSpPr txBox="1"/>
          <p:nvPr/>
        </p:nvSpPr>
        <p:spPr>
          <a:xfrm>
            <a:off x="982157" y="1091971"/>
            <a:ext cx="8973177" cy="4924425"/>
          </a:xfrm>
          <a:prstGeom prst="rect">
            <a:avLst/>
          </a:prstGeom>
          <a:noFill/>
        </p:spPr>
        <p:txBody>
          <a:bodyPr wrap="square">
            <a:spAutoFit/>
          </a:bodyPr>
          <a:lstStyle/>
          <a:p>
            <a:pPr marL="457200" lvl="1" indent="0">
              <a:buNone/>
            </a:pPr>
            <a:r>
              <a:rPr lang="es-ES" b="1" i="0" u="none" strike="noStrike" baseline="0">
                <a:solidFill>
                  <a:srgbClr val="666767"/>
                </a:solidFill>
                <a:latin typeface="Verdana" panose="020B0604030504040204" pitchFamily="34" charset="0"/>
                <a:ea typeface="Verdana" panose="020B0604030504040204" pitchFamily="34" charset="0"/>
              </a:rPr>
              <a:t>Objetivo</a:t>
            </a:r>
          </a:p>
          <a:p>
            <a:pPr lvl="1"/>
            <a:r>
              <a:rPr lang="es-ES" sz="2000" b="0" i="0" u="none" strike="noStrike" baseline="0">
                <a:solidFill>
                  <a:srgbClr val="666767"/>
                </a:solidFill>
                <a:latin typeface="Verdana" panose="020B0604030504040204" pitchFamily="34" charset="0"/>
                <a:ea typeface="Verdana" panose="020B0604030504040204" pitchFamily="34" charset="0"/>
              </a:rPr>
              <a:t>La comunicación entre los miembros del equipo resulta fundamental, por eso,</a:t>
            </a:r>
          </a:p>
          <a:p>
            <a:pPr lvl="1"/>
            <a:r>
              <a:rPr lang="es-ES" sz="2000" b="0" i="0" u="none" strike="noStrike" baseline="0">
                <a:solidFill>
                  <a:srgbClr val="666767"/>
                </a:solidFill>
                <a:latin typeface="Verdana" panose="020B0604030504040204" pitchFamily="34" charset="0"/>
                <a:ea typeface="Verdana" panose="020B0604030504040204" pitchFamily="34" charset="0"/>
              </a:rPr>
              <a:t>para conseguir que esta no se pierda y el equipo pueda sincronizarse en su</a:t>
            </a:r>
          </a:p>
          <a:p>
            <a:pPr lvl="1"/>
            <a:r>
              <a:rPr lang="es-ES" sz="2000" b="0" i="0" u="none" strike="noStrike" baseline="0">
                <a:solidFill>
                  <a:srgbClr val="666767"/>
                </a:solidFill>
                <a:latin typeface="Verdana" panose="020B0604030504040204" pitchFamily="34" charset="0"/>
                <a:ea typeface="Verdana" panose="020B0604030504040204" pitchFamily="34" charset="0"/>
              </a:rPr>
              <a:t>trabajo diario existe esta reunión diaria o </a:t>
            </a:r>
            <a:r>
              <a:rPr lang="es-ES" sz="2000" b="0" i="1" u="none" strike="noStrike" baseline="0">
                <a:solidFill>
                  <a:srgbClr val="666767"/>
                </a:solidFill>
                <a:latin typeface="Verdana" panose="020B0604030504040204" pitchFamily="34" charset="0"/>
                <a:ea typeface="Verdana" panose="020B0604030504040204" pitchFamily="34" charset="0"/>
              </a:rPr>
              <a:t>daily stand-up </a:t>
            </a:r>
            <a:r>
              <a:rPr lang="es-ES" sz="2000" b="0" i="0" u="none" strike="noStrike" baseline="0">
                <a:solidFill>
                  <a:srgbClr val="666767"/>
                </a:solidFill>
                <a:latin typeface="Verdana" panose="020B0604030504040204" pitchFamily="34" charset="0"/>
                <a:ea typeface="Verdana" panose="020B0604030504040204" pitchFamily="34" charset="0"/>
              </a:rPr>
              <a:t>en inglés. El objetivo es</a:t>
            </a:r>
          </a:p>
          <a:p>
            <a:pPr lvl="1"/>
            <a:r>
              <a:rPr lang="es-ES" sz="2000" b="0" i="0" u="none" strike="noStrike" baseline="0">
                <a:solidFill>
                  <a:srgbClr val="666767"/>
                </a:solidFill>
                <a:latin typeface="Verdana" panose="020B0604030504040204" pitchFamily="34" charset="0"/>
                <a:ea typeface="Verdana" panose="020B0604030504040204" pitchFamily="34" charset="0"/>
              </a:rPr>
              <a:t>que el equipo establezca un plan para las próximas 24 horas.</a:t>
            </a:r>
          </a:p>
          <a:p>
            <a:pPr marL="0" indent="0" algn="l">
              <a:buNone/>
            </a:pPr>
            <a:endParaRPr lang="es-ES" b="0" i="0" u="none" strike="noStrike" baseline="0">
              <a:solidFill>
                <a:srgbClr val="666767"/>
              </a:solidFill>
              <a:latin typeface="Verdana" panose="020B0604030504040204" pitchFamily="34" charset="0"/>
              <a:ea typeface="Verdana" panose="020B0604030504040204" pitchFamily="34" charset="0"/>
            </a:endParaRPr>
          </a:p>
          <a:p>
            <a:pPr marL="457200" lvl="1" indent="0">
              <a:buNone/>
            </a:pPr>
            <a:r>
              <a:rPr lang="es-ES" b="1">
                <a:solidFill>
                  <a:srgbClr val="666767"/>
                </a:solidFill>
                <a:latin typeface="Verdana" panose="020B0604030504040204" pitchFamily="34" charset="0"/>
                <a:ea typeface="Verdana" panose="020B0604030504040204" pitchFamily="34" charset="0"/>
              </a:rPr>
              <a:t>Organización</a:t>
            </a:r>
            <a:endParaRPr lang="es-ES" b="1" i="0" u="none" strike="noStrike" baseline="0">
              <a:solidFill>
                <a:srgbClr val="666767"/>
              </a:solidFill>
              <a:latin typeface="Verdana" panose="020B0604030504040204" pitchFamily="34" charset="0"/>
              <a:ea typeface="Verdana" panose="020B0604030504040204" pitchFamily="34" charset="0"/>
            </a:endParaRPr>
          </a:p>
          <a:p>
            <a:pPr lvl="1"/>
            <a:r>
              <a:rPr lang="es-ES" sz="2000" b="0" i="0" u="none" strike="noStrike" baseline="0">
                <a:solidFill>
                  <a:srgbClr val="666767"/>
                </a:solidFill>
                <a:latin typeface="Verdana" panose="020B0604030504040204" pitchFamily="34" charset="0"/>
                <a:ea typeface="Verdana" panose="020B0604030504040204" pitchFamily="34" charset="0"/>
              </a:rPr>
              <a:t>Debe realizarse en el mismo lugar y a la misma hora. </a:t>
            </a:r>
          </a:p>
          <a:p>
            <a:pPr lvl="1"/>
            <a:r>
              <a:rPr lang="es-ES" sz="2000" b="0" i="0" u="none" strike="noStrike" baseline="0">
                <a:solidFill>
                  <a:srgbClr val="666767"/>
                </a:solidFill>
                <a:latin typeface="Verdana" panose="020B0604030504040204" pitchFamily="34" charset="0"/>
                <a:ea typeface="Verdana" panose="020B0604030504040204" pitchFamily="34" charset="0"/>
              </a:rPr>
              <a:t>Todos los miembros del equipo comentan lo que hicieron el día anterior, lo que van a hacer hoy y si tienen algún impedimento o dependencia de algún tipo para conseguirlo.</a:t>
            </a:r>
          </a:p>
          <a:p>
            <a:pPr lvl="1"/>
            <a:r>
              <a:rPr lang="es-ES" sz="2000" b="0" i="0" u="none" strike="noStrike" baseline="0">
                <a:solidFill>
                  <a:srgbClr val="666767"/>
                </a:solidFill>
                <a:latin typeface="Verdana" panose="020B0604030504040204" pitchFamily="34" charset="0"/>
                <a:ea typeface="Verdana" panose="020B0604030504040204" pitchFamily="34" charset="0"/>
              </a:rPr>
              <a:t>Es una reunión rápida, de apenas 15 minutos por lo que se suele realizar de pie y en frente del tablero de tareas.</a:t>
            </a:r>
            <a:endParaRPr lang="es-ES" sz="36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232663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8A80B-3691-679F-A030-659EB13BABCE}"/>
              </a:ext>
            </a:extLst>
          </p:cNvPr>
          <p:cNvSpPr>
            <a:spLocks noGrp="1"/>
          </p:cNvSpPr>
          <p:nvPr>
            <p:ph type="title"/>
          </p:nvPr>
        </p:nvSpPr>
        <p:spPr/>
        <p:txBody>
          <a:bodyPr/>
          <a:lstStyle/>
          <a:p>
            <a:r>
              <a:rPr lang="es-ES"/>
              <a:t>Scrum de Scrum</a:t>
            </a:r>
          </a:p>
        </p:txBody>
      </p:sp>
      <p:sp>
        <p:nvSpPr>
          <p:cNvPr id="3" name="Marcador de contenido 2">
            <a:extLst>
              <a:ext uri="{FF2B5EF4-FFF2-40B4-BE49-F238E27FC236}">
                <a16:creationId xmlns:a16="http://schemas.microsoft.com/office/drawing/2014/main" id="{E0102D3C-B333-4D74-A69F-03CAE1BF76C5}"/>
              </a:ext>
            </a:extLst>
          </p:cNvPr>
          <p:cNvSpPr>
            <a:spLocks noGrp="1"/>
          </p:cNvSpPr>
          <p:nvPr>
            <p:ph type="body" sz="quarter" idx="13"/>
          </p:nvPr>
        </p:nvSpPr>
        <p:spPr>
          <a:xfrm>
            <a:off x="116542" y="1349997"/>
            <a:ext cx="6081835" cy="4158005"/>
          </a:xfrm>
        </p:spPr>
        <p:txBody>
          <a:bodyPr>
            <a:normAutofit fontScale="77500" lnSpcReduction="20000"/>
          </a:bodyPr>
          <a:lstStyle/>
          <a:p>
            <a:pPr marL="0" indent="0">
              <a:buNone/>
            </a:pPr>
            <a:r>
              <a:rPr lang="es-ES" b="1" dirty="0">
                <a:latin typeface="Verdana" panose="020B0604030504040204" pitchFamily="34" charset="0"/>
                <a:ea typeface="Verdana" panose="020B0604030504040204" pitchFamily="34" charset="0"/>
              </a:rPr>
              <a:t>Scrum de Scrum:</a:t>
            </a:r>
          </a:p>
          <a:p>
            <a:pPr marL="0" indent="0">
              <a:buNone/>
            </a:pPr>
            <a:endParaRPr lang="es-ES" b="1" dirty="0">
              <a:latin typeface="Verdana" panose="020B0604030504040204" pitchFamily="34" charset="0"/>
              <a:ea typeface="Verdana" panose="020B0604030504040204" pitchFamily="34" charset="0"/>
            </a:endParaRPr>
          </a:p>
          <a:p>
            <a:pPr>
              <a:lnSpc>
                <a:spcPct val="120000"/>
              </a:lnSpc>
            </a:pPr>
            <a:r>
              <a:rPr lang="es-ES" b="0" i="0" dirty="0">
                <a:solidFill>
                  <a:srgbClr val="202124"/>
                </a:solidFill>
                <a:effectLst/>
                <a:latin typeface="Verdana" panose="020B0604030504040204" pitchFamily="34" charset="0"/>
                <a:ea typeface="Verdana" panose="020B0604030504040204" pitchFamily="34" charset="0"/>
              </a:rPr>
              <a:t>La técnica de las </a:t>
            </a:r>
            <a:r>
              <a:rPr lang="es-ES" b="1" i="0" dirty="0">
                <a:solidFill>
                  <a:srgbClr val="202124"/>
                </a:solidFill>
                <a:effectLst/>
                <a:latin typeface="Verdana" panose="020B0604030504040204" pitchFamily="34" charset="0"/>
                <a:ea typeface="Verdana" panose="020B0604030504040204" pitchFamily="34" charset="0"/>
              </a:rPr>
              <a:t>reuniones Scrum</a:t>
            </a:r>
            <a:r>
              <a:rPr lang="es-ES" b="0" i="0" dirty="0">
                <a:solidFill>
                  <a:srgbClr val="202124"/>
                </a:solidFill>
                <a:effectLst/>
                <a:latin typeface="Verdana" panose="020B0604030504040204" pitchFamily="34" charset="0"/>
                <a:ea typeface="Verdana" panose="020B0604030504040204" pitchFamily="34" charset="0"/>
              </a:rPr>
              <a:t> de </a:t>
            </a:r>
            <a:r>
              <a:rPr lang="es-ES" b="1" i="0" dirty="0">
                <a:solidFill>
                  <a:srgbClr val="202124"/>
                </a:solidFill>
                <a:effectLst/>
                <a:latin typeface="Verdana" panose="020B0604030504040204" pitchFamily="34" charset="0"/>
                <a:ea typeface="Verdana" panose="020B0604030504040204" pitchFamily="34" charset="0"/>
              </a:rPr>
              <a:t>Scrum</a:t>
            </a:r>
            <a:r>
              <a:rPr lang="es-ES" b="0" i="0" dirty="0">
                <a:solidFill>
                  <a:srgbClr val="202124"/>
                </a:solidFill>
                <a:effectLst/>
                <a:latin typeface="Verdana" panose="020B0604030504040204" pitchFamily="34" charset="0"/>
                <a:ea typeface="Verdana" panose="020B0604030504040204" pitchFamily="34" charset="0"/>
              </a:rPr>
              <a:t> es la que permite escalar el enfoque </a:t>
            </a:r>
            <a:r>
              <a:rPr lang="es-ES" b="1" i="0" dirty="0">
                <a:solidFill>
                  <a:srgbClr val="202124"/>
                </a:solidFill>
                <a:effectLst/>
                <a:latin typeface="Verdana" panose="020B0604030504040204" pitchFamily="34" charset="0"/>
                <a:ea typeface="Verdana" panose="020B0604030504040204" pitchFamily="34" charset="0"/>
              </a:rPr>
              <a:t>Scrum</a:t>
            </a:r>
            <a:r>
              <a:rPr lang="es-ES" b="0" i="0" dirty="0">
                <a:solidFill>
                  <a:srgbClr val="202124"/>
                </a:solidFill>
                <a:effectLst/>
                <a:latin typeface="Verdana" panose="020B0604030504040204" pitchFamily="34" charset="0"/>
                <a:ea typeface="Verdana" panose="020B0604030504040204" pitchFamily="34" charset="0"/>
              </a:rPr>
              <a:t> para grandes equipos de proyecto a escala corporativa, esta técnica, consiste en dividir un equipo de muchas personas en diferentes equipos </a:t>
            </a:r>
            <a:r>
              <a:rPr lang="es-ES" b="1" i="0" dirty="0">
                <a:solidFill>
                  <a:srgbClr val="202124"/>
                </a:solidFill>
                <a:effectLst/>
                <a:latin typeface="Verdana" panose="020B0604030504040204" pitchFamily="34" charset="0"/>
                <a:ea typeface="Verdana" panose="020B0604030504040204" pitchFamily="34" charset="0"/>
              </a:rPr>
              <a:t>Scrum</a:t>
            </a:r>
            <a:r>
              <a:rPr lang="es-ES" b="0" i="0" dirty="0">
                <a:solidFill>
                  <a:srgbClr val="202124"/>
                </a:solidFill>
                <a:effectLst/>
                <a:latin typeface="Verdana" panose="020B0604030504040204" pitchFamily="34" charset="0"/>
                <a:ea typeface="Verdana" panose="020B0604030504040204" pitchFamily="34" charset="0"/>
              </a:rPr>
              <a:t>, para luego utilizar </a:t>
            </a:r>
            <a:r>
              <a:rPr lang="es-ES" b="1" i="0" dirty="0">
                <a:solidFill>
                  <a:srgbClr val="202124"/>
                </a:solidFill>
                <a:effectLst/>
                <a:latin typeface="Verdana" panose="020B0604030504040204" pitchFamily="34" charset="0"/>
                <a:ea typeface="Verdana" panose="020B0604030504040204" pitchFamily="34" charset="0"/>
              </a:rPr>
              <a:t>reuniones Scrum</a:t>
            </a:r>
            <a:r>
              <a:rPr lang="es-ES" b="0" i="0" dirty="0">
                <a:solidFill>
                  <a:srgbClr val="202124"/>
                </a:solidFill>
                <a:effectLst/>
                <a:latin typeface="Verdana" panose="020B0604030504040204" pitchFamily="34" charset="0"/>
                <a:ea typeface="Verdana" panose="020B0604030504040204" pitchFamily="34" charset="0"/>
              </a:rPr>
              <a:t> de </a:t>
            </a:r>
            <a:r>
              <a:rPr lang="es-ES" b="1" i="0" dirty="0">
                <a:solidFill>
                  <a:srgbClr val="202124"/>
                </a:solidFill>
                <a:effectLst/>
                <a:latin typeface="Verdana" panose="020B0604030504040204" pitchFamily="34" charset="0"/>
                <a:ea typeface="Verdana" panose="020B0604030504040204" pitchFamily="34" charset="0"/>
              </a:rPr>
              <a:t>Scrum</a:t>
            </a:r>
            <a:r>
              <a:rPr lang="es-ES" b="0" i="0" dirty="0">
                <a:solidFill>
                  <a:srgbClr val="202124"/>
                </a:solidFill>
                <a:effectLst/>
                <a:latin typeface="Verdana" panose="020B0604030504040204" pitchFamily="34" charset="0"/>
                <a:ea typeface="Verdana" panose="020B0604030504040204" pitchFamily="34" charset="0"/>
              </a:rPr>
              <a:t> para coordinarlos.</a:t>
            </a:r>
            <a:endParaRPr lang="es-ES"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1014D80C-756D-425F-8717-689070D6F565}"/>
              </a:ext>
            </a:extLst>
          </p:cNvPr>
          <p:cNvPicPr>
            <a:picLocks noChangeAspect="1"/>
          </p:cNvPicPr>
          <p:nvPr/>
        </p:nvPicPr>
        <p:blipFill>
          <a:blip r:embed="rId2"/>
          <a:stretch>
            <a:fillRect/>
          </a:stretch>
        </p:blipFill>
        <p:spPr>
          <a:xfrm>
            <a:off x="11025149" y="-46391"/>
            <a:ext cx="1353429" cy="823031"/>
          </a:xfrm>
          <a:prstGeom prst="rect">
            <a:avLst/>
          </a:prstGeom>
        </p:spPr>
      </p:pic>
      <p:pic>
        <p:nvPicPr>
          <p:cNvPr id="34818" name="Picture 2" descr="Personas, Amigos, Juntos, Contento, Niño, Persona">
            <a:extLst>
              <a:ext uri="{FF2B5EF4-FFF2-40B4-BE49-F238E27FC236}">
                <a16:creationId xmlns:a16="http://schemas.microsoft.com/office/drawing/2014/main" id="{F827C8C7-9238-4D0A-A652-F683B4116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007" y="1875622"/>
            <a:ext cx="5096015" cy="3397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07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72AA5-6DCD-4D95-B6C2-DB00990EDFC5}"/>
              </a:ext>
            </a:extLst>
          </p:cNvPr>
          <p:cNvSpPr>
            <a:spLocks noGrp="1"/>
          </p:cNvSpPr>
          <p:nvPr>
            <p:ph type="title"/>
          </p:nvPr>
        </p:nvSpPr>
        <p:spPr/>
        <p:txBody>
          <a:bodyPr/>
          <a:lstStyle/>
          <a:p>
            <a:r>
              <a:rPr lang="es-ES" dirty="0"/>
              <a:t>Reunión diaria- </a:t>
            </a:r>
            <a:r>
              <a:rPr lang="es-ES" dirty="0" err="1"/>
              <a:t>Daily</a:t>
            </a:r>
            <a:r>
              <a:rPr lang="es-ES" dirty="0"/>
              <a:t> Scrum</a:t>
            </a:r>
          </a:p>
        </p:txBody>
      </p:sp>
      <p:sp>
        <p:nvSpPr>
          <p:cNvPr id="5" name="Marcador de texto 4">
            <a:extLst>
              <a:ext uri="{FF2B5EF4-FFF2-40B4-BE49-F238E27FC236}">
                <a16:creationId xmlns:a16="http://schemas.microsoft.com/office/drawing/2014/main" id="{9BB192FA-1CBA-9424-6B9E-6CA6221A190B}"/>
              </a:ext>
            </a:extLst>
          </p:cNvPr>
          <p:cNvSpPr>
            <a:spLocks noGrp="1"/>
          </p:cNvSpPr>
          <p:nvPr>
            <p:ph type="body" sz="quarter" idx="13"/>
          </p:nvPr>
        </p:nvSpPr>
        <p:spPr/>
        <p:txBody>
          <a:bodyPr/>
          <a:lstStyle/>
          <a:p>
            <a:endParaRPr lang="es-ES"/>
          </a:p>
        </p:txBody>
      </p:sp>
      <p:pic>
        <p:nvPicPr>
          <p:cNvPr id="4" name="Picture 2" descr="Nota, Nota Adhesiva, Papel, Escocés">
            <a:extLst>
              <a:ext uri="{FF2B5EF4-FFF2-40B4-BE49-F238E27FC236}">
                <a16:creationId xmlns:a16="http://schemas.microsoft.com/office/drawing/2014/main" id="{4C04E52D-F848-4A26-9642-94DCF41FA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663" y="1590083"/>
            <a:ext cx="3733379" cy="15419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1BB0F9C-716A-4F1C-89EF-8EDA95ED926E}"/>
              </a:ext>
            </a:extLst>
          </p:cNvPr>
          <p:cNvSpPr txBox="1"/>
          <p:nvPr/>
        </p:nvSpPr>
        <p:spPr>
          <a:xfrm>
            <a:off x="3673054" y="995232"/>
            <a:ext cx="1888659"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Para qué</a:t>
            </a:r>
          </a:p>
        </p:txBody>
      </p:sp>
      <p:pic>
        <p:nvPicPr>
          <p:cNvPr id="6" name="Picture 2" descr="Nota, Nota Adhesiva, Papel, Escocés">
            <a:extLst>
              <a:ext uri="{FF2B5EF4-FFF2-40B4-BE49-F238E27FC236}">
                <a16:creationId xmlns:a16="http://schemas.microsoft.com/office/drawing/2014/main" id="{5EF45B88-4559-4281-B8D7-A8AAD168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612" y="1570790"/>
            <a:ext cx="3438839" cy="154199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35E851AC-6A0A-4691-B599-103507E16BB0}"/>
              </a:ext>
            </a:extLst>
          </p:cNvPr>
          <p:cNvSpPr txBox="1"/>
          <p:nvPr/>
        </p:nvSpPr>
        <p:spPr>
          <a:xfrm>
            <a:off x="5453857" y="3170664"/>
            <a:ext cx="1556836"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Quienes</a:t>
            </a:r>
          </a:p>
        </p:txBody>
      </p:sp>
      <p:sp>
        <p:nvSpPr>
          <p:cNvPr id="10" name="Flecha: a la derecha 9">
            <a:extLst>
              <a:ext uri="{FF2B5EF4-FFF2-40B4-BE49-F238E27FC236}">
                <a16:creationId xmlns:a16="http://schemas.microsoft.com/office/drawing/2014/main" id="{FBDC354A-1D50-472C-874B-23556C8C887D}"/>
              </a:ext>
            </a:extLst>
          </p:cNvPr>
          <p:cNvSpPr/>
          <p:nvPr/>
        </p:nvSpPr>
        <p:spPr>
          <a:xfrm>
            <a:off x="8851482" y="2943777"/>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a la derecha 10">
            <a:extLst>
              <a:ext uri="{FF2B5EF4-FFF2-40B4-BE49-F238E27FC236}">
                <a16:creationId xmlns:a16="http://schemas.microsoft.com/office/drawing/2014/main" id="{E1DC4DCA-4A37-4CBC-BC0E-F7D10709C628}"/>
              </a:ext>
            </a:extLst>
          </p:cNvPr>
          <p:cNvSpPr/>
          <p:nvPr/>
        </p:nvSpPr>
        <p:spPr>
          <a:xfrm>
            <a:off x="3073729" y="2946619"/>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Picture 2" descr="Nota, Nota Adhesiva, Papel, Escocés">
            <a:extLst>
              <a:ext uri="{FF2B5EF4-FFF2-40B4-BE49-F238E27FC236}">
                <a16:creationId xmlns:a16="http://schemas.microsoft.com/office/drawing/2014/main" id="{9D52DC17-AABE-4709-BA8E-F9CB554F1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27" y="3828081"/>
            <a:ext cx="2538563" cy="186015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ota, Nota Adhesiva, Papel, Escocés">
            <a:extLst>
              <a:ext uri="{FF2B5EF4-FFF2-40B4-BE49-F238E27FC236}">
                <a16:creationId xmlns:a16="http://schemas.microsoft.com/office/drawing/2014/main" id="{CB631016-1336-4AD3-A1AE-05862A258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816995"/>
            <a:ext cx="257888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ota, Nota Adhesiva, Papel, Escocés">
            <a:extLst>
              <a:ext uri="{FF2B5EF4-FFF2-40B4-BE49-F238E27FC236}">
                <a16:creationId xmlns:a16="http://schemas.microsoft.com/office/drawing/2014/main" id="{B70B96B0-E7BE-499D-B96F-ED4D6C5BB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974" y="5234323"/>
            <a:ext cx="2104370"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B7EE0051-4D00-46DF-82D6-07F244925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472" y="2490488"/>
            <a:ext cx="2104370"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257C49DC-FA70-449A-A1AB-67917D838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452" y="2341787"/>
            <a:ext cx="2845362" cy="20849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6BD2DFAC-CBD1-494A-8F99-6291700D4162}"/>
              </a:ext>
            </a:extLst>
          </p:cNvPr>
          <p:cNvSpPr txBox="1"/>
          <p:nvPr/>
        </p:nvSpPr>
        <p:spPr>
          <a:xfrm>
            <a:off x="3349249" y="1748567"/>
            <a:ext cx="2940228" cy="1200329"/>
          </a:xfrm>
          <a:prstGeom prst="rect">
            <a:avLst/>
          </a:prstGeom>
          <a:noFill/>
        </p:spPr>
        <p:txBody>
          <a:bodyPr wrap="none" rtlCol="0">
            <a:spAutoFit/>
          </a:bodyPr>
          <a:lstStyle/>
          <a:p>
            <a:r>
              <a:rPr lang="es-ES" sz="3600" dirty="0">
                <a:latin typeface="Brush Script Std" panose="03060802040607070404" pitchFamily="66" charset="0"/>
              </a:rPr>
              <a:t>Sincronización </a:t>
            </a:r>
          </a:p>
          <a:p>
            <a:r>
              <a:rPr lang="es-ES" sz="3600" dirty="0">
                <a:latin typeface="Brush Script Std" panose="03060802040607070404" pitchFamily="66" charset="0"/>
              </a:rPr>
              <a:t>del equipo</a:t>
            </a:r>
          </a:p>
        </p:txBody>
      </p:sp>
      <p:pic>
        <p:nvPicPr>
          <p:cNvPr id="18" name="Picture 2" descr="Nota, Nota Adhesiva, Papel, Escocés">
            <a:extLst>
              <a:ext uri="{FF2B5EF4-FFF2-40B4-BE49-F238E27FC236}">
                <a16:creationId xmlns:a16="http://schemas.microsoft.com/office/drawing/2014/main" id="{45A484ED-9A51-4980-B1EF-7F9D2712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771" y="4336138"/>
            <a:ext cx="2104370" cy="1541995"/>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E71CB039-746F-4983-8A35-969479280413}"/>
              </a:ext>
            </a:extLst>
          </p:cNvPr>
          <p:cNvSpPr txBox="1"/>
          <p:nvPr/>
        </p:nvSpPr>
        <p:spPr>
          <a:xfrm>
            <a:off x="6531171" y="1720977"/>
            <a:ext cx="1939955" cy="1200329"/>
          </a:xfrm>
          <a:prstGeom prst="rect">
            <a:avLst/>
          </a:prstGeom>
          <a:noFill/>
        </p:spPr>
        <p:txBody>
          <a:bodyPr wrap="none" rtlCol="0">
            <a:spAutoFit/>
          </a:bodyPr>
          <a:lstStyle/>
          <a:p>
            <a:r>
              <a:rPr lang="es-ES" sz="3600" dirty="0">
                <a:latin typeface="Brush Script Std" panose="03060802040607070404" pitchFamily="66" charset="0"/>
              </a:rPr>
              <a:t>Al inicio </a:t>
            </a:r>
          </a:p>
          <a:p>
            <a:r>
              <a:rPr lang="es-ES" sz="3600" dirty="0">
                <a:latin typeface="Brush Script Std" panose="03060802040607070404" pitchFamily="66" charset="0"/>
              </a:rPr>
              <a:t>del día</a:t>
            </a:r>
          </a:p>
        </p:txBody>
      </p:sp>
      <p:sp>
        <p:nvSpPr>
          <p:cNvPr id="20" name="CuadroTexto 19">
            <a:extLst>
              <a:ext uri="{FF2B5EF4-FFF2-40B4-BE49-F238E27FC236}">
                <a16:creationId xmlns:a16="http://schemas.microsoft.com/office/drawing/2014/main" id="{8DAFF2DA-6C0E-4D36-B621-DFBA8866E2F9}"/>
              </a:ext>
            </a:extLst>
          </p:cNvPr>
          <p:cNvSpPr txBox="1"/>
          <p:nvPr/>
        </p:nvSpPr>
        <p:spPr>
          <a:xfrm>
            <a:off x="3463690" y="4212178"/>
            <a:ext cx="1622560" cy="1200329"/>
          </a:xfrm>
          <a:prstGeom prst="rect">
            <a:avLst/>
          </a:prstGeom>
          <a:noFill/>
        </p:spPr>
        <p:txBody>
          <a:bodyPr wrap="none" rtlCol="0">
            <a:spAutoFit/>
          </a:bodyPr>
          <a:lstStyle/>
          <a:p>
            <a:r>
              <a:rPr lang="es-ES" sz="3600" dirty="0" err="1">
                <a:latin typeface="Brush Script Std" panose="03060802040607070404" pitchFamily="66" charset="0"/>
              </a:rPr>
              <a:t>Product</a:t>
            </a:r>
            <a:endParaRPr lang="es-ES" sz="3600" dirty="0">
              <a:latin typeface="Brush Script Std" panose="03060802040607070404" pitchFamily="66" charset="0"/>
            </a:endParaRPr>
          </a:p>
          <a:p>
            <a:r>
              <a:rPr lang="es-ES" sz="3600" dirty="0" err="1">
                <a:latin typeface="Brush Script Std" panose="03060802040607070404" pitchFamily="66" charset="0"/>
              </a:rPr>
              <a:t>Owner</a:t>
            </a:r>
            <a:endParaRPr lang="es-ES" sz="3600" dirty="0">
              <a:latin typeface="Brush Script Std" panose="03060802040607070404" pitchFamily="66" charset="0"/>
            </a:endParaRPr>
          </a:p>
        </p:txBody>
      </p:sp>
      <p:sp>
        <p:nvSpPr>
          <p:cNvPr id="21" name="CuadroTexto 20">
            <a:extLst>
              <a:ext uri="{FF2B5EF4-FFF2-40B4-BE49-F238E27FC236}">
                <a16:creationId xmlns:a16="http://schemas.microsoft.com/office/drawing/2014/main" id="{52027E1A-9BC3-44BE-A071-2581BF91FB51}"/>
              </a:ext>
            </a:extLst>
          </p:cNvPr>
          <p:cNvSpPr txBox="1"/>
          <p:nvPr/>
        </p:nvSpPr>
        <p:spPr>
          <a:xfrm>
            <a:off x="6319878" y="3980477"/>
            <a:ext cx="2068195" cy="1200329"/>
          </a:xfrm>
          <a:prstGeom prst="rect">
            <a:avLst/>
          </a:prstGeom>
          <a:noFill/>
        </p:spPr>
        <p:txBody>
          <a:bodyPr wrap="none" rtlCol="0">
            <a:spAutoFit/>
          </a:bodyPr>
          <a:lstStyle/>
          <a:p>
            <a:r>
              <a:rPr lang="es-ES" sz="3600" dirty="0">
                <a:latin typeface="Brush Script Std" panose="03060802040607070404" pitchFamily="66" charset="0"/>
              </a:rPr>
              <a:t>Equipo </a:t>
            </a:r>
          </a:p>
          <a:p>
            <a:r>
              <a:rPr lang="es-ES" sz="3600" dirty="0">
                <a:latin typeface="Brush Script Std" panose="03060802040607070404" pitchFamily="66" charset="0"/>
              </a:rPr>
              <a:t>constructor</a:t>
            </a:r>
          </a:p>
        </p:txBody>
      </p:sp>
      <p:sp>
        <p:nvSpPr>
          <p:cNvPr id="22" name="CuadroTexto 21">
            <a:extLst>
              <a:ext uri="{FF2B5EF4-FFF2-40B4-BE49-F238E27FC236}">
                <a16:creationId xmlns:a16="http://schemas.microsoft.com/office/drawing/2014/main" id="{19809675-53FA-4565-B689-A6510CC886B0}"/>
              </a:ext>
            </a:extLst>
          </p:cNvPr>
          <p:cNvSpPr txBox="1"/>
          <p:nvPr/>
        </p:nvSpPr>
        <p:spPr>
          <a:xfrm>
            <a:off x="6096000" y="5282187"/>
            <a:ext cx="1561646" cy="1200329"/>
          </a:xfrm>
          <a:prstGeom prst="rect">
            <a:avLst/>
          </a:prstGeom>
          <a:noFill/>
        </p:spPr>
        <p:txBody>
          <a:bodyPr wrap="none" rtlCol="0">
            <a:spAutoFit/>
          </a:bodyPr>
          <a:lstStyle/>
          <a:p>
            <a:r>
              <a:rPr lang="es-ES" sz="3600" dirty="0" err="1">
                <a:latin typeface="Brush Script Std" panose="03060802040607070404" pitchFamily="66" charset="0"/>
              </a:rPr>
              <a:t>Scrm</a:t>
            </a:r>
            <a:r>
              <a:rPr lang="es-ES" sz="3600" dirty="0">
                <a:latin typeface="Brush Script Std" panose="03060802040607070404" pitchFamily="66" charset="0"/>
              </a:rPr>
              <a:t> </a:t>
            </a:r>
          </a:p>
          <a:p>
            <a:r>
              <a:rPr lang="es-ES" sz="3600" dirty="0">
                <a:latin typeface="Brush Script Std" panose="03060802040607070404" pitchFamily="66" charset="0"/>
              </a:rPr>
              <a:t>Master</a:t>
            </a:r>
          </a:p>
        </p:txBody>
      </p:sp>
      <p:sp>
        <p:nvSpPr>
          <p:cNvPr id="23" name="CuadroTexto 22">
            <a:extLst>
              <a:ext uri="{FF2B5EF4-FFF2-40B4-BE49-F238E27FC236}">
                <a16:creationId xmlns:a16="http://schemas.microsoft.com/office/drawing/2014/main" id="{BAFF9A50-9007-4115-9597-83A5A593EA75}"/>
              </a:ext>
            </a:extLst>
          </p:cNvPr>
          <p:cNvSpPr txBox="1"/>
          <p:nvPr/>
        </p:nvSpPr>
        <p:spPr>
          <a:xfrm>
            <a:off x="855349" y="2782669"/>
            <a:ext cx="1266693" cy="646331"/>
          </a:xfrm>
          <a:prstGeom prst="rect">
            <a:avLst/>
          </a:prstGeom>
          <a:noFill/>
        </p:spPr>
        <p:txBody>
          <a:bodyPr wrap="none" rtlCol="0">
            <a:spAutoFit/>
          </a:bodyPr>
          <a:lstStyle/>
          <a:p>
            <a:r>
              <a:rPr lang="es-ES" sz="3600" dirty="0">
                <a:latin typeface="Brush Script Std" panose="03060802040607070404" pitchFamily="66" charset="0"/>
              </a:rPr>
              <a:t>Panel</a:t>
            </a:r>
          </a:p>
        </p:txBody>
      </p:sp>
      <p:sp>
        <p:nvSpPr>
          <p:cNvPr id="24" name="CuadroTexto 23">
            <a:extLst>
              <a:ext uri="{FF2B5EF4-FFF2-40B4-BE49-F238E27FC236}">
                <a16:creationId xmlns:a16="http://schemas.microsoft.com/office/drawing/2014/main" id="{DED450F8-B8CE-466F-9C2A-0B2FBB9EF9A9}"/>
              </a:ext>
            </a:extLst>
          </p:cNvPr>
          <p:cNvSpPr txBox="1"/>
          <p:nvPr/>
        </p:nvSpPr>
        <p:spPr>
          <a:xfrm>
            <a:off x="9803082" y="2616665"/>
            <a:ext cx="2400016" cy="1077218"/>
          </a:xfrm>
          <a:prstGeom prst="rect">
            <a:avLst/>
          </a:prstGeom>
          <a:noFill/>
        </p:spPr>
        <p:txBody>
          <a:bodyPr wrap="none" rtlCol="0">
            <a:spAutoFit/>
          </a:bodyPr>
          <a:lstStyle/>
          <a:p>
            <a:r>
              <a:rPr lang="es-ES" sz="3200" dirty="0">
                <a:latin typeface="Brush Script Std" panose="03060802040607070404" pitchFamily="66" charset="0"/>
              </a:rPr>
              <a:t>Impedimentos</a:t>
            </a:r>
          </a:p>
          <a:p>
            <a:r>
              <a:rPr lang="es-ES" sz="3200" dirty="0">
                <a:latin typeface="Brush Script Std" panose="03060802040607070404" pitchFamily="66" charset="0"/>
              </a:rPr>
              <a:t>O bloqueos</a:t>
            </a:r>
          </a:p>
        </p:txBody>
      </p:sp>
      <p:sp>
        <p:nvSpPr>
          <p:cNvPr id="25" name="CuadroTexto 24">
            <a:extLst>
              <a:ext uri="{FF2B5EF4-FFF2-40B4-BE49-F238E27FC236}">
                <a16:creationId xmlns:a16="http://schemas.microsoft.com/office/drawing/2014/main" id="{1E69273E-95F4-4216-A00E-81D95381D9B5}"/>
              </a:ext>
            </a:extLst>
          </p:cNvPr>
          <p:cNvSpPr txBox="1"/>
          <p:nvPr/>
        </p:nvSpPr>
        <p:spPr>
          <a:xfrm>
            <a:off x="9947339" y="4487905"/>
            <a:ext cx="1555234" cy="1200329"/>
          </a:xfrm>
          <a:prstGeom prst="rect">
            <a:avLst/>
          </a:prstGeom>
          <a:noFill/>
        </p:spPr>
        <p:txBody>
          <a:bodyPr wrap="none" rtlCol="0">
            <a:spAutoFit/>
          </a:bodyPr>
          <a:lstStyle/>
          <a:p>
            <a:r>
              <a:rPr lang="es-ES" sz="3600" dirty="0">
                <a:latin typeface="Brush Script Std" panose="03060802040607070404" pitchFamily="66" charset="0"/>
              </a:rPr>
              <a:t>15 </a:t>
            </a:r>
          </a:p>
          <a:p>
            <a:r>
              <a:rPr lang="es-ES" sz="3600" dirty="0">
                <a:latin typeface="Brush Script Std" panose="03060802040607070404" pitchFamily="66" charset="0"/>
              </a:rPr>
              <a:t>minutos</a:t>
            </a:r>
          </a:p>
        </p:txBody>
      </p:sp>
      <p:sp>
        <p:nvSpPr>
          <p:cNvPr id="26" name="CuadroTexto 25">
            <a:extLst>
              <a:ext uri="{FF2B5EF4-FFF2-40B4-BE49-F238E27FC236}">
                <a16:creationId xmlns:a16="http://schemas.microsoft.com/office/drawing/2014/main" id="{FFE9AE5D-17B1-4909-B175-C2B7AB7B4655}"/>
              </a:ext>
            </a:extLst>
          </p:cNvPr>
          <p:cNvSpPr txBox="1"/>
          <p:nvPr/>
        </p:nvSpPr>
        <p:spPr>
          <a:xfrm>
            <a:off x="6569097" y="1030863"/>
            <a:ext cx="1585690"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Cuando</a:t>
            </a:r>
          </a:p>
        </p:txBody>
      </p:sp>
      <p:pic>
        <p:nvPicPr>
          <p:cNvPr id="27" name="Imagen 26">
            <a:extLst>
              <a:ext uri="{FF2B5EF4-FFF2-40B4-BE49-F238E27FC236}">
                <a16:creationId xmlns:a16="http://schemas.microsoft.com/office/drawing/2014/main" id="{F829F1F4-17C3-4700-8854-10010C5D9437}"/>
              </a:ext>
            </a:extLst>
          </p:cNvPr>
          <p:cNvPicPr>
            <a:picLocks noChangeAspect="1"/>
          </p:cNvPicPr>
          <p:nvPr/>
        </p:nvPicPr>
        <p:blipFill>
          <a:blip r:embed="rId3"/>
          <a:stretch>
            <a:fillRect/>
          </a:stretch>
        </p:blipFill>
        <p:spPr>
          <a:xfrm>
            <a:off x="11025149" y="-46391"/>
            <a:ext cx="1353429" cy="823031"/>
          </a:xfrm>
          <a:prstGeom prst="rect">
            <a:avLst/>
          </a:prstGeom>
        </p:spPr>
      </p:pic>
    </p:spTree>
    <p:extLst>
      <p:ext uri="{BB962C8B-B14F-4D97-AF65-F5344CB8AC3E}">
        <p14:creationId xmlns:p14="http://schemas.microsoft.com/office/powerpoint/2010/main" val="11482811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50707A-E43B-6BB1-BB8B-CFF8A15E28B6}"/>
              </a:ext>
            </a:extLst>
          </p:cNvPr>
          <p:cNvSpPr>
            <a:spLocks noGrp="1"/>
          </p:cNvSpPr>
          <p:nvPr>
            <p:ph type="title"/>
          </p:nvPr>
        </p:nvSpPr>
        <p:spPr/>
        <p:txBody>
          <a:bodyPr/>
          <a:lstStyle/>
          <a:p>
            <a:r>
              <a:rPr lang="es-ES"/>
              <a:t>Agenda</a:t>
            </a:r>
          </a:p>
        </p:txBody>
      </p:sp>
      <p:sp>
        <p:nvSpPr>
          <p:cNvPr id="3" name="Marcador de contenido 2">
            <a:extLst>
              <a:ext uri="{FF2B5EF4-FFF2-40B4-BE49-F238E27FC236}">
                <a16:creationId xmlns:a16="http://schemas.microsoft.com/office/drawing/2014/main" id="{AC07DBDD-4980-49CD-8049-755209CB5E4A}"/>
              </a:ext>
            </a:extLst>
          </p:cNvPr>
          <p:cNvSpPr>
            <a:spLocks noGrp="1"/>
          </p:cNvSpPr>
          <p:nvPr>
            <p:ph type="body" sz="quarter" idx="13"/>
          </p:nvPr>
        </p:nvSpPr>
        <p:spPr>
          <a:xfrm>
            <a:off x="627529" y="916404"/>
            <a:ext cx="10198100" cy="4838700"/>
          </a:xfrm>
        </p:spPr>
        <p:txBody>
          <a:bodyPr>
            <a:normAutofit fontScale="92500" lnSpcReduction="10000"/>
          </a:bodyPr>
          <a:lstStyle/>
          <a:p>
            <a:pPr marL="0" indent="0" algn="l">
              <a:lnSpc>
                <a:spcPct val="120000"/>
              </a:lnSpc>
              <a:buNone/>
            </a:pPr>
            <a:r>
              <a:rPr lang="es-ES" b="0" i="0">
                <a:solidFill>
                  <a:srgbClr val="222222"/>
                </a:solidFill>
                <a:effectLst/>
                <a:latin typeface="Verdana" panose="020B0604030504040204" pitchFamily="34" charset="0"/>
                <a:ea typeface="Verdana" panose="020B0604030504040204" pitchFamily="34" charset="0"/>
              </a:rPr>
              <a:t>Tener </a:t>
            </a:r>
            <a:r>
              <a:rPr lang="es-ES" b="0" i="0" dirty="0">
                <a:solidFill>
                  <a:srgbClr val="222222"/>
                </a:solidFill>
                <a:effectLst/>
                <a:latin typeface="Verdana" panose="020B0604030504040204" pitchFamily="34" charset="0"/>
                <a:ea typeface="Verdana" panose="020B0604030504040204" pitchFamily="34" charset="0"/>
              </a:rPr>
              <a:t>una agenda clara (algo que debería ser obligatorio en cualquier reunión o evento) que contemple como mínimo:</a:t>
            </a:r>
          </a:p>
          <a:p>
            <a:pPr marL="914400" lvl="1" indent="-457200">
              <a:lnSpc>
                <a:spcPct val="120000"/>
              </a:lnSpc>
              <a:buFont typeface="+mj-lt"/>
              <a:buAutoNum type="arabicPeriod"/>
            </a:pPr>
            <a:r>
              <a:rPr lang="es-ES" sz="2600" b="0" i="0" dirty="0">
                <a:solidFill>
                  <a:srgbClr val="222222"/>
                </a:solidFill>
                <a:effectLst/>
                <a:latin typeface="Verdana" panose="020B0604030504040204" pitchFamily="34" charset="0"/>
                <a:ea typeface="Verdana" panose="020B0604030504040204" pitchFamily="34" charset="0"/>
              </a:rPr>
              <a:t>La hora inicio y fin del evento</a:t>
            </a:r>
          </a:p>
          <a:p>
            <a:pPr marL="914400" lvl="1" indent="-457200">
              <a:lnSpc>
                <a:spcPct val="120000"/>
              </a:lnSpc>
              <a:buFont typeface="+mj-lt"/>
              <a:buAutoNum type="arabicPeriod"/>
            </a:pPr>
            <a:r>
              <a:rPr lang="es-ES" sz="2600" b="0" i="0" dirty="0">
                <a:solidFill>
                  <a:srgbClr val="222222"/>
                </a:solidFill>
                <a:effectLst/>
                <a:latin typeface="Verdana" panose="020B0604030504040204" pitchFamily="34" charset="0"/>
                <a:ea typeface="Verdana" panose="020B0604030504040204" pitchFamily="34" charset="0"/>
              </a:rPr>
              <a:t>Un descanso si lo viéramos necesario</a:t>
            </a:r>
          </a:p>
          <a:p>
            <a:pPr marL="914400" lvl="1" indent="-457200">
              <a:lnSpc>
                <a:spcPct val="120000"/>
              </a:lnSpc>
              <a:buFont typeface="+mj-lt"/>
              <a:buAutoNum type="arabicPeriod"/>
            </a:pPr>
            <a:r>
              <a:rPr lang="es-ES" sz="2600" b="0" i="0" dirty="0">
                <a:solidFill>
                  <a:srgbClr val="222222"/>
                </a:solidFill>
                <a:effectLst/>
                <a:latin typeface="Verdana" panose="020B0604030504040204" pitchFamily="34" charset="0"/>
                <a:ea typeface="Verdana" panose="020B0604030504040204" pitchFamily="34" charset="0"/>
              </a:rPr>
              <a:t>Los puntos que se van a abordar</a:t>
            </a:r>
          </a:p>
          <a:p>
            <a:pPr algn="l">
              <a:lnSpc>
                <a:spcPct val="120000"/>
              </a:lnSpc>
            </a:pPr>
            <a:r>
              <a:rPr lang="es-ES" b="0" i="0" dirty="0">
                <a:solidFill>
                  <a:srgbClr val="222222"/>
                </a:solidFill>
                <a:effectLst/>
                <a:latin typeface="Verdana" panose="020B0604030504040204" pitchFamily="34" charset="0"/>
                <a:ea typeface="Verdana" panose="020B0604030504040204" pitchFamily="34" charset="0"/>
              </a:rPr>
              <a:t>Estos sencillos puntos, nos ayudan a manejar el time-</a:t>
            </a:r>
            <a:r>
              <a:rPr lang="es-ES" b="0" i="0" dirty="0" err="1">
                <a:solidFill>
                  <a:srgbClr val="222222"/>
                </a:solidFill>
                <a:effectLst/>
                <a:latin typeface="Verdana" panose="020B0604030504040204" pitchFamily="34" charset="0"/>
                <a:ea typeface="Verdana" panose="020B0604030504040204" pitchFamily="34" charset="0"/>
              </a:rPr>
              <a:t>boxing</a:t>
            </a:r>
            <a:r>
              <a:rPr lang="es-ES" b="0" i="0" dirty="0">
                <a:solidFill>
                  <a:srgbClr val="222222"/>
                </a:solidFill>
                <a:effectLst/>
                <a:latin typeface="Verdana" panose="020B0604030504040204" pitchFamily="34" charset="0"/>
                <a:ea typeface="Verdana" panose="020B0604030504040204" pitchFamily="34" charset="0"/>
              </a:rPr>
              <a:t>, las expectativas, a mantener el foco y a que todo el mundo sepa dónde está en cada momento. Si además, podemos incluirla en la convocatoria, pues mejor que mejor, que siempre hay algún despistado/a.</a:t>
            </a:r>
          </a:p>
          <a:p>
            <a:endParaRPr lang="es-ES" dirty="0"/>
          </a:p>
        </p:txBody>
      </p:sp>
      <p:pic>
        <p:nvPicPr>
          <p:cNvPr id="39938" name="Picture 2" descr="Agenda, Trabajo, Escritorio, Oficina">
            <a:extLst>
              <a:ext uri="{FF2B5EF4-FFF2-40B4-BE49-F238E27FC236}">
                <a16:creationId xmlns:a16="http://schemas.microsoft.com/office/drawing/2014/main" id="{43C10DF1-CC73-4B05-BFA1-30828C076B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1854" y="5687544"/>
            <a:ext cx="3346101" cy="113427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A6749E9A-00DB-4025-A187-46844F5D1150}"/>
              </a:ext>
            </a:extLst>
          </p:cNvPr>
          <p:cNvPicPr>
            <a:picLocks noChangeAspect="1"/>
          </p:cNvPicPr>
          <p:nvPr/>
        </p:nvPicPr>
        <p:blipFill>
          <a:blip r:embed="rId3"/>
          <a:stretch>
            <a:fillRect/>
          </a:stretch>
        </p:blipFill>
        <p:spPr>
          <a:xfrm>
            <a:off x="11025149" y="-46391"/>
            <a:ext cx="1353429" cy="823031"/>
          </a:xfrm>
          <a:prstGeom prst="rect">
            <a:avLst/>
          </a:prstGeom>
        </p:spPr>
      </p:pic>
    </p:spTree>
    <p:extLst>
      <p:ext uri="{BB962C8B-B14F-4D97-AF65-F5344CB8AC3E}">
        <p14:creationId xmlns:p14="http://schemas.microsoft.com/office/powerpoint/2010/main" val="41250041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56D1CC-D056-27E6-06E1-5C6ECF080486}"/>
              </a:ext>
            </a:extLst>
          </p:cNvPr>
          <p:cNvSpPr>
            <a:spLocks noGrp="1"/>
          </p:cNvSpPr>
          <p:nvPr>
            <p:ph type="title"/>
          </p:nvPr>
        </p:nvSpPr>
        <p:spPr/>
        <p:txBody>
          <a:bodyPr>
            <a:normAutofit/>
          </a:bodyPr>
          <a:lstStyle/>
          <a:p>
            <a:r>
              <a:rPr lang="es-ES" sz="4400" b="1">
                <a:latin typeface="Verdana" panose="020B0604030504040204" pitchFamily="34" charset="0"/>
                <a:ea typeface="Verdana" panose="020B0604030504040204" pitchFamily="34" charset="0"/>
              </a:rPr>
              <a:t>Revisión (sprint review)</a:t>
            </a:r>
            <a:endParaRPr lang="es-ES"/>
          </a:p>
        </p:txBody>
      </p:sp>
      <p:sp>
        <p:nvSpPr>
          <p:cNvPr id="3" name="Marcador de contenido 2">
            <a:extLst>
              <a:ext uri="{FF2B5EF4-FFF2-40B4-BE49-F238E27FC236}">
                <a16:creationId xmlns:a16="http://schemas.microsoft.com/office/drawing/2014/main" id="{83B76E98-D9DE-4C9E-939B-706FB5426337}"/>
              </a:ext>
            </a:extLst>
          </p:cNvPr>
          <p:cNvSpPr>
            <a:spLocks noGrp="1"/>
          </p:cNvSpPr>
          <p:nvPr>
            <p:ph type="body" sz="quarter" idx="13"/>
          </p:nvPr>
        </p:nvSpPr>
        <p:spPr>
          <a:xfrm>
            <a:off x="238578" y="1033141"/>
            <a:ext cx="11953421" cy="5448046"/>
          </a:xfrm>
        </p:spPr>
        <p:txBody>
          <a:bodyPr>
            <a:normAutofit fontScale="62500" lnSpcReduction="20000"/>
          </a:bodyPr>
          <a:lstStyle/>
          <a:p>
            <a:pPr marL="0" indent="0" algn="l">
              <a:lnSpc>
                <a:spcPct val="120000"/>
              </a:lnSpc>
              <a:buNone/>
            </a:pPr>
            <a:r>
              <a:rPr lang="es-ES" sz="2600" b="1" i="0" u="none" strike="noStrike" baseline="0">
                <a:solidFill>
                  <a:srgbClr val="666767"/>
                </a:solidFill>
                <a:latin typeface="Verdana" panose="020B0604030504040204" pitchFamily="34" charset="0"/>
                <a:ea typeface="Verdana" panose="020B0604030504040204" pitchFamily="34" charset="0"/>
              </a:rPr>
              <a:t>Objetivo</a:t>
            </a:r>
            <a:endParaRPr lang="es-ES" sz="2600" b="1" i="0" u="none" strike="noStrike" baseline="0" dirty="0">
              <a:solidFill>
                <a:srgbClr val="666767"/>
              </a:solidFill>
              <a:latin typeface="Verdana" panose="020B0604030504040204" pitchFamily="34" charset="0"/>
              <a:ea typeface="Verdana" panose="020B0604030504040204" pitchFamily="34" charset="0"/>
            </a:endParaRPr>
          </a:p>
          <a:p>
            <a:pPr marL="0" indent="0" algn="l">
              <a:lnSpc>
                <a:spcPct val="120000"/>
              </a:lnSpc>
              <a:buNone/>
            </a:pPr>
            <a:r>
              <a:rPr lang="es-ES" sz="2600" b="0" i="0" u="none" strike="noStrike" baseline="0" dirty="0">
                <a:solidFill>
                  <a:srgbClr val="666767"/>
                </a:solidFill>
                <a:latin typeface="Verdana" panose="020B0604030504040204" pitchFamily="34" charset="0"/>
                <a:ea typeface="Verdana" panose="020B0604030504040204" pitchFamily="34" charset="0"/>
              </a:rPr>
              <a:t>Al final del Sprint se lleva a cabo una Revisión de Sprint para:</a:t>
            </a:r>
          </a:p>
          <a:p>
            <a:pPr marL="0" indent="0" algn="l">
              <a:lnSpc>
                <a:spcPct val="120000"/>
              </a:lnSpc>
              <a:buNone/>
            </a:pPr>
            <a:r>
              <a:rPr lang="es-ES" sz="2600" b="0" i="0" u="none" strike="noStrike" baseline="0" dirty="0">
                <a:solidFill>
                  <a:srgbClr val="666767"/>
                </a:solidFill>
                <a:latin typeface="Verdana" panose="020B0604030504040204" pitchFamily="34" charset="0"/>
                <a:ea typeface="Verdana" panose="020B0604030504040204" pitchFamily="34" charset="0"/>
              </a:rPr>
              <a:t>	1. Inspeccionar el Incremento</a:t>
            </a:r>
          </a:p>
          <a:p>
            <a:pPr marL="0" indent="0" algn="l">
              <a:lnSpc>
                <a:spcPct val="120000"/>
              </a:lnSpc>
              <a:buNone/>
            </a:pPr>
            <a:r>
              <a:rPr lang="es-ES" sz="2600" dirty="0">
                <a:solidFill>
                  <a:srgbClr val="666767"/>
                </a:solidFill>
                <a:latin typeface="Verdana" panose="020B0604030504040204" pitchFamily="34" charset="0"/>
                <a:ea typeface="Verdana" panose="020B0604030504040204" pitchFamily="34" charset="0"/>
              </a:rPr>
              <a:t>	2.</a:t>
            </a:r>
            <a:r>
              <a:rPr lang="es-ES" sz="2600" b="0" i="0" u="none" strike="noStrike" baseline="0" dirty="0">
                <a:solidFill>
                  <a:srgbClr val="666767"/>
                </a:solidFill>
                <a:latin typeface="Verdana" panose="020B0604030504040204" pitchFamily="34" charset="0"/>
                <a:ea typeface="Verdana" panose="020B0604030504040204" pitchFamily="34" charset="0"/>
              </a:rPr>
              <a:t> Adaptar la Lista de Producto si fuese necesario. </a:t>
            </a:r>
          </a:p>
          <a:p>
            <a:pPr marL="0" indent="0" algn="l">
              <a:lnSpc>
                <a:spcPct val="120000"/>
              </a:lnSpc>
              <a:buNone/>
            </a:pPr>
            <a:r>
              <a:rPr lang="es-ES" sz="2600" b="0" i="0" u="none" strike="noStrike" baseline="0" dirty="0">
                <a:solidFill>
                  <a:srgbClr val="666767"/>
                </a:solidFill>
                <a:latin typeface="Verdana" panose="020B0604030504040204" pitchFamily="34" charset="0"/>
                <a:ea typeface="Verdana" panose="020B0604030504040204" pitchFamily="34" charset="0"/>
              </a:rPr>
              <a:t>	3. El Equipo Scrum y los interesados deben colaborar acerca de lo que se hizo durante el Sprint. Y así a su   vez, los asistentes colaboran para determinar las siguientes cosas que podrían hacerse para optimizar el valor. </a:t>
            </a:r>
          </a:p>
          <a:p>
            <a:pPr marL="0" indent="0" algn="l">
              <a:lnSpc>
                <a:spcPct val="120000"/>
              </a:lnSpc>
              <a:buNone/>
            </a:pPr>
            <a:r>
              <a:rPr lang="es-ES" sz="2600" b="0" i="0" u="none" strike="noStrike" baseline="0" dirty="0">
                <a:solidFill>
                  <a:srgbClr val="666767"/>
                </a:solidFill>
                <a:latin typeface="Verdana" panose="020B0604030504040204" pitchFamily="34" charset="0"/>
                <a:ea typeface="Verdana" panose="020B0604030504040204" pitchFamily="34" charset="0"/>
              </a:rPr>
              <a:t>	4. Se trata de una reunión informal, no una reunión de seguimiento, y la presentación del Incremento tiene como objetivo facilitar la retroalimentación de información y fomentar la colaboración. </a:t>
            </a:r>
          </a:p>
          <a:p>
            <a:pPr marL="0" indent="0" algn="l">
              <a:lnSpc>
                <a:spcPct val="120000"/>
              </a:lnSpc>
              <a:buNone/>
            </a:pPr>
            <a:r>
              <a:rPr lang="es-ES" sz="2600" b="0" i="0" u="none" strike="noStrike" baseline="0" dirty="0">
                <a:solidFill>
                  <a:srgbClr val="666767"/>
                </a:solidFill>
                <a:latin typeface="Verdana" panose="020B0604030504040204" pitchFamily="34" charset="0"/>
                <a:ea typeface="Verdana" panose="020B0604030504040204" pitchFamily="34" charset="0"/>
              </a:rPr>
              <a:t>	5. Se trata de una reunión restringida a un bloque de tiempo de cuatro horas para </a:t>
            </a:r>
            <a:r>
              <a:rPr lang="es-ES" sz="2600" b="0" i="0" u="none" strike="noStrike" baseline="0" dirty="0" err="1">
                <a:solidFill>
                  <a:srgbClr val="666767"/>
                </a:solidFill>
                <a:latin typeface="Verdana" panose="020B0604030504040204" pitchFamily="34" charset="0"/>
                <a:ea typeface="Verdana" panose="020B0604030504040204" pitchFamily="34" charset="0"/>
              </a:rPr>
              <a:t>Sprints</a:t>
            </a:r>
            <a:r>
              <a:rPr lang="es-ES" sz="2600" b="0" i="0" u="none" strike="noStrike" baseline="0" dirty="0">
                <a:solidFill>
                  <a:srgbClr val="666767"/>
                </a:solidFill>
                <a:latin typeface="Verdana" panose="020B0604030504040204" pitchFamily="34" charset="0"/>
                <a:ea typeface="Verdana" panose="020B0604030504040204" pitchFamily="34" charset="0"/>
              </a:rPr>
              <a:t> de un mes. Para </a:t>
            </a:r>
            <a:r>
              <a:rPr lang="es-ES" sz="2600" b="0" i="0" u="none" strike="noStrike" baseline="0" dirty="0" err="1">
                <a:solidFill>
                  <a:srgbClr val="666767"/>
                </a:solidFill>
                <a:latin typeface="Verdana" panose="020B0604030504040204" pitchFamily="34" charset="0"/>
                <a:ea typeface="Verdana" panose="020B0604030504040204" pitchFamily="34" charset="0"/>
              </a:rPr>
              <a:t>Sprints</a:t>
            </a:r>
            <a:r>
              <a:rPr lang="es-ES" sz="2600" b="0" i="0" u="none" strike="noStrike" baseline="0" dirty="0">
                <a:solidFill>
                  <a:srgbClr val="666767"/>
                </a:solidFill>
                <a:latin typeface="Verdana" panose="020B0604030504040204" pitchFamily="34" charset="0"/>
                <a:ea typeface="Verdana" panose="020B0604030504040204" pitchFamily="34" charset="0"/>
              </a:rPr>
              <a:t> más cortos, se reserva un tiempo usualmente más corto. </a:t>
            </a:r>
          </a:p>
          <a:p>
            <a:pPr marL="0" indent="0" algn="l">
              <a:lnSpc>
                <a:spcPct val="120000"/>
              </a:lnSpc>
              <a:buNone/>
            </a:pPr>
            <a:r>
              <a:rPr lang="es-ES" sz="2600" dirty="0">
                <a:solidFill>
                  <a:srgbClr val="666767"/>
                </a:solidFill>
                <a:latin typeface="Verdana" panose="020B0604030504040204" pitchFamily="34" charset="0"/>
                <a:ea typeface="Verdana" panose="020B0604030504040204" pitchFamily="34" charset="0"/>
              </a:rPr>
              <a:t>	6. </a:t>
            </a:r>
            <a:r>
              <a:rPr lang="es-ES" sz="2600" b="0" i="0" u="none" strike="noStrike" baseline="0" dirty="0">
                <a:solidFill>
                  <a:srgbClr val="666767"/>
                </a:solidFill>
                <a:latin typeface="Verdana" panose="020B0604030504040204" pitchFamily="34" charset="0"/>
                <a:ea typeface="Verdana" panose="020B0604030504040204" pitchFamily="34" charset="0"/>
              </a:rPr>
              <a:t>El Scrum Master se asegura de que el evento se lleve a cabo y que los asistentes entiendan su propósito. El Scrum Master enseña a todos a mantener el evento dentro del bloque de tiempo fijado.</a:t>
            </a:r>
          </a:p>
          <a:p>
            <a:pPr marL="0" indent="0">
              <a:lnSpc>
                <a:spcPct val="120000"/>
              </a:lnSpc>
              <a:buNone/>
            </a:pPr>
            <a:r>
              <a:rPr lang="es-ES" sz="2600" b="1" dirty="0">
                <a:solidFill>
                  <a:srgbClr val="666767"/>
                </a:solidFill>
                <a:latin typeface="Verdana" panose="020B0604030504040204" pitchFamily="34" charset="0"/>
                <a:ea typeface="Verdana" panose="020B0604030504040204" pitchFamily="34" charset="0"/>
              </a:rPr>
              <a:t>Organización</a:t>
            </a:r>
          </a:p>
          <a:p>
            <a:pPr algn="l">
              <a:lnSpc>
                <a:spcPct val="120000"/>
              </a:lnSpc>
            </a:pPr>
            <a:r>
              <a:rPr lang="es-ES" sz="2600" b="0" i="0" u="none" strike="noStrike" baseline="0" dirty="0">
                <a:solidFill>
                  <a:srgbClr val="666767"/>
                </a:solidFill>
                <a:latin typeface="Verdana" panose="020B0604030504040204" pitchFamily="34" charset="0"/>
                <a:ea typeface="Verdana" panose="020B0604030504040204" pitchFamily="34" charset="0"/>
              </a:rPr>
              <a:t>Se comentan los elementos sobre los que se han trabajado durante el Sprint.</a:t>
            </a:r>
          </a:p>
          <a:p>
            <a:pPr algn="l">
              <a:lnSpc>
                <a:spcPct val="120000"/>
              </a:lnSpc>
            </a:pPr>
            <a:r>
              <a:rPr lang="es-ES" sz="2600" b="0" i="0" u="none" strike="noStrike" baseline="0" dirty="0">
                <a:solidFill>
                  <a:srgbClr val="666767"/>
                </a:solidFill>
                <a:latin typeface="Verdana" panose="020B0604030504040204" pitchFamily="34" charset="0"/>
                <a:ea typeface="Verdana" panose="020B0604030504040204" pitchFamily="34" charset="0"/>
              </a:rPr>
              <a:t>El formato puede ser variado ya que el objetivo es interaccionar con el producto construido.</a:t>
            </a:r>
            <a:endParaRPr lang="es-ES" sz="2600" dirty="0">
              <a:latin typeface="Verdana" panose="020B0604030504040204" pitchFamily="34" charset="0"/>
              <a:ea typeface="Verdana" panose="020B0604030504040204" pitchFamily="34" charset="0"/>
            </a:endParaRPr>
          </a:p>
          <a:p>
            <a:pPr marL="0" indent="0">
              <a:lnSpc>
                <a:spcPct val="120000"/>
              </a:lnSpc>
              <a:buNone/>
            </a:pPr>
            <a:endParaRPr lang="es-ES" sz="2600" dirty="0">
              <a:latin typeface="Verdana" panose="020B0604030504040204" pitchFamily="34" charset="0"/>
              <a:ea typeface="Verdana" panose="020B0604030504040204" pitchFamily="34" charset="0"/>
            </a:endParaRPr>
          </a:p>
          <a:p>
            <a:pPr marL="0" indent="0">
              <a:lnSpc>
                <a:spcPct val="120000"/>
              </a:lnSpc>
              <a:buNone/>
            </a:pPr>
            <a:endParaRPr lang="es-ES" sz="1400" dirty="0">
              <a:latin typeface="Verdana" panose="020B0604030504040204" pitchFamily="34" charset="0"/>
              <a:ea typeface="Verdana" panose="020B0604030504040204" pitchFamily="34" charset="0"/>
            </a:endParaRPr>
          </a:p>
          <a:p>
            <a:pPr>
              <a:lnSpc>
                <a:spcPct val="120000"/>
              </a:lnSpc>
            </a:pPr>
            <a:endParaRPr lang="es-ES" sz="1400" dirty="0">
              <a:latin typeface="Verdana" panose="020B0604030504040204" pitchFamily="34" charset="0"/>
              <a:ea typeface="Verdana" panose="020B0604030504040204" pitchFamily="34" charset="0"/>
            </a:endParaRPr>
          </a:p>
        </p:txBody>
      </p:sp>
      <p:pic>
        <p:nvPicPr>
          <p:cNvPr id="5" name="Imagen 4">
            <a:extLst>
              <a:ext uri="{FF2B5EF4-FFF2-40B4-BE49-F238E27FC236}">
                <a16:creationId xmlns:a16="http://schemas.microsoft.com/office/drawing/2014/main" id="{2E7324A0-3ACC-497C-BB09-DD3FABEFF38E}"/>
              </a:ext>
            </a:extLst>
          </p:cNvPr>
          <p:cNvPicPr>
            <a:picLocks noChangeAspect="1"/>
          </p:cNvPicPr>
          <p:nvPr/>
        </p:nvPicPr>
        <p:blipFill>
          <a:blip r:embed="rId2"/>
          <a:stretch>
            <a:fillRect/>
          </a:stretch>
        </p:blipFill>
        <p:spPr>
          <a:xfrm>
            <a:off x="10971361" y="6034969"/>
            <a:ext cx="1353429" cy="823031"/>
          </a:xfrm>
          <a:prstGeom prst="rect">
            <a:avLst/>
          </a:prstGeom>
        </p:spPr>
      </p:pic>
    </p:spTree>
    <p:extLst>
      <p:ext uri="{BB962C8B-B14F-4D97-AF65-F5344CB8AC3E}">
        <p14:creationId xmlns:p14="http://schemas.microsoft.com/office/powerpoint/2010/main" val="28821351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72AA5-6DCD-4D95-B6C2-DB00990EDFC5}"/>
              </a:ext>
            </a:extLst>
          </p:cNvPr>
          <p:cNvSpPr>
            <a:spLocks noGrp="1"/>
          </p:cNvSpPr>
          <p:nvPr>
            <p:ph type="title"/>
          </p:nvPr>
        </p:nvSpPr>
        <p:spPr/>
        <p:txBody>
          <a:bodyPr/>
          <a:lstStyle/>
          <a:p>
            <a:r>
              <a:rPr lang="es-ES" dirty="0"/>
              <a:t>Revisión / demo</a:t>
            </a:r>
          </a:p>
        </p:txBody>
      </p:sp>
      <p:sp>
        <p:nvSpPr>
          <p:cNvPr id="5" name="Marcador de texto 4">
            <a:extLst>
              <a:ext uri="{FF2B5EF4-FFF2-40B4-BE49-F238E27FC236}">
                <a16:creationId xmlns:a16="http://schemas.microsoft.com/office/drawing/2014/main" id="{7EC99966-5E13-09EA-E0EC-9454BE812419}"/>
              </a:ext>
            </a:extLst>
          </p:cNvPr>
          <p:cNvSpPr>
            <a:spLocks noGrp="1"/>
          </p:cNvSpPr>
          <p:nvPr>
            <p:ph type="body" sz="quarter" idx="13"/>
          </p:nvPr>
        </p:nvSpPr>
        <p:spPr/>
        <p:txBody>
          <a:bodyPr/>
          <a:lstStyle/>
          <a:p>
            <a:endParaRPr lang="es-ES"/>
          </a:p>
        </p:txBody>
      </p:sp>
      <p:pic>
        <p:nvPicPr>
          <p:cNvPr id="4" name="Picture 2" descr="Nota, Nota Adhesiva, Papel, Escocés">
            <a:extLst>
              <a:ext uri="{FF2B5EF4-FFF2-40B4-BE49-F238E27FC236}">
                <a16:creationId xmlns:a16="http://schemas.microsoft.com/office/drawing/2014/main" id="{4C04E52D-F848-4A26-9642-94DCF41FA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663" y="1590083"/>
            <a:ext cx="3733379" cy="15419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1BB0F9C-716A-4F1C-89EF-8EDA95ED926E}"/>
              </a:ext>
            </a:extLst>
          </p:cNvPr>
          <p:cNvSpPr txBox="1"/>
          <p:nvPr/>
        </p:nvSpPr>
        <p:spPr>
          <a:xfrm>
            <a:off x="3673054" y="995232"/>
            <a:ext cx="1888659"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Para qué</a:t>
            </a:r>
          </a:p>
        </p:txBody>
      </p:sp>
      <p:pic>
        <p:nvPicPr>
          <p:cNvPr id="6" name="Picture 2" descr="Nota, Nota Adhesiva, Papel, Escocés">
            <a:extLst>
              <a:ext uri="{FF2B5EF4-FFF2-40B4-BE49-F238E27FC236}">
                <a16:creationId xmlns:a16="http://schemas.microsoft.com/office/drawing/2014/main" id="{5EF45B88-4559-4281-B8D7-A8AAD168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612" y="1570790"/>
            <a:ext cx="3438839" cy="154199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35E851AC-6A0A-4691-B599-103507E16BB0}"/>
              </a:ext>
            </a:extLst>
          </p:cNvPr>
          <p:cNvSpPr txBox="1"/>
          <p:nvPr/>
        </p:nvSpPr>
        <p:spPr>
          <a:xfrm>
            <a:off x="5453857" y="3170664"/>
            <a:ext cx="1556836"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Quienes</a:t>
            </a:r>
          </a:p>
        </p:txBody>
      </p:sp>
      <p:sp>
        <p:nvSpPr>
          <p:cNvPr id="10" name="Flecha: a la derecha 9">
            <a:extLst>
              <a:ext uri="{FF2B5EF4-FFF2-40B4-BE49-F238E27FC236}">
                <a16:creationId xmlns:a16="http://schemas.microsoft.com/office/drawing/2014/main" id="{FBDC354A-1D50-472C-874B-23556C8C887D}"/>
              </a:ext>
            </a:extLst>
          </p:cNvPr>
          <p:cNvSpPr/>
          <p:nvPr/>
        </p:nvSpPr>
        <p:spPr>
          <a:xfrm>
            <a:off x="8851482" y="2943777"/>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a la derecha 10">
            <a:extLst>
              <a:ext uri="{FF2B5EF4-FFF2-40B4-BE49-F238E27FC236}">
                <a16:creationId xmlns:a16="http://schemas.microsoft.com/office/drawing/2014/main" id="{E1DC4DCA-4A37-4CBC-BC0E-F7D10709C628}"/>
              </a:ext>
            </a:extLst>
          </p:cNvPr>
          <p:cNvSpPr/>
          <p:nvPr/>
        </p:nvSpPr>
        <p:spPr>
          <a:xfrm>
            <a:off x="2397301" y="2991218"/>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Picture 2" descr="Nota, Nota Adhesiva, Papel, Escocés">
            <a:extLst>
              <a:ext uri="{FF2B5EF4-FFF2-40B4-BE49-F238E27FC236}">
                <a16:creationId xmlns:a16="http://schemas.microsoft.com/office/drawing/2014/main" id="{9D52DC17-AABE-4709-BA8E-F9CB554F1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27" y="3828081"/>
            <a:ext cx="2538563" cy="186015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ota, Nota Adhesiva, Papel, Escocés">
            <a:extLst>
              <a:ext uri="{FF2B5EF4-FFF2-40B4-BE49-F238E27FC236}">
                <a16:creationId xmlns:a16="http://schemas.microsoft.com/office/drawing/2014/main" id="{CB631016-1336-4AD3-A1AE-05862A258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816995"/>
            <a:ext cx="257888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ota, Nota Adhesiva, Papel, Escocés">
            <a:extLst>
              <a:ext uri="{FF2B5EF4-FFF2-40B4-BE49-F238E27FC236}">
                <a16:creationId xmlns:a16="http://schemas.microsoft.com/office/drawing/2014/main" id="{B70B96B0-E7BE-499D-B96F-ED4D6C5BB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974" y="5234323"/>
            <a:ext cx="2104370"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B7EE0051-4D00-46DF-82D6-07F244925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35" y="2490488"/>
            <a:ext cx="276037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257C49DC-FA70-449A-A1AB-67917D838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452" y="2341787"/>
            <a:ext cx="2845362" cy="20849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6BD2DFAC-CBD1-494A-8F99-6291700D4162}"/>
              </a:ext>
            </a:extLst>
          </p:cNvPr>
          <p:cNvSpPr txBox="1"/>
          <p:nvPr/>
        </p:nvSpPr>
        <p:spPr>
          <a:xfrm>
            <a:off x="3215855" y="1846850"/>
            <a:ext cx="2836033" cy="830997"/>
          </a:xfrm>
          <a:prstGeom prst="rect">
            <a:avLst/>
          </a:prstGeom>
          <a:noFill/>
        </p:spPr>
        <p:txBody>
          <a:bodyPr wrap="none" rtlCol="0">
            <a:spAutoFit/>
          </a:bodyPr>
          <a:lstStyle/>
          <a:p>
            <a:r>
              <a:rPr lang="es-ES" sz="2400" dirty="0">
                <a:latin typeface="Brush Script Std" panose="03060802040607070404" pitchFamily="66" charset="0"/>
              </a:rPr>
              <a:t>Revisar trabajo</a:t>
            </a:r>
          </a:p>
          <a:p>
            <a:r>
              <a:rPr lang="es-ES" sz="2400" dirty="0" err="1">
                <a:latin typeface="Brush Script Std" panose="03060802040607070404" pitchFamily="66" charset="0"/>
              </a:rPr>
              <a:t>Realizado</a:t>
            </a:r>
            <a:r>
              <a:rPr lang="es-ES" sz="2400" dirty="0" err="1">
                <a:latin typeface="Brush Script Std" panose="03060802040607070404" pitchFamily="66" charset="0"/>
                <a:sym typeface="Wingdings" panose="05000000000000000000" pitchFamily="2" charset="2"/>
              </a:rPr>
              <a:t>Feedback</a:t>
            </a:r>
            <a:endParaRPr lang="es-ES" sz="2400" dirty="0">
              <a:latin typeface="Brush Script Std" panose="03060802040607070404" pitchFamily="66" charset="0"/>
            </a:endParaRPr>
          </a:p>
        </p:txBody>
      </p:sp>
      <p:pic>
        <p:nvPicPr>
          <p:cNvPr id="18" name="Picture 2" descr="Nota, Nota Adhesiva, Papel, Escocés">
            <a:extLst>
              <a:ext uri="{FF2B5EF4-FFF2-40B4-BE49-F238E27FC236}">
                <a16:creationId xmlns:a16="http://schemas.microsoft.com/office/drawing/2014/main" id="{45A484ED-9A51-4980-B1EF-7F9D2712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770" y="4336138"/>
            <a:ext cx="2411653" cy="1541995"/>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E71CB039-746F-4983-8A35-969479280413}"/>
              </a:ext>
            </a:extLst>
          </p:cNvPr>
          <p:cNvSpPr txBox="1"/>
          <p:nvPr/>
        </p:nvSpPr>
        <p:spPr>
          <a:xfrm>
            <a:off x="6531171" y="1720977"/>
            <a:ext cx="2366353" cy="1200329"/>
          </a:xfrm>
          <a:prstGeom prst="rect">
            <a:avLst/>
          </a:prstGeom>
          <a:noFill/>
        </p:spPr>
        <p:txBody>
          <a:bodyPr wrap="none" rtlCol="0">
            <a:spAutoFit/>
          </a:bodyPr>
          <a:lstStyle/>
          <a:p>
            <a:r>
              <a:rPr lang="es-ES" sz="3600" dirty="0">
                <a:latin typeface="Brush Script Std" panose="03060802040607070404" pitchFamily="66" charset="0"/>
              </a:rPr>
              <a:t>Al finalizar</a:t>
            </a:r>
          </a:p>
          <a:p>
            <a:r>
              <a:rPr lang="es-ES" sz="3600" dirty="0">
                <a:latin typeface="Brush Script Std" panose="03060802040607070404" pitchFamily="66" charset="0"/>
              </a:rPr>
              <a:t>el sprint</a:t>
            </a:r>
          </a:p>
        </p:txBody>
      </p:sp>
      <p:sp>
        <p:nvSpPr>
          <p:cNvPr id="20" name="CuadroTexto 19">
            <a:extLst>
              <a:ext uri="{FF2B5EF4-FFF2-40B4-BE49-F238E27FC236}">
                <a16:creationId xmlns:a16="http://schemas.microsoft.com/office/drawing/2014/main" id="{8DAFF2DA-6C0E-4D36-B621-DFBA8866E2F9}"/>
              </a:ext>
            </a:extLst>
          </p:cNvPr>
          <p:cNvSpPr txBox="1"/>
          <p:nvPr/>
        </p:nvSpPr>
        <p:spPr>
          <a:xfrm>
            <a:off x="3463690" y="4212178"/>
            <a:ext cx="1779654" cy="1200329"/>
          </a:xfrm>
          <a:prstGeom prst="rect">
            <a:avLst/>
          </a:prstGeom>
          <a:noFill/>
        </p:spPr>
        <p:txBody>
          <a:bodyPr wrap="none" rtlCol="0">
            <a:spAutoFit/>
          </a:bodyPr>
          <a:lstStyle/>
          <a:p>
            <a:r>
              <a:rPr lang="es-ES" sz="3600" dirty="0" err="1">
                <a:latin typeface="Brush Script Std" panose="03060802040607070404" pitchFamily="66" charset="0"/>
              </a:rPr>
              <a:t>Product</a:t>
            </a:r>
            <a:r>
              <a:rPr lang="es-ES" sz="3600" dirty="0">
                <a:latin typeface="Brush Script Std" panose="03060802040607070404" pitchFamily="66" charset="0"/>
              </a:rPr>
              <a:t> </a:t>
            </a:r>
          </a:p>
          <a:p>
            <a:r>
              <a:rPr lang="es-ES" sz="3600" dirty="0" err="1">
                <a:latin typeface="Brush Script Std" panose="03060802040607070404" pitchFamily="66" charset="0"/>
              </a:rPr>
              <a:t>Owner</a:t>
            </a:r>
            <a:endParaRPr lang="es-ES" sz="3600" dirty="0">
              <a:latin typeface="Brush Script Std" panose="03060802040607070404" pitchFamily="66" charset="0"/>
            </a:endParaRPr>
          </a:p>
        </p:txBody>
      </p:sp>
      <p:sp>
        <p:nvSpPr>
          <p:cNvPr id="21" name="CuadroTexto 20">
            <a:extLst>
              <a:ext uri="{FF2B5EF4-FFF2-40B4-BE49-F238E27FC236}">
                <a16:creationId xmlns:a16="http://schemas.microsoft.com/office/drawing/2014/main" id="{52027E1A-9BC3-44BE-A071-2581BF91FB51}"/>
              </a:ext>
            </a:extLst>
          </p:cNvPr>
          <p:cNvSpPr txBox="1"/>
          <p:nvPr/>
        </p:nvSpPr>
        <p:spPr>
          <a:xfrm>
            <a:off x="6319878" y="3980477"/>
            <a:ext cx="2068195" cy="1200329"/>
          </a:xfrm>
          <a:prstGeom prst="rect">
            <a:avLst/>
          </a:prstGeom>
          <a:noFill/>
        </p:spPr>
        <p:txBody>
          <a:bodyPr wrap="none" rtlCol="0">
            <a:spAutoFit/>
          </a:bodyPr>
          <a:lstStyle/>
          <a:p>
            <a:r>
              <a:rPr lang="es-ES" sz="3600" dirty="0">
                <a:latin typeface="Brush Script Std" panose="03060802040607070404" pitchFamily="66" charset="0"/>
              </a:rPr>
              <a:t>Equipo </a:t>
            </a:r>
          </a:p>
          <a:p>
            <a:r>
              <a:rPr lang="es-ES" sz="3600" dirty="0">
                <a:latin typeface="Brush Script Std" panose="03060802040607070404" pitchFamily="66" charset="0"/>
              </a:rPr>
              <a:t>constructor</a:t>
            </a:r>
          </a:p>
        </p:txBody>
      </p:sp>
      <p:sp>
        <p:nvSpPr>
          <p:cNvPr id="22" name="CuadroTexto 21">
            <a:extLst>
              <a:ext uri="{FF2B5EF4-FFF2-40B4-BE49-F238E27FC236}">
                <a16:creationId xmlns:a16="http://schemas.microsoft.com/office/drawing/2014/main" id="{19809675-53FA-4565-B689-A6510CC886B0}"/>
              </a:ext>
            </a:extLst>
          </p:cNvPr>
          <p:cNvSpPr txBox="1"/>
          <p:nvPr/>
        </p:nvSpPr>
        <p:spPr>
          <a:xfrm>
            <a:off x="6096000" y="5282187"/>
            <a:ext cx="1561646" cy="1200329"/>
          </a:xfrm>
          <a:prstGeom prst="rect">
            <a:avLst/>
          </a:prstGeom>
          <a:noFill/>
        </p:spPr>
        <p:txBody>
          <a:bodyPr wrap="none" rtlCol="0">
            <a:spAutoFit/>
          </a:bodyPr>
          <a:lstStyle/>
          <a:p>
            <a:r>
              <a:rPr lang="es-ES" sz="3600" dirty="0" err="1">
                <a:latin typeface="Brush Script Std" panose="03060802040607070404" pitchFamily="66" charset="0"/>
              </a:rPr>
              <a:t>Scrm</a:t>
            </a:r>
            <a:r>
              <a:rPr lang="es-ES" sz="3600" dirty="0">
                <a:latin typeface="Brush Script Std" panose="03060802040607070404" pitchFamily="66" charset="0"/>
              </a:rPr>
              <a:t> </a:t>
            </a:r>
          </a:p>
          <a:p>
            <a:r>
              <a:rPr lang="es-ES" sz="3600" dirty="0">
                <a:latin typeface="Brush Script Std" panose="03060802040607070404" pitchFamily="66" charset="0"/>
              </a:rPr>
              <a:t>Master</a:t>
            </a:r>
          </a:p>
        </p:txBody>
      </p:sp>
      <p:sp>
        <p:nvSpPr>
          <p:cNvPr id="23" name="CuadroTexto 22">
            <a:extLst>
              <a:ext uri="{FF2B5EF4-FFF2-40B4-BE49-F238E27FC236}">
                <a16:creationId xmlns:a16="http://schemas.microsoft.com/office/drawing/2014/main" id="{BAFF9A50-9007-4115-9597-83A5A593EA75}"/>
              </a:ext>
            </a:extLst>
          </p:cNvPr>
          <p:cNvSpPr txBox="1"/>
          <p:nvPr/>
        </p:nvSpPr>
        <p:spPr>
          <a:xfrm>
            <a:off x="78270" y="2658479"/>
            <a:ext cx="2241319" cy="1200329"/>
          </a:xfrm>
          <a:prstGeom prst="rect">
            <a:avLst/>
          </a:prstGeom>
          <a:noFill/>
        </p:spPr>
        <p:txBody>
          <a:bodyPr wrap="none" rtlCol="0">
            <a:spAutoFit/>
          </a:bodyPr>
          <a:lstStyle/>
          <a:p>
            <a:r>
              <a:rPr lang="es-ES" sz="3600" dirty="0">
                <a:latin typeface="Brush Script Std" panose="03060802040607070404" pitchFamily="66" charset="0"/>
              </a:rPr>
              <a:t>Incremento</a:t>
            </a:r>
          </a:p>
          <a:p>
            <a:r>
              <a:rPr lang="es-ES" sz="3600" dirty="0">
                <a:latin typeface="Brush Script Std" panose="03060802040607070404" pitchFamily="66" charset="0"/>
              </a:rPr>
              <a:t>de producto</a:t>
            </a:r>
          </a:p>
        </p:txBody>
      </p:sp>
      <p:sp>
        <p:nvSpPr>
          <p:cNvPr id="24" name="CuadroTexto 23">
            <a:extLst>
              <a:ext uri="{FF2B5EF4-FFF2-40B4-BE49-F238E27FC236}">
                <a16:creationId xmlns:a16="http://schemas.microsoft.com/office/drawing/2014/main" id="{DED450F8-B8CE-466F-9C2A-0B2FBB9EF9A9}"/>
              </a:ext>
            </a:extLst>
          </p:cNvPr>
          <p:cNvSpPr txBox="1"/>
          <p:nvPr/>
        </p:nvSpPr>
        <p:spPr>
          <a:xfrm>
            <a:off x="9803082" y="2616665"/>
            <a:ext cx="2037737" cy="1077218"/>
          </a:xfrm>
          <a:prstGeom prst="rect">
            <a:avLst/>
          </a:prstGeom>
          <a:noFill/>
        </p:spPr>
        <p:txBody>
          <a:bodyPr wrap="none" rtlCol="0">
            <a:spAutoFit/>
          </a:bodyPr>
          <a:lstStyle/>
          <a:p>
            <a:r>
              <a:rPr lang="es-ES" sz="3200" dirty="0" err="1">
                <a:latin typeface="Brush Script Std" panose="03060802040607070404" pitchFamily="66" charset="0"/>
              </a:rPr>
              <a:t>Feedbacks</a:t>
            </a:r>
            <a:r>
              <a:rPr lang="es-ES" sz="3200" dirty="0">
                <a:latin typeface="Brush Script Std" panose="03060802040607070404" pitchFamily="66" charset="0"/>
              </a:rPr>
              <a:t> </a:t>
            </a:r>
          </a:p>
          <a:p>
            <a:r>
              <a:rPr lang="es-ES" sz="3200" dirty="0">
                <a:latin typeface="Brush Script Std" panose="03060802040607070404" pitchFamily="66" charset="0"/>
              </a:rPr>
              <a:t>De mejoras</a:t>
            </a:r>
          </a:p>
        </p:txBody>
      </p:sp>
      <p:sp>
        <p:nvSpPr>
          <p:cNvPr id="25" name="CuadroTexto 24">
            <a:extLst>
              <a:ext uri="{FF2B5EF4-FFF2-40B4-BE49-F238E27FC236}">
                <a16:creationId xmlns:a16="http://schemas.microsoft.com/office/drawing/2014/main" id="{1E69273E-95F4-4216-A00E-81D95381D9B5}"/>
              </a:ext>
            </a:extLst>
          </p:cNvPr>
          <p:cNvSpPr txBox="1"/>
          <p:nvPr/>
        </p:nvSpPr>
        <p:spPr>
          <a:xfrm>
            <a:off x="9920100" y="4426750"/>
            <a:ext cx="1920719" cy="1200329"/>
          </a:xfrm>
          <a:prstGeom prst="rect">
            <a:avLst/>
          </a:prstGeom>
          <a:noFill/>
        </p:spPr>
        <p:txBody>
          <a:bodyPr wrap="none" rtlCol="0">
            <a:spAutoFit/>
          </a:bodyPr>
          <a:lstStyle/>
          <a:p>
            <a:r>
              <a:rPr lang="es-ES" sz="3600" dirty="0">
                <a:latin typeface="Brush Script Std" panose="03060802040607070404" pitchFamily="66" charset="0"/>
              </a:rPr>
              <a:t>2 semana</a:t>
            </a:r>
          </a:p>
          <a:p>
            <a:r>
              <a:rPr lang="es-ES" sz="3600" dirty="0">
                <a:latin typeface="Brush Script Std" panose="03060802040607070404" pitchFamily="66" charset="0"/>
              </a:rPr>
              <a:t>1 hora</a:t>
            </a:r>
          </a:p>
        </p:txBody>
      </p:sp>
      <p:sp>
        <p:nvSpPr>
          <p:cNvPr id="26" name="CuadroTexto 25">
            <a:extLst>
              <a:ext uri="{FF2B5EF4-FFF2-40B4-BE49-F238E27FC236}">
                <a16:creationId xmlns:a16="http://schemas.microsoft.com/office/drawing/2014/main" id="{FFE9AE5D-17B1-4909-B175-C2B7AB7B4655}"/>
              </a:ext>
            </a:extLst>
          </p:cNvPr>
          <p:cNvSpPr txBox="1"/>
          <p:nvPr/>
        </p:nvSpPr>
        <p:spPr>
          <a:xfrm>
            <a:off x="6569097" y="1030863"/>
            <a:ext cx="1585690"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Cuando</a:t>
            </a:r>
          </a:p>
        </p:txBody>
      </p:sp>
      <p:pic>
        <p:nvPicPr>
          <p:cNvPr id="27" name="Imagen 26">
            <a:extLst>
              <a:ext uri="{FF2B5EF4-FFF2-40B4-BE49-F238E27FC236}">
                <a16:creationId xmlns:a16="http://schemas.microsoft.com/office/drawing/2014/main" id="{F829F1F4-17C3-4700-8854-10010C5D9437}"/>
              </a:ext>
            </a:extLst>
          </p:cNvPr>
          <p:cNvPicPr>
            <a:picLocks noChangeAspect="1"/>
          </p:cNvPicPr>
          <p:nvPr/>
        </p:nvPicPr>
        <p:blipFill>
          <a:blip r:embed="rId3"/>
          <a:stretch>
            <a:fillRect/>
          </a:stretch>
        </p:blipFill>
        <p:spPr>
          <a:xfrm>
            <a:off x="11025149" y="-46391"/>
            <a:ext cx="1353429" cy="823031"/>
          </a:xfrm>
          <a:prstGeom prst="rect">
            <a:avLst/>
          </a:prstGeom>
        </p:spPr>
      </p:pic>
      <p:pic>
        <p:nvPicPr>
          <p:cNvPr id="28" name="Picture 2" descr="Nota, Nota Adhesiva, Papel, Escocés">
            <a:extLst>
              <a:ext uri="{FF2B5EF4-FFF2-40B4-BE49-F238E27FC236}">
                <a16:creationId xmlns:a16="http://schemas.microsoft.com/office/drawing/2014/main" id="{A2019010-759D-4CD3-B92A-C173D2A31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288" y="5282188"/>
            <a:ext cx="2563520" cy="1755374"/>
          </a:xfrm>
          <a:prstGeom prst="rect">
            <a:avLst/>
          </a:prstGeom>
          <a:noFill/>
          <a:extLst>
            <a:ext uri="{909E8E84-426E-40DD-AFC4-6F175D3DCCD1}">
              <a14:hiddenFill xmlns:a14="http://schemas.microsoft.com/office/drawing/2010/main">
                <a:solidFill>
                  <a:srgbClr val="FFFFFF"/>
                </a:solidFill>
              </a14:hiddenFill>
            </a:ext>
          </a:extLst>
        </p:spPr>
      </p:pic>
      <p:sp>
        <p:nvSpPr>
          <p:cNvPr id="29" name="CuadroTexto 28">
            <a:extLst>
              <a:ext uri="{FF2B5EF4-FFF2-40B4-BE49-F238E27FC236}">
                <a16:creationId xmlns:a16="http://schemas.microsoft.com/office/drawing/2014/main" id="{77EDC48E-1ED3-42C1-B3B8-2FFCBC345A9D}"/>
              </a:ext>
            </a:extLst>
          </p:cNvPr>
          <p:cNvSpPr txBox="1"/>
          <p:nvPr/>
        </p:nvSpPr>
        <p:spPr>
          <a:xfrm>
            <a:off x="3217758" y="5749165"/>
            <a:ext cx="2217274" cy="646331"/>
          </a:xfrm>
          <a:prstGeom prst="rect">
            <a:avLst/>
          </a:prstGeom>
          <a:noFill/>
        </p:spPr>
        <p:txBody>
          <a:bodyPr wrap="none" rtlCol="0">
            <a:spAutoFit/>
          </a:bodyPr>
          <a:lstStyle/>
          <a:p>
            <a:r>
              <a:rPr lang="es-ES" sz="3600" dirty="0">
                <a:latin typeface="Brush Script Std" panose="03060802040607070404" pitchFamily="66" charset="0"/>
              </a:rPr>
              <a:t>Interesados</a:t>
            </a:r>
          </a:p>
        </p:txBody>
      </p:sp>
    </p:spTree>
    <p:extLst>
      <p:ext uri="{BB962C8B-B14F-4D97-AF65-F5344CB8AC3E}">
        <p14:creationId xmlns:p14="http://schemas.microsoft.com/office/powerpoint/2010/main" val="39487550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90A7F-65B5-C36A-66E9-A6DB2B80E286}"/>
              </a:ext>
            </a:extLst>
          </p:cNvPr>
          <p:cNvSpPr>
            <a:spLocks noGrp="1"/>
          </p:cNvSpPr>
          <p:nvPr>
            <p:ph type="title"/>
          </p:nvPr>
        </p:nvSpPr>
        <p:spPr/>
        <p:txBody>
          <a:bodyPr>
            <a:normAutofit fontScale="90000"/>
          </a:bodyPr>
          <a:lstStyle/>
          <a:p>
            <a:r>
              <a:rPr lang="es-ES" sz="4400">
                <a:latin typeface="Verdana" panose="020B0604030504040204" pitchFamily="34" charset="0"/>
                <a:ea typeface="Verdana" panose="020B0604030504040204" pitchFamily="34" charset="0"/>
              </a:rPr>
              <a:t>sprint Retrospective</a:t>
            </a:r>
            <a:br>
              <a:rPr lang="es-ES" sz="4400">
                <a:latin typeface="Verdana" panose="020B0604030504040204" pitchFamily="34" charset="0"/>
                <a:ea typeface="Verdana" panose="020B0604030504040204" pitchFamily="34" charset="0"/>
              </a:rPr>
            </a:br>
            <a:endParaRPr lang="es-ES"/>
          </a:p>
        </p:txBody>
      </p:sp>
      <p:sp>
        <p:nvSpPr>
          <p:cNvPr id="3" name="Marcador de contenido 2">
            <a:extLst>
              <a:ext uri="{FF2B5EF4-FFF2-40B4-BE49-F238E27FC236}">
                <a16:creationId xmlns:a16="http://schemas.microsoft.com/office/drawing/2014/main" id="{C4D27D86-A53A-43CE-A0E9-0416A1022ED1}"/>
              </a:ext>
            </a:extLst>
          </p:cNvPr>
          <p:cNvSpPr>
            <a:spLocks noGrp="1"/>
          </p:cNvSpPr>
          <p:nvPr>
            <p:ph type="body" sz="quarter" idx="13"/>
          </p:nvPr>
        </p:nvSpPr>
        <p:spPr/>
        <p:txBody>
          <a:bodyPr>
            <a:normAutofit fontScale="55000" lnSpcReduction="20000"/>
          </a:bodyPr>
          <a:lstStyle/>
          <a:p>
            <a:pPr marL="0" indent="0" algn="l">
              <a:lnSpc>
                <a:spcPct val="120000"/>
              </a:lnSpc>
              <a:buNone/>
            </a:pPr>
            <a:r>
              <a:rPr lang="es-ES" sz="3600" b="1" i="0" u="none" strike="noStrike" baseline="0">
                <a:solidFill>
                  <a:srgbClr val="666767"/>
                </a:solidFill>
                <a:latin typeface="Verdana" panose="020B0604030504040204" pitchFamily="34" charset="0"/>
                <a:ea typeface="Verdana" panose="020B0604030504040204" pitchFamily="34" charset="0"/>
              </a:rPr>
              <a:t>Objetivo</a:t>
            </a:r>
            <a:endParaRPr lang="es-ES" sz="3600" b="1" i="0" u="none" strike="noStrike" baseline="0" dirty="0">
              <a:solidFill>
                <a:srgbClr val="666767"/>
              </a:solidFill>
              <a:latin typeface="Verdana" panose="020B0604030504040204" pitchFamily="34" charset="0"/>
              <a:ea typeface="Verdana" panose="020B0604030504040204" pitchFamily="34" charset="0"/>
            </a:endParaRPr>
          </a:p>
          <a:p>
            <a:pPr algn="l">
              <a:lnSpc>
                <a:spcPct val="120000"/>
              </a:lnSpc>
            </a:pPr>
            <a:r>
              <a:rPr lang="es-ES" sz="2800" b="0" i="0" u="none" strike="noStrike" baseline="0" dirty="0">
                <a:solidFill>
                  <a:srgbClr val="666767"/>
                </a:solidFill>
                <a:latin typeface="Verdana" panose="020B0604030504040204" pitchFamily="34" charset="0"/>
                <a:ea typeface="Verdana" panose="020B0604030504040204" pitchFamily="34" charset="0"/>
              </a:rPr>
              <a:t>El objetivo de esta reunión es el </a:t>
            </a:r>
            <a:r>
              <a:rPr lang="es-ES" sz="3300" b="1" i="0" u="none" strike="noStrike" baseline="0" dirty="0">
                <a:solidFill>
                  <a:srgbClr val="666767"/>
                </a:solidFill>
                <a:latin typeface="Verdana" panose="020B0604030504040204" pitchFamily="34" charset="0"/>
                <a:ea typeface="Verdana" panose="020B0604030504040204" pitchFamily="34" charset="0"/>
              </a:rPr>
              <a:t>de inspeccionar como ha estado el Equipo Scrum </a:t>
            </a:r>
            <a:r>
              <a:rPr lang="es-ES" sz="2800" b="0" i="0" u="none" strike="noStrike" baseline="0" dirty="0">
                <a:solidFill>
                  <a:srgbClr val="666767"/>
                </a:solidFill>
                <a:latin typeface="Verdana" panose="020B0604030504040204" pitchFamily="34" charset="0"/>
                <a:ea typeface="Verdana" panose="020B0604030504040204" pitchFamily="34" charset="0"/>
              </a:rPr>
              <a:t>y cada una de las personas que lo componen. En la reunión se analizan mediante diferentes técnicas que se hizo bien y que se puede hacer diferente para el próximo sprint. </a:t>
            </a:r>
          </a:p>
          <a:p>
            <a:pPr algn="l">
              <a:lnSpc>
                <a:spcPct val="120000"/>
              </a:lnSpc>
            </a:pPr>
            <a:r>
              <a:rPr lang="es-ES" sz="2800" b="0" i="0" u="none" strike="noStrike" baseline="0" dirty="0">
                <a:solidFill>
                  <a:srgbClr val="666767"/>
                </a:solidFill>
                <a:latin typeface="Verdana" panose="020B0604030504040204" pitchFamily="34" charset="0"/>
                <a:ea typeface="Verdana" panose="020B0604030504040204" pitchFamily="34" charset="0"/>
              </a:rPr>
              <a:t>El objetivo es que el equipo </a:t>
            </a:r>
            <a:r>
              <a:rPr lang="es-ES" sz="3300" b="1" i="0" u="none" strike="noStrike" baseline="0" dirty="0">
                <a:solidFill>
                  <a:srgbClr val="666767"/>
                </a:solidFill>
                <a:latin typeface="Verdana" panose="020B0604030504040204" pitchFamily="34" charset="0"/>
                <a:ea typeface="Verdana" panose="020B0604030504040204" pitchFamily="34" charset="0"/>
              </a:rPr>
              <a:t>reflexione y saque como resultado posibles acciones de mejora</a:t>
            </a:r>
            <a:r>
              <a:rPr lang="es-ES" sz="2800" b="0" i="0" u="none" strike="noStrike" baseline="0" dirty="0">
                <a:solidFill>
                  <a:srgbClr val="666767"/>
                </a:solidFill>
                <a:latin typeface="Verdana" panose="020B0604030504040204" pitchFamily="34" charset="0"/>
                <a:ea typeface="Verdana" panose="020B0604030504040204" pitchFamily="34" charset="0"/>
              </a:rPr>
              <a:t>. Debe asistir todo el Equipo Scrum (Dueño de Producto, Equipo de Desarrollo y Scrum Master). Es una de las reuniones más importantes ya que es un espacio de reflexión y mejora continua.</a:t>
            </a:r>
          </a:p>
          <a:p>
            <a:pPr marL="0" indent="0">
              <a:lnSpc>
                <a:spcPct val="120000"/>
              </a:lnSpc>
              <a:buNone/>
            </a:pPr>
            <a:r>
              <a:rPr lang="es-ES" sz="3600" b="1" dirty="0">
                <a:solidFill>
                  <a:srgbClr val="666767"/>
                </a:solidFill>
                <a:latin typeface="Verdana" panose="020B0604030504040204" pitchFamily="34" charset="0"/>
                <a:ea typeface="Verdana" panose="020B0604030504040204" pitchFamily="34" charset="0"/>
              </a:rPr>
              <a:t>Organización</a:t>
            </a:r>
          </a:p>
          <a:p>
            <a:pPr algn="l">
              <a:lnSpc>
                <a:spcPct val="120000"/>
              </a:lnSpc>
            </a:pPr>
            <a:r>
              <a:rPr lang="es-ES" sz="2800" b="0" i="0" u="none" strike="noStrike" baseline="0" dirty="0">
                <a:solidFill>
                  <a:srgbClr val="666767"/>
                </a:solidFill>
                <a:latin typeface="Verdana" panose="020B0604030504040204" pitchFamily="34" charset="0"/>
                <a:ea typeface="Verdana" panose="020B0604030504040204" pitchFamily="34" charset="0"/>
              </a:rPr>
              <a:t>En el libro Agile Retrospectives se plantea una estructura básica de reunión, aunque esta puede ser variada en función de los objetivos perseguidos en ella. El Scrum Master es el encargado de facilitarla y se recomienda para ello utilizar diferentes técnicas de facilitación y gestión visual como pizarras, </a:t>
            </a:r>
            <a:r>
              <a:rPr lang="es-ES" sz="2800" b="0" i="1" u="none" strike="noStrike" baseline="0" dirty="0" err="1">
                <a:solidFill>
                  <a:srgbClr val="666767"/>
                </a:solidFill>
                <a:latin typeface="Verdana" panose="020B0604030504040204" pitchFamily="34" charset="0"/>
                <a:ea typeface="Verdana" panose="020B0604030504040204" pitchFamily="34" charset="0"/>
              </a:rPr>
              <a:t>post-its</a:t>
            </a:r>
            <a:r>
              <a:rPr lang="es-ES" sz="2800" b="0" i="1" u="none" strike="noStrike" baseline="0" dirty="0">
                <a:solidFill>
                  <a:srgbClr val="666767"/>
                </a:solidFill>
                <a:latin typeface="Verdana" panose="020B0604030504040204" pitchFamily="34" charset="0"/>
                <a:ea typeface="Verdana" panose="020B0604030504040204" pitchFamily="34" charset="0"/>
              </a:rPr>
              <a:t> </a:t>
            </a:r>
            <a:r>
              <a:rPr lang="es-ES" sz="2800" b="0" i="0" u="none" strike="noStrike" baseline="0" dirty="0">
                <a:solidFill>
                  <a:srgbClr val="666767"/>
                </a:solidFill>
                <a:latin typeface="Verdana" panose="020B0604030504040204" pitchFamily="34" charset="0"/>
                <a:ea typeface="Verdana" panose="020B0604030504040204" pitchFamily="34" charset="0"/>
              </a:rPr>
              <a:t>o rotuladores.</a:t>
            </a:r>
            <a:endParaRPr lang="es-ES" sz="2800" dirty="0">
              <a:latin typeface="Verdana" panose="020B0604030504040204" pitchFamily="34" charset="0"/>
              <a:ea typeface="Verdana" panose="020B0604030504040204" pitchFamily="34" charset="0"/>
            </a:endParaRPr>
          </a:p>
          <a:p>
            <a:endParaRPr lang="es-ES" dirty="0"/>
          </a:p>
        </p:txBody>
      </p:sp>
      <p:pic>
        <p:nvPicPr>
          <p:cNvPr id="4" name="Imagen 3">
            <a:extLst>
              <a:ext uri="{FF2B5EF4-FFF2-40B4-BE49-F238E27FC236}">
                <a16:creationId xmlns:a16="http://schemas.microsoft.com/office/drawing/2014/main" id="{AFC54A65-6C77-4618-8E28-18B7F07D172C}"/>
              </a:ext>
            </a:extLst>
          </p:cNvPr>
          <p:cNvPicPr>
            <a:picLocks noChangeAspect="1"/>
          </p:cNvPicPr>
          <p:nvPr/>
        </p:nvPicPr>
        <p:blipFill>
          <a:blip r:embed="rId2"/>
          <a:stretch>
            <a:fillRect/>
          </a:stretch>
        </p:blipFill>
        <p:spPr>
          <a:xfrm>
            <a:off x="10989290" y="0"/>
            <a:ext cx="1353429" cy="823031"/>
          </a:xfrm>
          <a:prstGeom prst="rect">
            <a:avLst/>
          </a:prstGeom>
        </p:spPr>
      </p:pic>
      <p:pic>
        <p:nvPicPr>
          <p:cNvPr id="40962" name="Picture 2" descr="Tiempo, Gestión Del Tiempo, Cronógrafo, Teclado">
            <a:extLst>
              <a:ext uri="{FF2B5EF4-FFF2-40B4-BE49-F238E27FC236}">
                <a16:creationId xmlns:a16="http://schemas.microsoft.com/office/drawing/2014/main" id="{5FE11A40-F271-49E2-B61C-08166823DC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6593" y="5292089"/>
            <a:ext cx="3164689" cy="1407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9233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72AA5-6DCD-4D95-B6C2-DB00990EDFC5}"/>
              </a:ext>
            </a:extLst>
          </p:cNvPr>
          <p:cNvSpPr>
            <a:spLocks noGrp="1"/>
          </p:cNvSpPr>
          <p:nvPr>
            <p:ph type="title"/>
          </p:nvPr>
        </p:nvSpPr>
        <p:spPr/>
        <p:txBody>
          <a:bodyPr/>
          <a:lstStyle/>
          <a:p>
            <a:r>
              <a:rPr lang="es-ES" dirty="0"/>
              <a:t>Retrospectiva</a:t>
            </a:r>
          </a:p>
        </p:txBody>
      </p:sp>
      <p:sp>
        <p:nvSpPr>
          <p:cNvPr id="5" name="Marcador de texto 4">
            <a:extLst>
              <a:ext uri="{FF2B5EF4-FFF2-40B4-BE49-F238E27FC236}">
                <a16:creationId xmlns:a16="http://schemas.microsoft.com/office/drawing/2014/main" id="{C50ACFDA-B5C2-2DE8-9C1C-EFF5A00A38B3}"/>
              </a:ext>
            </a:extLst>
          </p:cNvPr>
          <p:cNvSpPr>
            <a:spLocks noGrp="1"/>
          </p:cNvSpPr>
          <p:nvPr>
            <p:ph type="body" sz="quarter" idx="13"/>
          </p:nvPr>
        </p:nvSpPr>
        <p:spPr/>
        <p:txBody>
          <a:bodyPr/>
          <a:lstStyle/>
          <a:p>
            <a:endParaRPr lang="es-ES"/>
          </a:p>
        </p:txBody>
      </p:sp>
      <p:pic>
        <p:nvPicPr>
          <p:cNvPr id="4" name="Picture 2" descr="Nota, Nota Adhesiva, Papel, Escocés">
            <a:extLst>
              <a:ext uri="{FF2B5EF4-FFF2-40B4-BE49-F238E27FC236}">
                <a16:creationId xmlns:a16="http://schemas.microsoft.com/office/drawing/2014/main" id="{4C04E52D-F848-4A26-9642-94DCF41FA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663" y="1590083"/>
            <a:ext cx="3733379" cy="15419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1BB0F9C-716A-4F1C-89EF-8EDA95ED926E}"/>
              </a:ext>
            </a:extLst>
          </p:cNvPr>
          <p:cNvSpPr txBox="1"/>
          <p:nvPr/>
        </p:nvSpPr>
        <p:spPr>
          <a:xfrm>
            <a:off x="3673054" y="995232"/>
            <a:ext cx="1888659"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Para qué</a:t>
            </a:r>
          </a:p>
        </p:txBody>
      </p:sp>
      <p:pic>
        <p:nvPicPr>
          <p:cNvPr id="6" name="Picture 2" descr="Nota, Nota Adhesiva, Papel, Escocés">
            <a:extLst>
              <a:ext uri="{FF2B5EF4-FFF2-40B4-BE49-F238E27FC236}">
                <a16:creationId xmlns:a16="http://schemas.microsoft.com/office/drawing/2014/main" id="{5EF45B88-4559-4281-B8D7-A8AAD168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612" y="1570790"/>
            <a:ext cx="3438839" cy="154199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35E851AC-6A0A-4691-B599-103507E16BB0}"/>
              </a:ext>
            </a:extLst>
          </p:cNvPr>
          <p:cNvSpPr txBox="1"/>
          <p:nvPr/>
        </p:nvSpPr>
        <p:spPr>
          <a:xfrm>
            <a:off x="5453857" y="3170664"/>
            <a:ext cx="1556836"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Quienes</a:t>
            </a:r>
          </a:p>
        </p:txBody>
      </p:sp>
      <p:sp>
        <p:nvSpPr>
          <p:cNvPr id="10" name="Flecha: a la derecha 9">
            <a:extLst>
              <a:ext uri="{FF2B5EF4-FFF2-40B4-BE49-F238E27FC236}">
                <a16:creationId xmlns:a16="http://schemas.microsoft.com/office/drawing/2014/main" id="{FBDC354A-1D50-472C-874B-23556C8C887D}"/>
              </a:ext>
            </a:extLst>
          </p:cNvPr>
          <p:cNvSpPr/>
          <p:nvPr/>
        </p:nvSpPr>
        <p:spPr>
          <a:xfrm>
            <a:off x="8851482" y="2943777"/>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a la derecha 10">
            <a:extLst>
              <a:ext uri="{FF2B5EF4-FFF2-40B4-BE49-F238E27FC236}">
                <a16:creationId xmlns:a16="http://schemas.microsoft.com/office/drawing/2014/main" id="{E1DC4DCA-4A37-4CBC-BC0E-F7D10709C628}"/>
              </a:ext>
            </a:extLst>
          </p:cNvPr>
          <p:cNvSpPr/>
          <p:nvPr/>
        </p:nvSpPr>
        <p:spPr>
          <a:xfrm>
            <a:off x="2397301" y="2991218"/>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Picture 2" descr="Nota, Nota Adhesiva, Papel, Escocés">
            <a:extLst>
              <a:ext uri="{FF2B5EF4-FFF2-40B4-BE49-F238E27FC236}">
                <a16:creationId xmlns:a16="http://schemas.microsoft.com/office/drawing/2014/main" id="{9D52DC17-AABE-4709-BA8E-F9CB554F1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27" y="3828081"/>
            <a:ext cx="2538563" cy="186015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ota, Nota Adhesiva, Papel, Escocés">
            <a:extLst>
              <a:ext uri="{FF2B5EF4-FFF2-40B4-BE49-F238E27FC236}">
                <a16:creationId xmlns:a16="http://schemas.microsoft.com/office/drawing/2014/main" id="{CB631016-1336-4AD3-A1AE-05862A258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816995"/>
            <a:ext cx="257888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ota, Nota Adhesiva, Papel, Escocés">
            <a:extLst>
              <a:ext uri="{FF2B5EF4-FFF2-40B4-BE49-F238E27FC236}">
                <a16:creationId xmlns:a16="http://schemas.microsoft.com/office/drawing/2014/main" id="{B70B96B0-E7BE-499D-B96F-ED4D6C5BB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974" y="5234323"/>
            <a:ext cx="2104370"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B7EE0051-4D00-46DF-82D6-07F244925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35" y="2490488"/>
            <a:ext cx="276037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257C49DC-FA70-449A-A1AB-67917D838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452" y="2341787"/>
            <a:ext cx="2845362" cy="20849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6BD2DFAC-CBD1-494A-8F99-6291700D4162}"/>
              </a:ext>
            </a:extLst>
          </p:cNvPr>
          <p:cNvSpPr txBox="1"/>
          <p:nvPr/>
        </p:nvSpPr>
        <p:spPr>
          <a:xfrm>
            <a:off x="3673054" y="1760688"/>
            <a:ext cx="1968809" cy="1077218"/>
          </a:xfrm>
          <a:prstGeom prst="rect">
            <a:avLst/>
          </a:prstGeom>
          <a:noFill/>
        </p:spPr>
        <p:txBody>
          <a:bodyPr wrap="none" rtlCol="0">
            <a:spAutoFit/>
          </a:bodyPr>
          <a:lstStyle/>
          <a:p>
            <a:r>
              <a:rPr lang="es-ES" sz="3200" dirty="0">
                <a:latin typeface="Brush Script Std" panose="03060802040607070404" pitchFamily="66" charset="0"/>
              </a:rPr>
              <a:t>Inspección </a:t>
            </a:r>
          </a:p>
          <a:p>
            <a:r>
              <a:rPr lang="es-ES" sz="3200" dirty="0">
                <a:latin typeface="Brush Script Std" panose="03060802040607070404" pitchFamily="66" charset="0"/>
              </a:rPr>
              <a:t>del equipo</a:t>
            </a:r>
          </a:p>
        </p:txBody>
      </p:sp>
      <p:pic>
        <p:nvPicPr>
          <p:cNvPr id="18" name="Picture 2" descr="Nota, Nota Adhesiva, Papel, Escocés">
            <a:extLst>
              <a:ext uri="{FF2B5EF4-FFF2-40B4-BE49-F238E27FC236}">
                <a16:creationId xmlns:a16="http://schemas.microsoft.com/office/drawing/2014/main" id="{45A484ED-9A51-4980-B1EF-7F9D2712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770" y="4336138"/>
            <a:ext cx="2411653" cy="1541995"/>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E71CB039-746F-4983-8A35-969479280413}"/>
              </a:ext>
            </a:extLst>
          </p:cNvPr>
          <p:cNvSpPr txBox="1"/>
          <p:nvPr/>
        </p:nvSpPr>
        <p:spPr>
          <a:xfrm>
            <a:off x="6531171" y="1720977"/>
            <a:ext cx="2366353" cy="1200329"/>
          </a:xfrm>
          <a:prstGeom prst="rect">
            <a:avLst/>
          </a:prstGeom>
          <a:noFill/>
        </p:spPr>
        <p:txBody>
          <a:bodyPr wrap="none" rtlCol="0">
            <a:spAutoFit/>
          </a:bodyPr>
          <a:lstStyle/>
          <a:p>
            <a:r>
              <a:rPr lang="es-ES" sz="3600" dirty="0">
                <a:latin typeface="Brush Script Std" panose="03060802040607070404" pitchFamily="66" charset="0"/>
              </a:rPr>
              <a:t>Al finalizar</a:t>
            </a:r>
          </a:p>
          <a:p>
            <a:r>
              <a:rPr lang="es-ES" sz="3600" dirty="0">
                <a:latin typeface="Brush Script Std" panose="03060802040607070404" pitchFamily="66" charset="0"/>
              </a:rPr>
              <a:t>el sprint</a:t>
            </a:r>
          </a:p>
        </p:txBody>
      </p:sp>
      <p:sp>
        <p:nvSpPr>
          <p:cNvPr id="20" name="CuadroTexto 19">
            <a:extLst>
              <a:ext uri="{FF2B5EF4-FFF2-40B4-BE49-F238E27FC236}">
                <a16:creationId xmlns:a16="http://schemas.microsoft.com/office/drawing/2014/main" id="{8DAFF2DA-6C0E-4D36-B621-DFBA8866E2F9}"/>
              </a:ext>
            </a:extLst>
          </p:cNvPr>
          <p:cNvSpPr txBox="1"/>
          <p:nvPr/>
        </p:nvSpPr>
        <p:spPr>
          <a:xfrm>
            <a:off x="3463690" y="4212178"/>
            <a:ext cx="1544012" cy="1200329"/>
          </a:xfrm>
          <a:prstGeom prst="rect">
            <a:avLst/>
          </a:prstGeom>
          <a:noFill/>
        </p:spPr>
        <p:txBody>
          <a:bodyPr wrap="none" rtlCol="0">
            <a:spAutoFit/>
          </a:bodyPr>
          <a:lstStyle/>
          <a:p>
            <a:r>
              <a:rPr lang="es-ES" sz="3600" dirty="0">
                <a:latin typeface="Brush Script Std" panose="03060802040607070404" pitchFamily="66" charset="0"/>
              </a:rPr>
              <a:t>Scrum </a:t>
            </a:r>
          </a:p>
          <a:p>
            <a:r>
              <a:rPr lang="es-ES" sz="3600" dirty="0" err="1">
                <a:latin typeface="Brush Script Std" panose="03060802040607070404" pitchFamily="66" charset="0"/>
              </a:rPr>
              <a:t>Owner</a:t>
            </a:r>
            <a:endParaRPr lang="es-ES" sz="3600" dirty="0">
              <a:latin typeface="Brush Script Std" panose="03060802040607070404" pitchFamily="66" charset="0"/>
            </a:endParaRPr>
          </a:p>
        </p:txBody>
      </p:sp>
      <p:sp>
        <p:nvSpPr>
          <p:cNvPr id="21" name="CuadroTexto 20">
            <a:extLst>
              <a:ext uri="{FF2B5EF4-FFF2-40B4-BE49-F238E27FC236}">
                <a16:creationId xmlns:a16="http://schemas.microsoft.com/office/drawing/2014/main" id="{52027E1A-9BC3-44BE-A071-2581BF91FB51}"/>
              </a:ext>
            </a:extLst>
          </p:cNvPr>
          <p:cNvSpPr txBox="1"/>
          <p:nvPr/>
        </p:nvSpPr>
        <p:spPr>
          <a:xfrm>
            <a:off x="6319878" y="3980477"/>
            <a:ext cx="2068195" cy="1200329"/>
          </a:xfrm>
          <a:prstGeom prst="rect">
            <a:avLst/>
          </a:prstGeom>
          <a:noFill/>
        </p:spPr>
        <p:txBody>
          <a:bodyPr wrap="none" rtlCol="0">
            <a:spAutoFit/>
          </a:bodyPr>
          <a:lstStyle/>
          <a:p>
            <a:r>
              <a:rPr lang="es-ES" sz="3600" dirty="0">
                <a:latin typeface="Brush Script Std" panose="03060802040607070404" pitchFamily="66" charset="0"/>
              </a:rPr>
              <a:t>Equipo </a:t>
            </a:r>
          </a:p>
          <a:p>
            <a:r>
              <a:rPr lang="es-ES" sz="3600" dirty="0">
                <a:latin typeface="Brush Script Std" panose="03060802040607070404" pitchFamily="66" charset="0"/>
              </a:rPr>
              <a:t>constructor</a:t>
            </a:r>
          </a:p>
        </p:txBody>
      </p:sp>
      <p:sp>
        <p:nvSpPr>
          <p:cNvPr id="22" name="CuadroTexto 21">
            <a:extLst>
              <a:ext uri="{FF2B5EF4-FFF2-40B4-BE49-F238E27FC236}">
                <a16:creationId xmlns:a16="http://schemas.microsoft.com/office/drawing/2014/main" id="{19809675-53FA-4565-B689-A6510CC886B0}"/>
              </a:ext>
            </a:extLst>
          </p:cNvPr>
          <p:cNvSpPr txBox="1"/>
          <p:nvPr/>
        </p:nvSpPr>
        <p:spPr>
          <a:xfrm>
            <a:off x="6096000" y="5282187"/>
            <a:ext cx="1561646" cy="1200329"/>
          </a:xfrm>
          <a:prstGeom prst="rect">
            <a:avLst/>
          </a:prstGeom>
          <a:noFill/>
        </p:spPr>
        <p:txBody>
          <a:bodyPr wrap="none" rtlCol="0">
            <a:spAutoFit/>
          </a:bodyPr>
          <a:lstStyle/>
          <a:p>
            <a:r>
              <a:rPr lang="es-ES" sz="3600" dirty="0" err="1">
                <a:latin typeface="Brush Script Std" panose="03060802040607070404" pitchFamily="66" charset="0"/>
              </a:rPr>
              <a:t>Scrm</a:t>
            </a:r>
            <a:r>
              <a:rPr lang="es-ES" sz="3600" dirty="0">
                <a:latin typeface="Brush Script Std" panose="03060802040607070404" pitchFamily="66" charset="0"/>
              </a:rPr>
              <a:t> </a:t>
            </a:r>
          </a:p>
          <a:p>
            <a:r>
              <a:rPr lang="es-ES" sz="3600" dirty="0">
                <a:latin typeface="Brush Script Std" panose="03060802040607070404" pitchFamily="66" charset="0"/>
              </a:rPr>
              <a:t>Master</a:t>
            </a:r>
          </a:p>
        </p:txBody>
      </p:sp>
      <p:sp>
        <p:nvSpPr>
          <p:cNvPr id="23" name="CuadroTexto 22">
            <a:extLst>
              <a:ext uri="{FF2B5EF4-FFF2-40B4-BE49-F238E27FC236}">
                <a16:creationId xmlns:a16="http://schemas.microsoft.com/office/drawing/2014/main" id="{BAFF9A50-9007-4115-9597-83A5A593EA75}"/>
              </a:ext>
            </a:extLst>
          </p:cNvPr>
          <p:cNvSpPr txBox="1"/>
          <p:nvPr/>
        </p:nvSpPr>
        <p:spPr>
          <a:xfrm>
            <a:off x="-54387" y="2658479"/>
            <a:ext cx="2598788" cy="1200329"/>
          </a:xfrm>
          <a:prstGeom prst="rect">
            <a:avLst/>
          </a:prstGeom>
          <a:noFill/>
        </p:spPr>
        <p:txBody>
          <a:bodyPr wrap="none" rtlCol="0">
            <a:spAutoFit/>
          </a:bodyPr>
          <a:lstStyle/>
          <a:p>
            <a:r>
              <a:rPr lang="es-ES" sz="3600" dirty="0">
                <a:latin typeface="Brush Script Std" panose="03060802040607070404" pitchFamily="66" charset="0"/>
              </a:rPr>
              <a:t>¿Qué tal fue </a:t>
            </a:r>
          </a:p>
          <a:p>
            <a:r>
              <a:rPr lang="es-ES" sz="3600" dirty="0">
                <a:latin typeface="Brush Script Std" panose="03060802040607070404" pitchFamily="66" charset="0"/>
              </a:rPr>
              <a:t>el sprint?</a:t>
            </a:r>
          </a:p>
        </p:txBody>
      </p:sp>
      <p:sp>
        <p:nvSpPr>
          <p:cNvPr id="24" name="CuadroTexto 23">
            <a:extLst>
              <a:ext uri="{FF2B5EF4-FFF2-40B4-BE49-F238E27FC236}">
                <a16:creationId xmlns:a16="http://schemas.microsoft.com/office/drawing/2014/main" id="{DED450F8-B8CE-466F-9C2A-0B2FBB9EF9A9}"/>
              </a:ext>
            </a:extLst>
          </p:cNvPr>
          <p:cNvSpPr txBox="1"/>
          <p:nvPr/>
        </p:nvSpPr>
        <p:spPr>
          <a:xfrm>
            <a:off x="10186200" y="2716261"/>
            <a:ext cx="1587294" cy="1077218"/>
          </a:xfrm>
          <a:prstGeom prst="rect">
            <a:avLst/>
          </a:prstGeom>
          <a:noFill/>
        </p:spPr>
        <p:txBody>
          <a:bodyPr wrap="none" rtlCol="0">
            <a:spAutoFit/>
          </a:bodyPr>
          <a:lstStyle/>
          <a:p>
            <a:r>
              <a:rPr lang="es-ES" sz="3200" dirty="0">
                <a:latin typeface="Brush Script Std" panose="03060802040607070404" pitchFamily="66" charset="0"/>
              </a:rPr>
              <a:t>Acciones</a:t>
            </a:r>
          </a:p>
          <a:p>
            <a:r>
              <a:rPr lang="es-ES" sz="3200" dirty="0">
                <a:latin typeface="Brush Script Std" panose="03060802040607070404" pitchFamily="66" charset="0"/>
              </a:rPr>
              <a:t>concretas</a:t>
            </a:r>
          </a:p>
        </p:txBody>
      </p:sp>
      <p:sp>
        <p:nvSpPr>
          <p:cNvPr id="25" name="CuadroTexto 24">
            <a:extLst>
              <a:ext uri="{FF2B5EF4-FFF2-40B4-BE49-F238E27FC236}">
                <a16:creationId xmlns:a16="http://schemas.microsoft.com/office/drawing/2014/main" id="{1E69273E-95F4-4216-A00E-81D95381D9B5}"/>
              </a:ext>
            </a:extLst>
          </p:cNvPr>
          <p:cNvSpPr txBox="1"/>
          <p:nvPr/>
        </p:nvSpPr>
        <p:spPr>
          <a:xfrm>
            <a:off x="9947339" y="4487905"/>
            <a:ext cx="1920719" cy="1200329"/>
          </a:xfrm>
          <a:prstGeom prst="rect">
            <a:avLst/>
          </a:prstGeom>
          <a:noFill/>
        </p:spPr>
        <p:txBody>
          <a:bodyPr wrap="none" rtlCol="0">
            <a:spAutoFit/>
          </a:bodyPr>
          <a:lstStyle/>
          <a:p>
            <a:r>
              <a:rPr lang="es-ES" sz="3600" dirty="0">
                <a:latin typeface="Brush Script Std" panose="03060802040607070404" pitchFamily="66" charset="0"/>
              </a:rPr>
              <a:t>2 semana</a:t>
            </a:r>
          </a:p>
          <a:p>
            <a:r>
              <a:rPr lang="es-ES" sz="3600" dirty="0">
                <a:latin typeface="Brush Script Std" panose="03060802040607070404" pitchFamily="66" charset="0"/>
              </a:rPr>
              <a:t>2 horas</a:t>
            </a:r>
          </a:p>
        </p:txBody>
      </p:sp>
      <p:sp>
        <p:nvSpPr>
          <p:cNvPr id="26" name="CuadroTexto 25">
            <a:extLst>
              <a:ext uri="{FF2B5EF4-FFF2-40B4-BE49-F238E27FC236}">
                <a16:creationId xmlns:a16="http://schemas.microsoft.com/office/drawing/2014/main" id="{FFE9AE5D-17B1-4909-B175-C2B7AB7B4655}"/>
              </a:ext>
            </a:extLst>
          </p:cNvPr>
          <p:cNvSpPr txBox="1"/>
          <p:nvPr/>
        </p:nvSpPr>
        <p:spPr>
          <a:xfrm>
            <a:off x="6569097" y="1030863"/>
            <a:ext cx="1585690"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Cuando</a:t>
            </a:r>
          </a:p>
        </p:txBody>
      </p:sp>
      <p:pic>
        <p:nvPicPr>
          <p:cNvPr id="27" name="Imagen 26">
            <a:extLst>
              <a:ext uri="{FF2B5EF4-FFF2-40B4-BE49-F238E27FC236}">
                <a16:creationId xmlns:a16="http://schemas.microsoft.com/office/drawing/2014/main" id="{F829F1F4-17C3-4700-8854-10010C5D9437}"/>
              </a:ext>
            </a:extLst>
          </p:cNvPr>
          <p:cNvPicPr>
            <a:picLocks noChangeAspect="1"/>
          </p:cNvPicPr>
          <p:nvPr/>
        </p:nvPicPr>
        <p:blipFill>
          <a:blip r:embed="rId3"/>
          <a:stretch>
            <a:fillRect/>
          </a:stretch>
        </p:blipFill>
        <p:spPr>
          <a:xfrm>
            <a:off x="11025149" y="-46391"/>
            <a:ext cx="1353429" cy="823031"/>
          </a:xfrm>
          <a:prstGeom prst="rect">
            <a:avLst/>
          </a:prstGeom>
        </p:spPr>
      </p:pic>
      <p:pic>
        <p:nvPicPr>
          <p:cNvPr id="28" name="Picture 2" descr="Nota, Nota Adhesiva, Papel, Escocés">
            <a:extLst>
              <a:ext uri="{FF2B5EF4-FFF2-40B4-BE49-F238E27FC236}">
                <a16:creationId xmlns:a16="http://schemas.microsoft.com/office/drawing/2014/main" id="{A2019010-759D-4CD3-B92A-C173D2A31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63" y="4473964"/>
            <a:ext cx="2563520" cy="1755374"/>
          </a:xfrm>
          <a:prstGeom prst="rect">
            <a:avLst/>
          </a:prstGeom>
          <a:noFill/>
          <a:extLst>
            <a:ext uri="{909E8E84-426E-40DD-AFC4-6F175D3DCCD1}">
              <a14:hiddenFill xmlns:a14="http://schemas.microsoft.com/office/drawing/2010/main">
                <a:solidFill>
                  <a:srgbClr val="FFFFFF"/>
                </a:solidFill>
              </a14:hiddenFill>
            </a:ext>
          </a:extLst>
        </p:spPr>
      </p:pic>
      <p:sp>
        <p:nvSpPr>
          <p:cNvPr id="29" name="CuadroTexto 28">
            <a:extLst>
              <a:ext uri="{FF2B5EF4-FFF2-40B4-BE49-F238E27FC236}">
                <a16:creationId xmlns:a16="http://schemas.microsoft.com/office/drawing/2014/main" id="{77EDC48E-1ED3-42C1-B3B8-2FFCBC345A9D}"/>
              </a:ext>
            </a:extLst>
          </p:cNvPr>
          <p:cNvSpPr txBox="1"/>
          <p:nvPr/>
        </p:nvSpPr>
        <p:spPr>
          <a:xfrm>
            <a:off x="963071" y="4783932"/>
            <a:ext cx="1664238" cy="1200329"/>
          </a:xfrm>
          <a:prstGeom prst="rect">
            <a:avLst/>
          </a:prstGeom>
          <a:noFill/>
        </p:spPr>
        <p:txBody>
          <a:bodyPr wrap="none" rtlCol="0">
            <a:spAutoFit/>
          </a:bodyPr>
          <a:lstStyle/>
          <a:p>
            <a:r>
              <a:rPr lang="es-ES" sz="3600" dirty="0">
                <a:latin typeface="Brush Script Std" panose="03060802040607070404" pitchFamily="66" charset="0"/>
              </a:rPr>
              <a:t>Mejora</a:t>
            </a:r>
          </a:p>
          <a:p>
            <a:r>
              <a:rPr lang="es-ES" sz="3600" dirty="0">
                <a:latin typeface="Brush Script Std" panose="03060802040607070404" pitchFamily="66" charset="0"/>
              </a:rPr>
              <a:t>continua</a:t>
            </a:r>
          </a:p>
        </p:txBody>
      </p:sp>
    </p:spTree>
    <p:extLst>
      <p:ext uri="{BB962C8B-B14F-4D97-AF65-F5344CB8AC3E}">
        <p14:creationId xmlns:p14="http://schemas.microsoft.com/office/powerpoint/2010/main" val="1893292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00355-6905-5672-A5D2-D8937FD3ED47}"/>
              </a:ext>
            </a:extLst>
          </p:cNvPr>
          <p:cNvSpPr>
            <a:spLocks noGrp="1"/>
          </p:cNvSpPr>
          <p:nvPr>
            <p:ph type="title"/>
          </p:nvPr>
        </p:nvSpPr>
        <p:spPr/>
        <p:txBody>
          <a:bodyPr/>
          <a:lstStyle/>
          <a:p>
            <a:r>
              <a:rPr lang="es-ES"/>
              <a:t>Spring refinament</a:t>
            </a:r>
          </a:p>
        </p:txBody>
      </p:sp>
      <p:sp>
        <p:nvSpPr>
          <p:cNvPr id="3" name="Marcador de contenido 2">
            <a:extLst>
              <a:ext uri="{FF2B5EF4-FFF2-40B4-BE49-F238E27FC236}">
                <a16:creationId xmlns:a16="http://schemas.microsoft.com/office/drawing/2014/main" id="{BE36E4CE-252D-4A33-BCE9-ADD7EC09119D}"/>
              </a:ext>
            </a:extLst>
          </p:cNvPr>
          <p:cNvSpPr>
            <a:spLocks noGrp="1"/>
          </p:cNvSpPr>
          <p:nvPr>
            <p:ph type="body" sz="quarter" idx="13"/>
          </p:nvPr>
        </p:nvSpPr>
        <p:spPr>
          <a:xfrm>
            <a:off x="479739" y="1117380"/>
            <a:ext cx="10198100" cy="4838700"/>
          </a:xfrm>
        </p:spPr>
        <p:txBody>
          <a:bodyPr>
            <a:normAutofit fontScale="92500" lnSpcReduction="10000"/>
          </a:bodyPr>
          <a:lstStyle/>
          <a:p>
            <a:pPr marL="0" indent="0" algn="l">
              <a:lnSpc>
                <a:spcPct val="100000"/>
              </a:lnSpc>
              <a:buNone/>
            </a:pPr>
            <a:r>
              <a:rPr lang="es-ES" sz="1800" b="1" i="0" u="none" strike="noStrike" baseline="0">
                <a:latin typeface="Verdana" panose="020B0604030504040204" pitchFamily="34" charset="0"/>
                <a:ea typeface="Verdana" panose="020B0604030504040204" pitchFamily="34" charset="0"/>
              </a:rPr>
              <a:t>Objetivo</a:t>
            </a:r>
            <a:endParaRPr lang="es-ES" sz="1800" b="1" i="0" u="none" strike="noStrike" baseline="0" dirty="0">
              <a:latin typeface="Verdana" panose="020B0604030504040204" pitchFamily="34" charset="0"/>
              <a:ea typeface="Verdana" panose="020B0604030504040204" pitchFamily="34" charset="0"/>
            </a:endParaRPr>
          </a:p>
          <a:p>
            <a:pPr algn="l">
              <a:lnSpc>
                <a:spcPct val="100000"/>
              </a:lnSpc>
            </a:pPr>
            <a:r>
              <a:rPr lang="es-ES" sz="1800" b="0" i="0" u="none" strike="noStrike" baseline="0" dirty="0">
                <a:latin typeface="Verdana" panose="020B0604030504040204" pitchFamily="34" charset="0"/>
                <a:ea typeface="Verdana" panose="020B0604030504040204" pitchFamily="34" charset="0"/>
              </a:rPr>
              <a:t>El refinamiento de la Lista de Producto es el acto de </a:t>
            </a:r>
            <a:r>
              <a:rPr lang="es-ES" sz="1800" b="1" i="0" u="none" strike="noStrike" baseline="0" dirty="0">
                <a:latin typeface="Verdana" panose="020B0604030504040204" pitchFamily="34" charset="0"/>
                <a:ea typeface="Verdana" panose="020B0604030504040204" pitchFamily="34" charset="0"/>
              </a:rPr>
              <a:t>añadir detalle</a:t>
            </a:r>
            <a:r>
              <a:rPr lang="es-ES" sz="1800" b="1" i="0" u="none" strike="noStrike" baseline="0" dirty="0">
                <a:solidFill>
                  <a:srgbClr val="666767"/>
                </a:solidFill>
                <a:latin typeface="Verdana" panose="020B0604030504040204" pitchFamily="34" charset="0"/>
                <a:ea typeface="Verdana" panose="020B0604030504040204" pitchFamily="34" charset="0"/>
              </a:rPr>
              <a:t>, estimaciones y orden a los elementos de la Lista de Producto.</a:t>
            </a:r>
            <a:r>
              <a:rPr lang="es-ES" sz="1800" b="0" i="0" u="none" strike="noStrike" baseline="0" dirty="0">
                <a:solidFill>
                  <a:srgbClr val="666767"/>
                </a:solidFill>
                <a:latin typeface="Verdana" panose="020B0604030504040204" pitchFamily="34" charset="0"/>
                <a:ea typeface="Verdana" panose="020B0604030504040204" pitchFamily="34" charset="0"/>
              </a:rPr>
              <a:t> Se trata de un </a:t>
            </a:r>
            <a:r>
              <a:rPr lang="es-ES" sz="1800" b="1" i="0" u="none" strike="noStrike" baseline="0" dirty="0">
                <a:solidFill>
                  <a:srgbClr val="666767"/>
                </a:solidFill>
                <a:latin typeface="Verdana" panose="020B0604030504040204" pitchFamily="34" charset="0"/>
                <a:ea typeface="Verdana" panose="020B0604030504040204" pitchFamily="34" charset="0"/>
              </a:rPr>
              <a:t>proceso continuo </a:t>
            </a:r>
            <a:r>
              <a:rPr lang="es-ES" sz="1800" b="0" i="0" u="none" strike="noStrike" baseline="0" dirty="0">
                <a:solidFill>
                  <a:srgbClr val="666767"/>
                </a:solidFill>
                <a:latin typeface="Verdana" panose="020B0604030504040204" pitchFamily="34" charset="0"/>
                <a:ea typeface="Verdana" panose="020B0604030504040204" pitchFamily="34" charset="0"/>
              </a:rPr>
              <a:t>en el cual el Dueño de Producto y el Equipo de Desarrollo colaboran acerca de los detalles de los elementos de la Lista de Producto. Durante el refinamiento de la Lista de Producto, </a:t>
            </a:r>
            <a:r>
              <a:rPr lang="es-ES" sz="2000" b="0" i="0" u="none" strike="noStrike" baseline="0" dirty="0">
                <a:solidFill>
                  <a:srgbClr val="666767"/>
                </a:solidFill>
                <a:latin typeface="Verdana" panose="020B0604030504040204" pitchFamily="34" charset="0"/>
                <a:ea typeface="Verdana" panose="020B0604030504040204" pitchFamily="34" charset="0"/>
              </a:rPr>
              <a:t>se examinan y revisan sus elementos</a:t>
            </a:r>
            <a:r>
              <a:rPr lang="es-ES" sz="1800" b="0" i="0" u="none" strike="noStrike" baseline="0" dirty="0">
                <a:solidFill>
                  <a:srgbClr val="666767"/>
                </a:solidFill>
                <a:latin typeface="Verdana" panose="020B0604030504040204" pitchFamily="34" charset="0"/>
                <a:ea typeface="Verdana" panose="020B0604030504040204" pitchFamily="34" charset="0"/>
              </a:rPr>
              <a:t>. </a:t>
            </a:r>
          </a:p>
          <a:p>
            <a:pPr algn="l">
              <a:lnSpc>
                <a:spcPct val="100000"/>
              </a:lnSpc>
            </a:pPr>
            <a:r>
              <a:rPr lang="es-ES" sz="1800" b="0" i="0" u="none" strike="noStrike" baseline="0" dirty="0">
                <a:solidFill>
                  <a:srgbClr val="666767"/>
                </a:solidFill>
                <a:latin typeface="Verdana" panose="020B0604030504040204" pitchFamily="34" charset="0"/>
                <a:ea typeface="Verdana" panose="020B0604030504040204" pitchFamily="34" charset="0"/>
              </a:rPr>
              <a:t>El Equipo Scrum decide cómo y cuándo se hace el refinamiento. Este usualmente consume no más del 10% de la capacidad del Equipo de Desarrollo. Sin embargo, los elementos de la Lista de Producto pueden actualizarse en cualquier momento por el Dueño de Producto o a criterio suyo.</a:t>
            </a:r>
          </a:p>
          <a:p>
            <a:pPr marL="0" indent="0">
              <a:lnSpc>
                <a:spcPct val="100000"/>
              </a:lnSpc>
              <a:buNone/>
            </a:pPr>
            <a:r>
              <a:rPr lang="es-ES" sz="1800" b="1" dirty="0">
                <a:latin typeface="Verdana" panose="020B0604030504040204" pitchFamily="34" charset="0"/>
                <a:ea typeface="Verdana" panose="020B0604030504040204" pitchFamily="34" charset="0"/>
              </a:rPr>
              <a:t>Organización</a:t>
            </a:r>
          </a:p>
          <a:p>
            <a:pPr>
              <a:lnSpc>
                <a:spcPct val="100000"/>
              </a:lnSpc>
            </a:pPr>
            <a:r>
              <a:rPr lang="es-ES" sz="1800" b="0" i="0" u="none" strike="noStrike" baseline="0" dirty="0">
                <a:solidFill>
                  <a:srgbClr val="666767"/>
                </a:solidFill>
                <a:latin typeface="Verdana" panose="020B0604030504040204" pitchFamily="34" charset="0"/>
                <a:ea typeface="Verdana" panose="020B0604030504040204" pitchFamily="34" charset="0"/>
              </a:rPr>
              <a:t>Es un proceso continuo donde se eligen diferentes elementos de la Pila de Producto para ser revisadas y examinadas en detalle. </a:t>
            </a:r>
          </a:p>
          <a:p>
            <a:pPr>
              <a:lnSpc>
                <a:spcPct val="100000"/>
              </a:lnSpc>
            </a:pPr>
            <a:r>
              <a:rPr lang="es-ES" sz="1800" b="0" i="0" u="none" strike="noStrike" baseline="0" dirty="0">
                <a:solidFill>
                  <a:srgbClr val="666767"/>
                </a:solidFill>
                <a:latin typeface="Verdana" panose="020B0604030504040204" pitchFamily="34" charset="0"/>
                <a:ea typeface="Verdana" panose="020B0604030504040204" pitchFamily="34" charset="0"/>
              </a:rPr>
              <a:t>Hay equipos que realizan este proceso en diferentes sesiones a lo largo del Sprint u otros muchos en una sola reunión de varias horas. Se recomienda que como proceso continuo se realice de forma frecuente.</a:t>
            </a:r>
            <a:endParaRPr lang="es-ES"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087DC0EC-83CA-45DD-A887-597415B529D2}"/>
              </a:ext>
            </a:extLst>
          </p:cNvPr>
          <p:cNvPicPr>
            <a:picLocks noChangeAspect="1"/>
          </p:cNvPicPr>
          <p:nvPr/>
        </p:nvPicPr>
        <p:blipFill>
          <a:blip r:embed="rId2"/>
          <a:stretch>
            <a:fillRect/>
          </a:stretch>
        </p:blipFill>
        <p:spPr>
          <a:xfrm>
            <a:off x="11025149" y="-46391"/>
            <a:ext cx="1353429" cy="823031"/>
          </a:xfrm>
          <a:prstGeom prst="rect">
            <a:avLst/>
          </a:prstGeom>
        </p:spPr>
      </p:pic>
    </p:spTree>
    <p:extLst>
      <p:ext uri="{BB962C8B-B14F-4D97-AF65-F5344CB8AC3E}">
        <p14:creationId xmlns:p14="http://schemas.microsoft.com/office/powerpoint/2010/main" val="27872821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72AA5-6DCD-4D95-B6C2-DB00990EDFC5}"/>
              </a:ext>
            </a:extLst>
          </p:cNvPr>
          <p:cNvSpPr>
            <a:spLocks noGrp="1"/>
          </p:cNvSpPr>
          <p:nvPr>
            <p:ph type="title"/>
          </p:nvPr>
        </p:nvSpPr>
        <p:spPr/>
        <p:txBody>
          <a:bodyPr/>
          <a:lstStyle/>
          <a:p>
            <a:r>
              <a:rPr lang="es-ES" dirty="0"/>
              <a:t>Refinamiento</a:t>
            </a:r>
          </a:p>
        </p:txBody>
      </p:sp>
      <p:sp>
        <p:nvSpPr>
          <p:cNvPr id="5" name="Marcador de texto 4">
            <a:extLst>
              <a:ext uri="{FF2B5EF4-FFF2-40B4-BE49-F238E27FC236}">
                <a16:creationId xmlns:a16="http://schemas.microsoft.com/office/drawing/2014/main" id="{735CB84F-9319-E615-D69D-D8ECF535AA56}"/>
              </a:ext>
            </a:extLst>
          </p:cNvPr>
          <p:cNvSpPr>
            <a:spLocks noGrp="1"/>
          </p:cNvSpPr>
          <p:nvPr>
            <p:ph type="body" sz="quarter" idx="13"/>
          </p:nvPr>
        </p:nvSpPr>
        <p:spPr/>
        <p:txBody>
          <a:bodyPr/>
          <a:lstStyle/>
          <a:p>
            <a:endParaRPr lang="es-ES"/>
          </a:p>
        </p:txBody>
      </p:sp>
      <p:pic>
        <p:nvPicPr>
          <p:cNvPr id="4" name="Picture 2" descr="Nota, Nota Adhesiva, Papel, Escocés">
            <a:extLst>
              <a:ext uri="{FF2B5EF4-FFF2-40B4-BE49-F238E27FC236}">
                <a16:creationId xmlns:a16="http://schemas.microsoft.com/office/drawing/2014/main" id="{4C04E52D-F848-4A26-9642-94DCF41FA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663" y="1590083"/>
            <a:ext cx="3733379" cy="154199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1BB0F9C-716A-4F1C-89EF-8EDA95ED926E}"/>
              </a:ext>
            </a:extLst>
          </p:cNvPr>
          <p:cNvSpPr txBox="1"/>
          <p:nvPr/>
        </p:nvSpPr>
        <p:spPr>
          <a:xfrm>
            <a:off x="3673054" y="995232"/>
            <a:ext cx="1888659"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Para qué</a:t>
            </a:r>
          </a:p>
        </p:txBody>
      </p:sp>
      <p:pic>
        <p:nvPicPr>
          <p:cNvPr id="6" name="Picture 2" descr="Nota, Nota Adhesiva, Papel, Escocés">
            <a:extLst>
              <a:ext uri="{FF2B5EF4-FFF2-40B4-BE49-F238E27FC236}">
                <a16:creationId xmlns:a16="http://schemas.microsoft.com/office/drawing/2014/main" id="{5EF45B88-4559-4281-B8D7-A8AAD168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612" y="1570790"/>
            <a:ext cx="3438839" cy="1541995"/>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35E851AC-6A0A-4691-B599-103507E16BB0}"/>
              </a:ext>
            </a:extLst>
          </p:cNvPr>
          <p:cNvSpPr txBox="1"/>
          <p:nvPr/>
        </p:nvSpPr>
        <p:spPr>
          <a:xfrm>
            <a:off x="5453857" y="3170664"/>
            <a:ext cx="1556836"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Quienes</a:t>
            </a:r>
          </a:p>
        </p:txBody>
      </p:sp>
      <p:sp>
        <p:nvSpPr>
          <p:cNvPr id="10" name="Flecha: a la derecha 9">
            <a:extLst>
              <a:ext uri="{FF2B5EF4-FFF2-40B4-BE49-F238E27FC236}">
                <a16:creationId xmlns:a16="http://schemas.microsoft.com/office/drawing/2014/main" id="{FBDC354A-1D50-472C-874B-23556C8C887D}"/>
              </a:ext>
            </a:extLst>
          </p:cNvPr>
          <p:cNvSpPr/>
          <p:nvPr/>
        </p:nvSpPr>
        <p:spPr>
          <a:xfrm>
            <a:off x="8851482" y="2943777"/>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a la derecha 10">
            <a:extLst>
              <a:ext uri="{FF2B5EF4-FFF2-40B4-BE49-F238E27FC236}">
                <a16:creationId xmlns:a16="http://schemas.microsoft.com/office/drawing/2014/main" id="{E1DC4DCA-4A37-4CBC-BC0E-F7D10709C628}"/>
              </a:ext>
            </a:extLst>
          </p:cNvPr>
          <p:cNvSpPr/>
          <p:nvPr/>
        </p:nvSpPr>
        <p:spPr>
          <a:xfrm>
            <a:off x="2695813" y="3063012"/>
            <a:ext cx="842682" cy="62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Picture 2" descr="Nota, Nota Adhesiva, Papel, Escocés">
            <a:extLst>
              <a:ext uri="{FF2B5EF4-FFF2-40B4-BE49-F238E27FC236}">
                <a16:creationId xmlns:a16="http://schemas.microsoft.com/office/drawing/2014/main" id="{9D52DC17-AABE-4709-BA8E-F9CB554F1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27" y="3828081"/>
            <a:ext cx="2538563" cy="186015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ota, Nota Adhesiva, Papel, Escocés">
            <a:extLst>
              <a:ext uri="{FF2B5EF4-FFF2-40B4-BE49-F238E27FC236}">
                <a16:creationId xmlns:a16="http://schemas.microsoft.com/office/drawing/2014/main" id="{CB631016-1336-4AD3-A1AE-05862A258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816995"/>
            <a:ext cx="2578887"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ota, Nota Adhesiva, Papel, Escocés">
            <a:extLst>
              <a:ext uri="{FF2B5EF4-FFF2-40B4-BE49-F238E27FC236}">
                <a16:creationId xmlns:a16="http://schemas.microsoft.com/office/drawing/2014/main" id="{B70B96B0-E7BE-499D-B96F-ED4D6C5BB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974" y="5234323"/>
            <a:ext cx="2104370" cy="15419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B7EE0051-4D00-46DF-82D6-07F244925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34" y="2490488"/>
            <a:ext cx="3262840" cy="217115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257C49DC-FA70-449A-A1AB-67917D838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452" y="2341787"/>
            <a:ext cx="2845362" cy="20849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6BD2DFAC-CBD1-494A-8F99-6291700D4162}"/>
              </a:ext>
            </a:extLst>
          </p:cNvPr>
          <p:cNvSpPr txBox="1"/>
          <p:nvPr/>
        </p:nvSpPr>
        <p:spPr>
          <a:xfrm>
            <a:off x="3673054" y="1760688"/>
            <a:ext cx="2392001" cy="1077218"/>
          </a:xfrm>
          <a:prstGeom prst="rect">
            <a:avLst/>
          </a:prstGeom>
          <a:noFill/>
        </p:spPr>
        <p:txBody>
          <a:bodyPr wrap="none" rtlCol="0">
            <a:spAutoFit/>
          </a:bodyPr>
          <a:lstStyle/>
          <a:p>
            <a:r>
              <a:rPr lang="es-ES" sz="3200" dirty="0">
                <a:latin typeface="Brush Script Std" panose="03060802040607070404" pitchFamily="66" charset="0"/>
              </a:rPr>
              <a:t>Mejorar</a:t>
            </a:r>
          </a:p>
          <a:p>
            <a:r>
              <a:rPr lang="es-ES" sz="3200" dirty="0">
                <a:latin typeface="Brush Script Std" panose="03060802040607070404" pitchFamily="66" charset="0"/>
              </a:rPr>
              <a:t>Los elementos</a:t>
            </a:r>
          </a:p>
        </p:txBody>
      </p:sp>
      <p:pic>
        <p:nvPicPr>
          <p:cNvPr id="18" name="Picture 2" descr="Nota, Nota Adhesiva, Papel, Escocés">
            <a:extLst>
              <a:ext uri="{FF2B5EF4-FFF2-40B4-BE49-F238E27FC236}">
                <a16:creationId xmlns:a16="http://schemas.microsoft.com/office/drawing/2014/main" id="{45A484ED-9A51-4980-B1EF-7F9D27123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8344" y="5146517"/>
            <a:ext cx="2411653" cy="1541995"/>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E71CB039-746F-4983-8A35-969479280413}"/>
              </a:ext>
            </a:extLst>
          </p:cNvPr>
          <p:cNvSpPr txBox="1"/>
          <p:nvPr/>
        </p:nvSpPr>
        <p:spPr>
          <a:xfrm>
            <a:off x="6531171" y="1720977"/>
            <a:ext cx="2133918" cy="1200329"/>
          </a:xfrm>
          <a:prstGeom prst="rect">
            <a:avLst/>
          </a:prstGeom>
          <a:noFill/>
        </p:spPr>
        <p:txBody>
          <a:bodyPr wrap="none" rtlCol="0">
            <a:spAutoFit/>
          </a:bodyPr>
          <a:lstStyle/>
          <a:p>
            <a:r>
              <a:rPr lang="es-ES" sz="3600" dirty="0">
                <a:latin typeface="Brush Script Std" panose="03060802040607070404" pitchFamily="66" charset="0"/>
              </a:rPr>
              <a:t>Durante el</a:t>
            </a:r>
          </a:p>
          <a:p>
            <a:r>
              <a:rPr lang="es-ES" sz="3600" dirty="0">
                <a:latin typeface="Brush Script Std" panose="03060802040607070404" pitchFamily="66" charset="0"/>
              </a:rPr>
              <a:t>sprint</a:t>
            </a:r>
          </a:p>
        </p:txBody>
      </p:sp>
      <p:sp>
        <p:nvSpPr>
          <p:cNvPr id="20" name="CuadroTexto 19">
            <a:extLst>
              <a:ext uri="{FF2B5EF4-FFF2-40B4-BE49-F238E27FC236}">
                <a16:creationId xmlns:a16="http://schemas.microsoft.com/office/drawing/2014/main" id="{8DAFF2DA-6C0E-4D36-B621-DFBA8866E2F9}"/>
              </a:ext>
            </a:extLst>
          </p:cNvPr>
          <p:cNvSpPr txBox="1"/>
          <p:nvPr/>
        </p:nvSpPr>
        <p:spPr>
          <a:xfrm>
            <a:off x="3463690" y="4212178"/>
            <a:ext cx="1779654" cy="1200329"/>
          </a:xfrm>
          <a:prstGeom prst="rect">
            <a:avLst/>
          </a:prstGeom>
          <a:noFill/>
        </p:spPr>
        <p:txBody>
          <a:bodyPr wrap="none" rtlCol="0">
            <a:spAutoFit/>
          </a:bodyPr>
          <a:lstStyle/>
          <a:p>
            <a:r>
              <a:rPr lang="es-ES" sz="3600" dirty="0" err="1">
                <a:latin typeface="Brush Script Std" panose="03060802040607070404" pitchFamily="66" charset="0"/>
              </a:rPr>
              <a:t>Product</a:t>
            </a:r>
            <a:r>
              <a:rPr lang="es-ES" sz="3600" dirty="0">
                <a:latin typeface="Brush Script Std" panose="03060802040607070404" pitchFamily="66" charset="0"/>
              </a:rPr>
              <a:t> </a:t>
            </a:r>
          </a:p>
          <a:p>
            <a:r>
              <a:rPr lang="es-ES" sz="3600" dirty="0" err="1">
                <a:latin typeface="Brush Script Std" panose="03060802040607070404" pitchFamily="66" charset="0"/>
              </a:rPr>
              <a:t>Owner</a:t>
            </a:r>
            <a:endParaRPr lang="es-ES" sz="3600" dirty="0">
              <a:latin typeface="Brush Script Std" panose="03060802040607070404" pitchFamily="66" charset="0"/>
            </a:endParaRPr>
          </a:p>
        </p:txBody>
      </p:sp>
      <p:sp>
        <p:nvSpPr>
          <p:cNvPr id="21" name="CuadroTexto 20">
            <a:extLst>
              <a:ext uri="{FF2B5EF4-FFF2-40B4-BE49-F238E27FC236}">
                <a16:creationId xmlns:a16="http://schemas.microsoft.com/office/drawing/2014/main" id="{52027E1A-9BC3-44BE-A071-2581BF91FB51}"/>
              </a:ext>
            </a:extLst>
          </p:cNvPr>
          <p:cNvSpPr txBox="1"/>
          <p:nvPr/>
        </p:nvSpPr>
        <p:spPr>
          <a:xfrm>
            <a:off x="6319878" y="3980477"/>
            <a:ext cx="2068195" cy="1200329"/>
          </a:xfrm>
          <a:prstGeom prst="rect">
            <a:avLst/>
          </a:prstGeom>
          <a:noFill/>
        </p:spPr>
        <p:txBody>
          <a:bodyPr wrap="none" rtlCol="0">
            <a:spAutoFit/>
          </a:bodyPr>
          <a:lstStyle/>
          <a:p>
            <a:r>
              <a:rPr lang="es-ES" sz="3600" dirty="0">
                <a:latin typeface="Brush Script Std" panose="03060802040607070404" pitchFamily="66" charset="0"/>
              </a:rPr>
              <a:t>Equipo </a:t>
            </a:r>
          </a:p>
          <a:p>
            <a:r>
              <a:rPr lang="es-ES" sz="3600" dirty="0">
                <a:latin typeface="Brush Script Std" panose="03060802040607070404" pitchFamily="66" charset="0"/>
              </a:rPr>
              <a:t>constructor</a:t>
            </a:r>
          </a:p>
        </p:txBody>
      </p:sp>
      <p:sp>
        <p:nvSpPr>
          <p:cNvPr id="22" name="CuadroTexto 21">
            <a:extLst>
              <a:ext uri="{FF2B5EF4-FFF2-40B4-BE49-F238E27FC236}">
                <a16:creationId xmlns:a16="http://schemas.microsoft.com/office/drawing/2014/main" id="{19809675-53FA-4565-B689-A6510CC886B0}"/>
              </a:ext>
            </a:extLst>
          </p:cNvPr>
          <p:cNvSpPr txBox="1"/>
          <p:nvPr/>
        </p:nvSpPr>
        <p:spPr>
          <a:xfrm>
            <a:off x="6096000" y="5282187"/>
            <a:ext cx="1561646" cy="1200329"/>
          </a:xfrm>
          <a:prstGeom prst="rect">
            <a:avLst/>
          </a:prstGeom>
          <a:noFill/>
        </p:spPr>
        <p:txBody>
          <a:bodyPr wrap="none" rtlCol="0">
            <a:spAutoFit/>
          </a:bodyPr>
          <a:lstStyle/>
          <a:p>
            <a:r>
              <a:rPr lang="es-ES" sz="3600" dirty="0" err="1">
                <a:latin typeface="Brush Script Std" panose="03060802040607070404" pitchFamily="66" charset="0"/>
              </a:rPr>
              <a:t>Scrm</a:t>
            </a:r>
            <a:r>
              <a:rPr lang="es-ES" sz="3600" dirty="0">
                <a:latin typeface="Brush Script Std" panose="03060802040607070404" pitchFamily="66" charset="0"/>
              </a:rPr>
              <a:t> </a:t>
            </a:r>
          </a:p>
          <a:p>
            <a:r>
              <a:rPr lang="es-ES" sz="3600" dirty="0">
                <a:latin typeface="Brush Script Std" panose="03060802040607070404" pitchFamily="66" charset="0"/>
              </a:rPr>
              <a:t>Master</a:t>
            </a:r>
          </a:p>
        </p:txBody>
      </p:sp>
      <p:sp>
        <p:nvSpPr>
          <p:cNvPr id="23" name="CuadroTexto 22">
            <a:extLst>
              <a:ext uri="{FF2B5EF4-FFF2-40B4-BE49-F238E27FC236}">
                <a16:creationId xmlns:a16="http://schemas.microsoft.com/office/drawing/2014/main" id="{BAFF9A50-9007-4115-9597-83A5A593EA75}"/>
              </a:ext>
            </a:extLst>
          </p:cNvPr>
          <p:cNvSpPr txBox="1"/>
          <p:nvPr/>
        </p:nvSpPr>
        <p:spPr>
          <a:xfrm>
            <a:off x="328452" y="2672424"/>
            <a:ext cx="2542684" cy="1754326"/>
          </a:xfrm>
          <a:prstGeom prst="rect">
            <a:avLst/>
          </a:prstGeom>
          <a:noFill/>
        </p:spPr>
        <p:txBody>
          <a:bodyPr wrap="none" rtlCol="0">
            <a:spAutoFit/>
          </a:bodyPr>
          <a:lstStyle/>
          <a:p>
            <a:r>
              <a:rPr lang="es-ES" sz="3600" dirty="0">
                <a:latin typeface="Brush Script Std" panose="03060802040607070404" pitchFamily="66" charset="0"/>
              </a:rPr>
              <a:t>Elemento de </a:t>
            </a:r>
          </a:p>
          <a:p>
            <a:r>
              <a:rPr lang="es-ES" sz="3600" dirty="0">
                <a:latin typeface="Brush Script Std" panose="03060802040607070404" pitchFamily="66" charset="0"/>
              </a:rPr>
              <a:t>La pila de </a:t>
            </a:r>
          </a:p>
          <a:p>
            <a:r>
              <a:rPr lang="es-ES" sz="3600" dirty="0">
                <a:latin typeface="Brush Script Std" panose="03060802040607070404" pitchFamily="66" charset="0"/>
              </a:rPr>
              <a:t>producto </a:t>
            </a:r>
          </a:p>
        </p:txBody>
      </p:sp>
      <p:sp>
        <p:nvSpPr>
          <p:cNvPr id="24" name="CuadroTexto 23">
            <a:extLst>
              <a:ext uri="{FF2B5EF4-FFF2-40B4-BE49-F238E27FC236}">
                <a16:creationId xmlns:a16="http://schemas.microsoft.com/office/drawing/2014/main" id="{DED450F8-B8CE-466F-9C2A-0B2FBB9EF9A9}"/>
              </a:ext>
            </a:extLst>
          </p:cNvPr>
          <p:cNvSpPr txBox="1"/>
          <p:nvPr/>
        </p:nvSpPr>
        <p:spPr>
          <a:xfrm>
            <a:off x="10186200" y="2716261"/>
            <a:ext cx="1798890" cy="1077218"/>
          </a:xfrm>
          <a:prstGeom prst="rect">
            <a:avLst/>
          </a:prstGeom>
          <a:noFill/>
        </p:spPr>
        <p:txBody>
          <a:bodyPr wrap="none" rtlCol="0">
            <a:spAutoFit/>
          </a:bodyPr>
          <a:lstStyle/>
          <a:p>
            <a:r>
              <a:rPr lang="es-ES" sz="3200" dirty="0">
                <a:latin typeface="Brush Script Std" panose="03060802040607070404" pitchFamily="66" charset="0"/>
              </a:rPr>
              <a:t>Elementos</a:t>
            </a:r>
          </a:p>
          <a:p>
            <a:r>
              <a:rPr lang="es-ES" sz="3200" dirty="0">
                <a:latin typeface="Brush Script Std" panose="03060802040607070404" pitchFamily="66" charset="0"/>
              </a:rPr>
              <a:t>refinados</a:t>
            </a:r>
          </a:p>
        </p:txBody>
      </p:sp>
      <p:sp>
        <p:nvSpPr>
          <p:cNvPr id="25" name="CuadroTexto 24">
            <a:extLst>
              <a:ext uri="{FF2B5EF4-FFF2-40B4-BE49-F238E27FC236}">
                <a16:creationId xmlns:a16="http://schemas.microsoft.com/office/drawing/2014/main" id="{1E69273E-95F4-4216-A00E-81D95381D9B5}"/>
              </a:ext>
            </a:extLst>
          </p:cNvPr>
          <p:cNvSpPr txBox="1"/>
          <p:nvPr/>
        </p:nvSpPr>
        <p:spPr>
          <a:xfrm>
            <a:off x="8162573" y="5317351"/>
            <a:ext cx="1947969" cy="1200329"/>
          </a:xfrm>
          <a:prstGeom prst="rect">
            <a:avLst/>
          </a:prstGeom>
          <a:noFill/>
        </p:spPr>
        <p:txBody>
          <a:bodyPr wrap="none" rtlCol="0">
            <a:spAutoFit/>
          </a:bodyPr>
          <a:lstStyle/>
          <a:p>
            <a:r>
              <a:rPr lang="es-ES" sz="3600" dirty="0">
                <a:latin typeface="Brush Script Std" panose="03060802040607070404" pitchFamily="66" charset="0"/>
              </a:rPr>
              <a:t>2 semana</a:t>
            </a:r>
          </a:p>
          <a:p>
            <a:r>
              <a:rPr lang="es-ES" sz="3600" dirty="0">
                <a:latin typeface="Brush Script Std" panose="03060802040607070404" pitchFamily="66" charset="0"/>
              </a:rPr>
              <a:t>1-2 horas</a:t>
            </a:r>
          </a:p>
        </p:txBody>
      </p:sp>
      <p:sp>
        <p:nvSpPr>
          <p:cNvPr id="26" name="CuadroTexto 25">
            <a:extLst>
              <a:ext uri="{FF2B5EF4-FFF2-40B4-BE49-F238E27FC236}">
                <a16:creationId xmlns:a16="http://schemas.microsoft.com/office/drawing/2014/main" id="{FFE9AE5D-17B1-4909-B175-C2B7AB7B4655}"/>
              </a:ext>
            </a:extLst>
          </p:cNvPr>
          <p:cNvSpPr txBox="1"/>
          <p:nvPr/>
        </p:nvSpPr>
        <p:spPr>
          <a:xfrm>
            <a:off x="6569097" y="1030863"/>
            <a:ext cx="1585690" cy="646331"/>
          </a:xfrm>
          <a:prstGeom prst="rect">
            <a:avLst/>
          </a:prstGeom>
          <a:noFill/>
        </p:spPr>
        <p:txBody>
          <a:bodyPr wrap="none" rtlCol="0">
            <a:spAutoFit/>
          </a:bodyPr>
          <a:lstStyle/>
          <a:p>
            <a:r>
              <a:rPr lang="es-ES" sz="3600" dirty="0">
                <a:solidFill>
                  <a:schemeClr val="accent1">
                    <a:lumMod val="75000"/>
                  </a:schemeClr>
                </a:solidFill>
                <a:latin typeface="Brush Script Std" panose="03060802040607070404" pitchFamily="66" charset="0"/>
              </a:rPr>
              <a:t>Cuando</a:t>
            </a:r>
          </a:p>
        </p:txBody>
      </p:sp>
      <p:pic>
        <p:nvPicPr>
          <p:cNvPr id="27" name="Imagen 26">
            <a:extLst>
              <a:ext uri="{FF2B5EF4-FFF2-40B4-BE49-F238E27FC236}">
                <a16:creationId xmlns:a16="http://schemas.microsoft.com/office/drawing/2014/main" id="{F829F1F4-17C3-4700-8854-10010C5D9437}"/>
              </a:ext>
            </a:extLst>
          </p:cNvPr>
          <p:cNvPicPr>
            <a:picLocks noChangeAspect="1"/>
          </p:cNvPicPr>
          <p:nvPr/>
        </p:nvPicPr>
        <p:blipFill>
          <a:blip r:embed="rId3"/>
          <a:stretch>
            <a:fillRect/>
          </a:stretch>
        </p:blipFill>
        <p:spPr>
          <a:xfrm>
            <a:off x="11025149" y="-46391"/>
            <a:ext cx="1353429" cy="823031"/>
          </a:xfrm>
          <a:prstGeom prst="rect">
            <a:avLst/>
          </a:prstGeom>
        </p:spPr>
      </p:pic>
      <p:pic>
        <p:nvPicPr>
          <p:cNvPr id="30" name="Picture 2" descr="Nota, Nota Adhesiva, Papel, Escocés">
            <a:extLst>
              <a:ext uri="{FF2B5EF4-FFF2-40B4-BE49-F238E27FC236}">
                <a16:creationId xmlns:a16="http://schemas.microsoft.com/office/drawing/2014/main" id="{A53BA31F-740D-491B-8B63-E944351A2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0145" y="4801224"/>
            <a:ext cx="2498669" cy="1887287"/>
          </a:xfrm>
          <a:prstGeom prst="rect">
            <a:avLst/>
          </a:prstGeom>
          <a:noFill/>
          <a:extLst>
            <a:ext uri="{909E8E84-426E-40DD-AFC4-6F175D3DCCD1}">
              <a14:hiddenFill xmlns:a14="http://schemas.microsoft.com/office/drawing/2010/main">
                <a:solidFill>
                  <a:srgbClr val="FFFFFF"/>
                </a:solidFill>
              </a14:hiddenFill>
            </a:ext>
          </a:extLst>
        </p:spPr>
      </p:pic>
      <p:sp>
        <p:nvSpPr>
          <p:cNvPr id="31" name="CuadroTexto 30">
            <a:extLst>
              <a:ext uri="{FF2B5EF4-FFF2-40B4-BE49-F238E27FC236}">
                <a16:creationId xmlns:a16="http://schemas.microsoft.com/office/drawing/2014/main" id="{63E4432E-3838-43C5-8334-6B90687655B1}"/>
              </a:ext>
            </a:extLst>
          </p:cNvPr>
          <p:cNvSpPr txBox="1"/>
          <p:nvPr/>
        </p:nvSpPr>
        <p:spPr>
          <a:xfrm>
            <a:off x="10106539" y="4959519"/>
            <a:ext cx="2220235" cy="1384995"/>
          </a:xfrm>
          <a:prstGeom prst="rect">
            <a:avLst/>
          </a:prstGeom>
          <a:noFill/>
        </p:spPr>
        <p:txBody>
          <a:bodyPr wrap="square" rtlCol="0">
            <a:spAutoFit/>
          </a:bodyPr>
          <a:lstStyle/>
          <a:p>
            <a:r>
              <a:rPr lang="es-ES" sz="2800" dirty="0">
                <a:latin typeface="Brush Script Std" panose="03060802040607070404" pitchFamily="66" charset="0"/>
              </a:rPr>
              <a:t>Continua</a:t>
            </a:r>
          </a:p>
          <a:p>
            <a:r>
              <a:rPr lang="es-ES" sz="2800" dirty="0">
                <a:latin typeface="Brush Script Std" panose="03060802040607070404" pitchFamily="66" charset="0"/>
              </a:rPr>
              <a:t>Todos los días</a:t>
            </a:r>
          </a:p>
          <a:p>
            <a:r>
              <a:rPr lang="es-ES" sz="2800" dirty="0">
                <a:latin typeface="Brush Script Std" panose="03060802040607070404" pitchFamily="66" charset="0"/>
              </a:rPr>
              <a:t>15’-20’</a:t>
            </a:r>
          </a:p>
        </p:txBody>
      </p:sp>
    </p:spTree>
    <p:extLst>
      <p:ext uri="{BB962C8B-B14F-4D97-AF65-F5344CB8AC3E}">
        <p14:creationId xmlns:p14="http://schemas.microsoft.com/office/powerpoint/2010/main" val="29385288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FD36FD-B24E-F0CF-EDD6-3ED6DFBD7540}"/>
              </a:ext>
            </a:extLst>
          </p:cNvPr>
          <p:cNvSpPr>
            <a:spLocks noGrp="1"/>
          </p:cNvSpPr>
          <p:nvPr>
            <p:ph type="title"/>
          </p:nvPr>
        </p:nvSpPr>
        <p:spPr/>
        <p:txBody>
          <a:bodyPr/>
          <a:lstStyle/>
          <a:p>
            <a:r>
              <a:rPr lang="es-ES"/>
              <a:t>Documentos</a:t>
            </a:r>
          </a:p>
        </p:txBody>
      </p:sp>
      <p:sp>
        <p:nvSpPr>
          <p:cNvPr id="3" name="Marcador de contenido 2">
            <a:extLst>
              <a:ext uri="{FF2B5EF4-FFF2-40B4-BE49-F238E27FC236}">
                <a16:creationId xmlns:a16="http://schemas.microsoft.com/office/drawing/2014/main" id="{A49F2A44-79FD-4F2D-8238-AACFF12D911A}"/>
              </a:ext>
            </a:extLst>
          </p:cNvPr>
          <p:cNvSpPr>
            <a:spLocks noGrp="1"/>
          </p:cNvSpPr>
          <p:nvPr>
            <p:ph type="body" sz="quarter" idx="13"/>
          </p:nvPr>
        </p:nvSpPr>
        <p:spPr>
          <a:xfrm>
            <a:off x="462224" y="1033141"/>
            <a:ext cx="10888854" cy="4838700"/>
          </a:xfrm>
        </p:spPr>
        <p:txBody>
          <a:bodyPr>
            <a:normAutofit fontScale="77500" lnSpcReduction="20000"/>
          </a:bodyPr>
          <a:lstStyle/>
          <a:p>
            <a:pPr marL="0" indent="0">
              <a:lnSpc>
                <a:spcPct val="110000"/>
              </a:lnSpc>
              <a:buNone/>
            </a:pPr>
            <a:r>
              <a:rPr lang="es-ES" sz="2000" b="1">
                <a:solidFill>
                  <a:srgbClr val="202124"/>
                </a:solidFill>
                <a:latin typeface="Verdana" panose="020B0604030504040204" pitchFamily="34" charset="0"/>
                <a:ea typeface="Verdana" panose="020B0604030504040204" pitchFamily="34" charset="0"/>
              </a:rPr>
              <a:t>Backlog</a:t>
            </a:r>
            <a:endParaRPr lang="es-ES" sz="2000" b="1" dirty="0">
              <a:solidFill>
                <a:srgbClr val="202124"/>
              </a:solidFill>
              <a:latin typeface="Verdana" panose="020B0604030504040204" pitchFamily="34" charset="0"/>
              <a:ea typeface="Verdana" panose="020B0604030504040204" pitchFamily="34" charset="0"/>
            </a:endParaRPr>
          </a:p>
          <a:p>
            <a:pPr marL="0" indent="0">
              <a:lnSpc>
                <a:spcPct val="110000"/>
              </a:lnSpc>
              <a:buNone/>
            </a:pPr>
            <a:r>
              <a:rPr lang="es-ES" sz="2000" dirty="0">
                <a:solidFill>
                  <a:srgbClr val="202124"/>
                </a:solidFill>
                <a:latin typeface="Verdana" panose="020B0604030504040204" pitchFamily="34" charset="0"/>
                <a:ea typeface="Verdana" panose="020B0604030504040204" pitchFamily="34" charset="0"/>
              </a:rPr>
              <a:t>Se denomina como backlog a la lista de todos los ítems que pertenecen al trabajo que está dispuestos o requeridos por parte del </a:t>
            </a:r>
            <a:r>
              <a:rPr lang="es-ES" sz="2000" dirty="0" err="1">
                <a:solidFill>
                  <a:srgbClr val="202124"/>
                </a:solidFill>
                <a:latin typeface="Verdana" panose="020B0604030504040204" pitchFamily="34" charset="0"/>
                <a:ea typeface="Verdana" panose="020B0604030504040204" pitchFamily="34" charset="0"/>
              </a:rPr>
              <a:t>product</a:t>
            </a:r>
            <a:r>
              <a:rPr lang="es-ES" sz="2000" dirty="0">
                <a:solidFill>
                  <a:srgbClr val="202124"/>
                </a:solidFill>
                <a:latin typeface="Verdana" panose="020B0604030504040204" pitchFamily="34" charset="0"/>
                <a:ea typeface="Verdana" panose="020B0604030504040204" pitchFamily="34" charset="0"/>
              </a:rPr>
              <a:t> </a:t>
            </a:r>
            <a:r>
              <a:rPr lang="es-ES" sz="2000" dirty="0" err="1">
                <a:solidFill>
                  <a:srgbClr val="202124"/>
                </a:solidFill>
                <a:latin typeface="Verdana" panose="020B0604030504040204" pitchFamily="34" charset="0"/>
                <a:ea typeface="Verdana" panose="020B0604030504040204" pitchFamily="34" charset="0"/>
              </a:rPr>
              <a:t>owner</a:t>
            </a:r>
            <a:r>
              <a:rPr lang="es-ES" sz="2000" dirty="0">
                <a:solidFill>
                  <a:srgbClr val="202124"/>
                </a:solidFill>
                <a:latin typeface="Verdana" panose="020B0604030504040204" pitchFamily="34" charset="0"/>
                <a:ea typeface="Verdana" panose="020B0604030504040204" pitchFamily="34" charset="0"/>
              </a:rPr>
              <a:t> (Po), para ser realizado, dentro de esta lista se pueden tener diferentes elementos como las historias de usuario (HU), las tareas, los ítems o las unidades de trabajo necesarias para dar cumplimiento a la entrega del producto o proyecto. Esta métrica se mide contando todos los ítems, tareas o historias de usuario que se tienen actualmente en el backlog o en col</a:t>
            </a:r>
          </a:p>
          <a:p>
            <a:pPr marL="0" indent="0">
              <a:lnSpc>
                <a:spcPct val="110000"/>
              </a:lnSpc>
              <a:buNone/>
            </a:pPr>
            <a:endParaRPr lang="es-ES" sz="2000" b="1" dirty="0">
              <a:solidFill>
                <a:srgbClr val="202124"/>
              </a:solidFill>
              <a:latin typeface="Verdana" panose="020B0604030504040204" pitchFamily="34" charset="0"/>
              <a:ea typeface="Verdana" panose="020B0604030504040204" pitchFamily="34" charset="0"/>
            </a:endParaRPr>
          </a:p>
          <a:p>
            <a:pPr marL="0" indent="0">
              <a:lnSpc>
                <a:spcPct val="110000"/>
              </a:lnSpc>
              <a:buNone/>
            </a:pPr>
            <a:r>
              <a:rPr lang="es-ES" sz="2000" b="1" i="0" dirty="0">
                <a:solidFill>
                  <a:srgbClr val="202124"/>
                </a:solidFill>
                <a:effectLst/>
                <a:latin typeface="Verdana" panose="020B0604030504040204" pitchFamily="34" charset="0"/>
                <a:ea typeface="Verdana" panose="020B0604030504040204" pitchFamily="34" charset="0"/>
              </a:rPr>
              <a:t>Diagramas de </a:t>
            </a:r>
            <a:r>
              <a:rPr lang="es-ES" sz="2000" b="1" i="0" dirty="0" err="1">
                <a:solidFill>
                  <a:srgbClr val="202124"/>
                </a:solidFill>
                <a:effectLst/>
                <a:latin typeface="Verdana" panose="020B0604030504040204" pitchFamily="34" charset="0"/>
                <a:ea typeface="Verdana" panose="020B0604030504040204" pitchFamily="34" charset="0"/>
              </a:rPr>
              <a:t>Burndown</a:t>
            </a:r>
            <a:r>
              <a:rPr lang="es-ES" sz="2000" b="1" i="0" dirty="0">
                <a:solidFill>
                  <a:srgbClr val="202124"/>
                </a:solidFill>
                <a:effectLst/>
                <a:latin typeface="Verdana" panose="020B0604030504040204" pitchFamily="34" charset="0"/>
                <a:ea typeface="Verdana" panose="020B0604030504040204" pitchFamily="34" charset="0"/>
              </a:rPr>
              <a:t>:</a:t>
            </a:r>
          </a:p>
          <a:p>
            <a:pPr marL="0" indent="0">
              <a:lnSpc>
                <a:spcPct val="110000"/>
              </a:lnSpc>
              <a:buNone/>
            </a:pPr>
            <a:r>
              <a:rPr lang="es-ES" sz="2000" b="0" i="0" dirty="0">
                <a:solidFill>
                  <a:srgbClr val="202124"/>
                </a:solidFill>
                <a:effectLst/>
                <a:latin typeface="Verdana" panose="020B0604030504040204" pitchFamily="34" charset="0"/>
                <a:ea typeface="Verdana" panose="020B0604030504040204" pitchFamily="34" charset="0"/>
              </a:rPr>
              <a:t>Obtenemos una visión del trabajo pendiente en el </a:t>
            </a:r>
            <a:r>
              <a:rPr lang="es-ES" sz="2000" b="1" i="0" dirty="0">
                <a:solidFill>
                  <a:srgbClr val="202124"/>
                </a:solidFill>
                <a:effectLst/>
                <a:latin typeface="Verdana" panose="020B0604030504040204" pitchFamily="34" charset="0"/>
                <a:ea typeface="Verdana" panose="020B0604030504040204" pitchFamily="34" charset="0"/>
              </a:rPr>
              <a:t>sprint</a:t>
            </a:r>
            <a:r>
              <a:rPr lang="es-ES" sz="2000" b="0" i="0" dirty="0">
                <a:solidFill>
                  <a:srgbClr val="202124"/>
                </a:solidFill>
                <a:effectLst/>
                <a:latin typeface="Verdana" panose="020B0604030504040204" pitchFamily="34" charset="0"/>
                <a:ea typeface="Verdana" panose="020B0604030504040204" pitchFamily="34" charset="0"/>
              </a:rPr>
              <a:t>. Representamos los días del </a:t>
            </a:r>
            <a:r>
              <a:rPr lang="es-ES" sz="2000" b="1" i="0" dirty="0">
                <a:solidFill>
                  <a:srgbClr val="202124"/>
                </a:solidFill>
                <a:effectLst/>
                <a:latin typeface="Verdana" panose="020B0604030504040204" pitchFamily="34" charset="0"/>
                <a:ea typeface="Verdana" panose="020B0604030504040204" pitchFamily="34" charset="0"/>
              </a:rPr>
              <a:t>sprint</a:t>
            </a:r>
            <a:r>
              <a:rPr lang="es-ES" sz="2000" b="0" i="0" dirty="0">
                <a:solidFill>
                  <a:srgbClr val="202124"/>
                </a:solidFill>
                <a:effectLst/>
                <a:latin typeface="Verdana" panose="020B0604030504040204" pitchFamily="34" charset="0"/>
                <a:ea typeface="Verdana" panose="020B0604030504040204" pitchFamily="34" charset="0"/>
              </a:rPr>
              <a:t> frente al incremento de producto entregado cada día. Permite extrapolar si el Equipo podrá completar el trabajo en el tiempo estimado.</a:t>
            </a:r>
          </a:p>
          <a:p>
            <a:pPr marL="0" indent="0">
              <a:lnSpc>
                <a:spcPct val="110000"/>
              </a:lnSpc>
              <a:buNone/>
            </a:pPr>
            <a:r>
              <a:rPr lang="es-ES" sz="2000" b="1" i="0" dirty="0" err="1">
                <a:solidFill>
                  <a:srgbClr val="202124"/>
                </a:solidFill>
                <a:effectLst/>
                <a:latin typeface="Verdana" panose="020B0604030504040204" pitchFamily="34" charset="0"/>
                <a:ea typeface="Verdana" panose="020B0604030504040204" pitchFamily="34" charset="0"/>
              </a:rPr>
              <a:t>Burnup</a:t>
            </a:r>
            <a:r>
              <a:rPr lang="es-ES" sz="2000" b="0" i="0" dirty="0">
                <a:solidFill>
                  <a:srgbClr val="202124"/>
                </a:solidFill>
                <a:effectLst/>
                <a:latin typeface="Verdana" panose="020B0604030504040204" pitchFamily="34" charset="0"/>
                <a:ea typeface="Verdana" panose="020B0604030504040204" pitchFamily="34" charset="0"/>
              </a:rPr>
              <a:t> </a:t>
            </a:r>
            <a:r>
              <a:rPr lang="es-ES" sz="2000" b="1" i="0" dirty="0">
                <a:solidFill>
                  <a:srgbClr val="202124"/>
                </a:solidFill>
                <a:effectLst/>
                <a:latin typeface="Verdana" panose="020B0604030504040204" pitchFamily="34" charset="0"/>
                <a:ea typeface="Verdana" panose="020B0604030504040204" pitchFamily="34" charset="0"/>
              </a:rPr>
              <a:t>chart</a:t>
            </a:r>
            <a:r>
              <a:rPr lang="es-ES" sz="2000" b="0" i="0" dirty="0">
                <a:solidFill>
                  <a:srgbClr val="202124"/>
                </a:solidFill>
                <a:effectLst/>
                <a:latin typeface="Verdana" panose="020B0604030504040204" pitchFamily="34" charset="0"/>
                <a:ea typeface="Verdana" panose="020B0604030504040204" pitchFamily="34" charset="0"/>
              </a:rPr>
              <a:t>: </a:t>
            </a:r>
          </a:p>
          <a:p>
            <a:pPr marL="0" indent="0">
              <a:lnSpc>
                <a:spcPct val="110000"/>
              </a:lnSpc>
              <a:buNone/>
            </a:pPr>
            <a:r>
              <a:rPr lang="es-ES" sz="2000" dirty="0">
                <a:solidFill>
                  <a:srgbClr val="202124"/>
                </a:solidFill>
                <a:latin typeface="Verdana" panose="020B0604030504040204" pitchFamily="34" charset="0"/>
                <a:ea typeface="Verdana" panose="020B0604030504040204" pitchFamily="34" charset="0"/>
              </a:rPr>
              <a:t>V</a:t>
            </a:r>
            <a:r>
              <a:rPr lang="es-ES" sz="2000" b="0" i="0" dirty="0">
                <a:solidFill>
                  <a:srgbClr val="202124"/>
                </a:solidFill>
                <a:effectLst/>
                <a:latin typeface="Verdana" panose="020B0604030504040204" pitchFamily="34" charset="0"/>
                <a:ea typeface="Verdana" panose="020B0604030504040204" pitchFamily="34" charset="0"/>
              </a:rPr>
              <a:t>isualizamos el progreso de nuestro producto y la distancia hasta el producto completo. </a:t>
            </a:r>
            <a:br>
              <a:rPr lang="es-ES" sz="2000" dirty="0">
                <a:latin typeface="Verdana" panose="020B0604030504040204" pitchFamily="34" charset="0"/>
                <a:ea typeface="Verdana" panose="020B0604030504040204" pitchFamily="34" charset="0"/>
              </a:rPr>
            </a:br>
            <a:r>
              <a:rPr lang="es-ES" sz="2000" b="0" i="0" dirty="0">
                <a:solidFill>
                  <a:srgbClr val="202124"/>
                </a:solidFill>
                <a:effectLst/>
                <a:latin typeface="Verdana" panose="020B0604030504040204" pitchFamily="34" charset="0"/>
                <a:ea typeface="Verdana" panose="020B0604030504040204" pitchFamily="34" charset="0"/>
              </a:rPr>
              <a:t>Un diagrama </a:t>
            </a:r>
            <a:r>
              <a:rPr lang="es-ES" sz="2000" b="1" i="0" dirty="0" err="1">
                <a:solidFill>
                  <a:srgbClr val="202124"/>
                </a:solidFill>
                <a:effectLst/>
                <a:latin typeface="Verdana" panose="020B0604030504040204" pitchFamily="34" charset="0"/>
                <a:ea typeface="Verdana" panose="020B0604030504040204" pitchFamily="34" charset="0"/>
              </a:rPr>
              <a:t>burn</a:t>
            </a:r>
            <a:r>
              <a:rPr lang="es-ES" sz="2000" b="1" i="0" dirty="0">
                <a:solidFill>
                  <a:srgbClr val="202124"/>
                </a:solidFill>
                <a:effectLst/>
                <a:latin typeface="Verdana" panose="020B0604030504040204" pitchFamily="34" charset="0"/>
                <a:ea typeface="Verdana" panose="020B0604030504040204" pitchFamily="34" charset="0"/>
              </a:rPr>
              <a:t> </a:t>
            </a:r>
            <a:r>
              <a:rPr lang="es-ES" sz="2000" b="1" i="0" dirty="0" err="1">
                <a:solidFill>
                  <a:srgbClr val="202124"/>
                </a:solidFill>
                <a:effectLst/>
                <a:latin typeface="Verdana" panose="020B0604030504040204" pitchFamily="34" charset="0"/>
                <a:ea typeface="Verdana" panose="020B0604030504040204" pitchFamily="34" charset="0"/>
              </a:rPr>
              <a:t>down</a:t>
            </a:r>
            <a:r>
              <a:rPr lang="es-ES" sz="2000" b="0" i="0" dirty="0">
                <a:solidFill>
                  <a:srgbClr val="202124"/>
                </a:solidFill>
                <a:effectLst/>
                <a:latin typeface="Verdana" panose="020B0604030504040204" pitchFamily="34" charset="0"/>
                <a:ea typeface="Verdana" panose="020B0604030504040204" pitchFamily="34" charset="0"/>
              </a:rPr>
              <a:t> es una representación gráfica del trabajo que queda por hacer en un proyecto (o en un determinado </a:t>
            </a:r>
            <a:r>
              <a:rPr lang="es-ES" sz="2000" b="1" i="0" dirty="0">
                <a:solidFill>
                  <a:srgbClr val="202124"/>
                </a:solidFill>
                <a:effectLst/>
                <a:latin typeface="Verdana" panose="020B0604030504040204" pitchFamily="34" charset="0"/>
                <a:ea typeface="Verdana" panose="020B0604030504040204" pitchFamily="34" charset="0"/>
              </a:rPr>
              <a:t>Sprint</a:t>
            </a:r>
            <a:r>
              <a:rPr lang="es-ES" sz="2000" b="0" i="0" dirty="0">
                <a:solidFill>
                  <a:srgbClr val="202124"/>
                </a:solidFill>
                <a:effectLst/>
                <a:latin typeface="Verdana" panose="020B0604030504040204" pitchFamily="34" charset="0"/>
                <a:ea typeface="Verdana" panose="020B0604030504040204" pitchFamily="34" charset="0"/>
              </a:rPr>
              <a:t>) en el tiempo. Normalmente el trabajo a realizar se muestra en el eje vertical y el tiempo en el eje horizontal. Es decir, el diagrama representa una serie temporal del trabajo pendiente</a:t>
            </a:r>
            <a:endParaRPr lang="es-ES" sz="2000"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994F7E7B-99BD-427F-9AED-7D1163E25219}"/>
              </a:ext>
            </a:extLst>
          </p:cNvPr>
          <p:cNvPicPr>
            <a:picLocks noChangeAspect="1"/>
          </p:cNvPicPr>
          <p:nvPr/>
        </p:nvPicPr>
        <p:blipFill>
          <a:blip r:embed="rId2"/>
          <a:stretch>
            <a:fillRect/>
          </a:stretch>
        </p:blipFill>
        <p:spPr>
          <a:xfrm>
            <a:off x="10976097" y="6034969"/>
            <a:ext cx="1353429" cy="823031"/>
          </a:xfrm>
          <a:prstGeom prst="rect">
            <a:avLst/>
          </a:prstGeom>
        </p:spPr>
      </p:pic>
    </p:spTree>
    <p:extLst>
      <p:ext uri="{BB962C8B-B14F-4D97-AF65-F5344CB8AC3E}">
        <p14:creationId xmlns:p14="http://schemas.microsoft.com/office/powerpoint/2010/main" val="30593243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78D317-3ADB-1411-8906-C913727693D3}"/>
              </a:ext>
            </a:extLst>
          </p:cNvPr>
          <p:cNvSpPr>
            <a:spLocks noGrp="1"/>
          </p:cNvSpPr>
          <p:nvPr>
            <p:ph type="title"/>
          </p:nvPr>
        </p:nvSpPr>
        <p:spPr/>
        <p:txBody>
          <a:bodyPr>
            <a:normAutofit/>
          </a:bodyPr>
          <a:lstStyle/>
          <a:p>
            <a:r>
              <a:rPr lang="es-ES" sz="4400" b="1">
                <a:latin typeface="Verdana" panose="020B0604030504040204" pitchFamily="34" charset="0"/>
                <a:ea typeface="Verdana" panose="020B0604030504040204" pitchFamily="34" charset="0"/>
              </a:rPr>
              <a:t>Gráfico de Avance (burndown).</a:t>
            </a:r>
            <a:endParaRPr lang="es-ES"/>
          </a:p>
        </p:txBody>
      </p:sp>
      <p:sp>
        <p:nvSpPr>
          <p:cNvPr id="3" name="Marcador de contenido 2">
            <a:extLst>
              <a:ext uri="{FF2B5EF4-FFF2-40B4-BE49-F238E27FC236}">
                <a16:creationId xmlns:a16="http://schemas.microsoft.com/office/drawing/2014/main" id="{6D99EA61-E255-4027-ADC6-6383ACCB6E10}"/>
              </a:ext>
            </a:extLst>
          </p:cNvPr>
          <p:cNvSpPr>
            <a:spLocks noGrp="1"/>
          </p:cNvSpPr>
          <p:nvPr>
            <p:ph type="body" sz="quarter" idx="13"/>
          </p:nvPr>
        </p:nvSpPr>
        <p:spPr>
          <a:xfrm>
            <a:off x="760068" y="870013"/>
            <a:ext cx="10198100" cy="4838700"/>
          </a:xfrm>
        </p:spPr>
        <p:style>
          <a:lnRef idx="2">
            <a:schemeClr val="accent5"/>
          </a:lnRef>
          <a:fillRef idx="1">
            <a:schemeClr val="lt1"/>
          </a:fillRef>
          <a:effectRef idx="0">
            <a:schemeClr val="accent5"/>
          </a:effectRef>
          <a:fontRef idx="minor">
            <a:schemeClr val="dk1"/>
          </a:fontRef>
        </p:style>
        <p:txBody>
          <a:bodyPr>
            <a:normAutofit/>
          </a:bodyPr>
          <a:lstStyle/>
          <a:p>
            <a:pPr algn="l"/>
            <a:r>
              <a:rPr lang="es-ES" sz="1600" b="0" i="0">
                <a:solidFill>
                  <a:srgbClr val="202122"/>
                </a:solidFill>
                <a:effectLst/>
                <a:latin typeface="Arial" panose="020B0604020202020204" pitchFamily="34" charset="0"/>
              </a:rPr>
              <a:t>Este </a:t>
            </a:r>
            <a:r>
              <a:rPr lang="es-ES" sz="1600" b="0" i="0" dirty="0">
                <a:solidFill>
                  <a:srgbClr val="202122"/>
                </a:solidFill>
                <a:effectLst/>
                <a:latin typeface="Arial" panose="020B0604020202020204" pitchFamily="34" charset="0"/>
              </a:rPr>
              <a:t>gráfico debe ser actualizado diariamente, y se registra:</a:t>
            </a:r>
          </a:p>
          <a:p>
            <a:pPr algn="l">
              <a:buFont typeface="Arial" panose="020B0604020202020204" pitchFamily="34" charset="0"/>
              <a:buChar char="•"/>
            </a:pPr>
            <a:r>
              <a:rPr lang="es-ES" sz="1600" b="0" i="0" dirty="0">
                <a:solidFill>
                  <a:srgbClr val="202122"/>
                </a:solidFill>
                <a:effectLst/>
                <a:latin typeface="Arial" panose="020B0604020202020204" pitchFamily="34" charset="0"/>
              </a:rPr>
              <a:t>En el eje Y se registra el trabajo que aún falta por realizar.</a:t>
            </a:r>
          </a:p>
          <a:p>
            <a:pPr algn="l">
              <a:buFont typeface="Arial" panose="020B0604020202020204" pitchFamily="34" charset="0"/>
              <a:buChar char="•"/>
            </a:pPr>
            <a:r>
              <a:rPr lang="es-ES" sz="1600" b="0" i="0" dirty="0">
                <a:solidFill>
                  <a:srgbClr val="202122"/>
                </a:solidFill>
                <a:effectLst/>
                <a:latin typeface="Arial" panose="020B0604020202020204" pitchFamily="34" charset="0"/>
              </a:rPr>
              <a:t>En el eje X se registran los días del sprint.</a:t>
            </a:r>
          </a:p>
          <a:p>
            <a:pPr marL="0" indent="0">
              <a:buNone/>
            </a:pPr>
            <a:endParaRPr lang="es-ES" sz="2400" dirty="0"/>
          </a:p>
        </p:txBody>
      </p:sp>
      <p:pic>
        <p:nvPicPr>
          <p:cNvPr id="2050" name="Picture 2">
            <a:extLst>
              <a:ext uri="{FF2B5EF4-FFF2-40B4-BE49-F238E27FC236}">
                <a16:creationId xmlns:a16="http://schemas.microsoft.com/office/drawing/2014/main" id="{B5F4F285-2B3A-43BF-93FB-0667E46F1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083" y="2140299"/>
            <a:ext cx="8707166" cy="471770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020B592A-A010-4384-B487-BE9195F17326}"/>
              </a:ext>
            </a:extLst>
          </p:cNvPr>
          <p:cNvPicPr>
            <a:picLocks noChangeAspect="1"/>
          </p:cNvPicPr>
          <p:nvPr/>
        </p:nvPicPr>
        <p:blipFill>
          <a:blip r:embed="rId3"/>
          <a:stretch>
            <a:fillRect/>
          </a:stretch>
        </p:blipFill>
        <p:spPr>
          <a:xfrm>
            <a:off x="10958168" y="0"/>
            <a:ext cx="1353429" cy="823031"/>
          </a:xfrm>
          <a:prstGeom prst="rect">
            <a:avLst/>
          </a:prstGeom>
        </p:spPr>
      </p:pic>
    </p:spTree>
    <p:extLst>
      <p:ext uri="{BB962C8B-B14F-4D97-AF65-F5344CB8AC3E}">
        <p14:creationId xmlns:p14="http://schemas.microsoft.com/office/powerpoint/2010/main" val="19100008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199C78-9E00-983D-98D5-69EBB5545FAF}"/>
              </a:ext>
            </a:extLst>
          </p:cNvPr>
          <p:cNvSpPr>
            <a:spLocks noGrp="1"/>
          </p:cNvSpPr>
          <p:nvPr>
            <p:ph type="title"/>
          </p:nvPr>
        </p:nvSpPr>
        <p:spPr/>
        <p:txBody>
          <a:bodyPr/>
          <a:lstStyle/>
          <a:p>
            <a:r>
              <a:rPr lang="es-ES"/>
              <a:t>Métricas</a:t>
            </a:r>
          </a:p>
        </p:txBody>
      </p:sp>
      <p:sp>
        <p:nvSpPr>
          <p:cNvPr id="3" name="Marcador de contenido 2">
            <a:extLst>
              <a:ext uri="{FF2B5EF4-FFF2-40B4-BE49-F238E27FC236}">
                <a16:creationId xmlns:a16="http://schemas.microsoft.com/office/drawing/2014/main" id="{782F7FB5-1036-44BC-B288-4930338AF30A}"/>
              </a:ext>
            </a:extLst>
          </p:cNvPr>
          <p:cNvSpPr>
            <a:spLocks noGrp="1"/>
          </p:cNvSpPr>
          <p:nvPr>
            <p:ph type="body" sz="quarter" idx="13"/>
          </p:nvPr>
        </p:nvSpPr>
        <p:spPr>
          <a:xfrm>
            <a:off x="231112" y="1217863"/>
            <a:ext cx="11716378" cy="4838700"/>
          </a:xfrm>
        </p:spPr>
        <p:txBody>
          <a:bodyPr>
            <a:normAutofit/>
          </a:bodyPr>
          <a:lstStyle/>
          <a:p>
            <a:pPr marL="0" indent="0">
              <a:buNone/>
            </a:pPr>
            <a:r>
              <a:rPr lang="es-ES" sz="2000"/>
              <a:t>Frente </a:t>
            </a:r>
            <a:r>
              <a:rPr lang="es-ES" sz="2000" dirty="0"/>
              <a:t>al uso de días ideales de manera tradicional, que se basa en dar estimaciones muy subjetivas. En metodología ágil se usa el sistema:</a:t>
            </a:r>
          </a:p>
          <a:p>
            <a:pPr marL="0" indent="0">
              <a:buNone/>
            </a:pPr>
            <a:r>
              <a:rPr lang="es-ES" sz="1800" b="1" i="0" u="none" strike="noStrike" baseline="0" dirty="0">
                <a:solidFill>
                  <a:srgbClr val="666767"/>
                </a:solidFill>
                <a:latin typeface="Verdana" panose="020B0604030504040204" pitchFamily="34" charset="0"/>
                <a:ea typeface="Verdana" panose="020B0604030504040204" pitchFamily="34" charset="0"/>
              </a:rPr>
              <a:t>Estimación relativa, puntos historia</a:t>
            </a:r>
          </a:p>
          <a:p>
            <a:pPr marL="0" indent="0">
              <a:buNone/>
            </a:pPr>
            <a:r>
              <a:rPr lang="es-ES" sz="1800" dirty="0">
                <a:solidFill>
                  <a:srgbClr val="666767"/>
                </a:solidFill>
                <a:latin typeface="Verdana" panose="020B0604030504040204" pitchFamily="34" charset="0"/>
                <a:ea typeface="Verdana" panose="020B0604030504040204" pitchFamily="34" charset="0"/>
              </a:rPr>
              <a:t>En este caso usamos como estimación la complejidad, no el tiempo. A la tarea base se le asigna un punto de historia, a la siguiente tarea si la complejidad es el doble por tanto se le da dos puntos y así sucesivamente. Ejemplo, la primera tarea es crear una tabla A, la segunda tarea es crear dos tablas más.</a:t>
            </a:r>
          </a:p>
          <a:p>
            <a:pPr marL="0" indent="0">
              <a:buNone/>
            </a:pPr>
            <a:r>
              <a:rPr lang="es-ES" sz="2000" b="1" dirty="0">
                <a:latin typeface="Verdana" panose="020B0604030504040204" pitchFamily="34" charset="0"/>
                <a:ea typeface="Verdana" panose="020B0604030504040204" pitchFamily="34" charset="0"/>
              </a:rPr>
              <a:t>Métricas</a:t>
            </a:r>
          </a:p>
          <a:p>
            <a:pPr marL="0" indent="0">
              <a:lnSpc>
                <a:spcPct val="100000"/>
              </a:lnSpc>
              <a:buNone/>
            </a:pPr>
            <a:r>
              <a:rPr lang="es-ES" sz="1800" dirty="0">
                <a:solidFill>
                  <a:srgbClr val="666767"/>
                </a:solidFill>
                <a:latin typeface="Verdana" panose="020B0604030504040204" pitchFamily="34" charset="0"/>
                <a:ea typeface="Verdana" panose="020B0604030504040204" pitchFamily="34" charset="0"/>
              </a:rPr>
              <a:t>Sin embargo, cuando se mide a una persona o a un </a:t>
            </a:r>
            <a:r>
              <a:rPr lang="es-ES" sz="1800" dirty="0">
                <a:solidFill>
                  <a:srgbClr val="666767"/>
                </a:solidFill>
                <a:latin typeface="Verdana" panose="020B0604030504040204" pitchFamily="34" charset="0"/>
                <a:ea typeface="Verdana" panose="020B0604030504040204" pitchFamily="34" charset="0"/>
                <a:hlinkClick r:id="rId2">
                  <a:extLst>
                    <a:ext uri="{A12FA001-AC4F-418D-AE19-62706E023703}">
                      <ahyp:hlinkClr xmlns:ahyp="http://schemas.microsoft.com/office/drawing/2018/hyperlinkcolor" val="tx"/>
                    </a:ext>
                  </a:extLst>
                </a:hlinkClick>
              </a:rPr>
              <a:t>equipo</a:t>
            </a:r>
            <a:r>
              <a:rPr lang="es-ES" sz="1800" dirty="0">
                <a:solidFill>
                  <a:srgbClr val="666767"/>
                </a:solidFill>
                <a:latin typeface="Verdana" panose="020B0604030504040204" pitchFamily="34" charset="0"/>
                <a:ea typeface="Verdana" panose="020B0604030504040204" pitchFamily="34" charset="0"/>
              </a:rPr>
              <a:t> de una determinada manera, sus acciones pueden desviarse en exceso hacia ese objetivo y descuidar otros aspectos también importantes como, por ejemplo, la calidad, los costes, los riesgos, la sostenibilidad de la velocidad con que obtienen objetivos, etc. Por ello, puede ser necesario utilizar un conjunto de métricas de diferentes aspectos relacionados, creando de esta manera un cuadro de mandos integral ágil.</a:t>
            </a:r>
          </a:p>
        </p:txBody>
      </p:sp>
      <p:graphicFrame>
        <p:nvGraphicFramePr>
          <p:cNvPr id="4" name="Diagrama 3">
            <a:extLst>
              <a:ext uri="{FF2B5EF4-FFF2-40B4-BE49-F238E27FC236}">
                <a16:creationId xmlns:a16="http://schemas.microsoft.com/office/drawing/2014/main" id="{EB6CBC45-83FD-46EC-89C6-3EBCB304F875}"/>
              </a:ext>
            </a:extLst>
          </p:cNvPr>
          <p:cNvGraphicFramePr/>
          <p:nvPr>
            <p:extLst>
              <p:ext uri="{D42A27DB-BD31-4B8C-83A1-F6EECF244321}">
                <p14:modId xmlns:p14="http://schemas.microsoft.com/office/powerpoint/2010/main" val="2798308428"/>
              </p:ext>
            </p:extLst>
          </p:nvPr>
        </p:nvGraphicFramePr>
        <p:xfrm>
          <a:off x="103094" y="5407867"/>
          <a:ext cx="11985812" cy="12973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n 4">
            <a:extLst>
              <a:ext uri="{FF2B5EF4-FFF2-40B4-BE49-F238E27FC236}">
                <a16:creationId xmlns:a16="http://schemas.microsoft.com/office/drawing/2014/main" id="{50A32A78-6D7A-4430-A01E-769AC191197E}"/>
              </a:ext>
            </a:extLst>
          </p:cNvPr>
          <p:cNvPicPr>
            <a:picLocks noChangeAspect="1"/>
          </p:cNvPicPr>
          <p:nvPr/>
        </p:nvPicPr>
        <p:blipFill>
          <a:blip r:embed="rId8"/>
          <a:stretch>
            <a:fillRect/>
          </a:stretch>
        </p:blipFill>
        <p:spPr>
          <a:xfrm>
            <a:off x="11146428" y="11456"/>
            <a:ext cx="1162114" cy="706691"/>
          </a:xfrm>
          <a:prstGeom prst="rect">
            <a:avLst/>
          </a:prstGeom>
        </p:spPr>
      </p:pic>
    </p:spTree>
    <p:extLst>
      <p:ext uri="{BB962C8B-B14F-4D97-AF65-F5344CB8AC3E}">
        <p14:creationId xmlns:p14="http://schemas.microsoft.com/office/powerpoint/2010/main" val="10025722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5E99B87-CDB4-A2D5-D99D-0EE2F715F417}"/>
              </a:ext>
            </a:extLst>
          </p:cNvPr>
          <p:cNvSpPr>
            <a:spLocks noGrp="1"/>
          </p:cNvSpPr>
          <p:nvPr>
            <p:ph type="title"/>
          </p:nvPr>
        </p:nvSpPr>
        <p:spPr/>
        <p:txBody>
          <a:bodyPr/>
          <a:lstStyle/>
          <a:p>
            <a:r>
              <a:rPr lang="es-ES" b="1"/>
              <a:t>Criterios para la estimación y métricas</a:t>
            </a:r>
            <a:endParaRPr lang="es-ES"/>
          </a:p>
        </p:txBody>
      </p:sp>
      <p:sp>
        <p:nvSpPr>
          <p:cNvPr id="2" name="Rectángulo 1">
            <a:extLst>
              <a:ext uri="{FF2B5EF4-FFF2-40B4-BE49-F238E27FC236}">
                <a16:creationId xmlns:a16="http://schemas.microsoft.com/office/drawing/2014/main" id="{2315696F-5299-495D-A98C-0BC783F80219}"/>
              </a:ext>
            </a:extLst>
          </p:cNvPr>
          <p:cNvSpPr/>
          <p:nvPr/>
        </p:nvSpPr>
        <p:spPr>
          <a:xfrm>
            <a:off x="212351" y="1185845"/>
            <a:ext cx="3281083" cy="471543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l"/>
            <a:r>
              <a:rPr lang="es-ES" sz="1600" b="1" i="0" u="sng" dirty="0">
                <a:solidFill>
                  <a:srgbClr val="4D4D4D"/>
                </a:solidFill>
                <a:effectLst/>
                <a:latin typeface="Verdana" panose="020B0604030504040204" pitchFamily="34" charset="0"/>
              </a:rPr>
              <a:t>Métricas de productividad y efectividad de la entrega</a:t>
            </a:r>
          </a:p>
          <a:p>
            <a:pPr algn="l"/>
            <a:endParaRPr lang="es-ES" sz="1600" b="0" i="0" dirty="0">
              <a:solidFill>
                <a:srgbClr val="555555"/>
              </a:solidFill>
              <a:effectLst/>
              <a:latin typeface="Source Sans Pro"/>
            </a:endParaRPr>
          </a:p>
          <a:p>
            <a:pPr algn="l">
              <a:buFont typeface="Arial" panose="020B0604020202020204" pitchFamily="34" charset="0"/>
              <a:buChar char="•"/>
            </a:pPr>
            <a:r>
              <a:rPr lang="es-ES" sz="1600" b="1" i="0" u="none" strike="noStrike" dirty="0">
                <a:solidFill>
                  <a:srgbClr val="555555"/>
                </a:solidFill>
                <a:effectLst/>
                <a:latin typeface="Verdana" panose="020B0604030504040204" pitchFamily="34" charset="0"/>
                <a:hlinkClick r:id="rId2"/>
              </a:rPr>
              <a:t>Velocidad</a:t>
            </a:r>
            <a:r>
              <a:rPr lang="es-ES" sz="1600" b="1" i="0" dirty="0">
                <a:solidFill>
                  <a:srgbClr val="4D4D4D"/>
                </a:solidFill>
                <a:effectLst/>
                <a:latin typeface="Verdana" panose="020B0604030504040204" pitchFamily="34" charset="0"/>
              </a:rPr>
              <a:t> con que se completan objetivos/requisitos </a:t>
            </a:r>
            <a:r>
              <a:rPr lang="es-ES" sz="1600" b="0" i="0" dirty="0">
                <a:solidFill>
                  <a:srgbClr val="4D4D4D"/>
                </a:solidFill>
                <a:effectLst/>
                <a:latin typeface="Verdana" panose="020B0604030504040204" pitchFamily="34" charset="0"/>
              </a:rPr>
              <a:t>en cada iteración. Idealmente debería aumentar con respecto al tiempo (productividad). También permite ir extrapolando la fecha de finalización del proyecto en función de cuando se vaya a completar todo su alcance.</a:t>
            </a:r>
            <a:br>
              <a:rPr lang="es-ES" sz="1600" b="0" i="0" dirty="0">
                <a:solidFill>
                  <a:srgbClr val="4D4D4D"/>
                </a:solidFill>
                <a:effectLst/>
                <a:latin typeface="Verdana" panose="020B0604030504040204" pitchFamily="34" charset="0"/>
              </a:rPr>
            </a:br>
            <a:endParaRPr lang="es-ES" sz="1600" b="0" i="0" dirty="0">
              <a:solidFill>
                <a:srgbClr val="555555"/>
              </a:solidFill>
              <a:effectLst/>
              <a:latin typeface="Source Sans Pro"/>
            </a:endParaRPr>
          </a:p>
          <a:p>
            <a:pPr algn="l">
              <a:buFont typeface="Arial" panose="020B0604020202020204" pitchFamily="34" charset="0"/>
              <a:buChar char="•"/>
            </a:pPr>
            <a:r>
              <a:rPr lang="es-ES" sz="1600" b="1" i="0" dirty="0">
                <a:solidFill>
                  <a:srgbClr val="4D4D4D"/>
                </a:solidFill>
                <a:effectLst/>
                <a:latin typeface="Verdana" panose="020B0604030504040204" pitchFamily="34" charset="0"/>
              </a:rPr>
              <a:t>Tiempo de entrega de un requisito tras su petición.</a:t>
            </a:r>
            <a:endParaRPr lang="es-ES" sz="1600" b="0" i="0" dirty="0">
              <a:solidFill>
                <a:srgbClr val="555555"/>
              </a:solidFill>
              <a:effectLst/>
              <a:latin typeface="Source Sans Pro"/>
            </a:endParaRPr>
          </a:p>
        </p:txBody>
      </p:sp>
      <p:sp>
        <p:nvSpPr>
          <p:cNvPr id="6" name="Rectángulo 5">
            <a:extLst>
              <a:ext uri="{FF2B5EF4-FFF2-40B4-BE49-F238E27FC236}">
                <a16:creationId xmlns:a16="http://schemas.microsoft.com/office/drawing/2014/main" id="{E027B2A4-F0D9-4D56-A17C-29188F686466}"/>
              </a:ext>
            </a:extLst>
          </p:cNvPr>
          <p:cNvSpPr/>
          <p:nvPr/>
        </p:nvSpPr>
        <p:spPr>
          <a:xfrm>
            <a:off x="3643095" y="1022564"/>
            <a:ext cx="4341241" cy="580913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l"/>
            <a:r>
              <a:rPr lang="es-ES" sz="1500" b="1" i="0" u="sng" dirty="0">
                <a:solidFill>
                  <a:srgbClr val="4D4D4D"/>
                </a:solidFill>
                <a:effectLst/>
                <a:latin typeface="Verdana" panose="020B0604030504040204" pitchFamily="34" charset="0"/>
              </a:rPr>
              <a:t>Métricas de resultados del proyecto</a:t>
            </a:r>
          </a:p>
          <a:p>
            <a:pPr algn="l"/>
            <a:endParaRPr lang="es-ES" sz="1500" b="0" i="0" u="sng"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Velocidad con que se aporta valor al negocio </a:t>
            </a:r>
            <a:r>
              <a:rPr lang="es-ES" sz="1500" b="0" i="0" dirty="0">
                <a:solidFill>
                  <a:srgbClr val="4D4D4D"/>
                </a:solidFill>
                <a:effectLst/>
                <a:latin typeface="Verdana" panose="020B0604030504040204" pitchFamily="34" charset="0"/>
              </a:rPr>
              <a:t>(desde el punto de vista del cliente)</a:t>
            </a:r>
            <a:r>
              <a:rPr lang="es-ES" sz="1500" b="1" i="0" dirty="0">
                <a:solidFill>
                  <a:srgbClr val="4D4D4D"/>
                </a:solidFill>
                <a:effectLst/>
                <a:latin typeface="Verdana" panose="020B0604030504040204" pitchFamily="34" charset="0"/>
              </a:rPr>
              <a:t>.</a:t>
            </a:r>
            <a:endParaRPr lang="es-ES" sz="1500" b="0" i="0"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Valor acumulado</a:t>
            </a:r>
            <a:r>
              <a:rPr lang="es-ES" sz="1500" b="0" i="0" dirty="0">
                <a:solidFill>
                  <a:srgbClr val="4D4D4D"/>
                </a:solidFill>
                <a:effectLst/>
                <a:latin typeface="Verdana" panose="020B0604030504040204" pitchFamily="34" charset="0"/>
              </a:rPr>
              <a:t>.</a:t>
            </a:r>
            <a:endParaRPr lang="es-ES" sz="1500" b="0" i="0"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Requisitos completados</a:t>
            </a:r>
            <a:r>
              <a:rPr lang="es-ES" sz="1500" b="0" i="0" dirty="0">
                <a:solidFill>
                  <a:srgbClr val="4D4D4D"/>
                </a:solidFill>
                <a:effectLst/>
                <a:latin typeface="Verdana" panose="020B0604030504040204" pitchFamily="34" charset="0"/>
              </a:rPr>
              <a:t> </a:t>
            </a:r>
            <a:r>
              <a:rPr lang="es-ES" sz="1500" b="1" i="0" dirty="0">
                <a:solidFill>
                  <a:srgbClr val="4D4D4D"/>
                </a:solidFill>
                <a:effectLst/>
                <a:latin typeface="Verdana" panose="020B0604030504040204" pitchFamily="34" charset="0"/>
              </a:rPr>
              <a:t>en la iteración.</a:t>
            </a:r>
            <a:endParaRPr lang="es-ES" sz="1500" b="0" i="0" dirty="0">
              <a:solidFill>
                <a:srgbClr val="555555"/>
              </a:solidFill>
              <a:effectLst/>
              <a:latin typeface="Source Sans Pro"/>
            </a:endParaRPr>
          </a:p>
          <a:p>
            <a:pPr algn="l">
              <a:buFont typeface="Arial" panose="020B0604020202020204" pitchFamily="34" charset="0"/>
              <a:buChar char="•"/>
            </a:pPr>
            <a:r>
              <a:rPr lang="es-ES" sz="1500" b="0" i="0" dirty="0">
                <a:solidFill>
                  <a:srgbClr val="4D4D4D"/>
                </a:solidFill>
                <a:effectLst/>
                <a:latin typeface="Verdana" panose="020B0604030504040204" pitchFamily="34" charset="0"/>
              </a:rPr>
              <a:t>Próximos requisitos a desarrollar.</a:t>
            </a:r>
            <a:endParaRPr lang="es-ES" sz="1500" b="0" i="0"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Cambios incorporados y requisitos añadidos</a:t>
            </a:r>
            <a:r>
              <a:rPr lang="es-ES" sz="1500" b="0" i="0" dirty="0">
                <a:solidFill>
                  <a:srgbClr val="4D4D4D"/>
                </a:solidFill>
                <a:effectLst/>
                <a:latin typeface="Verdana" panose="020B0604030504040204" pitchFamily="34" charset="0"/>
              </a:rPr>
              <a:t> sobre el alcance inicial del proyecto.</a:t>
            </a:r>
            <a:endParaRPr lang="es-ES" sz="1500" b="0" i="0"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Número de requisitos completados respecto al total de requisitos</a:t>
            </a:r>
            <a:r>
              <a:rPr lang="es-ES" sz="1500" b="0" i="0" dirty="0">
                <a:solidFill>
                  <a:srgbClr val="4D4D4D"/>
                </a:solidFill>
                <a:effectLst/>
                <a:latin typeface="Verdana" panose="020B0604030504040204" pitchFamily="34" charset="0"/>
              </a:rPr>
              <a:t> (métrica que también permite observar cambios de alcance).</a:t>
            </a:r>
            <a:endParaRPr lang="es-ES" sz="1500" b="0" i="0" dirty="0">
              <a:solidFill>
                <a:srgbClr val="555555"/>
              </a:solidFill>
              <a:effectLst/>
              <a:latin typeface="Source Sans Pro"/>
            </a:endParaRPr>
          </a:p>
          <a:p>
            <a:pPr algn="l">
              <a:buFont typeface="Arial" panose="020B0604020202020204" pitchFamily="34" charset="0"/>
              <a:buChar char="•"/>
            </a:pPr>
            <a:r>
              <a:rPr lang="es-ES" sz="1500" b="1" i="0" dirty="0">
                <a:solidFill>
                  <a:srgbClr val="4D4D4D"/>
                </a:solidFill>
                <a:effectLst/>
                <a:latin typeface="Verdana" panose="020B0604030504040204" pitchFamily="34" charset="0"/>
              </a:rPr>
              <a:t>Días de trabajo ideales pendientes</a:t>
            </a:r>
            <a:r>
              <a:rPr lang="es-ES" sz="1500" b="0" i="0" dirty="0">
                <a:solidFill>
                  <a:srgbClr val="4D4D4D"/>
                </a:solidFill>
                <a:effectLst/>
                <a:latin typeface="Verdana" panose="020B0604030504040204" pitchFamily="34" charset="0"/>
              </a:rPr>
              <a:t> (métrica que permite proyectar la fecha de finalización del proyecto).</a:t>
            </a:r>
            <a:endParaRPr lang="es-ES" sz="1500" b="0" i="0" dirty="0">
              <a:solidFill>
                <a:srgbClr val="555555"/>
              </a:solidFill>
              <a:effectLst/>
              <a:latin typeface="Source Sans Pro"/>
            </a:endParaRPr>
          </a:p>
          <a:p>
            <a:pPr algn="l">
              <a:buFont typeface="Arial" panose="020B0604020202020204" pitchFamily="34" charset="0"/>
              <a:buChar char="•"/>
            </a:pPr>
            <a:r>
              <a:rPr lang="es-ES" sz="1500" b="0" i="0" dirty="0">
                <a:solidFill>
                  <a:srgbClr val="4D4D4D"/>
                </a:solidFill>
                <a:effectLst/>
                <a:latin typeface="Verdana" panose="020B0604030504040204" pitchFamily="34" charset="0"/>
              </a:rPr>
              <a:t>Desviación de resultados de proyecto respecto a planificación inicial.</a:t>
            </a:r>
            <a:endParaRPr lang="es-ES" sz="1500" b="0" i="0" dirty="0">
              <a:solidFill>
                <a:srgbClr val="555555"/>
              </a:solidFill>
              <a:effectLst/>
              <a:latin typeface="Source Sans Pro"/>
            </a:endParaRPr>
          </a:p>
        </p:txBody>
      </p:sp>
      <p:sp>
        <p:nvSpPr>
          <p:cNvPr id="7" name="Rectángulo 6">
            <a:extLst>
              <a:ext uri="{FF2B5EF4-FFF2-40B4-BE49-F238E27FC236}">
                <a16:creationId xmlns:a16="http://schemas.microsoft.com/office/drawing/2014/main" id="{2FACF902-8A02-459A-96BD-CC9FA0AEC310}"/>
              </a:ext>
            </a:extLst>
          </p:cNvPr>
          <p:cNvSpPr/>
          <p:nvPr/>
        </p:nvSpPr>
        <p:spPr>
          <a:xfrm>
            <a:off x="8133997" y="827452"/>
            <a:ext cx="3964217" cy="447772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l"/>
            <a:r>
              <a:rPr lang="es-ES" sz="1600" b="1" i="0" u="sng" dirty="0">
                <a:solidFill>
                  <a:srgbClr val="4D4D4D"/>
                </a:solidFill>
                <a:effectLst/>
                <a:latin typeface="Verdana" panose="020B0604030504040204" pitchFamily="34" charset="0"/>
              </a:rPr>
              <a:t>Métricas de situación financiera</a:t>
            </a:r>
          </a:p>
          <a:p>
            <a:pPr algn="l"/>
            <a:endParaRPr lang="es-ES" sz="1600" b="0" i="0" u="sng" dirty="0">
              <a:solidFill>
                <a:srgbClr val="555555"/>
              </a:solidFill>
              <a:effectLst/>
              <a:latin typeface="Source Sans Pro"/>
            </a:endParaRPr>
          </a:p>
          <a:p>
            <a:pPr algn="l">
              <a:buFont typeface="Arial" panose="020B0604020202020204" pitchFamily="34" charset="0"/>
              <a:buChar char="•"/>
            </a:pPr>
            <a:r>
              <a:rPr lang="es-ES" sz="1600" b="1" i="0" dirty="0">
                <a:solidFill>
                  <a:srgbClr val="4D4D4D"/>
                </a:solidFill>
                <a:effectLst/>
                <a:latin typeface="Verdana" panose="020B0604030504040204" pitchFamily="34" charset="0"/>
              </a:rPr>
              <a:t>Retorno de Inversión (ROI)</a:t>
            </a:r>
            <a:r>
              <a:rPr lang="es-ES" sz="1600" b="0" i="0" dirty="0">
                <a:solidFill>
                  <a:srgbClr val="4D4D4D"/>
                </a:solidFill>
                <a:effectLst/>
                <a:latin typeface="Verdana" panose="020B0604030504040204" pitchFamily="34" charset="0"/>
              </a:rPr>
              <a:t> </a:t>
            </a:r>
            <a:r>
              <a:rPr lang="es-ES" sz="1600" b="1" i="0" dirty="0">
                <a:solidFill>
                  <a:srgbClr val="555555"/>
                </a:solidFill>
                <a:effectLst/>
                <a:latin typeface="Verdana" panose="020B0604030504040204" pitchFamily="34" charset="0"/>
              </a:rPr>
              <a:t>pendiente</a:t>
            </a:r>
            <a:r>
              <a:rPr lang="es-ES" sz="1600" b="0" i="0" dirty="0">
                <a:solidFill>
                  <a:srgbClr val="4D4D4D"/>
                </a:solidFill>
                <a:effectLst/>
                <a:latin typeface="Verdana" panose="020B0604030504040204" pitchFamily="34" charset="0"/>
              </a:rPr>
              <a:t>, el valor pendiente respecto al coste pendiente, para saber cuándo finalizar el proyecto (v</a:t>
            </a:r>
            <a:r>
              <a:rPr lang="es-ES" sz="1600" b="0" i="0" dirty="0">
                <a:solidFill>
                  <a:srgbClr val="555555"/>
                </a:solidFill>
                <a:effectLst/>
                <a:latin typeface="Source Sans Pro"/>
              </a:rPr>
              <a:t>er la cláusula de finalización anticipada del contrato en el artículo </a:t>
            </a:r>
            <a:r>
              <a:rPr lang="es-ES" sz="1600" b="0" i="0" u="none" strike="noStrike" dirty="0">
                <a:solidFill>
                  <a:srgbClr val="555555"/>
                </a:solidFill>
                <a:effectLst/>
                <a:latin typeface="Source Sans Pro"/>
                <a:hlinkClick r:id="rId3"/>
              </a:rPr>
              <a:t>Un contrato ágil para Scrum</a:t>
            </a:r>
            <a:r>
              <a:rPr lang="es-ES" sz="1600" b="0" i="0" dirty="0">
                <a:solidFill>
                  <a:srgbClr val="555555"/>
                </a:solidFill>
                <a:effectLst/>
                <a:latin typeface="Source Sans Pro"/>
              </a:rPr>
              <a:t>).</a:t>
            </a:r>
          </a:p>
          <a:p>
            <a:pPr algn="l">
              <a:buFont typeface="Arial" panose="020B0604020202020204" pitchFamily="34" charset="0"/>
              <a:buChar char="•"/>
            </a:pPr>
            <a:r>
              <a:rPr lang="es-ES" sz="1600" b="1" i="0" dirty="0">
                <a:solidFill>
                  <a:srgbClr val="4D4D4D"/>
                </a:solidFill>
                <a:effectLst/>
                <a:latin typeface="Verdana" panose="020B0604030504040204" pitchFamily="34" charset="0"/>
              </a:rPr>
              <a:t>Presupuesto disponible </a:t>
            </a:r>
            <a:r>
              <a:rPr lang="es-ES" sz="1600" b="0" i="0" dirty="0">
                <a:solidFill>
                  <a:srgbClr val="4D4D4D"/>
                </a:solidFill>
                <a:effectLst/>
                <a:latin typeface="Verdana" panose="020B0604030504040204" pitchFamily="34" charset="0"/>
              </a:rPr>
              <a:t>y/o presupuesto gastado.</a:t>
            </a:r>
            <a:endParaRPr lang="es-ES" sz="1600" b="0" i="0" dirty="0">
              <a:solidFill>
                <a:srgbClr val="555555"/>
              </a:solidFill>
              <a:effectLst/>
              <a:latin typeface="Source Sans Pro"/>
            </a:endParaRPr>
          </a:p>
          <a:p>
            <a:pPr algn="l">
              <a:buFont typeface="Arial" panose="020B0604020202020204" pitchFamily="34" charset="0"/>
              <a:buChar char="•"/>
            </a:pPr>
            <a:r>
              <a:rPr lang="es-ES" sz="1600" b="0" i="0" dirty="0">
                <a:solidFill>
                  <a:srgbClr val="4D4D4D"/>
                </a:solidFill>
                <a:effectLst/>
                <a:latin typeface="Verdana" panose="020B0604030504040204" pitchFamily="34" charset="0"/>
              </a:rPr>
              <a:t>Desviación financiera respecto a la planificación inicial.</a:t>
            </a:r>
            <a:endParaRPr lang="es-ES" sz="1600" b="0" i="0" dirty="0">
              <a:solidFill>
                <a:srgbClr val="555555"/>
              </a:solidFill>
              <a:effectLst/>
              <a:latin typeface="Source Sans Pro"/>
            </a:endParaRPr>
          </a:p>
        </p:txBody>
      </p:sp>
      <p:pic>
        <p:nvPicPr>
          <p:cNvPr id="8" name="Imagen 7">
            <a:extLst>
              <a:ext uri="{FF2B5EF4-FFF2-40B4-BE49-F238E27FC236}">
                <a16:creationId xmlns:a16="http://schemas.microsoft.com/office/drawing/2014/main" id="{3B38E208-5DE3-410D-BEA9-662CA8A7B234}"/>
              </a:ext>
            </a:extLst>
          </p:cNvPr>
          <p:cNvPicPr>
            <a:picLocks noChangeAspect="1"/>
          </p:cNvPicPr>
          <p:nvPr/>
        </p:nvPicPr>
        <p:blipFill>
          <a:blip r:embed="rId4"/>
          <a:stretch>
            <a:fillRect/>
          </a:stretch>
        </p:blipFill>
        <p:spPr>
          <a:xfrm>
            <a:off x="11146428" y="11456"/>
            <a:ext cx="1162114" cy="706691"/>
          </a:xfrm>
          <a:prstGeom prst="rect">
            <a:avLst/>
          </a:prstGeom>
        </p:spPr>
      </p:pic>
    </p:spTree>
    <p:extLst>
      <p:ext uri="{BB962C8B-B14F-4D97-AF65-F5344CB8AC3E}">
        <p14:creationId xmlns:p14="http://schemas.microsoft.com/office/powerpoint/2010/main" val="42299337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5C523-1466-7A2C-CC68-7BD63EF39DB3}"/>
              </a:ext>
            </a:extLst>
          </p:cNvPr>
          <p:cNvSpPr>
            <a:spLocks noGrp="1"/>
          </p:cNvSpPr>
          <p:nvPr>
            <p:ph type="title"/>
          </p:nvPr>
        </p:nvSpPr>
        <p:spPr/>
        <p:txBody>
          <a:bodyPr>
            <a:normAutofit fontScale="90000"/>
          </a:bodyPr>
          <a:lstStyle/>
          <a:p>
            <a:r>
              <a:rPr lang="es-ES" sz="4000" b="1">
                <a:latin typeface="Verdana" panose="020B0604030504040204" pitchFamily="34" charset="0"/>
                <a:ea typeface="Verdana" panose="020B0604030504040204" pitchFamily="34" charset="0"/>
              </a:rPr>
              <a:t>Conceptos a tener en cuenta en la métrica:</a:t>
            </a:r>
            <a:endParaRPr lang="es-ES"/>
          </a:p>
        </p:txBody>
      </p:sp>
      <p:sp>
        <p:nvSpPr>
          <p:cNvPr id="3" name="Marcador de contenido 2">
            <a:extLst>
              <a:ext uri="{FF2B5EF4-FFF2-40B4-BE49-F238E27FC236}">
                <a16:creationId xmlns:a16="http://schemas.microsoft.com/office/drawing/2014/main" id="{C2AF8CEB-F0DC-4659-A92E-0B99A5F453C7}"/>
              </a:ext>
            </a:extLst>
          </p:cNvPr>
          <p:cNvSpPr>
            <a:spLocks noGrp="1"/>
          </p:cNvSpPr>
          <p:nvPr>
            <p:ph type="body" sz="quarter" idx="13"/>
          </p:nvPr>
        </p:nvSpPr>
        <p:spPr/>
        <p:txBody>
          <a:bodyPr>
            <a:normAutofit fontScale="85000" lnSpcReduction="10000"/>
          </a:bodyPr>
          <a:lstStyle/>
          <a:p>
            <a:pPr marL="457200" indent="-457200">
              <a:lnSpc>
                <a:spcPct val="120000"/>
              </a:lnSpc>
              <a:buFont typeface="+mj-lt"/>
              <a:buAutoNum type="arabicPeriod"/>
            </a:pPr>
            <a:r>
              <a:rPr lang="es-ES" sz="2000">
                <a:latin typeface="Verdana" panose="020B0604030504040204" pitchFamily="34" charset="0"/>
                <a:ea typeface="Verdana" panose="020B0604030504040204" pitchFamily="34" charset="0"/>
              </a:rPr>
              <a:t>La </a:t>
            </a:r>
            <a:r>
              <a:rPr lang="es-ES" sz="2000" dirty="0">
                <a:latin typeface="Verdana" panose="020B0604030504040204" pitchFamily="34" charset="0"/>
                <a:ea typeface="Verdana" panose="020B0604030504040204" pitchFamily="34" charset="0"/>
              </a:rPr>
              <a:t>reléase: lo que el scrum </a:t>
            </a:r>
            <a:r>
              <a:rPr lang="es-ES" sz="2000" dirty="0" err="1">
                <a:latin typeface="Verdana" panose="020B0604030504040204" pitchFamily="34" charset="0"/>
                <a:ea typeface="Verdana" panose="020B0604030504040204" pitchFamily="34" charset="0"/>
              </a:rPr>
              <a:t>team</a:t>
            </a:r>
            <a:r>
              <a:rPr lang="es-ES" sz="2000" dirty="0">
                <a:latin typeface="Verdana" panose="020B0604030504040204" pitchFamily="34" charset="0"/>
                <a:ea typeface="Verdana" panose="020B0604030504040204" pitchFamily="34" charset="0"/>
              </a:rPr>
              <a:t> debe entregar</a:t>
            </a:r>
          </a:p>
          <a:p>
            <a:pPr marL="457200" indent="-457200">
              <a:lnSpc>
                <a:spcPct val="120000"/>
              </a:lnSpc>
              <a:buFont typeface="+mj-lt"/>
              <a:buAutoNum type="arabicPeriod"/>
            </a:pPr>
            <a:r>
              <a:rPr lang="es-ES" sz="2000" dirty="0">
                <a:latin typeface="Verdana" panose="020B0604030504040204" pitchFamily="34" charset="0"/>
                <a:ea typeface="Verdana" panose="020B0604030504040204" pitchFamily="34" charset="0"/>
              </a:rPr>
              <a:t>El sprint:  la previa planificación del sprint</a:t>
            </a:r>
          </a:p>
          <a:p>
            <a:pPr marL="457200" indent="-457200">
              <a:lnSpc>
                <a:spcPct val="120000"/>
              </a:lnSpc>
              <a:buFont typeface="+mj-lt"/>
              <a:buAutoNum type="arabicPeriod"/>
            </a:pPr>
            <a:r>
              <a:rPr lang="es-ES" sz="2000" dirty="0">
                <a:latin typeface="Verdana" panose="020B0604030504040204" pitchFamily="34" charset="0"/>
                <a:ea typeface="Verdana" panose="020B0604030504040204" pitchFamily="34" charset="0"/>
              </a:rPr>
              <a:t>La jornada: lo que se trata en el scrum diario.</a:t>
            </a:r>
          </a:p>
          <a:p>
            <a:pPr marL="0" indent="0" algn="l">
              <a:buNone/>
            </a:pPr>
            <a:r>
              <a:rPr lang="es-ES" sz="1800" b="1" i="0" dirty="0">
                <a:solidFill>
                  <a:srgbClr val="000000"/>
                </a:solidFill>
                <a:effectLst/>
                <a:latin typeface="Verdana" panose="020B0604030504040204" pitchFamily="34" charset="0"/>
                <a:ea typeface="Verdana" panose="020B0604030504040204" pitchFamily="34" charset="0"/>
              </a:rPr>
              <a:t>T-</a:t>
            </a:r>
            <a:r>
              <a:rPr lang="es-ES" sz="1800" b="1" i="0" dirty="0" err="1">
                <a:solidFill>
                  <a:srgbClr val="000000"/>
                </a:solidFill>
                <a:effectLst/>
                <a:latin typeface="Verdana" panose="020B0604030504040204" pitchFamily="34" charset="0"/>
                <a:ea typeface="Verdana" panose="020B0604030504040204" pitchFamily="34" charset="0"/>
              </a:rPr>
              <a:t>Shirt</a:t>
            </a:r>
            <a:r>
              <a:rPr lang="es-ES" sz="1800" b="1" i="0" dirty="0">
                <a:solidFill>
                  <a:srgbClr val="000000"/>
                </a:solidFill>
                <a:effectLst/>
                <a:latin typeface="Verdana" panose="020B0604030504040204" pitchFamily="34" charset="0"/>
                <a:ea typeface="Verdana" panose="020B0604030504040204" pitchFamily="34" charset="0"/>
              </a:rPr>
              <a:t> </a:t>
            </a:r>
            <a:r>
              <a:rPr lang="es-ES" sz="1800" b="1" i="0" dirty="0" err="1">
                <a:solidFill>
                  <a:srgbClr val="000000"/>
                </a:solidFill>
                <a:effectLst/>
                <a:latin typeface="Verdana" panose="020B0604030504040204" pitchFamily="34" charset="0"/>
                <a:ea typeface="Verdana" panose="020B0604030504040204" pitchFamily="34" charset="0"/>
              </a:rPr>
              <a:t>Sizes</a:t>
            </a:r>
            <a:endParaRPr lang="es-ES" sz="1800" b="0" i="0" dirty="0">
              <a:solidFill>
                <a:srgbClr val="000000"/>
              </a:solidFill>
              <a:effectLst/>
              <a:latin typeface="Verdana" panose="020B0604030504040204" pitchFamily="34" charset="0"/>
              <a:ea typeface="Verdana" panose="020B0604030504040204" pitchFamily="34" charset="0"/>
            </a:endParaRPr>
          </a:p>
          <a:p>
            <a:pPr algn="l"/>
            <a:r>
              <a:rPr lang="es-ES" sz="1800" b="0" i="0" dirty="0">
                <a:solidFill>
                  <a:srgbClr val="000000"/>
                </a:solidFill>
                <a:effectLst/>
                <a:latin typeface="Verdana" panose="020B0604030504040204" pitchFamily="34" charset="0"/>
                <a:ea typeface="Verdana" panose="020B0604030504040204" pitchFamily="34" charset="0"/>
              </a:rPr>
              <a:t>Esta técnica se basa en asignar tallas de camiseta (XS, S, M L, XL) a la hora de estimar en vez de utilizar números, lo cual puede ayudar a que los miembros del equipo a adoptar la idea de una estimación relativa desasociando el valor de la estimación de un elemento del </a:t>
            </a:r>
            <a:r>
              <a:rPr lang="es-ES" sz="1800" b="0" i="0" dirty="0" err="1">
                <a:solidFill>
                  <a:srgbClr val="000000"/>
                </a:solidFill>
                <a:effectLst/>
                <a:latin typeface="Verdana" panose="020B0604030504040204" pitchFamily="34" charset="0"/>
                <a:ea typeface="Verdana" panose="020B0604030504040204" pitchFamily="34" charset="0"/>
              </a:rPr>
              <a:t>Product</a:t>
            </a:r>
            <a:r>
              <a:rPr lang="es-ES" sz="1800" b="0" i="0" dirty="0">
                <a:solidFill>
                  <a:srgbClr val="000000"/>
                </a:solidFill>
                <a:effectLst/>
                <a:latin typeface="Verdana" panose="020B0604030504040204" pitchFamily="34" charset="0"/>
                <a:ea typeface="Verdana" panose="020B0604030504040204" pitchFamily="34" charset="0"/>
              </a:rPr>
              <a:t> Backlog con el número de horas equivalente necesarias para su implementación.</a:t>
            </a:r>
          </a:p>
          <a:p>
            <a:pPr marL="0" indent="0">
              <a:lnSpc>
                <a:spcPct val="100000"/>
              </a:lnSpc>
              <a:buNone/>
            </a:pPr>
            <a:r>
              <a:rPr lang="es-ES" sz="1800" b="1" dirty="0" err="1">
                <a:solidFill>
                  <a:srgbClr val="000000"/>
                </a:solidFill>
                <a:latin typeface="Verdana" panose="020B0604030504040204" pitchFamily="34" charset="0"/>
                <a:ea typeface="Verdana" panose="020B0604030504040204" pitchFamily="34" charset="0"/>
              </a:rPr>
              <a:t>Story</a:t>
            </a:r>
            <a:r>
              <a:rPr lang="es-ES" sz="1800" b="1" dirty="0">
                <a:solidFill>
                  <a:srgbClr val="000000"/>
                </a:solidFill>
                <a:latin typeface="Verdana" panose="020B0604030504040204" pitchFamily="34" charset="0"/>
                <a:ea typeface="Verdana" panose="020B0604030504040204" pitchFamily="34" charset="0"/>
              </a:rPr>
              <a:t>  </a:t>
            </a:r>
            <a:r>
              <a:rPr lang="es-ES" sz="1800" b="1" dirty="0" err="1">
                <a:solidFill>
                  <a:srgbClr val="000000"/>
                </a:solidFill>
                <a:latin typeface="Verdana" panose="020B0604030504040204" pitchFamily="34" charset="0"/>
                <a:ea typeface="Verdana" panose="020B0604030504040204" pitchFamily="34" charset="0"/>
              </a:rPr>
              <a:t>points</a:t>
            </a:r>
            <a:endParaRPr lang="es-ES" sz="1800" b="1" dirty="0">
              <a:solidFill>
                <a:srgbClr val="000000"/>
              </a:solidFill>
              <a:latin typeface="Verdana" panose="020B0604030504040204" pitchFamily="34" charset="0"/>
              <a:ea typeface="Verdana" panose="020B0604030504040204" pitchFamily="34" charset="0"/>
            </a:endParaRPr>
          </a:p>
          <a:p>
            <a:pPr>
              <a:lnSpc>
                <a:spcPct val="100000"/>
              </a:lnSpc>
            </a:pPr>
            <a:r>
              <a:rPr lang="es-ES" sz="1800" dirty="0">
                <a:solidFill>
                  <a:srgbClr val="000000"/>
                </a:solidFill>
                <a:latin typeface="Verdana" panose="020B0604030504040204" pitchFamily="34" charset="0"/>
                <a:ea typeface="Verdana" panose="020B0604030504040204" pitchFamily="34" charset="0"/>
              </a:rPr>
              <a:t>En función de la complejidad de la historia se le asignan unos puntos.</a:t>
            </a:r>
          </a:p>
          <a:p>
            <a:pPr marL="0" indent="0" algn="l">
              <a:buNone/>
            </a:pPr>
            <a:endParaRPr lang="es-ES" sz="1800" b="1" dirty="0">
              <a:solidFill>
                <a:srgbClr val="000000"/>
              </a:solidFill>
              <a:latin typeface="Verdana" panose="020B0604030504040204" pitchFamily="34" charset="0"/>
              <a:ea typeface="Verdana" panose="020B0604030504040204" pitchFamily="34" charset="0"/>
            </a:endParaRPr>
          </a:p>
          <a:p>
            <a:pPr marL="0" indent="0" algn="l">
              <a:buNone/>
            </a:pPr>
            <a:r>
              <a:rPr lang="es-ES" sz="1800" b="1" i="0" dirty="0" err="1">
                <a:solidFill>
                  <a:srgbClr val="000000"/>
                </a:solidFill>
                <a:effectLst/>
                <a:latin typeface="Verdana" panose="020B0604030504040204" pitchFamily="34" charset="0"/>
                <a:ea typeface="Verdana" panose="020B0604030504040204" pitchFamily="34" charset="0"/>
              </a:rPr>
              <a:t>Planning</a:t>
            </a:r>
            <a:r>
              <a:rPr lang="es-ES" sz="1800" b="1" i="0" dirty="0">
                <a:solidFill>
                  <a:srgbClr val="000000"/>
                </a:solidFill>
                <a:effectLst/>
                <a:latin typeface="Verdana" panose="020B0604030504040204" pitchFamily="34" charset="0"/>
                <a:ea typeface="Verdana" panose="020B0604030504040204" pitchFamily="34" charset="0"/>
              </a:rPr>
              <a:t> </a:t>
            </a:r>
            <a:r>
              <a:rPr lang="es-ES" sz="1800" b="1" i="0" dirty="0" err="1">
                <a:solidFill>
                  <a:srgbClr val="000000"/>
                </a:solidFill>
                <a:effectLst/>
                <a:latin typeface="Verdana" panose="020B0604030504040204" pitchFamily="34" charset="0"/>
                <a:ea typeface="Verdana" panose="020B0604030504040204" pitchFamily="34" charset="0"/>
              </a:rPr>
              <a:t>Poker</a:t>
            </a:r>
            <a:endParaRPr lang="es-ES" sz="1800" b="0" i="0" dirty="0">
              <a:solidFill>
                <a:srgbClr val="000000"/>
              </a:solidFill>
              <a:effectLst/>
              <a:latin typeface="Verdana" panose="020B0604030504040204" pitchFamily="34" charset="0"/>
              <a:ea typeface="Verdana" panose="020B0604030504040204" pitchFamily="34" charset="0"/>
            </a:endParaRPr>
          </a:p>
          <a:p>
            <a:pPr algn="l"/>
            <a:r>
              <a:rPr lang="es-ES" sz="1800" b="0" i="0" dirty="0">
                <a:solidFill>
                  <a:srgbClr val="000000"/>
                </a:solidFill>
                <a:effectLst/>
                <a:latin typeface="Verdana" panose="020B0604030504040204" pitchFamily="34" charset="0"/>
                <a:ea typeface="Verdana" panose="020B0604030504040204" pitchFamily="34" charset="0"/>
              </a:rPr>
              <a:t>Los participantes emplean cartas con una numeración especial que asignan a cada uno de los elementos del </a:t>
            </a:r>
            <a:r>
              <a:rPr lang="es-ES" sz="1800" b="0" i="0" dirty="0" err="1">
                <a:solidFill>
                  <a:srgbClr val="000000"/>
                </a:solidFill>
                <a:effectLst/>
                <a:latin typeface="Verdana" panose="020B0604030504040204" pitchFamily="34" charset="0"/>
                <a:ea typeface="Verdana" panose="020B0604030504040204" pitchFamily="34" charset="0"/>
              </a:rPr>
              <a:t>Product</a:t>
            </a:r>
            <a:r>
              <a:rPr lang="es-ES" sz="1800" b="0" i="0" dirty="0">
                <a:solidFill>
                  <a:srgbClr val="000000"/>
                </a:solidFill>
                <a:effectLst/>
                <a:latin typeface="Verdana" panose="020B0604030504040204" pitchFamily="34" charset="0"/>
                <a:ea typeface="Verdana" panose="020B0604030504040204" pitchFamily="34" charset="0"/>
              </a:rPr>
              <a:t> Backlog. Después de estimar un elemento del </a:t>
            </a:r>
            <a:r>
              <a:rPr lang="es-ES" sz="1800" b="0" i="0" dirty="0" err="1">
                <a:solidFill>
                  <a:srgbClr val="000000"/>
                </a:solidFill>
                <a:effectLst/>
                <a:latin typeface="Verdana" panose="020B0604030504040204" pitchFamily="34" charset="0"/>
                <a:ea typeface="Verdana" panose="020B0604030504040204" pitchFamily="34" charset="0"/>
              </a:rPr>
              <a:t>Product</a:t>
            </a:r>
            <a:r>
              <a:rPr lang="es-ES" sz="1800" b="0" i="0" dirty="0">
                <a:solidFill>
                  <a:srgbClr val="000000"/>
                </a:solidFill>
                <a:effectLst/>
                <a:latin typeface="Verdana" panose="020B0604030504040204" pitchFamily="34" charset="0"/>
                <a:ea typeface="Verdana" panose="020B0604030504040204" pitchFamily="34" charset="0"/>
              </a:rPr>
              <a:t> Backlog, las personas que han otorgado la mayor y la menor puntuación explican los motivos por los que han escogido dicha puntuación y se vuelve a realizar la estimación, así hasta que se llegue a un consenso.</a:t>
            </a:r>
          </a:p>
          <a:p>
            <a:pPr marL="0" indent="0">
              <a:lnSpc>
                <a:spcPct val="120000"/>
              </a:lnSpc>
              <a:buNone/>
            </a:pPr>
            <a:endParaRPr lang="es-ES" sz="1800"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2AC2983D-4292-44F5-8CCD-69102117E17D}"/>
              </a:ext>
            </a:extLst>
          </p:cNvPr>
          <p:cNvPicPr>
            <a:picLocks noChangeAspect="1"/>
          </p:cNvPicPr>
          <p:nvPr/>
        </p:nvPicPr>
        <p:blipFill>
          <a:blip r:embed="rId2"/>
          <a:stretch>
            <a:fillRect/>
          </a:stretch>
        </p:blipFill>
        <p:spPr>
          <a:xfrm>
            <a:off x="11146428" y="11456"/>
            <a:ext cx="1162114" cy="706691"/>
          </a:xfrm>
          <a:prstGeom prst="rect">
            <a:avLst/>
          </a:prstGeom>
        </p:spPr>
      </p:pic>
    </p:spTree>
    <p:extLst>
      <p:ext uri="{BB962C8B-B14F-4D97-AF65-F5344CB8AC3E}">
        <p14:creationId xmlns:p14="http://schemas.microsoft.com/office/powerpoint/2010/main" val="4690535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6E99C-1295-B8D3-D2BD-B04623C996E3}"/>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0B24F02-03D0-49C1-8820-F2BC40156A32}"/>
              </a:ext>
            </a:extLst>
          </p:cNvPr>
          <p:cNvSpPr>
            <a:spLocks noGrp="1"/>
          </p:cNvSpPr>
          <p:nvPr>
            <p:ph type="body" sz="quarter" idx="13"/>
          </p:nvPr>
        </p:nvSpPr>
        <p:spPr/>
        <p:txBody>
          <a:bodyPr>
            <a:normAutofit/>
          </a:bodyPr>
          <a:lstStyle/>
          <a:p>
            <a:pPr marL="0" indent="0">
              <a:buNone/>
            </a:pPr>
            <a:r>
              <a:rPr lang="es-ES" sz="1800" b="1" dirty="0">
                <a:latin typeface="Verdana" panose="020B0604030504040204" pitchFamily="34" charset="0"/>
                <a:ea typeface="Verdana" panose="020B0604030504040204" pitchFamily="34" charset="0"/>
              </a:rPr>
              <a:t>6.3. Estimación de </a:t>
            </a:r>
            <a:r>
              <a:rPr lang="es-ES" sz="1800" b="1" dirty="0" err="1">
                <a:latin typeface="Verdana" panose="020B0604030504040204" pitchFamily="34" charset="0"/>
                <a:ea typeface="Verdana" panose="020B0604030504040204" pitchFamily="34" charset="0"/>
              </a:rPr>
              <a:t>Poker</a:t>
            </a:r>
            <a:r>
              <a:rPr lang="es-ES" sz="1400" dirty="0">
                <a:latin typeface="Verdana" panose="020B0604030504040204" pitchFamily="34" charset="0"/>
                <a:ea typeface="Verdana" panose="020B0604030504040204" pitchFamily="34" charset="0"/>
              </a:rPr>
              <a:t>.</a:t>
            </a:r>
          </a:p>
          <a:p>
            <a:pPr algn="l"/>
            <a:r>
              <a:rPr lang="es-ES" sz="1800" b="0" i="0" dirty="0">
                <a:solidFill>
                  <a:srgbClr val="000000"/>
                </a:solidFill>
                <a:effectLst/>
                <a:latin typeface="Verdana" panose="020B0604030504040204" pitchFamily="34" charset="0"/>
                <a:ea typeface="Verdana" panose="020B0604030504040204" pitchFamily="34" charset="0"/>
              </a:rPr>
              <a:t>La numeración de las cartas está basada en una serie de </a:t>
            </a:r>
            <a:r>
              <a:rPr lang="es-ES" sz="1800" b="0" i="0" dirty="0" err="1">
                <a:solidFill>
                  <a:srgbClr val="000000"/>
                </a:solidFill>
                <a:effectLst/>
                <a:latin typeface="Verdana" panose="020B0604030504040204" pitchFamily="34" charset="0"/>
                <a:ea typeface="Verdana" panose="020B0604030504040204" pitchFamily="34" charset="0"/>
              </a:rPr>
              <a:t>Fibonnacci</a:t>
            </a:r>
            <a:r>
              <a:rPr lang="es-ES" sz="1800" b="0" i="0" dirty="0">
                <a:solidFill>
                  <a:srgbClr val="000000"/>
                </a:solidFill>
                <a:effectLst/>
                <a:latin typeface="Verdana" panose="020B0604030504040204" pitchFamily="34" charset="0"/>
                <a:ea typeface="Verdana" panose="020B0604030504040204" pitchFamily="34" charset="0"/>
              </a:rPr>
              <a:t> (0, 1, 2, 3, 5, 8, 13, 21 34, etc.), aunque en ocasiones se pueden varían algunos números de la serie (1, 2, 3, 5, 8, 13, 20, 40, 100, etc.). La razón de emplear una serie de </a:t>
            </a:r>
            <a:r>
              <a:rPr lang="es-ES" sz="1800" b="0" i="0" dirty="0" err="1">
                <a:solidFill>
                  <a:srgbClr val="000000"/>
                </a:solidFill>
                <a:effectLst/>
                <a:latin typeface="Verdana" panose="020B0604030504040204" pitchFamily="34" charset="0"/>
                <a:ea typeface="Verdana" panose="020B0604030504040204" pitchFamily="34" charset="0"/>
              </a:rPr>
              <a:t>Fibonnacci</a:t>
            </a:r>
            <a:r>
              <a:rPr lang="es-ES" sz="1800" b="0" i="0" dirty="0">
                <a:solidFill>
                  <a:srgbClr val="000000"/>
                </a:solidFill>
                <a:effectLst/>
                <a:latin typeface="Verdana" panose="020B0604030504040204" pitchFamily="34" charset="0"/>
                <a:ea typeface="Verdana" panose="020B0604030504040204" pitchFamily="34" charset="0"/>
              </a:rPr>
              <a:t> o similar es que, aunque como hemos dicho antes, a las personas se nos da bien clasificar elementos entre sí en función de su tamaño, cuanto más grandes son esos elementos y menos diferencia hay entre ellos, más difícil se nos hace poder discernir las pequeñas diferencias. Por ejemplo, entre una encina de 20 metros y un limonero de 5 metros, podemos decir claramente cual es más grande, pero con entre dos secuoyas, una de 101 metros y otra de 102 la cosa se complica.</a:t>
            </a:r>
          </a:p>
          <a:p>
            <a:endParaRPr lang="es-ES" sz="1400" dirty="0">
              <a:latin typeface="Verdana" panose="020B0604030504040204" pitchFamily="34" charset="0"/>
              <a:ea typeface="Verdana" panose="020B0604030504040204" pitchFamily="34" charset="0"/>
            </a:endParaRPr>
          </a:p>
          <a:p>
            <a:endParaRPr lang="es-ES" sz="1400"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A27ADDB7-6EB9-423B-9AFC-7F0615E15B64}"/>
              </a:ext>
            </a:extLst>
          </p:cNvPr>
          <p:cNvPicPr>
            <a:picLocks noChangeAspect="1"/>
          </p:cNvPicPr>
          <p:nvPr/>
        </p:nvPicPr>
        <p:blipFill>
          <a:blip r:embed="rId2"/>
          <a:stretch>
            <a:fillRect/>
          </a:stretch>
        </p:blipFill>
        <p:spPr>
          <a:xfrm>
            <a:off x="11146428" y="11456"/>
            <a:ext cx="1162114" cy="706691"/>
          </a:xfrm>
          <a:prstGeom prst="rect">
            <a:avLst/>
          </a:prstGeom>
        </p:spPr>
      </p:pic>
      <p:pic>
        <p:nvPicPr>
          <p:cNvPr id="5" name="Picture 2" descr="El Póker de Planificación en Scrum - Proagilist">
            <a:extLst>
              <a:ext uri="{FF2B5EF4-FFF2-40B4-BE49-F238E27FC236}">
                <a16:creationId xmlns:a16="http://schemas.microsoft.com/office/drawing/2014/main" id="{70046B86-3792-494B-A258-71B06A045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412" y="2523098"/>
            <a:ext cx="5460143" cy="37957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lanning Poker: imágenes, fotos de stock y vectores | Shutterstock">
            <a:extLst>
              <a:ext uri="{FF2B5EF4-FFF2-40B4-BE49-F238E27FC236}">
                <a16:creationId xmlns:a16="http://schemas.microsoft.com/office/drawing/2014/main" id="{750B20F5-13B9-440F-8C28-D6DDDD7DD9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208" y="2362760"/>
            <a:ext cx="5741277" cy="4116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4961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4B00B7-B930-52D8-EED9-BCBDB490779B}"/>
              </a:ext>
            </a:extLst>
          </p:cNvPr>
          <p:cNvSpPr>
            <a:spLocks noGrp="1"/>
          </p:cNvSpPr>
          <p:nvPr>
            <p:ph type="title"/>
          </p:nvPr>
        </p:nvSpPr>
        <p:spPr/>
        <p:txBody>
          <a:bodyPr>
            <a:normAutofit/>
          </a:bodyPr>
          <a:lstStyle/>
          <a:p>
            <a:pPr marL="0" indent="0">
              <a:lnSpc>
                <a:spcPct val="120000"/>
              </a:lnSpc>
              <a:spcBef>
                <a:spcPts val="0"/>
              </a:spcBef>
            </a:pPr>
            <a:r>
              <a:rPr lang="es-ES" sz="4400" b="1" i="0">
                <a:solidFill>
                  <a:schemeClr val="bg1"/>
                </a:solidFill>
                <a:effectLst/>
                <a:latin typeface="arial" panose="020B0604020202020204" pitchFamily="34" charset="0"/>
              </a:rPr>
              <a:t>Modo de empleo del Planning Poker</a:t>
            </a:r>
            <a:endParaRPr lang="es-ES">
              <a:solidFill>
                <a:schemeClr val="bg1"/>
              </a:solidFill>
            </a:endParaRPr>
          </a:p>
        </p:txBody>
      </p:sp>
      <p:sp>
        <p:nvSpPr>
          <p:cNvPr id="3" name="Marcador de contenido 2">
            <a:extLst>
              <a:ext uri="{FF2B5EF4-FFF2-40B4-BE49-F238E27FC236}">
                <a16:creationId xmlns:a16="http://schemas.microsoft.com/office/drawing/2014/main" id="{4B756631-5CC6-4FAB-920E-113977DD51B9}"/>
              </a:ext>
            </a:extLst>
          </p:cNvPr>
          <p:cNvSpPr>
            <a:spLocks noGrp="1"/>
          </p:cNvSpPr>
          <p:nvPr>
            <p:ph type="body" sz="quarter" idx="13"/>
          </p:nvPr>
        </p:nvSpPr>
        <p:spPr/>
        <p:txBody>
          <a:bodyPr>
            <a:normAutofit fontScale="77500" lnSpcReduction="20000"/>
          </a:bodyPr>
          <a:lstStyle/>
          <a:p>
            <a:pPr marL="0" indent="0" algn="just">
              <a:lnSpc>
                <a:spcPct val="120000"/>
              </a:lnSpc>
              <a:spcBef>
                <a:spcPts val="0"/>
              </a:spcBef>
              <a:buNone/>
            </a:pPr>
            <a:r>
              <a:rPr lang="es-ES" sz="1800" b="0" i="0">
                <a:solidFill>
                  <a:srgbClr val="202122"/>
                </a:solidFill>
                <a:effectLst/>
                <a:latin typeface="Arial" panose="020B0604020202020204" pitchFamily="34" charset="0"/>
              </a:rPr>
              <a:t>En </a:t>
            </a:r>
            <a:r>
              <a:rPr lang="es-ES" sz="1800" b="0" i="0" dirty="0">
                <a:solidFill>
                  <a:srgbClr val="202122"/>
                </a:solidFill>
                <a:effectLst/>
                <a:latin typeface="Arial" panose="020B0604020202020204" pitchFamily="34" charset="0"/>
              </a:rPr>
              <a:t>la reunión de estimación, a cada estimador se le da una baraja de cartas. Todos los mazos tienen juegos idénticos de cartas en ellos. La reunión se realiza de la siguiente manera:</a:t>
            </a:r>
          </a:p>
          <a:p>
            <a:pPr marL="0" indent="0" algn="just">
              <a:lnSpc>
                <a:spcPct val="120000"/>
              </a:lnSpc>
              <a:spcBef>
                <a:spcPts val="0"/>
              </a:spcBef>
              <a:buNone/>
            </a:pPr>
            <a:endParaRPr lang="es-ES" sz="1800" b="0" i="0" dirty="0">
              <a:solidFill>
                <a:srgbClr val="202122"/>
              </a:solidFill>
              <a:effectLst/>
              <a:latin typeface="Arial" panose="020B0604020202020204" pitchFamily="34" charset="0"/>
            </a:endParaRPr>
          </a:p>
          <a:p>
            <a:pPr marL="514350" indent="-514350" algn="l">
              <a:lnSpc>
                <a:spcPct val="120000"/>
              </a:lnSpc>
              <a:spcBef>
                <a:spcPts val="0"/>
              </a:spcBef>
              <a:buFont typeface="+mj-lt"/>
              <a:buAutoNum type="arabicPeriod"/>
            </a:pPr>
            <a:r>
              <a:rPr lang="es-ES" sz="1800" b="1" i="0" dirty="0">
                <a:solidFill>
                  <a:srgbClr val="202122"/>
                </a:solidFill>
                <a:effectLst/>
                <a:latin typeface="Arial" panose="020B0604020202020204" pitchFamily="34" charset="0"/>
              </a:rPr>
              <a:t>Un moderador, que no jugará, preside la reunión</a:t>
            </a:r>
            <a:r>
              <a:rPr lang="es-ES" sz="1800" b="0" i="0" dirty="0">
                <a:solidFill>
                  <a:srgbClr val="202122"/>
                </a:solidFill>
                <a:effectLst/>
                <a:latin typeface="Arial" panose="020B0604020202020204" pitchFamily="34" charset="0"/>
              </a:rPr>
              <a:t>.</a:t>
            </a:r>
          </a:p>
          <a:p>
            <a:pPr marL="514350" indent="-514350" algn="l">
              <a:lnSpc>
                <a:spcPct val="120000"/>
              </a:lnSpc>
              <a:spcBef>
                <a:spcPts val="0"/>
              </a:spcBef>
              <a:buFont typeface="+mj-lt"/>
              <a:buAutoNum type="arabicPeriod"/>
            </a:pPr>
            <a:r>
              <a:rPr lang="es-ES" sz="1800" b="0" i="0" dirty="0">
                <a:solidFill>
                  <a:srgbClr val="202122"/>
                </a:solidFill>
                <a:effectLst/>
                <a:latin typeface="Arial" panose="020B0604020202020204" pitchFamily="34" charset="0"/>
              </a:rPr>
              <a:t>El propietario del producto </a:t>
            </a:r>
            <a:r>
              <a:rPr lang="es-ES" sz="1800" b="1" i="0" dirty="0">
                <a:solidFill>
                  <a:srgbClr val="202122"/>
                </a:solidFill>
                <a:effectLst/>
                <a:latin typeface="Arial" panose="020B0604020202020204" pitchFamily="34" charset="0"/>
              </a:rPr>
              <a:t>proporciona una breve descripción general </a:t>
            </a:r>
            <a:r>
              <a:rPr lang="es-ES" sz="1800" b="0" i="0" dirty="0">
                <a:solidFill>
                  <a:srgbClr val="202122"/>
                </a:solidFill>
                <a:effectLst/>
                <a:latin typeface="Arial" panose="020B0604020202020204" pitchFamily="34" charset="0"/>
              </a:rPr>
              <a:t>de una historia de usuario que se estima. El equipo tiene la oportunidad de hacer preguntas y discutir para aclarar suposiciones y riesgos. Se registra un resumen de la discusión, por ejemplo, por el moderador.</a:t>
            </a:r>
          </a:p>
          <a:p>
            <a:pPr marL="514350" indent="-514350" algn="l">
              <a:lnSpc>
                <a:spcPct val="120000"/>
              </a:lnSpc>
              <a:spcBef>
                <a:spcPts val="0"/>
              </a:spcBef>
              <a:buFont typeface="+mj-lt"/>
              <a:buAutoNum type="arabicPeriod"/>
            </a:pPr>
            <a:r>
              <a:rPr lang="es-ES" sz="1800" b="1" i="0" dirty="0">
                <a:solidFill>
                  <a:srgbClr val="202122"/>
                </a:solidFill>
                <a:effectLst/>
                <a:latin typeface="Arial" panose="020B0604020202020204" pitchFamily="34" charset="0"/>
              </a:rPr>
              <a:t>Cada individuo coloca una tarjeta boca abajo que representa su estimación para la historia</a:t>
            </a:r>
            <a:r>
              <a:rPr lang="es-ES" sz="1800" b="0" i="0" dirty="0">
                <a:solidFill>
                  <a:srgbClr val="202122"/>
                </a:solidFill>
                <a:effectLst/>
                <a:latin typeface="Arial" panose="020B0604020202020204" pitchFamily="34" charset="0"/>
              </a:rPr>
              <a:t>. Las unidades utilizadas varían: pueden ser días de duración, días ideales o puntos de historia. </a:t>
            </a:r>
          </a:p>
          <a:p>
            <a:pPr marL="514350" indent="-514350" algn="l">
              <a:lnSpc>
                <a:spcPct val="120000"/>
              </a:lnSpc>
              <a:spcBef>
                <a:spcPts val="0"/>
              </a:spcBef>
              <a:buFont typeface="+mj-lt"/>
              <a:buAutoNum type="arabicPeriod"/>
            </a:pPr>
            <a:r>
              <a:rPr lang="es-ES" sz="1800" b="0" i="0" dirty="0">
                <a:solidFill>
                  <a:srgbClr val="202122"/>
                </a:solidFill>
                <a:effectLst/>
                <a:latin typeface="Arial" panose="020B0604020202020204" pitchFamily="34" charset="0"/>
              </a:rPr>
              <a:t>Todos </a:t>
            </a:r>
            <a:r>
              <a:rPr lang="es-ES" sz="1800" b="1" i="0" dirty="0">
                <a:solidFill>
                  <a:srgbClr val="202122"/>
                </a:solidFill>
                <a:effectLst/>
                <a:latin typeface="Arial" panose="020B0604020202020204" pitchFamily="34" charset="0"/>
              </a:rPr>
              <a:t>llaman a sus tarjetas simultáneamente entregándolas</a:t>
            </a:r>
            <a:r>
              <a:rPr lang="es-ES" sz="1800" b="0" i="0" dirty="0">
                <a:solidFill>
                  <a:srgbClr val="202122"/>
                </a:solidFill>
                <a:effectLst/>
                <a:latin typeface="Arial" panose="020B0604020202020204" pitchFamily="34" charset="0"/>
              </a:rPr>
              <a:t>.</a:t>
            </a:r>
          </a:p>
          <a:p>
            <a:pPr marL="514350" indent="-514350" algn="l">
              <a:lnSpc>
                <a:spcPct val="120000"/>
              </a:lnSpc>
              <a:spcBef>
                <a:spcPts val="0"/>
              </a:spcBef>
              <a:buFont typeface="+mj-lt"/>
              <a:buAutoNum type="arabicPeriod"/>
            </a:pPr>
            <a:r>
              <a:rPr lang="es-ES" sz="1800" b="0" i="0" dirty="0">
                <a:solidFill>
                  <a:srgbClr val="202122"/>
                </a:solidFill>
                <a:effectLst/>
                <a:latin typeface="Arial" panose="020B0604020202020204" pitchFamily="34" charset="0"/>
              </a:rPr>
              <a:t>A las personas con </a:t>
            </a:r>
            <a:r>
              <a:rPr lang="es-ES" sz="1800" b="1" i="0" dirty="0">
                <a:solidFill>
                  <a:srgbClr val="202122"/>
                </a:solidFill>
                <a:effectLst/>
                <a:latin typeface="Arial" panose="020B0604020202020204" pitchFamily="34" charset="0"/>
              </a:rPr>
              <a:t>estimaciones altas y estimaciones bajas </a:t>
            </a:r>
            <a:r>
              <a:rPr lang="es-ES" sz="1800" b="0" i="0" dirty="0">
                <a:solidFill>
                  <a:srgbClr val="202122"/>
                </a:solidFill>
                <a:effectLst/>
                <a:latin typeface="Arial" panose="020B0604020202020204" pitchFamily="34" charset="0"/>
              </a:rPr>
              <a:t>se les da la oportunidad para ofrecer su justificación para su estimación y luego continúa la discusión.</a:t>
            </a:r>
          </a:p>
          <a:p>
            <a:pPr marL="514350" indent="-514350" algn="l">
              <a:lnSpc>
                <a:spcPct val="120000"/>
              </a:lnSpc>
              <a:spcBef>
                <a:spcPts val="0"/>
              </a:spcBef>
              <a:buFont typeface="+mj-lt"/>
              <a:buAutoNum type="arabicPeriod"/>
            </a:pPr>
            <a:r>
              <a:rPr lang="es-ES" sz="1800" b="0" i="0" dirty="0">
                <a:solidFill>
                  <a:srgbClr val="202122"/>
                </a:solidFill>
                <a:effectLst/>
                <a:latin typeface="Arial" panose="020B0604020202020204" pitchFamily="34" charset="0"/>
              </a:rPr>
              <a:t>Repita el </a:t>
            </a:r>
            <a:r>
              <a:rPr lang="es-ES" sz="1800" b="1" i="0" dirty="0">
                <a:solidFill>
                  <a:srgbClr val="202122"/>
                </a:solidFill>
                <a:effectLst/>
                <a:latin typeface="Arial" panose="020B0604020202020204" pitchFamily="34" charset="0"/>
              </a:rPr>
              <a:t>proceso de estimación hasta que se llegue a un consenso</a:t>
            </a:r>
            <a:r>
              <a:rPr lang="es-ES" sz="1800" b="0" i="0" dirty="0">
                <a:solidFill>
                  <a:srgbClr val="202122"/>
                </a:solidFill>
                <a:effectLst/>
                <a:latin typeface="Arial" panose="020B0604020202020204" pitchFamily="34" charset="0"/>
              </a:rPr>
              <a:t>. El desarrollador que probablemente era dueño del entregable tiene una gran parte del "voto de consenso", aunque el moderador puede negociar el consenso.</a:t>
            </a:r>
          </a:p>
          <a:p>
            <a:pPr marL="514350" indent="-514350" algn="l">
              <a:lnSpc>
                <a:spcPct val="120000"/>
              </a:lnSpc>
              <a:spcBef>
                <a:spcPts val="0"/>
              </a:spcBef>
              <a:buFont typeface="+mj-lt"/>
              <a:buAutoNum type="arabicPeriod"/>
            </a:pPr>
            <a:r>
              <a:rPr lang="es-ES" sz="1800" b="0" i="0" dirty="0">
                <a:solidFill>
                  <a:srgbClr val="202122"/>
                </a:solidFill>
                <a:effectLst/>
                <a:latin typeface="Arial" panose="020B0604020202020204" pitchFamily="34" charset="0"/>
              </a:rPr>
              <a:t>Asegurar que la </a:t>
            </a:r>
            <a:r>
              <a:rPr lang="es-ES" sz="1800" b="1" i="0" dirty="0">
                <a:solidFill>
                  <a:srgbClr val="202122"/>
                </a:solidFill>
                <a:effectLst/>
                <a:latin typeface="Arial" panose="020B0604020202020204" pitchFamily="34" charset="0"/>
              </a:rPr>
              <a:t>discusión sea estructurada</a:t>
            </a:r>
            <a:r>
              <a:rPr lang="es-ES" sz="1800" b="0" i="0" dirty="0">
                <a:solidFill>
                  <a:srgbClr val="202122"/>
                </a:solidFill>
                <a:effectLst/>
                <a:latin typeface="Arial" panose="020B0604020202020204" pitchFamily="34" charset="0"/>
              </a:rPr>
              <a:t>; el Moderador o el Propietario del Producto pueden en cualquier momento, cuando se agota toda la discusión debe cesar y se juega otra ronda de póker. </a:t>
            </a:r>
          </a:p>
          <a:p>
            <a:pPr marL="514350" indent="-514350" algn="l">
              <a:lnSpc>
                <a:spcPct val="120000"/>
              </a:lnSpc>
              <a:spcBef>
                <a:spcPts val="0"/>
              </a:spcBef>
              <a:buFont typeface="+mj-lt"/>
              <a:buAutoNum type="arabicPeriod"/>
            </a:pPr>
            <a:r>
              <a:rPr lang="es-ES" sz="1800" b="1" i="0" dirty="0">
                <a:solidFill>
                  <a:srgbClr val="202122"/>
                </a:solidFill>
                <a:effectLst/>
                <a:latin typeface="Arial" panose="020B0604020202020204" pitchFamily="34" charset="0"/>
              </a:rPr>
              <a:t>Las tarjetas están numeradas como están para tener en cuenta el hecho de que cuanto más larga es una estimación</a:t>
            </a:r>
            <a:r>
              <a:rPr lang="es-ES" sz="1800" b="0" i="0" dirty="0">
                <a:solidFill>
                  <a:srgbClr val="202122"/>
                </a:solidFill>
                <a:effectLst/>
                <a:latin typeface="Arial" panose="020B0604020202020204" pitchFamily="34" charset="0"/>
              </a:rPr>
              <a:t>, más incertidumbre contiene. Por lo tanto, si un desarrollador quiere jugar un 6, se ve obligado a reconsiderar y trabajar a través de que parte de la incertidumbre percibida no existe y jugar un 5, o aceptar una estimación conservadora que explica la incertidumbre y jugar un 8.</a:t>
            </a:r>
          </a:p>
          <a:p>
            <a:pPr>
              <a:spcBef>
                <a:spcPts val="0"/>
              </a:spcBef>
            </a:pPr>
            <a:endParaRPr lang="es-ES" sz="1800" dirty="0"/>
          </a:p>
        </p:txBody>
      </p:sp>
      <p:pic>
        <p:nvPicPr>
          <p:cNvPr id="4" name="Imagen 3">
            <a:extLst>
              <a:ext uri="{FF2B5EF4-FFF2-40B4-BE49-F238E27FC236}">
                <a16:creationId xmlns:a16="http://schemas.microsoft.com/office/drawing/2014/main" id="{F63752E1-2C12-441E-AFF6-A86AD3C97E49}"/>
              </a:ext>
            </a:extLst>
          </p:cNvPr>
          <p:cNvPicPr>
            <a:picLocks noChangeAspect="1"/>
          </p:cNvPicPr>
          <p:nvPr/>
        </p:nvPicPr>
        <p:blipFill>
          <a:blip r:embed="rId2"/>
          <a:stretch>
            <a:fillRect/>
          </a:stretch>
        </p:blipFill>
        <p:spPr>
          <a:xfrm>
            <a:off x="11143966" y="0"/>
            <a:ext cx="1135131" cy="690282"/>
          </a:xfrm>
          <a:prstGeom prst="rect">
            <a:avLst/>
          </a:prstGeom>
        </p:spPr>
      </p:pic>
    </p:spTree>
    <p:extLst>
      <p:ext uri="{BB962C8B-B14F-4D97-AF65-F5344CB8AC3E}">
        <p14:creationId xmlns:p14="http://schemas.microsoft.com/office/powerpoint/2010/main" val="18993053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F364C-B710-4772-8ABF-39ABF82CB282}"/>
              </a:ext>
            </a:extLst>
          </p:cNvPr>
          <p:cNvSpPr>
            <a:spLocks noGrp="1"/>
          </p:cNvSpPr>
          <p:nvPr>
            <p:ph type="title"/>
          </p:nvPr>
        </p:nvSpPr>
        <p:spPr/>
        <p:txBody>
          <a:bodyPr/>
          <a:lstStyle/>
          <a:p>
            <a:r>
              <a:rPr lang="es-ES" dirty="0"/>
              <a:t>Estimación de tiempo</a:t>
            </a:r>
          </a:p>
        </p:txBody>
      </p:sp>
      <p:sp>
        <p:nvSpPr>
          <p:cNvPr id="3" name="Marcador de texto 2">
            <a:extLst>
              <a:ext uri="{FF2B5EF4-FFF2-40B4-BE49-F238E27FC236}">
                <a16:creationId xmlns:a16="http://schemas.microsoft.com/office/drawing/2014/main" id="{1A9D118F-49A7-D697-A51A-94D407B7D941}"/>
              </a:ext>
            </a:extLst>
          </p:cNvPr>
          <p:cNvSpPr>
            <a:spLocks noGrp="1"/>
          </p:cNvSpPr>
          <p:nvPr>
            <p:ph type="body" sz="quarter" idx="13"/>
          </p:nvPr>
        </p:nvSpPr>
        <p:spPr/>
        <p:txBody>
          <a:bodyPr/>
          <a:lstStyle/>
          <a:p>
            <a:endParaRPr lang="es-ES"/>
          </a:p>
        </p:txBody>
      </p:sp>
      <p:pic>
        <p:nvPicPr>
          <p:cNvPr id="4" name="Picture 2" descr="Cómo se estima en Scrum? - Cursos 100% Virtuales y Online">
            <a:extLst>
              <a:ext uri="{FF2B5EF4-FFF2-40B4-BE49-F238E27FC236}">
                <a16:creationId xmlns:a16="http://schemas.microsoft.com/office/drawing/2014/main" id="{4911FDB2-889A-45FE-8F43-442D726B4E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118" y="1690688"/>
            <a:ext cx="7086600" cy="4371975"/>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C28616A9-74C6-4D51-A043-55CD38939148}"/>
              </a:ext>
            </a:extLst>
          </p:cNvPr>
          <p:cNvPicPr>
            <a:picLocks noChangeAspect="1"/>
          </p:cNvPicPr>
          <p:nvPr/>
        </p:nvPicPr>
        <p:blipFill>
          <a:blip r:embed="rId3"/>
          <a:stretch>
            <a:fillRect/>
          </a:stretch>
        </p:blipFill>
        <p:spPr>
          <a:xfrm>
            <a:off x="11143966" y="0"/>
            <a:ext cx="1135131" cy="690282"/>
          </a:xfrm>
          <a:prstGeom prst="rect">
            <a:avLst/>
          </a:prstGeom>
        </p:spPr>
      </p:pic>
    </p:spTree>
    <p:extLst>
      <p:ext uri="{BB962C8B-B14F-4D97-AF65-F5344CB8AC3E}">
        <p14:creationId xmlns:p14="http://schemas.microsoft.com/office/powerpoint/2010/main" val="20236288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F461E1-A5F0-40EF-C75F-88F826DE124B}"/>
              </a:ext>
            </a:extLst>
          </p:cNvPr>
          <p:cNvSpPr>
            <a:spLocks noGrp="1"/>
          </p:cNvSpPr>
          <p:nvPr>
            <p:ph type="title"/>
          </p:nvPr>
        </p:nvSpPr>
        <p:spPr/>
        <p:txBody>
          <a:bodyPr>
            <a:normAutofit/>
          </a:bodyPr>
          <a:lstStyle/>
          <a:p>
            <a:r>
              <a:rPr lang="es-ES" sz="4000"/>
              <a:t>Cuadro de mandos o dashboard: actualización</a:t>
            </a:r>
          </a:p>
        </p:txBody>
      </p:sp>
      <p:sp>
        <p:nvSpPr>
          <p:cNvPr id="3" name="Marcador de contenido 2">
            <a:extLst>
              <a:ext uri="{FF2B5EF4-FFF2-40B4-BE49-F238E27FC236}">
                <a16:creationId xmlns:a16="http://schemas.microsoft.com/office/drawing/2014/main" id="{5EE770C3-8F04-4CB0-8A7F-F77F6D2DB080}"/>
              </a:ext>
            </a:extLst>
          </p:cNvPr>
          <p:cNvSpPr>
            <a:spLocks noGrp="1"/>
          </p:cNvSpPr>
          <p:nvPr>
            <p:ph type="body" sz="quarter" idx="13"/>
          </p:nvPr>
        </p:nvSpPr>
        <p:spPr/>
        <p:txBody>
          <a:bodyPr>
            <a:normAutofit fontScale="92500" lnSpcReduction="10000"/>
          </a:bodyPr>
          <a:lstStyle/>
          <a:p>
            <a:pPr marL="514350" indent="-514350">
              <a:buFont typeface="+mj-lt"/>
              <a:buAutoNum type="arabicPeriod"/>
            </a:pPr>
            <a:r>
              <a:rPr lang="es-ES"/>
              <a:t>Constante</a:t>
            </a:r>
            <a:r>
              <a:rPr lang="es-ES" dirty="0"/>
              <a:t>, el </a:t>
            </a:r>
            <a:r>
              <a:rPr lang="es-ES" dirty="0" err="1"/>
              <a:t>dashboard</a:t>
            </a:r>
            <a:r>
              <a:rPr lang="es-ES" dirty="0"/>
              <a:t> o cuadro de mandos de Scrum, debe tener una información que este actualizada, ya que de eso dependerá parte del funcionamiento óptimo del sprint.</a:t>
            </a:r>
          </a:p>
          <a:p>
            <a:pPr marL="514350" indent="-514350">
              <a:buFont typeface="+mj-lt"/>
              <a:buAutoNum type="arabicPeriod"/>
            </a:pPr>
            <a:r>
              <a:rPr lang="es-ES" dirty="0"/>
              <a:t>No solo la frecuencia, sino también la transparencia de la métrica, que estos datos se ajusten a la realidad del trabajo que se está realizando.</a:t>
            </a:r>
          </a:p>
          <a:p>
            <a:pPr marL="514350" indent="-514350">
              <a:buFont typeface="+mj-lt"/>
              <a:buAutoNum type="arabicPeriod"/>
            </a:pPr>
            <a:r>
              <a:rPr lang="es-ES" dirty="0"/>
              <a:t>Un aspecto importante es que debe ser adaptativa, es posible que haya métricas que no se ajusten a lo que necesitamos o tengamos que añadir otras, esto si bien se puede realizar a lo largo del sprint, es preferible tenerlo claro para no dar lugar a que dichas métricas no se ajusten a lo que necesitamos medir.</a:t>
            </a:r>
          </a:p>
          <a:p>
            <a:pPr marL="514350" indent="-514350">
              <a:buFont typeface="+mj-lt"/>
              <a:buAutoNum type="arabicPeriod"/>
            </a:pPr>
            <a:endParaRPr lang="es-ES" dirty="0"/>
          </a:p>
          <a:p>
            <a:pPr marL="0" indent="0">
              <a:buNone/>
            </a:pPr>
            <a:r>
              <a:rPr lang="es-ES" dirty="0"/>
              <a:t>Frase “equivocarse es un derecho, rectificar una necesidad”</a:t>
            </a:r>
          </a:p>
          <a:p>
            <a:pPr marL="0" indent="0">
              <a:buNone/>
            </a:pPr>
            <a:endParaRPr lang="es-ES" dirty="0"/>
          </a:p>
        </p:txBody>
      </p:sp>
      <p:pic>
        <p:nvPicPr>
          <p:cNvPr id="4" name="Imagen 3">
            <a:extLst>
              <a:ext uri="{FF2B5EF4-FFF2-40B4-BE49-F238E27FC236}">
                <a16:creationId xmlns:a16="http://schemas.microsoft.com/office/drawing/2014/main" id="{19E95602-F08A-4443-96CA-1E82A3F16B67}"/>
              </a:ext>
            </a:extLst>
          </p:cNvPr>
          <p:cNvPicPr>
            <a:picLocks noChangeAspect="1"/>
          </p:cNvPicPr>
          <p:nvPr/>
        </p:nvPicPr>
        <p:blipFill>
          <a:blip r:embed="rId2"/>
          <a:stretch>
            <a:fillRect/>
          </a:stretch>
        </p:blipFill>
        <p:spPr>
          <a:xfrm>
            <a:off x="11146428" y="11456"/>
            <a:ext cx="1162114" cy="706691"/>
          </a:xfrm>
          <a:prstGeom prst="rect">
            <a:avLst/>
          </a:prstGeom>
        </p:spPr>
      </p:pic>
    </p:spTree>
    <p:extLst>
      <p:ext uri="{BB962C8B-B14F-4D97-AF65-F5344CB8AC3E}">
        <p14:creationId xmlns:p14="http://schemas.microsoft.com/office/powerpoint/2010/main" val="1446020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C9C0E-9F0F-DDB4-A1D5-678158208BD6}"/>
              </a:ext>
            </a:extLst>
          </p:cNvPr>
          <p:cNvSpPr>
            <a:spLocks noGrp="1"/>
          </p:cNvSpPr>
          <p:nvPr>
            <p:ph type="title"/>
          </p:nvPr>
        </p:nvSpPr>
        <p:spPr/>
        <p:txBody>
          <a:bodyPr>
            <a:normAutofit/>
          </a:bodyPr>
          <a:lstStyle/>
          <a:p>
            <a:r>
              <a:rPr lang="es-ES" b="1"/>
              <a:t>QUÉ ES EL SCALING SCRUM?</a:t>
            </a:r>
            <a:endParaRPr lang="es-ES"/>
          </a:p>
        </p:txBody>
      </p:sp>
      <p:sp>
        <p:nvSpPr>
          <p:cNvPr id="3" name="Marcador de contenido 2">
            <a:extLst>
              <a:ext uri="{FF2B5EF4-FFF2-40B4-BE49-F238E27FC236}">
                <a16:creationId xmlns:a16="http://schemas.microsoft.com/office/drawing/2014/main" id="{2C584E7B-46A1-4974-AFAA-BEB709BB73AF}"/>
              </a:ext>
            </a:extLst>
          </p:cNvPr>
          <p:cNvSpPr>
            <a:spLocks noGrp="1"/>
          </p:cNvSpPr>
          <p:nvPr>
            <p:ph type="body" sz="quarter" idx="13"/>
          </p:nvPr>
        </p:nvSpPr>
        <p:spPr/>
        <p:txBody>
          <a:bodyPr>
            <a:normAutofit fontScale="77500" lnSpcReduction="20000"/>
          </a:bodyPr>
          <a:lstStyle/>
          <a:p>
            <a:pPr marL="0" indent="0">
              <a:buNone/>
            </a:pPr>
            <a:r>
              <a:rPr lang="es-ES" sz="4600"/>
              <a:t>El </a:t>
            </a:r>
            <a:r>
              <a:rPr lang="es-ES" sz="4600" dirty="0"/>
              <a:t>scrum aplicado al desarrollo de software.</a:t>
            </a:r>
          </a:p>
          <a:p>
            <a:pPr marL="0" indent="0">
              <a:buNone/>
            </a:pPr>
            <a:r>
              <a:rPr lang="es-ES" b="1" dirty="0">
                <a:solidFill>
                  <a:srgbClr val="202124"/>
                </a:solidFill>
                <a:latin typeface="arial" panose="020B0604020202020204" pitchFamily="34" charset="0"/>
              </a:rPr>
              <a:t>Definición:</a:t>
            </a:r>
            <a:endParaRPr lang="es-ES" b="1" i="0" dirty="0">
              <a:solidFill>
                <a:srgbClr val="202124"/>
              </a:solidFill>
              <a:effectLst/>
              <a:latin typeface="arial" panose="020B0604020202020204" pitchFamily="34" charset="0"/>
            </a:endParaRPr>
          </a:p>
          <a:p>
            <a:r>
              <a:rPr lang="es-ES" b="1" i="0" dirty="0">
                <a:solidFill>
                  <a:srgbClr val="202124"/>
                </a:solidFill>
                <a:effectLst/>
                <a:latin typeface="arial" panose="020B0604020202020204" pitchFamily="34" charset="0"/>
              </a:rPr>
              <a:t>El </a:t>
            </a:r>
            <a:r>
              <a:rPr lang="es-ES" b="1" i="0" dirty="0" err="1">
                <a:solidFill>
                  <a:srgbClr val="202124"/>
                </a:solidFill>
                <a:effectLst/>
                <a:latin typeface="arial" panose="020B0604020202020204" pitchFamily="34" charset="0"/>
              </a:rPr>
              <a:t>Scrum</a:t>
            </a:r>
            <a:r>
              <a:rPr lang="es-ES" b="0" i="0" dirty="0" err="1">
                <a:solidFill>
                  <a:srgbClr val="202124"/>
                </a:solidFill>
                <a:effectLst/>
                <a:latin typeface="arial" panose="020B0604020202020204" pitchFamily="34" charset="0"/>
              </a:rPr>
              <a:t>@</a:t>
            </a:r>
            <a:r>
              <a:rPr lang="es-ES" b="1" i="0" dirty="0" err="1">
                <a:solidFill>
                  <a:srgbClr val="202124"/>
                </a:solidFill>
                <a:effectLst/>
                <a:latin typeface="arial" panose="020B0604020202020204" pitchFamily="34" charset="0"/>
              </a:rPr>
              <a:t>Scale</a:t>
            </a:r>
            <a:r>
              <a:rPr lang="es-ES" b="0" i="0" dirty="0">
                <a:solidFill>
                  <a:srgbClr val="202124"/>
                </a:solidFill>
                <a:effectLst/>
                <a:latin typeface="arial" panose="020B0604020202020204" pitchFamily="34" charset="0"/>
              </a:rPr>
              <a:t>​: Es un ​</a:t>
            </a:r>
            <a:r>
              <a:rPr lang="es-ES" b="0" i="0" dirty="0" err="1">
                <a:solidFill>
                  <a:srgbClr val="202124"/>
                </a:solidFill>
                <a:effectLst/>
                <a:latin typeface="arial" panose="020B0604020202020204" pitchFamily="34" charset="0"/>
              </a:rPr>
              <a:t>framework</a:t>
            </a:r>
            <a:r>
              <a:rPr lang="es-ES" b="0" i="0" dirty="0">
                <a:solidFill>
                  <a:srgbClr val="202124"/>
                </a:solidFill>
                <a:effectLst/>
                <a:latin typeface="arial" panose="020B0604020202020204" pitchFamily="34" charset="0"/>
              </a:rPr>
              <a:t> ​dentro del cual redes de equipos </a:t>
            </a:r>
            <a:r>
              <a:rPr lang="es-ES" b="1" i="0" dirty="0">
                <a:solidFill>
                  <a:srgbClr val="202124"/>
                </a:solidFill>
                <a:effectLst/>
                <a:latin typeface="arial" panose="020B0604020202020204" pitchFamily="34" charset="0"/>
              </a:rPr>
              <a:t>Scrum</a:t>
            </a:r>
            <a:r>
              <a:rPr lang="es-ES" b="0" i="0" dirty="0">
                <a:solidFill>
                  <a:srgbClr val="202124"/>
                </a:solidFill>
                <a:effectLst/>
                <a:latin typeface="arial" panose="020B0604020202020204" pitchFamily="34" charset="0"/>
              </a:rPr>
              <a:t> que operan consistentemente con la Guía de </a:t>
            </a:r>
            <a:r>
              <a:rPr lang="es-ES" b="1" i="0" dirty="0">
                <a:solidFill>
                  <a:srgbClr val="202124"/>
                </a:solidFill>
                <a:effectLst/>
                <a:latin typeface="arial" panose="020B0604020202020204" pitchFamily="34" charset="0"/>
              </a:rPr>
              <a:t>Scrum</a:t>
            </a:r>
            <a:r>
              <a:rPr lang="es-ES" b="0" i="0" dirty="0">
                <a:solidFill>
                  <a:srgbClr val="202124"/>
                </a:solidFill>
                <a:effectLst/>
                <a:latin typeface="arial" panose="020B0604020202020204" pitchFamily="34" charset="0"/>
              </a:rPr>
              <a:t> pueden abordar problemas complejos adaptativos​, mientras entregan de manera creativa productos del mayor valor posible</a:t>
            </a:r>
          </a:p>
          <a:p>
            <a:pPr marL="0" indent="0" algn="l" fontAlgn="base">
              <a:buNone/>
            </a:pPr>
            <a:r>
              <a:rPr lang="es-ES" b="1" i="0" dirty="0">
                <a:solidFill>
                  <a:srgbClr val="091E42"/>
                </a:solidFill>
                <a:effectLst/>
                <a:latin typeface="Charlie Text"/>
              </a:rPr>
              <a:t>Origen:</a:t>
            </a:r>
          </a:p>
          <a:p>
            <a:pPr fontAlgn="base"/>
            <a:r>
              <a:rPr lang="es-ES" b="0" i="0" dirty="0">
                <a:solidFill>
                  <a:srgbClr val="091E42"/>
                </a:solidFill>
                <a:effectLst/>
                <a:latin typeface="Charlie Text"/>
              </a:rPr>
              <a:t>Se desarrolló a partir de una iniciativa conjunta entre Scrum Inc. y la Scrum Alliance bajo la batuta del Dr. Jeff Sutherland, uno de los creadores de la metodología scrum y coautor del Manifiesto para el desarrollo ágil de software.</a:t>
            </a:r>
          </a:p>
          <a:p>
            <a:pPr algn="l" fontAlgn="base"/>
            <a:r>
              <a:rPr lang="es-ES" b="0" i="0" dirty="0">
                <a:solidFill>
                  <a:srgbClr val="091E42"/>
                </a:solidFill>
                <a:effectLst/>
                <a:latin typeface="Charlie Text"/>
              </a:rPr>
              <a:t>Se basa en los fundamentos de la metodología scrum y en la teoría de los sistemas adaptativos complejos. En </a:t>
            </a:r>
            <a:r>
              <a:rPr lang="es-ES" b="0" i="0" dirty="0" err="1">
                <a:solidFill>
                  <a:srgbClr val="091E42"/>
                </a:solidFill>
                <a:effectLst/>
                <a:latin typeface="Charlie Text"/>
              </a:rPr>
              <a:t>Scrum@Scale</a:t>
            </a:r>
            <a:r>
              <a:rPr lang="es-ES" b="0" i="0" dirty="0">
                <a:solidFill>
                  <a:srgbClr val="091E42"/>
                </a:solidFill>
                <a:effectLst/>
                <a:latin typeface="Charlie Text"/>
              </a:rPr>
              <a:t>, todos forman parte de un equipo de scrum intercambiable y, en función de los objetivos, las redes de estos equipos se unen para crear un ecosistema. Se ha diseñado para escalar en grandes empresas; además, existe la opción de asistir a cursos y obtener una certificación.</a:t>
            </a:r>
          </a:p>
          <a:p>
            <a:pPr marL="0" indent="0">
              <a:buNone/>
            </a:pPr>
            <a:endParaRPr lang="es-ES" dirty="0"/>
          </a:p>
        </p:txBody>
      </p:sp>
      <p:pic>
        <p:nvPicPr>
          <p:cNvPr id="4" name="Imagen 3">
            <a:extLst>
              <a:ext uri="{FF2B5EF4-FFF2-40B4-BE49-F238E27FC236}">
                <a16:creationId xmlns:a16="http://schemas.microsoft.com/office/drawing/2014/main" id="{B86EB9F3-7551-49EC-9052-4C26AA66CE4E}"/>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34310122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9974C6-DF9B-B093-8E58-6472982002B8}"/>
              </a:ext>
            </a:extLst>
          </p:cNvPr>
          <p:cNvSpPr>
            <a:spLocks noGrp="1"/>
          </p:cNvSpPr>
          <p:nvPr>
            <p:ph type="title"/>
          </p:nvPr>
        </p:nvSpPr>
        <p:spPr/>
        <p:txBody>
          <a:bodyPr>
            <a:normAutofit fontScale="90000"/>
          </a:bodyPr>
          <a:lstStyle/>
          <a:p>
            <a:pPr marL="0" indent="0"/>
            <a:r>
              <a:rPr lang="es-ES" b="1"/>
              <a:t>El scrum aplicado al desarrollo de software.</a:t>
            </a:r>
            <a:br>
              <a:rPr lang="es-ES" b="1"/>
            </a:br>
            <a:r>
              <a:rPr lang="es-ES" b="1" i="0">
                <a:solidFill>
                  <a:schemeClr val="bg1"/>
                </a:solidFill>
                <a:effectLst/>
                <a:latin typeface="Charlie Text"/>
              </a:rPr>
              <a:t>Características:</a:t>
            </a:r>
            <a:endParaRPr lang="es-ES">
              <a:solidFill>
                <a:schemeClr val="bg1"/>
              </a:solidFill>
            </a:endParaRPr>
          </a:p>
        </p:txBody>
      </p:sp>
      <p:sp>
        <p:nvSpPr>
          <p:cNvPr id="3" name="Marcador de contenido 2">
            <a:extLst>
              <a:ext uri="{FF2B5EF4-FFF2-40B4-BE49-F238E27FC236}">
                <a16:creationId xmlns:a16="http://schemas.microsoft.com/office/drawing/2014/main" id="{2C584E7B-46A1-4974-AFAA-BEB709BB73AF}"/>
              </a:ext>
            </a:extLst>
          </p:cNvPr>
          <p:cNvSpPr>
            <a:spLocks noGrp="1"/>
          </p:cNvSpPr>
          <p:nvPr>
            <p:ph type="body" sz="quarter" idx="13"/>
          </p:nvPr>
        </p:nvSpPr>
        <p:spPr/>
        <p:txBody>
          <a:bodyPr>
            <a:normAutofit fontScale="92500" lnSpcReduction="20000"/>
          </a:bodyPr>
          <a:lstStyle/>
          <a:p>
            <a:pPr marL="0" indent="0">
              <a:buNone/>
            </a:pPr>
            <a:r>
              <a:rPr lang="es-ES" b="1" i="0">
                <a:solidFill>
                  <a:srgbClr val="091E42"/>
                </a:solidFill>
                <a:effectLst/>
                <a:latin typeface="Charlie Text"/>
              </a:rPr>
              <a:t>Procesos </a:t>
            </a:r>
            <a:r>
              <a:rPr lang="es-ES" b="1" i="0" dirty="0">
                <a:solidFill>
                  <a:srgbClr val="091E42"/>
                </a:solidFill>
                <a:effectLst/>
                <a:latin typeface="Charlie Text"/>
              </a:rPr>
              <a:t>mínimos </a:t>
            </a:r>
            <a:r>
              <a:rPr lang="es-ES" b="0" i="0" dirty="0">
                <a:solidFill>
                  <a:srgbClr val="091E42"/>
                </a:solidFill>
                <a:effectLst/>
                <a:latin typeface="Charlie Text"/>
              </a:rPr>
              <a:t>para aumentar la creatividad.</a:t>
            </a:r>
          </a:p>
          <a:p>
            <a:pPr marL="514350" indent="-514350" algn="l" fontAlgn="base">
              <a:buFont typeface="+mj-lt"/>
              <a:buAutoNum type="arabicPeriod"/>
            </a:pPr>
            <a:r>
              <a:rPr lang="es-ES" b="1" i="0" dirty="0">
                <a:solidFill>
                  <a:srgbClr val="091E42"/>
                </a:solidFill>
                <a:effectLst/>
                <a:latin typeface="Charlie Text"/>
              </a:rPr>
              <a:t>Escalabilidad:</a:t>
            </a:r>
            <a:r>
              <a:rPr lang="es-ES" b="0" i="0" dirty="0">
                <a:solidFill>
                  <a:srgbClr val="091E42"/>
                </a:solidFill>
                <a:effectLst/>
                <a:latin typeface="Charlie Text"/>
              </a:rPr>
              <a:t> Gracias a esto, </a:t>
            </a:r>
            <a:r>
              <a:rPr lang="es-ES" b="0" i="0" dirty="0" err="1">
                <a:solidFill>
                  <a:srgbClr val="091E42"/>
                </a:solidFill>
                <a:effectLst/>
                <a:latin typeface="Charlie Text"/>
              </a:rPr>
              <a:t>Scrum@Scale</a:t>
            </a:r>
            <a:r>
              <a:rPr lang="es-ES" b="0" i="0" dirty="0">
                <a:solidFill>
                  <a:srgbClr val="091E42"/>
                </a:solidFill>
                <a:effectLst/>
                <a:latin typeface="Charlie Text"/>
              </a:rPr>
              <a:t> evita aumentar la complejidad cuando se crean equipos adicionales, ya que se evita la típica agrupación jerárquica de personas. Utiliza el concepto de escalar desde un equipo a un equipo de equipos, luego a una red de equipos y así sucesivamente.</a:t>
            </a:r>
          </a:p>
          <a:p>
            <a:pPr marL="514350" indent="-514350" algn="l" fontAlgn="base">
              <a:buFont typeface="+mj-lt"/>
              <a:buAutoNum type="arabicPeriod"/>
            </a:pPr>
            <a:r>
              <a:rPr lang="es-ES" b="1" i="0" dirty="0">
                <a:solidFill>
                  <a:srgbClr val="091E42"/>
                </a:solidFill>
                <a:effectLst/>
                <a:latin typeface="Charlie Text"/>
              </a:rPr>
              <a:t>Priorizar </a:t>
            </a:r>
            <a:r>
              <a:rPr lang="es-ES" b="0" i="0" dirty="0">
                <a:solidFill>
                  <a:srgbClr val="091E42"/>
                </a:solidFill>
                <a:effectLst/>
                <a:latin typeface="Charlie Text"/>
              </a:rPr>
              <a:t>de forma eficaz con recursos limitados.</a:t>
            </a:r>
          </a:p>
          <a:p>
            <a:pPr marL="514350" indent="-514350" algn="l" fontAlgn="base">
              <a:buFont typeface="+mj-lt"/>
              <a:buAutoNum type="arabicPeriod"/>
            </a:pPr>
            <a:r>
              <a:rPr lang="es-ES" b="1" i="0" dirty="0">
                <a:solidFill>
                  <a:srgbClr val="091E42"/>
                </a:solidFill>
                <a:effectLst/>
                <a:latin typeface="Charlie Text"/>
              </a:rPr>
              <a:t>Lanzar un software funcional </a:t>
            </a:r>
            <a:r>
              <a:rPr lang="es-ES" b="0" i="0" dirty="0">
                <a:solidFill>
                  <a:srgbClr val="091E42"/>
                </a:solidFill>
                <a:effectLst/>
                <a:latin typeface="Charlie Text"/>
              </a:rPr>
              <a:t>y de alta calidad en tiempo limitado.</a:t>
            </a:r>
          </a:p>
          <a:p>
            <a:pPr marL="514350" indent="-514350" algn="l" fontAlgn="base">
              <a:buFont typeface="+mj-lt"/>
              <a:buAutoNum type="arabicPeriod"/>
            </a:pPr>
            <a:r>
              <a:rPr lang="es-ES" b="1" i="0" dirty="0">
                <a:solidFill>
                  <a:srgbClr val="091E42"/>
                </a:solidFill>
                <a:effectLst/>
                <a:latin typeface="Charlie Text"/>
              </a:rPr>
              <a:t>Posibilidades de refactorizar</a:t>
            </a:r>
            <a:r>
              <a:rPr lang="es-ES" b="0" i="0" dirty="0">
                <a:solidFill>
                  <a:srgbClr val="091E42"/>
                </a:solidFill>
                <a:effectLst/>
                <a:latin typeface="Charlie Text"/>
              </a:rPr>
              <a:t> el software: </a:t>
            </a:r>
            <a:r>
              <a:rPr lang="es-ES" b="0" i="0" dirty="0">
                <a:solidFill>
                  <a:srgbClr val="202124"/>
                </a:solidFill>
                <a:effectLst/>
                <a:latin typeface="arial" panose="020B0604020202020204" pitchFamily="34" charset="0"/>
              </a:rPr>
              <a:t>es una técnica de la ingeniería de software para reestructurar un código fuente, alterando su estructura interna sin cambiar su comportamiento externo.</a:t>
            </a:r>
            <a:endParaRPr lang="es-ES" b="0" i="0" dirty="0">
              <a:solidFill>
                <a:srgbClr val="091E42"/>
              </a:solidFill>
              <a:effectLst/>
              <a:latin typeface="Charlie Text"/>
            </a:endParaRPr>
          </a:p>
          <a:p>
            <a:pPr marL="514350" indent="-514350" algn="l" fontAlgn="base">
              <a:buFont typeface="+mj-lt"/>
              <a:buAutoNum type="arabicPeriod"/>
            </a:pPr>
            <a:r>
              <a:rPr lang="es-ES" b="1" i="0" dirty="0">
                <a:solidFill>
                  <a:srgbClr val="091E42"/>
                </a:solidFill>
                <a:effectLst/>
                <a:latin typeface="Charlie Text"/>
              </a:rPr>
              <a:t>Adaptarse al cambio </a:t>
            </a:r>
            <a:r>
              <a:rPr lang="es-ES" b="0" i="0" dirty="0">
                <a:solidFill>
                  <a:srgbClr val="091E42"/>
                </a:solidFill>
                <a:effectLst/>
                <a:latin typeface="Charlie Text"/>
              </a:rPr>
              <a:t>tanto desde el punto de vista de la organización como del producto.</a:t>
            </a:r>
          </a:p>
          <a:p>
            <a:pPr marL="0" indent="0">
              <a:buNone/>
            </a:pPr>
            <a:endParaRPr lang="es-ES" dirty="0"/>
          </a:p>
        </p:txBody>
      </p:sp>
      <p:pic>
        <p:nvPicPr>
          <p:cNvPr id="4" name="Imagen 3">
            <a:extLst>
              <a:ext uri="{FF2B5EF4-FFF2-40B4-BE49-F238E27FC236}">
                <a16:creationId xmlns:a16="http://schemas.microsoft.com/office/drawing/2014/main" id="{825F2D4F-CC3F-4968-A8B0-A6D2C2F63756}"/>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15977480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5E4D09-54FB-DDD8-A89F-C43ABF8BD2DC}"/>
              </a:ext>
            </a:extLst>
          </p:cNvPr>
          <p:cNvSpPr>
            <a:spLocks noGrp="1"/>
          </p:cNvSpPr>
          <p:nvPr>
            <p:ph type="title"/>
          </p:nvPr>
        </p:nvSpPr>
        <p:spPr/>
        <p:txBody>
          <a:bodyPr>
            <a:normAutofit/>
          </a:bodyPr>
          <a:lstStyle/>
          <a:p>
            <a:r>
              <a:rPr lang="es-ES" b="1" i="0">
                <a:solidFill>
                  <a:schemeClr val="bg1"/>
                </a:solidFill>
                <a:effectLst/>
                <a:latin typeface="Charlie Display"/>
              </a:rPr>
              <a:t>Conceptos fundamentales:</a:t>
            </a:r>
            <a:endParaRPr lang="es-ES">
              <a:solidFill>
                <a:schemeClr val="bg1"/>
              </a:solidFill>
            </a:endParaRPr>
          </a:p>
        </p:txBody>
      </p:sp>
      <p:sp>
        <p:nvSpPr>
          <p:cNvPr id="3" name="Marcador de contenido 2">
            <a:extLst>
              <a:ext uri="{FF2B5EF4-FFF2-40B4-BE49-F238E27FC236}">
                <a16:creationId xmlns:a16="http://schemas.microsoft.com/office/drawing/2014/main" id="{2C584E7B-46A1-4974-AFAA-BEB709BB73AF}"/>
              </a:ext>
            </a:extLst>
          </p:cNvPr>
          <p:cNvSpPr>
            <a:spLocks noGrp="1"/>
          </p:cNvSpPr>
          <p:nvPr>
            <p:ph type="body" sz="quarter" idx="13"/>
          </p:nvPr>
        </p:nvSpPr>
        <p:spPr/>
        <p:txBody>
          <a:bodyPr>
            <a:normAutofit/>
          </a:bodyPr>
          <a:lstStyle/>
          <a:p>
            <a:pPr marL="514350" indent="-514350" algn="l" fontAlgn="base">
              <a:buFont typeface="+mj-lt"/>
              <a:buAutoNum type="arabicPeriod"/>
            </a:pPr>
            <a:r>
              <a:rPr lang="es-ES" b="0" i="0">
                <a:solidFill>
                  <a:srgbClr val="091E42"/>
                </a:solidFill>
                <a:effectLst/>
                <a:latin typeface="Charlie Text"/>
              </a:rPr>
              <a:t>Equipos </a:t>
            </a:r>
            <a:r>
              <a:rPr lang="es-ES" b="0" i="0" dirty="0">
                <a:solidFill>
                  <a:srgbClr val="091E42"/>
                </a:solidFill>
                <a:effectLst/>
                <a:latin typeface="Charlie Text"/>
              </a:rPr>
              <a:t>pequeños.</a:t>
            </a:r>
          </a:p>
          <a:p>
            <a:pPr marL="514350" indent="-514350" algn="l" fontAlgn="base">
              <a:buFont typeface="+mj-lt"/>
              <a:buAutoNum type="arabicPeriod"/>
            </a:pPr>
            <a:r>
              <a:rPr lang="es-ES" b="0" i="0" dirty="0">
                <a:solidFill>
                  <a:srgbClr val="091E42"/>
                </a:solidFill>
                <a:effectLst/>
                <a:latin typeface="Charlie Text"/>
              </a:rPr>
              <a:t>Escalado en toda la organización.</a:t>
            </a:r>
          </a:p>
          <a:p>
            <a:pPr marL="514350" indent="-514350" algn="l" fontAlgn="base">
              <a:buFont typeface="+mj-lt"/>
              <a:buAutoNum type="arabicPeriod"/>
            </a:pPr>
            <a:r>
              <a:rPr lang="es-ES" b="0" i="0" dirty="0">
                <a:solidFill>
                  <a:srgbClr val="091E42"/>
                </a:solidFill>
                <a:effectLst/>
                <a:latin typeface="Charlie Text"/>
              </a:rPr>
              <a:t>Aplicación de la burocracia mínima viable.</a:t>
            </a:r>
          </a:p>
          <a:p>
            <a:pPr marL="0" indent="0" algn="l" fontAlgn="base">
              <a:buNone/>
            </a:pPr>
            <a:endParaRPr lang="es-ES" b="0" i="0" dirty="0">
              <a:solidFill>
                <a:srgbClr val="091E42"/>
              </a:solidFill>
              <a:effectLst/>
              <a:latin typeface="Charlie Text"/>
            </a:endParaRPr>
          </a:p>
          <a:p>
            <a:pPr marL="0" indent="0">
              <a:buNone/>
            </a:pPr>
            <a:endParaRPr lang="es-ES" dirty="0"/>
          </a:p>
        </p:txBody>
      </p:sp>
      <p:pic>
        <p:nvPicPr>
          <p:cNvPr id="4" name="Imagen 3">
            <a:extLst>
              <a:ext uri="{FF2B5EF4-FFF2-40B4-BE49-F238E27FC236}">
                <a16:creationId xmlns:a16="http://schemas.microsoft.com/office/drawing/2014/main" id="{5CD30B21-C1AC-462B-A287-BCB5672D95B9}"/>
              </a:ext>
            </a:extLst>
          </p:cNvPr>
          <p:cNvPicPr>
            <a:picLocks noChangeAspect="1"/>
          </p:cNvPicPr>
          <p:nvPr/>
        </p:nvPicPr>
        <p:blipFill>
          <a:blip r:embed="rId3"/>
          <a:stretch>
            <a:fillRect/>
          </a:stretch>
        </p:blipFill>
        <p:spPr>
          <a:xfrm>
            <a:off x="10904379" y="52061"/>
            <a:ext cx="1353429" cy="823031"/>
          </a:xfrm>
          <a:prstGeom prst="rect">
            <a:avLst/>
          </a:prstGeom>
        </p:spPr>
      </p:pic>
      <p:pic>
        <p:nvPicPr>
          <p:cNvPr id="5" name="Picture 4" descr="Blog de un apóstol de Scrum y Kanban: ¿Cómo funciona Scrum de Scrums?">
            <a:extLst>
              <a:ext uri="{FF2B5EF4-FFF2-40B4-BE49-F238E27FC236}">
                <a16:creationId xmlns:a16="http://schemas.microsoft.com/office/drawing/2014/main" id="{F9AA4FAD-C4F3-4E41-BC4C-425EC08739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0777" y="3190516"/>
            <a:ext cx="6863166" cy="3497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977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849CF-F5FD-04A7-6878-79FE7342F833}"/>
              </a:ext>
            </a:extLst>
          </p:cNvPr>
          <p:cNvSpPr>
            <a:spLocks noGrp="1"/>
          </p:cNvSpPr>
          <p:nvPr>
            <p:ph type="title"/>
          </p:nvPr>
        </p:nvSpPr>
        <p:spPr/>
        <p:txBody>
          <a:bodyPr/>
          <a:lstStyle/>
          <a:p>
            <a:r>
              <a:rPr lang="es-ES"/>
              <a:t>Funciones </a:t>
            </a:r>
          </a:p>
        </p:txBody>
      </p:sp>
      <p:sp>
        <p:nvSpPr>
          <p:cNvPr id="3" name="Marcador de contenido 2">
            <a:extLst>
              <a:ext uri="{FF2B5EF4-FFF2-40B4-BE49-F238E27FC236}">
                <a16:creationId xmlns:a16="http://schemas.microsoft.com/office/drawing/2014/main" id="{2C584E7B-46A1-4974-AFAA-BEB709BB73AF}"/>
              </a:ext>
            </a:extLst>
          </p:cNvPr>
          <p:cNvSpPr>
            <a:spLocks noGrp="1"/>
          </p:cNvSpPr>
          <p:nvPr>
            <p:ph type="body" sz="quarter" idx="13"/>
          </p:nvPr>
        </p:nvSpPr>
        <p:spPr/>
        <p:txBody>
          <a:bodyPr>
            <a:normAutofit/>
          </a:bodyPr>
          <a:lstStyle/>
          <a:p>
            <a:pPr algn="l" fontAlgn="base">
              <a:buFont typeface="Arial" panose="020B0604020202020204" pitchFamily="34" charset="0"/>
              <a:buChar char="•"/>
            </a:pPr>
            <a:r>
              <a:rPr lang="es-ES" b="0" i="0">
                <a:solidFill>
                  <a:srgbClr val="091E42"/>
                </a:solidFill>
                <a:effectLst/>
                <a:latin typeface="Charlie Text"/>
              </a:rPr>
              <a:t>El </a:t>
            </a:r>
            <a:r>
              <a:rPr lang="es-ES" b="1" i="0" dirty="0">
                <a:solidFill>
                  <a:srgbClr val="091E42"/>
                </a:solidFill>
                <a:effectLst/>
                <a:latin typeface="Charlie Text"/>
              </a:rPr>
              <a:t>propietario principal del producto (CPO, por sus siglas en inglés)</a:t>
            </a:r>
            <a:r>
              <a:rPr lang="es-ES" b="0" i="0" dirty="0">
                <a:solidFill>
                  <a:srgbClr val="091E42"/>
                </a:solidFill>
                <a:effectLst/>
                <a:latin typeface="Charlie Text"/>
              </a:rPr>
              <a:t> trabaja con los equipos individuales y los propietarios de los productos para poner en común las prioridades de los backlogs de todas las partes interesadas involucradas y establecer la visión estratégica del scrum de scrums. El CPO se encarga de generar un solo backlog para todos en el scrum de scrums.</a:t>
            </a:r>
          </a:p>
          <a:p>
            <a:pPr marL="0" indent="0" algn="l" fontAlgn="base">
              <a:buNone/>
            </a:pPr>
            <a:endParaRPr lang="es-ES" b="0" i="0" dirty="0">
              <a:solidFill>
                <a:srgbClr val="091E42"/>
              </a:solidFill>
              <a:effectLst/>
              <a:latin typeface="Charlie Text"/>
            </a:endParaRPr>
          </a:p>
          <a:p>
            <a:pPr algn="l" fontAlgn="base">
              <a:buFont typeface="Arial" panose="020B0604020202020204" pitchFamily="34" charset="0"/>
              <a:buChar char="•"/>
            </a:pPr>
            <a:r>
              <a:rPr lang="es-ES" b="0" i="0" dirty="0">
                <a:solidFill>
                  <a:srgbClr val="091E42"/>
                </a:solidFill>
                <a:effectLst/>
                <a:latin typeface="Charlie Text"/>
              </a:rPr>
              <a:t>El </a:t>
            </a:r>
            <a:r>
              <a:rPr lang="es-ES" b="1" i="0" dirty="0">
                <a:solidFill>
                  <a:srgbClr val="091E42"/>
                </a:solidFill>
                <a:effectLst/>
                <a:latin typeface="Charlie Text"/>
              </a:rPr>
              <a:t>experto en scrum de scrums (</a:t>
            </a:r>
            <a:r>
              <a:rPr lang="es-ES" b="1" i="0" dirty="0" err="1">
                <a:solidFill>
                  <a:srgbClr val="091E42"/>
                </a:solidFill>
                <a:effectLst/>
                <a:latin typeface="Charlie Text"/>
              </a:rPr>
              <a:t>SoSM</a:t>
            </a:r>
            <a:r>
              <a:rPr lang="es-ES" b="1" i="0" dirty="0">
                <a:solidFill>
                  <a:srgbClr val="091E42"/>
                </a:solidFill>
                <a:effectLst/>
                <a:latin typeface="Charlie Text"/>
              </a:rPr>
              <a:t>, por sus siglas en inglés)</a:t>
            </a:r>
            <a:r>
              <a:rPr lang="es-ES" b="0" i="0" dirty="0">
                <a:solidFill>
                  <a:srgbClr val="091E42"/>
                </a:solidFill>
                <a:effectLst/>
                <a:latin typeface="Charlie Text"/>
              </a:rPr>
              <a:t> se encarga de aunar esfuerzos para realizar publicaciones y tiene responsabilidades similares a las de un experto en scrum, pero a un nivel superior.</a:t>
            </a:r>
          </a:p>
          <a:p>
            <a:pPr marL="0" indent="0">
              <a:buNone/>
            </a:pPr>
            <a:endParaRPr lang="es-ES" dirty="0"/>
          </a:p>
        </p:txBody>
      </p:sp>
      <p:pic>
        <p:nvPicPr>
          <p:cNvPr id="4" name="Imagen 3">
            <a:extLst>
              <a:ext uri="{FF2B5EF4-FFF2-40B4-BE49-F238E27FC236}">
                <a16:creationId xmlns:a16="http://schemas.microsoft.com/office/drawing/2014/main" id="{9A827CC4-F1CC-41EB-8076-E13CA1723489}"/>
              </a:ext>
            </a:extLst>
          </p:cNvPr>
          <p:cNvPicPr>
            <a:picLocks noChangeAspect="1"/>
          </p:cNvPicPr>
          <p:nvPr/>
        </p:nvPicPr>
        <p:blipFill>
          <a:blip r:embed="rId3"/>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20433316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2BB361-FFFE-C36E-6413-668EA40AD69A}"/>
              </a:ext>
            </a:extLst>
          </p:cNvPr>
          <p:cNvSpPr>
            <a:spLocks noGrp="1"/>
          </p:cNvSpPr>
          <p:nvPr>
            <p:ph type="title"/>
          </p:nvPr>
        </p:nvSpPr>
        <p:spPr/>
        <p:txBody>
          <a:bodyPr/>
          <a:lstStyle/>
          <a:p>
            <a:r>
              <a:rPr lang="es-ES"/>
              <a:t>Scrum de Scrum aplicado a software</a:t>
            </a:r>
          </a:p>
        </p:txBody>
      </p:sp>
      <p:sp>
        <p:nvSpPr>
          <p:cNvPr id="3" name="Marcador de texto 2">
            <a:extLst>
              <a:ext uri="{FF2B5EF4-FFF2-40B4-BE49-F238E27FC236}">
                <a16:creationId xmlns:a16="http://schemas.microsoft.com/office/drawing/2014/main" id="{894B6B83-27F3-2F04-A4EE-27F4305C3832}"/>
              </a:ext>
            </a:extLst>
          </p:cNvPr>
          <p:cNvSpPr>
            <a:spLocks noGrp="1"/>
          </p:cNvSpPr>
          <p:nvPr>
            <p:ph type="body" sz="quarter" idx="13"/>
          </p:nvPr>
        </p:nvSpPr>
        <p:spPr/>
        <p:txBody>
          <a:bodyPr/>
          <a:lstStyle/>
          <a:p>
            <a:endParaRPr lang="es-ES"/>
          </a:p>
        </p:txBody>
      </p:sp>
      <p:graphicFrame>
        <p:nvGraphicFramePr>
          <p:cNvPr id="4" name="Marcador de contenido 3">
            <a:extLst>
              <a:ext uri="{FF2B5EF4-FFF2-40B4-BE49-F238E27FC236}">
                <a16:creationId xmlns:a16="http://schemas.microsoft.com/office/drawing/2014/main" id="{7118AF11-CB0F-4693-AB15-9D26E059F45F}"/>
              </a:ext>
            </a:extLst>
          </p:cNvPr>
          <p:cNvGraphicFramePr>
            <a:graphicFrameLocks noGrp="1"/>
          </p:cNvGraphicFramePr>
          <p:nvPr>
            <p:ph idx="4294967295"/>
            <p:extLst>
              <p:ext uri="{D42A27DB-BD31-4B8C-83A1-F6EECF244321}">
                <p14:modId xmlns:p14="http://schemas.microsoft.com/office/powerpoint/2010/main" val="3288703370"/>
              </p:ext>
            </p:extLst>
          </p:nvPr>
        </p:nvGraphicFramePr>
        <p:xfrm>
          <a:off x="0" y="1109663"/>
          <a:ext cx="802005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Marcador de contenido 3">
            <a:extLst>
              <a:ext uri="{FF2B5EF4-FFF2-40B4-BE49-F238E27FC236}">
                <a16:creationId xmlns:a16="http://schemas.microsoft.com/office/drawing/2014/main" id="{E665A7CD-0482-4072-B993-8579BC7EBD27}"/>
              </a:ext>
            </a:extLst>
          </p:cNvPr>
          <p:cNvGraphicFramePr>
            <a:graphicFrameLocks/>
          </p:cNvGraphicFramePr>
          <p:nvPr/>
        </p:nvGraphicFramePr>
        <p:xfrm>
          <a:off x="4343128" y="1253331"/>
          <a:ext cx="8019744"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6" name="Imagen 5">
            <a:extLst>
              <a:ext uri="{FF2B5EF4-FFF2-40B4-BE49-F238E27FC236}">
                <a16:creationId xmlns:a16="http://schemas.microsoft.com/office/drawing/2014/main" id="{A1AB5E3C-9608-44DE-AFB3-D3B4CD073B3C}"/>
              </a:ext>
            </a:extLst>
          </p:cNvPr>
          <p:cNvPicPr>
            <a:picLocks noChangeAspect="1"/>
          </p:cNvPicPr>
          <p:nvPr/>
        </p:nvPicPr>
        <p:blipFill>
          <a:blip r:embed="rId12"/>
          <a:stretch>
            <a:fillRect/>
          </a:stretch>
        </p:blipFill>
        <p:spPr>
          <a:xfrm>
            <a:off x="10904379" y="52061"/>
            <a:ext cx="1353429" cy="823031"/>
          </a:xfrm>
          <a:prstGeom prst="rect">
            <a:avLst/>
          </a:prstGeom>
        </p:spPr>
      </p:pic>
    </p:spTree>
    <p:extLst>
      <p:ext uri="{BB962C8B-B14F-4D97-AF65-F5344CB8AC3E}">
        <p14:creationId xmlns:p14="http://schemas.microsoft.com/office/powerpoint/2010/main" val="24979319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C63BB4-3F7C-412E-A15D-D78998EF7076}"/>
              </a:ext>
            </a:extLst>
          </p:cNvPr>
          <p:cNvSpPr>
            <a:spLocks noGrp="1"/>
          </p:cNvSpPr>
          <p:nvPr>
            <p:ph type="title"/>
          </p:nvPr>
        </p:nvSpPr>
        <p:spPr/>
        <p:txBody>
          <a:bodyPr/>
          <a:lstStyle/>
          <a:p>
            <a:r>
              <a:rPr lang="es-ES" b="1" dirty="0"/>
              <a:t>9. HERRAMIENTAS SCRUM</a:t>
            </a:r>
            <a:endParaRPr lang="es-ES" dirty="0"/>
          </a:p>
        </p:txBody>
      </p:sp>
      <p:sp>
        <p:nvSpPr>
          <p:cNvPr id="3" name="Marcador de contenido 2">
            <a:extLst>
              <a:ext uri="{FF2B5EF4-FFF2-40B4-BE49-F238E27FC236}">
                <a16:creationId xmlns:a16="http://schemas.microsoft.com/office/drawing/2014/main" id="{8A96C918-C88D-43BC-9445-D5222DEE0279}"/>
              </a:ext>
            </a:extLst>
          </p:cNvPr>
          <p:cNvSpPr>
            <a:spLocks noGrp="1"/>
          </p:cNvSpPr>
          <p:nvPr>
            <p:ph type="body" sz="quarter" idx="13"/>
          </p:nvPr>
        </p:nvSpPr>
        <p:spPr/>
        <p:txBody>
          <a:bodyPr/>
          <a:lstStyle/>
          <a:p>
            <a:endParaRPr lang="es-ES" dirty="0"/>
          </a:p>
        </p:txBody>
      </p:sp>
      <p:pic>
        <p:nvPicPr>
          <p:cNvPr id="4" name="Imagen 3">
            <a:extLst>
              <a:ext uri="{FF2B5EF4-FFF2-40B4-BE49-F238E27FC236}">
                <a16:creationId xmlns:a16="http://schemas.microsoft.com/office/drawing/2014/main" id="{4ACDDD03-BBBD-495F-A9A3-B51D86ED9A15}"/>
              </a:ext>
            </a:extLst>
          </p:cNvPr>
          <p:cNvPicPr>
            <a:picLocks noChangeAspect="1"/>
          </p:cNvPicPr>
          <p:nvPr/>
        </p:nvPicPr>
        <p:blipFill>
          <a:blip r:embed="rId2"/>
          <a:stretch>
            <a:fillRect/>
          </a:stretch>
        </p:blipFill>
        <p:spPr>
          <a:xfrm>
            <a:off x="10986367" y="6034969"/>
            <a:ext cx="1353429" cy="823031"/>
          </a:xfrm>
          <a:prstGeom prst="rect">
            <a:avLst/>
          </a:prstGeom>
        </p:spPr>
      </p:pic>
      <p:pic>
        <p:nvPicPr>
          <p:cNvPr id="5" name="Imagen 4">
            <a:extLst>
              <a:ext uri="{FF2B5EF4-FFF2-40B4-BE49-F238E27FC236}">
                <a16:creationId xmlns:a16="http://schemas.microsoft.com/office/drawing/2014/main" id="{7FD1B1AC-1D08-64C1-250D-27DA245489B6}"/>
              </a:ext>
            </a:extLst>
          </p:cNvPr>
          <p:cNvPicPr>
            <a:picLocks noChangeAspect="1"/>
          </p:cNvPicPr>
          <p:nvPr/>
        </p:nvPicPr>
        <p:blipFill>
          <a:blip r:embed="rId3"/>
          <a:stretch>
            <a:fillRect/>
          </a:stretch>
        </p:blipFill>
        <p:spPr>
          <a:xfrm>
            <a:off x="2582426" y="870013"/>
            <a:ext cx="7463302" cy="5726229"/>
          </a:xfrm>
          <a:prstGeom prst="rect">
            <a:avLst/>
          </a:prstGeom>
        </p:spPr>
      </p:pic>
    </p:spTree>
    <p:extLst>
      <p:ext uri="{BB962C8B-B14F-4D97-AF65-F5344CB8AC3E}">
        <p14:creationId xmlns:p14="http://schemas.microsoft.com/office/powerpoint/2010/main" val="2863493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C8D4FF-4071-7BAE-BDDE-46DC64C3C67E}"/>
              </a:ext>
            </a:extLst>
          </p:cNvPr>
          <p:cNvSpPr>
            <a:spLocks noGrp="1"/>
          </p:cNvSpPr>
          <p:nvPr>
            <p:ph type="title"/>
          </p:nvPr>
        </p:nvSpPr>
        <p:spPr/>
        <p:txBody>
          <a:bodyPr/>
          <a:lstStyle/>
          <a:p>
            <a:r>
              <a:rPr lang="es-ES"/>
              <a:t>herramientas</a:t>
            </a:r>
          </a:p>
        </p:txBody>
      </p:sp>
      <p:pic>
        <p:nvPicPr>
          <p:cNvPr id="4" name="Imagen 3">
            <a:extLst>
              <a:ext uri="{FF2B5EF4-FFF2-40B4-BE49-F238E27FC236}">
                <a16:creationId xmlns:a16="http://schemas.microsoft.com/office/drawing/2014/main" id="{1D846B2E-2CF1-4657-B8C2-4AF080BC9975}"/>
              </a:ext>
            </a:extLst>
          </p:cNvPr>
          <p:cNvPicPr>
            <a:picLocks noChangeAspect="1"/>
          </p:cNvPicPr>
          <p:nvPr/>
        </p:nvPicPr>
        <p:blipFill>
          <a:blip r:embed="rId2"/>
          <a:stretch>
            <a:fillRect/>
          </a:stretch>
        </p:blipFill>
        <p:spPr>
          <a:xfrm>
            <a:off x="1627832" y="948652"/>
            <a:ext cx="8379767" cy="5678565"/>
          </a:xfrm>
          <a:prstGeom prst="rect">
            <a:avLst/>
          </a:prstGeom>
        </p:spPr>
      </p:pic>
      <p:pic>
        <p:nvPicPr>
          <p:cNvPr id="7" name="Imagen 6">
            <a:extLst>
              <a:ext uri="{FF2B5EF4-FFF2-40B4-BE49-F238E27FC236}">
                <a16:creationId xmlns:a16="http://schemas.microsoft.com/office/drawing/2014/main" id="{2D54D379-8FD1-47E3-869F-FA05414CA809}"/>
              </a:ext>
            </a:extLst>
          </p:cNvPr>
          <p:cNvPicPr>
            <a:picLocks noChangeAspect="1"/>
          </p:cNvPicPr>
          <p:nvPr/>
        </p:nvPicPr>
        <p:blipFill>
          <a:blip r:embed="rId3"/>
          <a:stretch>
            <a:fillRect/>
          </a:stretch>
        </p:blipFill>
        <p:spPr>
          <a:xfrm>
            <a:off x="10950508" y="5997068"/>
            <a:ext cx="1353429" cy="823031"/>
          </a:xfrm>
          <a:prstGeom prst="rect">
            <a:avLst/>
          </a:prstGeom>
        </p:spPr>
      </p:pic>
    </p:spTree>
    <p:extLst>
      <p:ext uri="{BB962C8B-B14F-4D97-AF65-F5344CB8AC3E}">
        <p14:creationId xmlns:p14="http://schemas.microsoft.com/office/powerpoint/2010/main" val="41142160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A55947-B122-E9D3-9A46-EA0DD2666F0B}"/>
              </a:ext>
            </a:extLst>
          </p:cNvPr>
          <p:cNvSpPr>
            <a:spLocks noGrp="1"/>
          </p:cNvSpPr>
          <p:nvPr>
            <p:ph type="title"/>
          </p:nvPr>
        </p:nvSpPr>
        <p:spPr/>
        <p:txBody>
          <a:bodyPr/>
          <a:lstStyle/>
          <a:p>
            <a:r>
              <a:rPr lang="es-ES"/>
              <a:t>Herramientas</a:t>
            </a:r>
          </a:p>
        </p:txBody>
      </p:sp>
      <p:pic>
        <p:nvPicPr>
          <p:cNvPr id="5" name="Imagen 4">
            <a:extLst>
              <a:ext uri="{FF2B5EF4-FFF2-40B4-BE49-F238E27FC236}">
                <a16:creationId xmlns:a16="http://schemas.microsoft.com/office/drawing/2014/main" id="{B15DE215-2B8B-480F-8788-209F956870FB}"/>
              </a:ext>
            </a:extLst>
          </p:cNvPr>
          <p:cNvPicPr>
            <a:picLocks noChangeAspect="1"/>
          </p:cNvPicPr>
          <p:nvPr/>
        </p:nvPicPr>
        <p:blipFill>
          <a:blip r:embed="rId2"/>
          <a:stretch>
            <a:fillRect/>
          </a:stretch>
        </p:blipFill>
        <p:spPr>
          <a:xfrm>
            <a:off x="1112750" y="871302"/>
            <a:ext cx="9966499" cy="5163667"/>
          </a:xfrm>
          <a:prstGeom prst="rect">
            <a:avLst/>
          </a:prstGeom>
        </p:spPr>
      </p:pic>
      <p:pic>
        <p:nvPicPr>
          <p:cNvPr id="6" name="Imagen 5">
            <a:extLst>
              <a:ext uri="{FF2B5EF4-FFF2-40B4-BE49-F238E27FC236}">
                <a16:creationId xmlns:a16="http://schemas.microsoft.com/office/drawing/2014/main" id="{4AEB5112-3C8B-442C-9DC6-A58BA3A6C5FD}"/>
              </a:ext>
            </a:extLst>
          </p:cNvPr>
          <p:cNvPicPr>
            <a:picLocks noChangeAspect="1"/>
          </p:cNvPicPr>
          <p:nvPr/>
        </p:nvPicPr>
        <p:blipFill>
          <a:blip r:embed="rId3"/>
          <a:stretch>
            <a:fillRect/>
          </a:stretch>
        </p:blipFill>
        <p:spPr>
          <a:xfrm>
            <a:off x="10968437" y="6034969"/>
            <a:ext cx="1353429" cy="823031"/>
          </a:xfrm>
          <a:prstGeom prst="rect">
            <a:avLst/>
          </a:prstGeom>
        </p:spPr>
      </p:pic>
      <p:sp>
        <p:nvSpPr>
          <p:cNvPr id="7" name="Marcador de texto 6">
            <a:extLst>
              <a:ext uri="{FF2B5EF4-FFF2-40B4-BE49-F238E27FC236}">
                <a16:creationId xmlns:a16="http://schemas.microsoft.com/office/drawing/2014/main" id="{08605C73-64A1-1FBE-AB9B-4D67E2DD57CB}"/>
              </a:ext>
            </a:extLst>
          </p:cNvPr>
          <p:cNvSpPr>
            <a:spLocks noGrp="1"/>
          </p:cNvSpPr>
          <p:nvPr>
            <p:ph type="body" sz="quarter" idx="13"/>
          </p:nvPr>
        </p:nvSpPr>
        <p:spPr/>
        <p:txBody>
          <a:bodyPr/>
          <a:lstStyle/>
          <a:p>
            <a:endParaRPr lang="es-ES"/>
          </a:p>
        </p:txBody>
      </p:sp>
    </p:spTree>
    <p:extLst>
      <p:ext uri="{BB962C8B-B14F-4D97-AF65-F5344CB8AC3E}">
        <p14:creationId xmlns:p14="http://schemas.microsoft.com/office/powerpoint/2010/main" val="10290760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EA23E-A703-43AC-938E-2444CAEF81D9}"/>
              </a:ext>
            </a:extLst>
          </p:cNvPr>
          <p:cNvSpPr>
            <a:spLocks noGrp="1"/>
          </p:cNvSpPr>
          <p:nvPr>
            <p:ph type="title"/>
          </p:nvPr>
        </p:nvSpPr>
        <p:spPr/>
        <p:txBody>
          <a:bodyPr>
            <a:noAutofit/>
          </a:bodyPr>
          <a:lstStyle/>
          <a:p>
            <a:r>
              <a:rPr lang="es-ES" sz="2800" dirty="0"/>
              <a:t>Otras herramientas</a:t>
            </a:r>
          </a:p>
        </p:txBody>
      </p:sp>
      <p:sp>
        <p:nvSpPr>
          <p:cNvPr id="3" name="Marcador de texto 2">
            <a:extLst>
              <a:ext uri="{FF2B5EF4-FFF2-40B4-BE49-F238E27FC236}">
                <a16:creationId xmlns:a16="http://schemas.microsoft.com/office/drawing/2014/main" id="{D2FF049D-DF9B-132B-866A-68EFEE5B07DE}"/>
              </a:ext>
            </a:extLst>
          </p:cNvPr>
          <p:cNvSpPr>
            <a:spLocks noGrp="1"/>
          </p:cNvSpPr>
          <p:nvPr>
            <p:ph type="body" sz="quarter" idx="13"/>
          </p:nvPr>
        </p:nvSpPr>
        <p:spPr/>
        <p:txBody>
          <a:bodyPr/>
          <a:lstStyle/>
          <a:p>
            <a:endParaRPr lang="es-ES"/>
          </a:p>
        </p:txBody>
      </p:sp>
      <p:pic>
        <p:nvPicPr>
          <p:cNvPr id="5" name="Imagen 4">
            <a:extLst>
              <a:ext uri="{FF2B5EF4-FFF2-40B4-BE49-F238E27FC236}">
                <a16:creationId xmlns:a16="http://schemas.microsoft.com/office/drawing/2014/main" id="{415D54D4-DDF1-46AD-A33A-D7E469AF20CB}"/>
              </a:ext>
            </a:extLst>
          </p:cNvPr>
          <p:cNvPicPr>
            <a:picLocks noChangeAspect="1"/>
          </p:cNvPicPr>
          <p:nvPr/>
        </p:nvPicPr>
        <p:blipFill>
          <a:blip r:embed="rId2"/>
          <a:stretch>
            <a:fillRect/>
          </a:stretch>
        </p:blipFill>
        <p:spPr>
          <a:xfrm>
            <a:off x="5880041" y="801437"/>
            <a:ext cx="6102360" cy="3003003"/>
          </a:xfrm>
          <a:prstGeom prst="rect">
            <a:avLst/>
          </a:prstGeom>
        </p:spPr>
      </p:pic>
      <p:pic>
        <p:nvPicPr>
          <p:cNvPr id="7" name="Imagen 6">
            <a:extLst>
              <a:ext uri="{FF2B5EF4-FFF2-40B4-BE49-F238E27FC236}">
                <a16:creationId xmlns:a16="http://schemas.microsoft.com/office/drawing/2014/main" id="{B31C9B8B-C7D5-4809-A8A5-6DAB1CA8DC9C}"/>
              </a:ext>
            </a:extLst>
          </p:cNvPr>
          <p:cNvPicPr>
            <a:picLocks noChangeAspect="1"/>
          </p:cNvPicPr>
          <p:nvPr/>
        </p:nvPicPr>
        <p:blipFill>
          <a:blip r:embed="rId3"/>
          <a:stretch>
            <a:fillRect/>
          </a:stretch>
        </p:blipFill>
        <p:spPr>
          <a:xfrm>
            <a:off x="5743001" y="3888628"/>
            <a:ext cx="6376440" cy="2969372"/>
          </a:xfrm>
          <a:prstGeom prst="rect">
            <a:avLst/>
          </a:prstGeom>
        </p:spPr>
      </p:pic>
      <p:pic>
        <p:nvPicPr>
          <p:cNvPr id="9" name="Imagen 8">
            <a:extLst>
              <a:ext uri="{FF2B5EF4-FFF2-40B4-BE49-F238E27FC236}">
                <a16:creationId xmlns:a16="http://schemas.microsoft.com/office/drawing/2014/main" id="{B39BB7C7-ACC2-49FA-BB9C-7EE1C54C5D6A}"/>
              </a:ext>
            </a:extLst>
          </p:cNvPr>
          <p:cNvPicPr>
            <a:picLocks noChangeAspect="1"/>
          </p:cNvPicPr>
          <p:nvPr/>
        </p:nvPicPr>
        <p:blipFill>
          <a:blip r:embed="rId4"/>
          <a:stretch>
            <a:fillRect/>
          </a:stretch>
        </p:blipFill>
        <p:spPr>
          <a:xfrm>
            <a:off x="140895" y="774904"/>
            <a:ext cx="5374478" cy="3531800"/>
          </a:xfrm>
          <a:prstGeom prst="rect">
            <a:avLst/>
          </a:prstGeom>
        </p:spPr>
      </p:pic>
      <p:sp>
        <p:nvSpPr>
          <p:cNvPr id="16" name="CuadroTexto 15">
            <a:extLst>
              <a:ext uri="{FF2B5EF4-FFF2-40B4-BE49-F238E27FC236}">
                <a16:creationId xmlns:a16="http://schemas.microsoft.com/office/drawing/2014/main" id="{872B9FF8-9E11-4A33-9DDE-1EC70212949B}"/>
              </a:ext>
            </a:extLst>
          </p:cNvPr>
          <p:cNvSpPr txBox="1"/>
          <p:nvPr/>
        </p:nvSpPr>
        <p:spPr>
          <a:xfrm>
            <a:off x="293014" y="4180344"/>
            <a:ext cx="5289176" cy="2677656"/>
          </a:xfrm>
          <a:prstGeom prst="rect">
            <a:avLst/>
          </a:prstGeom>
          <a:noFill/>
        </p:spPr>
        <p:txBody>
          <a:bodyPr wrap="square">
            <a:spAutoFit/>
          </a:bodyPr>
          <a:lstStyle/>
          <a:p>
            <a:endParaRPr lang="es-ES" dirty="0"/>
          </a:p>
          <a:p>
            <a:r>
              <a:rPr lang="es-ES" dirty="0"/>
              <a:t>Resultado de imagen de </a:t>
            </a:r>
            <a:r>
              <a:rPr lang="es-ES" dirty="0" err="1"/>
              <a:t>story</a:t>
            </a:r>
            <a:r>
              <a:rPr lang="es-ES" dirty="0"/>
              <a:t> </a:t>
            </a:r>
            <a:r>
              <a:rPr lang="es-ES" dirty="0" err="1"/>
              <a:t>mapping</a:t>
            </a:r>
            <a:endParaRPr lang="es-ES" dirty="0"/>
          </a:p>
          <a:p>
            <a:r>
              <a:rPr lang="es-ES" dirty="0"/>
              <a:t>El Visual </a:t>
            </a:r>
            <a:r>
              <a:rPr lang="es-ES" dirty="0" err="1"/>
              <a:t>User</a:t>
            </a:r>
            <a:r>
              <a:rPr lang="es-ES" dirty="0"/>
              <a:t> </a:t>
            </a:r>
            <a:r>
              <a:rPr lang="es-ES" sz="2400" b="1" dirty="0" err="1"/>
              <a:t>Story</a:t>
            </a:r>
            <a:r>
              <a:rPr lang="es-ES" sz="2400" b="1" dirty="0"/>
              <a:t> </a:t>
            </a:r>
            <a:r>
              <a:rPr lang="es-ES" sz="2400" b="1" dirty="0" err="1"/>
              <a:t>Mapping</a:t>
            </a:r>
            <a:r>
              <a:rPr lang="es-ES" sz="2400" b="1" dirty="0"/>
              <a:t> </a:t>
            </a:r>
            <a:r>
              <a:rPr lang="es-ES" dirty="0"/>
              <a:t>es una técnica creada por Jeff </a:t>
            </a:r>
            <a:r>
              <a:rPr lang="es-ES" dirty="0" err="1"/>
              <a:t>Patton</a:t>
            </a:r>
            <a:r>
              <a:rPr lang="es-ES" dirty="0"/>
              <a:t> comúnmente utilizada para representar de forma visual necesidades o una idea de producto, brindando como resultado versiones del producto y plan de entregas, ayudando a tener un panorama más claro de lo que se va a construir.3 ene 2017</a:t>
            </a:r>
          </a:p>
        </p:txBody>
      </p:sp>
    </p:spTree>
    <p:extLst>
      <p:ext uri="{BB962C8B-B14F-4D97-AF65-F5344CB8AC3E}">
        <p14:creationId xmlns:p14="http://schemas.microsoft.com/office/powerpoint/2010/main" val="25989867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1502C-4F21-4C08-88F4-E0FCF7AEABB4}"/>
              </a:ext>
            </a:extLst>
          </p:cNvPr>
          <p:cNvSpPr>
            <a:spLocks noGrp="1"/>
          </p:cNvSpPr>
          <p:nvPr>
            <p:ph type="title"/>
          </p:nvPr>
        </p:nvSpPr>
        <p:spPr/>
        <p:txBody>
          <a:bodyPr>
            <a:normAutofit/>
          </a:bodyPr>
          <a:lstStyle/>
          <a:p>
            <a:r>
              <a:rPr lang="es-ES" dirty="0"/>
              <a:t>Trello</a:t>
            </a:r>
          </a:p>
        </p:txBody>
      </p:sp>
      <p:sp>
        <p:nvSpPr>
          <p:cNvPr id="3" name="Marcador de texto 2">
            <a:extLst>
              <a:ext uri="{FF2B5EF4-FFF2-40B4-BE49-F238E27FC236}">
                <a16:creationId xmlns:a16="http://schemas.microsoft.com/office/drawing/2014/main" id="{20E7DEA2-9551-A0E3-22BE-21895782CD7E}"/>
              </a:ext>
            </a:extLst>
          </p:cNvPr>
          <p:cNvSpPr>
            <a:spLocks noGrp="1"/>
          </p:cNvSpPr>
          <p:nvPr>
            <p:ph type="body" sz="quarter" idx="13"/>
          </p:nvPr>
        </p:nvSpPr>
        <p:spPr/>
        <p:txBody>
          <a:bodyPr/>
          <a:lstStyle/>
          <a:p>
            <a:endParaRPr lang="es-ES"/>
          </a:p>
        </p:txBody>
      </p:sp>
      <p:pic>
        <p:nvPicPr>
          <p:cNvPr id="5" name="Marcador de contenido 4">
            <a:extLst>
              <a:ext uri="{FF2B5EF4-FFF2-40B4-BE49-F238E27FC236}">
                <a16:creationId xmlns:a16="http://schemas.microsoft.com/office/drawing/2014/main" id="{A2980095-8F03-4F4C-9983-7ABD67719A5A}"/>
              </a:ext>
            </a:extLst>
          </p:cNvPr>
          <p:cNvPicPr>
            <a:picLocks noGrp="1" noChangeAspect="1"/>
          </p:cNvPicPr>
          <p:nvPr>
            <p:ph idx="4294967295"/>
          </p:nvPr>
        </p:nvPicPr>
        <p:blipFill>
          <a:blip r:embed="rId2"/>
          <a:stretch>
            <a:fillRect/>
          </a:stretch>
        </p:blipFill>
        <p:spPr>
          <a:xfrm>
            <a:off x="0" y="896938"/>
            <a:ext cx="11903075" cy="5486400"/>
          </a:xfrm>
        </p:spPr>
      </p:pic>
      <p:pic>
        <p:nvPicPr>
          <p:cNvPr id="6" name="Imagen 5">
            <a:extLst>
              <a:ext uri="{FF2B5EF4-FFF2-40B4-BE49-F238E27FC236}">
                <a16:creationId xmlns:a16="http://schemas.microsoft.com/office/drawing/2014/main" id="{AC4443FF-B78A-47C4-B11A-3D7A9A897B03}"/>
              </a:ext>
            </a:extLst>
          </p:cNvPr>
          <p:cNvPicPr>
            <a:picLocks noChangeAspect="1"/>
          </p:cNvPicPr>
          <p:nvPr/>
        </p:nvPicPr>
        <p:blipFill>
          <a:blip r:embed="rId3"/>
          <a:stretch>
            <a:fillRect/>
          </a:stretch>
        </p:blipFill>
        <p:spPr>
          <a:xfrm>
            <a:off x="10986367" y="6015319"/>
            <a:ext cx="1353429" cy="823031"/>
          </a:xfrm>
          <a:prstGeom prst="rect">
            <a:avLst/>
          </a:prstGeom>
        </p:spPr>
      </p:pic>
    </p:spTree>
    <p:extLst>
      <p:ext uri="{BB962C8B-B14F-4D97-AF65-F5344CB8AC3E}">
        <p14:creationId xmlns:p14="http://schemas.microsoft.com/office/powerpoint/2010/main" val="8756424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D9F3AC-DD2F-5CE5-9820-2633A66271A4}"/>
              </a:ext>
            </a:extLst>
          </p:cNvPr>
          <p:cNvSpPr>
            <a:spLocks noGrp="1"/>
          </p:cNvSpPr>
          <p:nvPr>
            <p:ph type="title"/>
          </p:nvPr>
        </p:nvSpPr>
        <p:spPr/>
        <p:txBody>
          <a:bodyPr/>
          <a:lstStyle/>
          <a:p>
            <a:r>
              <a:rPr lang="es-ES"/>
              <a:t>Obstaculos en la implantación Scrum </a:t>
            </a:r>
          </a:p>
        </p:txBody>
      </p:sp>
      <p:sp>
        <p:nvSpPr>
          <p:cNvPr id="3" name="Marcador de contenido 2">
            <a:extLst>
              <a:ext uri="{FF2B5EF4-FFF2-40B4-BE49-F238E27FC236}">
                <a16:creationId xmlns:a16="http://schemas.microsoft.com/office/drawing/2014/main" id="{D7E3F410-330C-4800-AEA2-60A3F9DD0DE1}"/>
              </a:ext>
            </a:extLst>
          </p:cNvPr>
          <p:cNvSpPr>
            <a:spLocks noGrp="1"/>
          </p:cNvSpPr>
          <p:nvPr>
            <p:ph type="body" sz="quarter" idx="13"/>
          </p:nvPr>
        </p:nvSpPr>
        <p:spPr>
          <a:xfrm>
            <a:off x="107950" y="1033141"/>
            <a:ext cx="11507788" cy="5518384"/>
          </a:xfrm>
        </p:spPr>
        <p:txBody>
          <a:bodyPr>
            <a:normAutofit fontScale="92500" lnSpcReduction="10000"/>
          </a:bodyPr>
          <a:lstStyle/>
          <a:p>
            <a:pPr algn="l">
              <a:lnSpc>
                <a:spcPct val="120000"/>
              </a:lnSpc>
              <a:buFont typeface="+mj-lt"/>
              <a:buAutoNum type="arabicPeriod"/>
            </a:pPr>
            <a:r>
              <a:rPr lang="es-ES" sz="1600" b="0" i="0">
                <a:solidFill>
                  <a:srgbClr val="000000"/>
                </a:solidFill>
                <a:effectLst/>
                <a:latin typeface="Verdana" panose="020B0604030504040204" pitchFamily="34" charset="0"/>
                <a:ea typeface="Verdana" panose="020B0604030504040204" pitchFamily="34" charset="0"/>
              </a:rPr>
              <a:t>El </a:t>
            </a:r>
            <a:r>
              <a:rPr lang="es-ES" sz="1600" b="0" i="0" dirty="0">
                <a:solidFill>
                  <a:srgbClr val="000000"/>
                </a:solidFill>
                <a:effectLst/>
                <a:latin typeface="Verdana" panose="020B0604030504040204" pitchFamily="34" charset="0"/>
                <a:ea typeface="Verdana" panose="020B0604030504040204" pitchFamily="34" charset="0"/>
              </a:rPr>
              <a:t>equipo de desarrollo no está acostumbrado a ser responsable en los plazos de entrega, no corrigen errores.</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Tantos años de planes clásicos de proyecto, papel y ordeno y mando han llevado a que los desarrolladores terminen renegando de su trabajo y limitándose a hacer lo que les dicen. </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Dificultad de integrarse en equipos de trabajo, esto ocurre con lo que se denominan “lobos solitarios”.</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Problemas de com</a:t>
            </a:r>
            <a:r>
              <a:rPr lang="es-ES" sz="1600" dirty="0">
                <a:solidFill>
                  <a:srgbClr val="000000"/>
                </a:solidFill>
                <a:latin typeface="Verdana" panose="020B0604030504040204" pitchFamily="34" charset="0"/>
                <a:ea typeface="Verdana" panose="020B0604030504040204" pitchFamily="34" charset="0"/>
              </a:rPr>
              <a:t>unicación.</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Al comenzar con Scrum, tendrán dificultades asumiendo la enorme responsabilidad que cae sobre el equipo de desarrollo, </a:t>
            </a:r>
            <a:r>
              <a:rPr lang="es-ES" sz="1600" b="0" i="0" u="none" strike="noStrike" dirty="0">
                <a:solidFill>
                  <a:srgbClr val="00A0D1"/>
                </a:solidFill>
                <a:effectLst/>
                <a:latin typeface="Verdana" panose="020B0604030504040204" pitchFamily="34" charset="0"/>
                <a:ea typeface="Verdana" panose="020B0604030504040204" pitchFamily="34" charset="0"/>
              </a:rPr>
              <a:t>la de </a:t>
            </a:r>
            <a:r>
              <a:rPr lang="es-ES" sz="1600" b="0" i="0" u="none" strike="noStrike" dirty="0" err="1">
                <a:solidFill>
                  <a:srgbClr val="00A0D1"/>
                </a:solidFill>
                <a:effectLst/>
                <a:latin typeface="Verdana" panose="020B0604030504040204" pitchFamily="34" charset="0"/>
                <a:ea typeface="Verdana" panose="020B0604030504040204" pitchFamily="34" charset="0"/>
              </a:rPr>
              <a:t>auto-organizarse</a:t>
            </a:r>
            <a:r>
              <a:rPr lang="es-ES" sz="1600" b="0" i="0" dirty="0">
                <a:solidFill>
                  <a:srgbClr val="000000"/>
                </a:solidFill>
                <a:effectLst/>
                <a:latin typeface="Verdana" panose="020B0604030504040204" pitchFamily="34" charset="0"/>
                <a:ea typeface="Verdana" panose="020B0604030504040204" pitchFamily="34" charset="0"/>
              </a:rPr>
              <a:t> y decidir sobre cómo llevar a cabo el trabajo en los incrementos. </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El </a:t>
            </a:r>
            <a:r>
              <a:rPr lang="es-ES" sz="1600" b="0" i="0" dirty="0" err="1">
                <a:solidFill>
                  <a:srgbClr val="000000"/>
                </a:solidFill>
                <a:effectLst/>
                <a:latin typeface="Verdana" panose="020B0604030504040204" pitchFamily="34" charset="0"/>
                <a:ea typeface="Verdana" panose="020B0604030504040204" pitchFamily="34" charset="0"/>
              </a:rPr>
              <a:t>Product</a:t>
            </a:r>
            <a:r>
              <a:rPr lang="es-ES" sz="1600" b="0" i="0" dirty="0">
                <a:solidFill>
                  <a:srgbClr val="000000"/>
                </a:solidFill>
                <a:effectLst/>
                <a:latin typeface="Verdana" panose="020B0604030504040204" pitchFamily="34" charset="0"/>
                <a:ea typeface="Verdana" panose="020B0604030504040204" pitchFamily="34" charset="0"/>
              </a:rPr>
              <a:t> </a:t>
            </a:r>
            <a:r>
              <a:rPr lang="es-ES" sz="1600" b="0" i="0" dirty="0" err="1">
                <a:solidFill>
                  <a:srgbClr val="000000"/>
                </a:solidFill>
                <a:effectLst/>
                <a:latin typeface="Verdana" panose="020B0604030504040204" pitchFamily="34" charset="0"/>
                <a:ea typeface="Verdana" panose="020B0604030504040204" pitchFamily="34" charset="0"/>
              </a:rPr>
              <a:t>Owner</a:t>
            </a:r>
            <a:r>
              <a:rPr lang="es-ES" sz="1600" b="0" i="0" dirty="0">
                <a:solidFill>
                  <a:srgbClr val="000000"/>
                </a:solidFill>
                <a:effectLst/>
                <a:latin typeface="Verdana" panose="020B0604030504040204" pitchFamily="34" charset="0"/>
                <a:ea typeface="Verdana" panose="020B0604030504040204" pitchFamily="34" charset="0"/>
              </a:rPr>
              <a:t> no tiene tiempo para el equipo ni para los eventos Scrum o es reacio y tiende a dejar la responsabilidad en el Scrum Master. </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Escaso conocimiento en las metodologías ágiles.</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El Scrum Master quiere controlarlo todo y a todos</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El Scrum Master debe ser seleccionado por el equipo de desarrollo, y no asignado por la organización. </a:t>
            </a:r>
          </a:p>
          <a:p>
            <a:pPr algn="l">
              <a:lnSpc>
                <a:spcPct val="120000"/>
              </a:lnSpc>
              <a:buFont typeface="+mj-lt"/>
              <a:buAutoNum type="arabicPeriod"/>
            </a:pPr>
            <a:r>
              <a:rPr lang="es-ES" sz="1600" dirty="0">
                <a:solidFill>
                  <a:srgbClr val="000000"/>
                </a:solidFill>
                <a:latin typeface="Verdana" panose="020B0604030504040204" pitchFamily="34" charset="0"/>
                <a:ea typeface="Verdana" panose="020B0604030504040204" pitchFamily="34" charset="0"/>
              </a:rPr>
              <a:t>Demasiados cambios en el equipo Scrum</a:t>
            </a:r>
          </a:p>
          <a:p>
            <a:pPr algn="l">
              <a:lnSpc>
                <a:spcPct val="120000"/>
              </a:lnSpc>
              <a:buFont typeface="+mj-lt"/>
              <a:buAutoNum type="arabicPeriod"/>
            </a:pPr>
            <a:r>
              <a:rPr lang="es-ES" sz="1600" b="0" i="0" dirty="0">
                <a:solidFill>
                  <a:srgbClr val="000000"/>
                </a:solidFill>
                <a:effectLst/>
                <a:latin typeface="Verdana" panose="020B0604030504040204" pitchFamily="34" charset="0"/>
                <a:ea typeface="Verdana" panose="020B0604030504040204" pitchFamily="34" charset="0"/>
              </a:rPr>
              <a:t>Sobreestimación de la carga de trabajo</a:t>
            </a:r>
          </a:p>
          <a:p>
            <a:pPr algn="l">
              <a:lnSpc>
                <a:spcPct val="120000"/>
              </a:lnSpc>
              <a:buFont typeface="+mj-lt"/>
              <a:buAutoNum type="arabicPeriod"/>
            </a:pPr>
            <a:r>
              <a:rPr lang="es-ES" sz="1600" dirty="0">
                <a:solidFill>
                  <a:srgbClr val="000000"/>
                </a:solidFill>
                <a:latin typeface="Verdana" panose="020B0604030504040204" pitchFamily="34" charset="0"/>
                <a:ea typeface="Verdana" panose="020B0604030504040204" pitchFamily="34" charset="0"/>
              </a:rPr>
              <a:t>Exceso de tareas en progreso</a:t>
            </a:r>
            <a:endParaRPr lang="es-ES" sz="1600" b="0" i="0" dirty="0">
              <a:solidFill>
                <a:srgbClr val="000000"/>
              </a:solidFill>
              <a:effectLst/>
              <a:latin typeface="Verdana" panose="020B0604030504040204" pitchFamily="34" charset="0"/>
              <a:ea typeface="Verdana" panose="020B0604030504040204" pitchFamily="34" charset="0"/>
            </a:endParaRPr>
          </a:p>
          <a:p>
            <a:pPr lvl="1">
              <a:lnSpc>
                <a:spcPct val="120000"/>
              </a:lnSpc>
              <a:buFont typeface="+mj-lt"/>
              <a:buAutoNum type="arabicPeriod"/>
            </a:pPr>
            <a:endParaRPr lang="es-ES" sz="1400" dirty="0">
              <a:latin typeface="Verdana" panose="020B0604030504040204" pitchFamily="34" charset="0"/>
              <a:ea typeface="Verdana" panose="020B0604030504040204" pitchFamily="34" charset="0"/>
            </a:endParaRPr>
          </a:p>
          <a:p>
            <a:pPr>
              <a:lnSpc>
                <a:spcPct val="120000"/>
              </a:lnSpc>
            </a:pPr>
            <a:endParaRPr lang="es-ES" sz="1600" dirty="0">
              <a:latin typeface="Verdana" panose="020B0604030504040204" pitchFamily="34" charset="0"/>
              <a:ea typeface="Verdana" panose="020B0604030504040204" pitchFamily="34" charset="0"/>
            </a:endParaRPr>
          </a:p>
        </p:txBody>
      </p:sp>
      <p:pic>
        <p:nvPicPr>
          <p:cNvPr id="7" name="Imagen 6">
            <a:extLst>
              <a:ext uri="{FF2B5EF4-FFF2-40B4-BE49-F238E27FC236}">
                <a16:creationId xmlns:a16="http://schemas.microsoft.com/office/drawing/2014/main" id="{6E278499-09C7-432E-A301-CD00C46AADF2}"/>
              </a:ext>
            </a:extLst>
          </p:cNvPr>
          <p:cNvPicPr>
            <a:picLocks noChangeAspect="1"/>
          </p:cNvPicPr>
          <p:nvPr/>
        </p:nvPicPr>
        <p:blipFill>
          <a:blip r:embed="rId2"/>
          <a:stretch>
            <a:fillRect/>
          </a:stretch>
        </p:blipFill>
        <p:spPr>
          <a:xfrm>
            <a:off x="11011955" y="6034969"/>
            <a:ext cx="1353429" cy="823031"/>
          </a:xfrm>
          <a:prstGeom prst="rect">
            <a:avLst/>
          </a:prstGeom>
        </p:spPr>
      </p:pic>
    </p:spTree>
    <p:extLst>
      <p:ext uri="{BB962C8B-B14F-4D97-AF65-F5344CB8AC3E}">
        <p14:creationId xmlns:p14="http://schemas.microsoft.com/office/powerpoint/2010/main" val="39416190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49E7897-BF89-F288-FD13-6E3EA5017B7A}"/>
              </a:ext>
            </a:extLst>
          </p:cNvPr>
          <p:cNvSpPr>
            <a:spLocks noGrp="1"/>
          </p:cNvSpPr>
          <p:nvPr>
            <p:ph type="title"/>
          </p:nvPr>
        </p:nvSpPr>
        <p:spPr/>
        <p:txBody>
          <a:bodyPr/>
          <a:lstStyle/>
          <a:p>
            <a:r>
              <a:rPr lang="es-ES"/>
              <a:t>Técnicas en el equipo Scrum</a:t>
            </a:r>
          </a:p>
        </p:txBody>
      </p:sp>
      <p:sp>
        <p:nvSpPr>
          <p:cNvPr id="3" name="Marcador de contenido 2">
            <a:extLst>
              <a:ext uri="{FF2B5EF4-FFF2-40B4-BE49-F238E27FC236}">
                <a16:creationId xmlns:a16="http://schemas.microsoft.com/office/drawing/2014/main" id="{D7E3F410-330C-4800-AEA2-60A3F9DD0DE1}"/>
              </a:ext>
            </a:extLst>
          </p:cNvPr>
          <p:cNvSpPr>
            <a:spLocks noGrp="1"/>
          </p:cNvSpPr>
          <p:nvPr>
            <p:ph type="body" sz="quarter" idx="13"/>
          </p:nvPr>
        </p:nvSpPr>
        <p:spPr>
          <a:xfrm>
            <a:off x="448234" y="1495023"/>
            <a:ext cx="11743766" cy="4561540"/>
          </a:xfrm>
        </p:spPr>
        <p:txBody>
          <a:bodyPr>
            <a:normAutofit fontScale="92500" lnSpcReduction="10000"/>
          </a:bodyPr>
          <a:lstStyle/>
          <a:p>
            <a:pPr marL="0" lvl="1" indent="0">
              <a:lnSpc>
                <a:spcPct val="100000"/>
              </a:lnSpc>
              <a:buNone/>
            </a:pPr>
            <a:r>
              <a:rPr lang="es-ES" sz="1600">
                <a:effectLst/>
                <a:latin typeface="Verdana" panose="020B0604030504040204" pitchFamily="34" charset="0"/>
                <a:ea typeface="Verdana" panose="020B0604030504040204" pitchFamily="34" charset="0"/>
                <a:cs typeface="Times New Roman" panose="02020603050405020304" pitchFamily="18" charset="0"/>
              </a:rPr>
              <a:t>un </a:t>
            </a:r>
            <a:r>
              <a:rPr lang="es-ES" sz="1600" dirty="0">
                <a:effectLst/>
                <a:latin typeface="Verdana" panose="020B0604030504040204" pitchFamily="34" charset="0"/>
                <a:ea typeface="Verdana" panose="020B0604030504040204" pitchFamily="34" charset="0"/>
                <a:cs typeface="Times New Roman" panose="02020603050405020304" pitchFamily="18" charset="0"/>
              </a:rPr>
              <a:t>equipo y fracasan estrepitosamente en otro, por lo que la recomendación es que se prueben varias hasta que se de con la que mejores resultados se obtiene. No hay que ser cómodos ni usar la misma para todos los equipos. </a:t>
            </a:r>
          </a:p>
          <a:p>
            <a:pPr marL="0" indent="0">
              <a:lnSpc>
                <a:spcPct val="100000"/>
              </a:lnSpc>
              <a:buNone/>
            </a:pPr>
            <a:endParaRPr lang="es-ES" sz="16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0000"/>
              </a:lnSpc>
              <a:buNone/>
            </a:pPr>
            <a:r>
              <a:rPr lang="es-ES" sz="1600" dirty="0">
                <a:latin typeface="Verdana" panose="020B0604030504040204" pitchFamily="34" charset="0"/>
                <a:ea typeface="Verdana" panose="020B0604030504040204" pitchFamily="34" charset="0"/>
                <a:cs typeface="Times New Roman" panose="02020603050405020304" pitchFamily="18" charset="0"/>
              </a:rPr>
              <a:t>Vamos a ver un ejemplo:</a:t>
            </a:r>
          </a:p>
          <a:p>
            <a:pPr marL="0" indent="0">
              <a:lnSpc>
                <a:spcPct val="100000"/>
              </a:lnSpc>
              <a:buNone/>
            </a:pPr>
            <a:r>
              <a:rPr lang="es-ES" sz="1800" b="1" dirty="0" err="1">
                <a:latin typeface="Verdana" panose="020B0604030504040204" pitchFamily="34" charset="0"/>
                <a:ea typeface="Verdana" panose="020B0604030504040204" pitchFamily="34" charset="0"/>
                <a:cs typeface="Times New Roman" panose="02020603050405020304" pitchFamily="18" charset="0"/>
              </a:rPr>
              <a:t>Daily</a:t>
            </a:r>
            <a:r>
              <a:rPr lang="es-ES" sz="1800" b="1" dirty="0">
                <a:latin typeface="Verdana" panose="020B0604030504040204" pitchFamily="34" charset="0"/>
                <a:ea typeface="Verdana" panose="020B0604030504040204" pitchFamily="34" charset="0"/>
                <a:cs typeface="Times New Roman" panose="02020603050405020304" pitchFamily="18" charset="0"/>
              </a:rPr>
              <a:t> </a:t>
            </a:r>
            <a:r>
              <a:rPr lang="es-ES" sz="1600" b="1" dirty="0">
                <a:effectLst/>
                <a:latin typeface="Verdana" panose="020B0604030504040204" pitchFamily="34" charset="0"/>
                <a:ea typeface="Verdana" panose="020B0604030504040204" pitchFamily="34" charset="0"/>
                <a:cs typeface="Times New Roman" panose="02020603050405020304" pitchFamily="18" charset="0"/>
              </a:rPr>
              <a:t>Scrum</a:t>
            </a:r>
          </a:p>
          <a:p>
            <a:pPr marL="342900" lvl="0" indent="-342900">
              <a:lnSpc>
                <a:spcPct val="107000"/>
              </a:lnSpc>
              <a:spcAft>
                <a:spcPts val="800"/>
              </a:spcAft>
              <a:buFont typeface="+mj-lt"/>
              <a:buAutoNum type="arabicPeriod"/>
              <a:tabLst>
                <a:tab pos="457200" algn="l"/>
              </a:tabLst>
            </a:pPr>
            <a:r>
              <a:rPr lang="es-ES" sz="1800" b="1" dirty="0">
                <a:effectLst/>
                <a:latin typeface="Calibri" panose="020F0502020204030204" pitchFamily="34" charset="0"/>
                <a:ea typeface="Calibri" panose="020F0502020204030204" pitchFamily="34" charset="0"/>
                <a:cs typeface="Times New Roman" panose="02020603050405020304" pitchFamily="18" charset="0"/>
              </a:rPr>
              <a:t>L</a:t>
            </a:r>
            <a:r>
              <a:rPr lang="es-ES" sz="1800" dirty="0">
                <a:effectLst/>
                <a:latin typeface="Calibri" panose="020F0502020204030204" pitchFamily="34" charset="0"/>
                <a:ea typeface="Calibri" panose="020F0502020204030204" pitchFamily="34" charset="0"/>
                <a:cs typeface="Times New Roman" panose="02020603050405020304" pitchFamily="18" charset="0"/>
              </a:rPr>
              <a:t>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daily</a:t>
            </a:r>
            <a:r>
              <a:rPr lang="es-ES" sz="1800" dirty="0">
                <a:effectLst/>
                <a:latin typeface="Calibri" panose="020F0502020204030204" pitchFamily="34" charset="0"/>
                <a:ea typeface="Calibri" panose="020F0502020204030204" pitchFamily="34" charset="0"/>
                <a:cs typeface="Times New Roman" panose="02020603050405020304" pitchFamily="18" charset="0"/>
              </a:rPr>
              <a:t> debe ser una reunión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participativa</a:t>
            </a:r>
            <a:r>
              <a:rPr lang="es-ES" sz="1800" dirty="0">
                <a:effectLst/>
                <a:latin typeface="Calibri" panose="020F0502020204030204" pitchFamily="34" charset="0"/>
                <a:ea typeface="Calibri" panose="020F0502020204030204" pitchFamily="34" charset="0"/>
                <a:cs typeface="Times New Roman" panose="02020603050405020304" pitchFamily="18" charset="0"/>
              </a:rPr>
              <a:t>. Cualquier persona que forma parte de la reunión puede intervenir, cortando al qué está hablando para hacer un pregunta.</a:t>
            </a:r>
          </a:p>
          <a:p>
            <a:pPr marL="342900" lvl="0" indent="-342900">
              <a:lnSpc>
                <a:spcPct val="107000"/>
              </a:lnSpc>
              <a:spcAft>
                <a:spcPts val="800"/>
              </a:spcAft>
              <a:buFont typeface="+mj-lt"/>
              <a:buAutoNum type="arabicPeriod"/>
              <a:tabLst>
                <a:tab pos="457200" algn="l"/>
              </a:tabLst>
            </a:pPr>
            <a:r>
              <a:rPr lang="es-ES" sz="1800" b="1" dirty="0">
                <a:effectLst/>
                <a:latin typeface="Calibri" panose="020F0502020204030204" pitchFamily="34" charset="0"/>
                <a:ea typeface="Calibri" panose="020F0502020204030204" pitchFamily="34" charset="0"/>
                <a:cs typeface="Times New Roman" panose="02020603050405020304" pitchFamily="18" charset="0"/>
              </a:rPr>
              <a:t>Para evitar alargarla </a:t>
            </a:r>
            <a:r>
              <a:rPr lang="es-ES" sz="1800" dirty="0">
                <a:effectLst/>
                <a:latin typeface="Calibri" panose="020F0502020204030204" pitchFamily="34" charset="0"/>
                <a:ea typeface="Calibri" panose="020F0502020204030204" pitchFamily="34" charset="0"/>
                <a:cs typeface="Times New Roman" panose="02020603050405020304" pitchFamily="18" charset="0"/>
              </a:rPr>
              <a:t>pude utilizarse un “reloj de arena”, un indicador de que la reunión debe acabar, recordando que el máximo es de 15 minutos.</a:t>
            </a:r>
          </a:p>
          <a:p>
            <a:pPr marL="342900" lvl="0" indent="-342900">
              <a:lnSpc>
                <a:spcPct val="107000"/>
              </a:lnSpc>
              <a:spcAft>
                <a:spcPts val="800"/>
              </a:spcAft>
              <a:buFont typeface="+mj-lt"/>
              <a:buAutoNum type="arabicPeriod"/>
              <a:tabLst>
                <a:tab pos="457200" algn="l"/>
              </a:tabLst>
            </a:pPr>
            <a:r>
              <a:rPr lang="es-ES" sz="1800" dirty="0">
                <a:effectLst/>
                <a:latin typeface="Calibri" panose="020F0502020204030204" pitchFamily="34" charset="0"/>
                <a:ea typeface="Calibri" panose="020F0502020204030204" pitchFamily="34" charset="0"/>
                <a:cs typeface="Times New Roman" panose="02020603050405020304" pitchFamily="18" charset="0"/>
              </a:rPr>
              <a:t>Cuando un punto de la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daily</a:t>
            </a:r>
            <a:r>
              <a:rPr lang="es-ES" sz="1800" dirty="0">
                <a:effectLst/>
                <a:latin typeface="Calibri" panose="020F0502020204030204" pitchFamily="34" charset="0"/>
                <a:ea typeface="Calibri" panose="020F0502020204030204" pitchFamily="34" charset="0"/>
                <a:cs typeface="Times New Roman" panose="02020603050405020304" pitchFamily="18" charset="0"/>
              </a:rPr>
              <a:t> se alarga, algún miembro del equipo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debe cortar la discusión </a:t>
            </a:r>
            <a:r>
              <a:rPr lang="es-ES" sz="1800" dirty="0">
                <a:effectLst/>
                <a:latin typeface="Calibri" panose="020F0502020204030204" pitchFamily="34" charset="0"/>
                <a:ea typeface="Calibri" panose="020F0502020204030204" pitchFamily="34" charset="0"/>
                <a:cs typeface="Times New Roman" panose="02020603050405020304" pitchFamily="18" charset="0"/>
              </a:rPr>
              <a:t>o debate y pedir que esta parte la resuelvan los implicados después de la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daily</a:t>
            </a:r>
            <a:r>
              <a:rPr lang="es-ES" sz="1800" dirty="0">
                <a:effectLst/>
                <a:latin typeface="Calibri" panose="020F0502020204030204" pitchFamily="34" charset="0"/>
                <a:ea typeface="Calibri" panose="020F0502020204030204" pitchFamily="34" charset="0"/>
                <a:cs typeface="Times New Roman" panose="02020603050405020304" pitchFamily="18" charset="0"/>
              </a:rPr>
              <a:t>, comunicando luego la solución. </a:t>
            </a:r>
          </a:p>
          <a:p>
            <a:pPr marL="342900" lvl="0" indent="-342900">
              <a:lnSpc>
                <a:spcPct val="107000"/>
              </a:lnSpc>
              <a:spcAft>
                <a:spcPts val="800"/>
              </a:spcAft>
              <a:buFont typeface="+mj-lt"/>
              <a:buAutoNum type="arabicPeriod"/>
              <a:tabLst>
                <a:tab pos="457200" algn="l"/>
              </a:tabLst>
            </a:pPr>
            <a:r>
              <a:rPr lang="es-ES" sz="1800" dirty="0">
                <a:latin typeface="Calibri" panose="020F0502020204030204" pitchFamily="34" charset="0"/>
                <a:ea typeface="Calibri" panose="020F0502020204030204" pitchFamily="34" charset="0"/>
                <a:cs typeface="Times New Roman" panose="02020603050405020304" pitchFamily="18" charset="0"/>
              </a:rPr>
              <a:t>En las intervenciones, s</a:t>
            </a:r>
            <a:r>
              <a:rPr lang="es-ES" sz="1800" dirty="0">
                <a:effectLst/>
                <a:latin typeface="Calibri" panose="020F0502020204030204" pitchFamily="34" charset="0"/>
                <a:ea typeface="Calibri" panose="020F0502020204030204" pitchFamily="34" charset="0"/>
                <a:cs typeface="Times New Roman" panose="02020603050405020304" pitchFamily="18" charset="0"/>
              </a:rPr>
              <a:t>e trata de </a:t>
            </a:r>
            <a:r>
              <a:rPr lang="es-ES" sz="1800" b="1" dirty="0">
                <a:effectLst/>
                <a:latin typeface="Calibri" panose="020F0502020204030204" pitchFamily="34" charset="0"/>
                <a:ea typeface="Calibri" panose="020F0502020204030204" pitchFamily="34" charset="0"/>
                <a:cs typeface="Times New Roman" panose="02020603050405020304" pitchFamily="18" charset="0"/>
              </a:rPr>
              <a:t>escoger bien las palabras </a:t>
            </a:r>
            <a:r>
              <a:rPr lang="es-ES" sz="1800" dirty="0">
                <a:effectLst/>
                <a:latin typeface="Calibri" panose="020F0502020204030204" pitchFamily="34" charset="0"/>
                <a:ea typeface="Calibri" panose="020F0502020204030204" pitchFamily="34" charset="0"/>
                <a:cs typeface="Times New Roman" panose="02020603050405020304" pitchFamily="18" charset="0"/>
              </a:rPr>
              <a:t>y poder hablar de forma inequívoca al resto del equipo. De este modo todos sabrán que hacen todos y como se relacionan sus trabajos.</a:t>
            </a:r>
          </a:p>
          <a:p>
            <a:pPr marL="0" lvl="0" indent="0">
              <a:lnSpc>
                <a:spcPct val="107000"/>
              </a:lnSpc>
              <a:spcAft>
                <a:spcPts val="800"/>
              </a:spcAft>
              <a:buNone/>
              <a:tabLst>
                <a:tab pos="457200" algn="l"/>
              </a:tabLst>
            </a:pPr>
            <a:endParaRPr lang="es-ES" sz="2400" dirty="0">
              <a:latin typeface="Verdana" panose="020B0604030504040204" pitchFamily="34" charset="0"/>
              <a:ea typeface="Verdana" panose="020B0604030504040204" pitchFamily="34" charset="0"/>
            </a:endParaRPr>
          </a:p>
        </p:txBody>
      </p:sp>
      <p:pic>
        <p:nvPicPr>
          <p:cNvPr id="11" name="Imagen 10">
            <a:extLst>
              <a:ext uri="{FF2B5EF4-FFF2-40B4-BE49-F238E27FC236}">
                <a16:creationId xmlns:a16="http://schemas.microsoft.com/office/drawing/2014/main" id="{3562DEEC-0431-4FCD-8801-710FA4DE9BE5}"/>
              </a:ext>
            </a:extLst>
          </p:cNvPr>
          <p:cNvPicPr>
            <a:picLocks noChangeAspect="1"/>
          </p:cNvPicPr>
          <p:nvPr/>
        </p:nvPicPr>
        <p:blipFill>
          <a:blip r:embed="rId2"/>
          <a:stretch>
            <a:fillRect/>
          </a:stretch>
        </p:blipFill>
        <p:spPr>
          <a:xfrm>
            <a:off x="10986367" y="6034969"/>
            <a:ext cx="1353429" cy="823031"/>
          </a:xfrm>
          <a:prstGeom prst="rect">
            <a:avLst/>
          </a:prstGeom>
        </p:spPr>
      </p:pic>
      <p:sp>
        <p:nvSpPr>
          <p:cNvPr id="2" name="Rectángulo 1">
            <a:extLst>
              <a:ext uri="{FF2B5EF4-FFF2-40B4-BE49-F238E27FC236}">
                <a16:creationId xmlns:a16="http://schemas.microsoft.com/office/drawing/2014/main" id="{9D75A262-D9D4-4A3E-BCEC-2FA8E0AE3EE4}"/>
              </a:ext>
            </a:extLst>
          </p:cNvPr>
          <p:cNvSpPr/>
          <p:nvPr/>
        </p:nvSpPr>
        <p:spPr>
          <a:xfrm>
            <a:off x="485311" y="1031159"/>
            <a:ext cx="2043953"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Definición de hecho</a:t>
            </a:r>
          </a:p>
        </p:txBody>
      </p:sp>
      <p:sp>
        <p:nvSpPr>
          <p:cNvPr id="5" name="Rectángulo 4">
            <a:extLst>
              <a:ext uri="{FF2B5EF4-FFF2-40B4-BE49-F238E27FC236}">
                <a16:creationId xmlns:a16="http://schemas.microsoft.com/office/drawing/2014/main" id="{9E5FA899-AFDE-4F38-B9AB-35F4D0BFC001}"/>
              </a:ext>
            </a:extLst>
          </p:cNvPr>
          <p:cNvSpPr/>
          <p:nvPr/>
        </p:nvSpPr>
        <p:spPr>
          <a:xfrm>
            <a:off x="2850775" y="1031159"/>
            <a:ext cx="1640544"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Compromiso </a:t>
            </a:r>
          </a:p>
        </p:txBody>
      </p:sp>
      <p:sp>
        <p:nvSpPr>
          <p:cNvPr id="6" name="Rectángulo 5">
            <a:extLst>
              <a:ext uri="{FF2B5EF4-FFF2-40B4-BE49-F238E27FC236}">
                <a16:creationId xmlns:a16="http://schemas.microsoft.com/office/drawing/2014/main" id="{38BE1BB3-5FAC-422D-9659-2F666D64A18D}"/>
              </a:ext>
            </a:extLst>
          </p:cNvPr>
          <p:cNvSpPr/>
          <p:nvPr/>
        </p:nvSpPr>
        <p:spPr>
          <a:xfrm>
            <a:off x="4744906" y="1059767"/>
            <a:ext cx="869576"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Foco</a:t>
            </a:r>
          </a:p>
        </p:txBody>
      </p:sp>
      <p:sp>
        <p:nvSpPr>
          <p:cNvPr id="7" name="Rectángulo 6">
            <a:extLst>
              <a:ext uri="{FF2B5EF4-FFF2-40B4-BE49-F238E27FC236}">
                <a16:creationId xmlns:a16="http://schemas.microsoft.com/office/drawing/2014/main" id="{06461495-0053-4BB6-8D1E-61FED4010D93}"/>
              </a:ext>
            </a:extLst>
          </p:cNvPr>
          <p:cNvSpPr/>
          <p:nvPr/>
        </p:nvSpPr>
        <p:spPr>
          <a:xfrm>
            <a:off x="5868069" y="1031159"/>
            <a:ext cx="1362635"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Sinceridad</a:t>
            </a:r>
          </a:p>
        </p:txBody>
      </p:sp>
      <p:sp>
        <p:nvSpPr>
          <p:cNvPr id="8" name="Rectángulo 7">
            <a:extLst>
              <a:ext uri="{FF2B5EF4-FFF2-40B4-BE49-F238E27FC236}">
                <a16:creationId xmlns:a16="http://schemas.microsoft.com/office/drawing/2014/main" id="{AE1B0537-BEEA-4D7F-9D47-FF2AF0336113}"/>
              </a:ext>
            </a:extLst>
          </p:cNvPr>
          <p:cNvSpPr/>
          <p:nvPr/>
        </p:nvSpPr>
        <p:spPr>
          <a:xfrm>
            <a:off x="7572172" y="1000469"/>
            <a:ext cx="1151965"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Respeto</a:t>
            </a:r>
          </a:p>
        </p:txBody>
      </p:sp>
      <p:sp>
        <p:nvSpPr>
          <p:cNvPr id="9" name="Rectángulo 8">
            <a:extLst>
              <a:ext uri="{FF2B5EF4-FFF2-40B4-BE49-F238E27FC236}">
                <a16:creationId xmlns:a16="http://schemas.microsoft.com/office/drawing/2014/main" id="{C9AB3106-6E6B-4AD2-A226-3177B022C874}"/>
              </a:ext>
            </a:extLst>
          </p:cNvPr>
          <p:cNvSpPr/>
          <p:nvPr/>
        </p:nvSpPr>
        <p:spPr>
          <a:xfrm>
            <a:off x="9012033" y="965931"/>
            <a:ext cx="104438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Coraje</a:t>
            </a:r>
          </a:p>
        </p:txBody>
      </p:sp>
    </p:spTree>
    <p:extLst>
      <p:ext uri="{BB962C8B-B14F-4D97-AF65-F5344CB8AC3E}">
        <p14:creationId xmlns:p14="http://schemas.microsoft.com/office/powerpoint/2010/main" val="5617644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3F7BEA-6FA3-314B-1BC5-B5B021B998CE}"/>
              </a:ext>
            </a:extLst>
          </p:cNvPr>
          <p:cNvSpPr>
            <a:spLocks noGrp="1"/>
          </p:cNvSpPr>
          <p:nvPr>
            <p:ph type="title"/>
          </p:nvPr>
        </p:nvSpPr>
        <p:spPr/>
        <p:txBody>
          <a:bodyPr/>
          <a:lstStyle/>
          <a:p>
            <a:r>
              <a:rPr lang="es-ES"/>
              <a:t>Herramientas problemas en las reuniones</a:t>
            </a:r>
          </a:p>
        </p:txBody>
      </p:sp>
      <p:sp>
        <p:nvSpPr>
          <p:cNvPr id="3" name="Marcador de contenido 2">
            <a:extLst>
              <a:ext uri="{FF2B5EF4-FFF2-40B4-BE49-F238E27FC236}">
                <a16:creationId xmlns:a16="http://schemas.microsoft.com/office/drawing/2014/main" id="{3DF91358-BC6A-4307-925A-D0788A8F15A8}"/>
              </a:ext>
            </a:extLst>
          </p:cNvPr>
          <p:cNvSpPr>
            <a:spLocks noGrp="1"/>
          </p:cNvSpPr>
          <p:nvPr>
            <p:ph type="body" sz="quarter" idx="13"/>
          </p:nvPr>
        </p:nvSpPr>
        <p:spPr/>
        <p:txBody>
          <a:bodyPr>
            <a:normAutofit/>
          </a:bodyPr>
          <a:lstStyle/>
          <a:p>
            <a:pPr marL="0" indent="0" algn="l">
              <a:buNone/>
            </a:pPr>
            <a:r>
              <a:rPr lang="es-ES" sz="1600" b="1" dirty="0">
                <a:latin typeface="Open Sans"/>
              </a:rPr>
              <a:t>En el caso de que una reunión comience a desviarse, es necesario usar deferentes herramientas que puede sen ser útiles</a:t>
            </a:r>
          </a:p>
          <a:p>
            <a:pPr marL="0" indent="0" algn="l">
              <a:buNone/>
            </a:pPr>
            <a:r>
              <a:rPr lang="es-ES" sz="1600" b="1" i="0" dirty="0">
                <a:effectLst/>
                <a:latin typeface="Open Sans"/>
              </a:rPr>
              <a:t>1 Utilizar herramientas visuales</a:t>
            </a:r>
            <a:endParaRPr lang="es-ES" sz="1600" b="0" i="0" dirty="0">
              <a:effectLst/>
              <a:latin typeface="Open Sans"/>
            </a:endParaRPr>
          </a:p>
          <a:p>
            <a:pPr algn="l"/>
            <a:r>
              <a:rPr lang="es-ES" sz="1600" b="0" i="0" dirty="0">
                <a:effectLst/>
                <a:latin typeface="Open Sans"/>
              </a:rPr>
              <a:t>Una técnica es usar en una pared adhesiva, un apartado denominado </a:t>
            </a:r>
            <a:r>
              <a:rPr lang="es-ES" sz="1600" b="1" i="0" dirty="0">
                <a:effectLst/>
                <a:latin typeface="Open Sans"/>
              </a:rPr>
              <a:t>“Parking”</a:t>
            </a:r>
            <a:r>
              <a:rPr lang="es-ES" sz="1600" b="0" i="0" dirty="0">
                <a:effectLst/>
                <a:latin typeface="Open Sans"/>
              </a:rPr>
              <a:t>., temas importantes, pero que no que deberían comentarse en otra reunión, utilizando para ello notas.</a:t>
            </a:r>
          </a:p>
          <a:p>
            <a:pPr algn="l">
              <a:buFont typeface="Arial" panose="020B0604020202020204" pitchFamily="34" charset="0"/>
              <a:buChar char="•"/>
            </a:pPr>
            <a:r>
              <a:rPr lang="es-ES" sz="1600" b="1" i="0" dirty="0">
                <a:effectLst/>
                <a:latin typeface="Open Sans"/>
              </a:rPr>
              <a:t>Elementos de acción:</a:t>
            </a:r>
            <a:r>
              <a:rPr lang="es-ES" sz="1600" b="0" i="0" dirty="0">
                <a:effectLst/>
                <a:latin typeface="Open Sans"/>
              </a:rPr>
              <a:t> si había algo que necesitaba acción, se escribe en un </a:t>
            </a:r>
            <a:r>
              <a:rPr lang="es-ES" sz="1600" b="0" i="0" dirty="0" err="1">
                <a:effectLst/>
                <a:latin typeface="Open Sans"/>
              </a:rPr>
              <a:t>post-it</a:t>
            </a:r>
            <a:r>
              <a:rPr lang="es-ES" sz="1600" b="0" i="0" dirty="0">
                <a:effectLst/>
                <a:latin typeface="Open Sans"/>
              </a:rPr>
              <a:t> para el tablero de elementos de acción. Cada acción es asignada a una persona.</a:t>
            </a:r>
          </a:p>
          <a:p>
            <a:pPr algn="l">
              <a:buFont typeface="Arial" panose="020B0604020202020204" pitchFamily="34" charset="0"/>
              <a:buChar char="•"/>
            </a:pPr>
            <a:r>
              <a:rPr lang="es-ES" sz="1600" b="1" i="0" dirty="0">
                <a:effectLst/>
                <a:latin typeface="Open Sans"/>
              </a:rPr>
              <a:t>Panel de decisiones:</a:t>
            </a:r>
            <a:r>
              <a:rPr lang="es-ES" sz="1600" b="0" i="0" dirty="0">
                <a:effectLst/>
                <a:latin typeface="Open Sans"/>
              </a:rPr>
              <a:t> cada vez que se llega a una decisión, se escribe en un </a:t>
            </a:r>
            <a:r>
              <a:rPr lang="es-ES" sz="1600" b="0" i="0" dirty="0" err="1">
                <a:effectLst/>
                <a:latin typeface="Open Sans"/>
              </a:rPr>
              <a:t>post-it</a:t>
            </a:r>
            <a:r>
              <a:rPr lang="es-ES" sz="1600" b="0" i="0" dirty="0">
                <a:effectLst/>
                <a:latin typeface="Open Sans"/>
              </a:rPr>
              <a:t> y se agrega al Panel de decisiones. Esto permitió a todos ponerse de acuerdo sobre las decisiones a medida que se tomaban, disminuyendo la probabilidad de disconformidad después de la reunión.</a:t>
            </a:r>
          </a:p>
          <a:p>
            <a:pPr algn="l">
              <a:buFont typeface="Arial" panose="020B0604020202020204" pitchFamily="34" charset="0"/>
              <a:buChar char="•"/>
            </a:pPr>
            <a:r>
              <a:rPr lang="es-ES" sz="1600" b="1" i="0" dirty="0">
                <a:effectLst/>
                <a:latin typeface="Open Sans"/>
              </a:rPr>
              <a:t>Plan de comunicación:</a:t>
            </a:r>
            <a:r>
              <a:rPr lang="es-ES" sz="1600" b="0" i="0" dirty="0">
                <a:effectLst/>
                <a:latin typeface="Open Sans"/>
              </a:rPr>
              <a:t> si era necesario comunicar algo a un grupo o persona que no estaba presente, se incluyó en el Plan de comunicación y se le asignó un responsable.</a:t>
            </a:r>
          </a:p>
          <a:p>
            <a:pPr marL="0" indent="0" algn="l">
              <a:buNone/>
            </a:pPr>
            <a:r>
              <a:rPr lang="es-ES" sz="1600" b="1" i="0" dirty="0">
                <a:effectLst/>
                <a:latin typeface="Open Sans"/>
              </a:rPr>
              <a:t>2 Implementar técnicas de gestión del tiempo</a:t>
            </a:r>
            <a:endParaRPr lang="es-ES" sz="1600" b="0" i="0" dirty="0">
              <a:effectLst/>
              <a:latin typeface="Open Sans"/>
            </a:endParaRPr>
          </a:p>
          <a:p>
            <a:pPr algn="l"/>
            <a:r>
              <a:rPr lang="es-ES" sz="1600" b="0" i="0" dirty="0">
                <a:effectLst/>
                <a:latin typeface="Open Sans"/>
              </a:rPr>
              <a:t>El consumo de tiempo suele ser un problema, Se puede replantear la conversación para comenzar a vista de pájaro y luego profundizar una vez que se había establecido el marco general. Esta verificación de tiempo y reenfoque permitieron al grupo administrar mejor el tiempo restante hacia el objetivo de la reunión. Se puede implementar controles regulares de tiempo.</a:t>
            </a:r>
          </a:p>
          <a:p>
            <a:pPr marL="0" indent="0">
              <a:buNone/>
            </a:pPr>
            <a:endParaRPr lang="es-ES" sz="1600" dirty="0"/>
          </a:p>
        </p:txBody>
      </p:sp>
      <p:pic>
        <p:nvPicPr>
          <p:cNvPr id="4" name="Imagen 3">
            <a:extLst>
              <a:ext uri="{FF2B5EF4-FFF2-40B4-BE49-F238E27FC236}">
                <a16:creationId xmlns:a16="http://schemas.microsoft.com/office/drawing/2014/main" id="{07D7F258-70D4-43B4-9ED8-2FBCCCCFF273}"/>
              </a:ext>
            </a:extLst>
          </p:cNvPr>
          <p:cNvPicPr>
            <a:picLocks noChangeAspect="1"/>
          </p:cNvPicPr>
          <p:nvPr/>
        </p:nvPicPr>
        <p:blipFill>
          <a:blip r:embed="rId2"/>
          <a:stretch>
            <a:fillRect/>
          </a:stretch>
        </p:blipFill>
        <p:spPr>
          <a:xfrm>
            <a:off x="10986367" y="6034969"/>
            <a:ext cx="1353429" cy="823031"/>
          </a:xfrm>
          <a:prstGeom prst="rect">
            <a:avLst/>
          </a:prstGeom>
        </p:spPr>
      </p:pic>
    </p:spTree>
    <p:extLst>
      <p:ext uri="{BB962C8B-B14F-4D97-AF65-F5344CB8AC3E}">
        <p14:creationId xmlns:p14="http://schemas.microsoft.com/office/powerpoint/2010/main" val="31576959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2EE9A7-A267-4386-9929-EA2DCFB37DCE}"/>
              </a:ext>
            </a:extLst>
          </p:cNvPr>
          <p:cNvSpPr>
            <a:spLocks noGrp="1"/>
          </p:cNvSpPr>
          <p:nvPr>
            <p:ph type="title"/>
          </p:nvPr>
        </p:nvSpPr>
        <p:spPr/>
        <p:txBody>
          <a:bodyPr>
            <a:normAutofit/>
          </a:bodyPr>
          <a:lstStyle/>
          <a:p>
            <a:r>
              <a:rPr lang="es-ES" sz="2000" b="1" dirty="0">
                <a:latin typeface="Verdana" panose="020B0604030504040204" pitchFamily="34" charset="0"/>
                <a:ea typeface="Verdana" panose="020B0604030504040204" pitchFamily="34" charset="0"/>
              </a:rPr>
              <a:t>Ejemplo: reunión de retrospectiva</a:t>
            </a:r>
          </a:p>
        </p:txBody>
      </p:sp>
      <p:sp>
        <p:nvSpPr>
          <p:cNvPr id="3" name="Marcador de contenido 2">
            <a:extLst>
              <a:ext uri="{FF2B5EF4-FFF2-40B4-BE49-F238E27FC236}">
                <a16:creationId xmlns:a16="http://schemas.microsoft.com/office/drawing/2014/main" id="{A07C62A2-B36B-48B1-BF58-7A263D3458CB}"/>
              </a:ext>
            </a:extLst>
          </p:cNvPr>
          <p:cNvSpPr>
            <a:spLocks noGrp="1"/>
          </p:cNvSpPr>
          <p:nvPr>
            <p:ph type="body" sz="quarter" idx="13"/>
          </p:nvPr>
        </p:nvSpPr>
        <p:spPr>
          <a:xfrm>
            <a:off x="180869" y="984738"/>
            <a:ext cx="11907297" cy="5873262"/>
          </a:xfrm>
        </p:spPr>
        <p:txBody>
          <a:bodyPr>
            <a:normAutofit lnSpcReduction="10000"/>
          </a:bodyPr>
          <a:lstStyle/>
          <a:p>
            <a:pPr marL="0" indent="0">
              <a:lnSpc>
                <a:spcPct val="120000"/>
              </a:lnSpc>
              <a:spcBef>
                <a:spcPts val="0"/>
              </a:spcBef>
              <a:spcAft>
                <a:spcPts val="800"/>
              </a:spcAft>
              <a:buNone/>
            </a:pPr>
            <a:r>
              <a:rPr lang="es-ES" sz="1600" b="1" dirty="0">
                <a:effectLst/>
                <a:latin typeface="Calibri" panose="020F0502020204030204" pitchFamily="34" charset="0"/>
                <a:ea typeface="Calibri" panose="020F0502020204030204" pitchFamily="34" charset="0"/>
                <a:cs typeface="Times New Roman" panose="02020603050405020304" pitchFamily="18" charset="0"/>
              </a:rPr>
              <a:t>1. Las 4L</a:t>
            </a:r>
          </a:p>
          <a:p>
            <a:pPr>
              <a:lnSpc>
                <a:spcPct val="120000"/>
              </a:lnSpc>
              <a:spcBef>
                <a:spcPts val="0"/>
              </a:spcBef>
              <a:spcAft>
                <a:spcPts val="800"/>
              </a:spcAft>
            </a:pPr>
            <a:r>
              <a:rPr lang="es-ES" sz="1600" dirty="0">
                <a:effectLst/>
                <a:latin typeface="Calibri" panose="020F0502020204030204" pitchFamily="34" charset="0"/>
                <a:ea typeface="Calibri" panose="020F0502020204030204" pitchFamily="34" charset="0"/>
                <a:cs typeface="Times New Roman" panose="02020603050405020304" pitchFamily="18" charset="0"/>
              </a:rPr>
              <a:t>Quizá esta sea una de las técnicas más simples y usadas en las retrospectivas. Las 4L, se refieren a la letra L por la que comienzan cuatro palabras en inglés: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liked</a:t>
            </a:r>
            <a:r>
              <a:rPr lang="es-ES" sz="1600" dirty="0">
                <a:effectLst/>
                <a:latin typeface="Calibri" panose="020F0502020204030204" pitchFamily="34" charset="0"/>
                <a:ea typeface="Calibri" panose="020F0502020204030204" pitchFamily="34" charset="0"/>
                <a:cs typeface="Times New Roman" panose="02020603050405020304" pitchFamily="18" charset="0"/>
              </a:rPr>
              <a:t>,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learned</a:t>
            </a:r>
            <a:r>
              <a:rPr lang="es-ES" sz="1600" dirty="0">
                <a:effectLst/>
                <a:latin typeface="Calibri" panose="020F0502020204030204" pitchFamily="34" charset="0"/>
                <a:ea typeface="Calibri" panose="020F0502020204030204" pitchFamily="34" charset="0"/>
                <a:cs typeface="Times New Roman" panose="02020603050405020304" pitchFamily="18" charset="0"/>
              </a:rPr>
              <a:t>,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lacked</a:t>
            </a:r>
            <a:r>
              <a:rPr lang="es-ES" sz="1600" dirty="0">
                <a:effectLst/>
                <a:latin typeface="Calibri" panose="020F0502020204030204" pitchFamily="34" charset="0"/>
                <a:ea typeface="Calibri" panose="020F0502020204030204" pitchFamily="34" charset="0"/>
                <a:cs typeface="Times New Roman" panose="02020603050405020304" pitchFamily="18" charset="0"/>
              </a:rPr>
              <a:t>,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longed</a:t>
            </a:r>
            <a:r>
              <a:rPr lang="es-ES" sz="1600" dirty="0">
                <a:effectLst/>
                <a:latin typeface="Calibri" panose="020F0502020204030204" pitchFamily="34" charset="0"/>
                <a:ea typeface="Calibri" panose="020F0502020204030204" pitchFamily="34" charset="0"/>
                <a:cs typeface="Times New Roman" panose="02020603050405020304" pitchFamily="18" charset="0"/>
              </a:rPr>
              <a:t>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for</a:t>
            </a:r>
            <a:r>
              <a:rPr lang="es-ES" sz="1600" dirty="0">
                <a:effectLst/>
                <a:latin typeface="Calibri" panose="020F0502020204030204" pitchFamily="34" charset="0"/>
                <a:ea typeface="Calibri" panose="020F0502020204030204" pitchFamily="34" charset="0"/>
                <a:cs typeface="Times New Roman" panose="02020603050405020304" pitchFamily="18" charset="0"/>
              </a:rPr>
              <a:t>, es decir ‘me ha gustado’, ‘he aprendido’, ‘deberíamos hacer mejor’ y ‘he echado de menos’</a:t>
            </a:r>
          </a:p>
          <a:p>
            <a:pPr marL="914400" lvl="1" indent="-457200">
              <a:lnSpc>
                <a:spcPct val="120000"/>
              </a:lnSpc>
              <a:spcBef>
                <a:spcPts val="0"/>
              </a:spcBef>
              <a:spcAft>
                <a:spcPts val="800"/>
              </a:spcAft>
              <a:buFont typeface="+mj-lt"/>
              <a:buAutoNum type="alphaLcParenR"/>
            </a:pPr>
            <a:r>
              <a:rPr lang="es-ES" sz="1600" b="1" dirty="0" err="1">
                <a:effectLst/>
                <a:latin typeface="Calibri" panose="020F0502020204030204" pitchFamily="34" charset="0"/>
                <a:ea typeface="Calibri" panose="020F0502020204030204" pitchFamily="34" charset="0"/>
                <a:cs typeface="Times New Roman" panose="02020603050405020304" pitchFamily="18" charset="0"/>
              </a:rPr>
              <a:t>Liked</a:t>
            </a:r>
            <a:r>
              <a:rPr lang="es-ES" sz="1600" dirty="0">
                <a:effectLst/>
                <a:latin typeface="Calibri" panose="020F0502020204030204" pitchFamily="34" charset="0"/>
                <a:ea typeface="Calibri" panose="020F0502020204030204" pitchFamily="34" charset="0"/>
                <a:cs typeface="Times New Roman" panose="02020603050405020304" pitchFamily="18" charset="0"/>
              </a:rPr>
              <a:t>: cosas que realmente te han gustado</a:t>
            </a:r>
          </a:p>
          <a:p>
            <a:pPr marL="914400" lvl="1" indent="-457200">
              <a:lnSpc>
                <a:spcPct val="120000"/>
              </a:lnSpc>
              <a:spcBef>
                <a:spcPts val="0"/>
              </a:spcBef>
              <a:spcAft>
                <a:spcPts val="800"/>
              </a:spcAft>
              <a:buFont typeface="+mj-lt"/>
              <a:buAutoNum type="alphaLcParenR"/>
            </a:pPr>
            <a:r>
              <a:rPr lang="es-ES" sz="1600" b="1" dirty="0" err="1">
                <a:effectLst/>
                <a:latin typeface="Calibri" panose="020F0502020204030204" pitchFamily="34" charset="0"/>
                <a:ea typeface="Calibri" panose="020F0502020204030204" pitchFamily="34" charset="0"/>
                <a:cs typeface="Times New Roman" panose="02020603050405020304" pitchFamily="18" charset="0"/>
              </a:rPr>
              <a:t>Learned</a:t>
            </a:r>
            <a:r>
              <a:rPr lang="es-ES" sz="1600" dirty="0">
                <a:effectLst/>
                <a:latin typeface="Calibri" panose="020F0502020204030204" pitchFamily="34" charset="0"/>
                <a:ea typeface="Calibri" panose="020F0502020204030204" pitchFamily="34" charset="0"/>
                <a:cs typeface="Times New Roman" panose="02020603050405020304" pitchFamily="18" charset="0"/>
              </a:rPr>
              <a:t>: cosas que has aprendido</a:t>
            </a:r>
          </a:p>
          <a:p>
            <a:pPr marL="914400" lvl="1" indent="-457200">
              <a:lnSpc>
                <a:spcPct val="120000"/>
              </a:lnSpc>
              <a:spcBef>
                <a:spcPts val="0"/>
              </a:spcBef>
              <a:spcAft>
                <a:spcPts val="800"/>
              </a:spcAft>
              <a:buFont typeface="+mj-lt"/>
              <a:buAutoNum type="alphaLcParenR"/>
            </a:pPr>
            <a:r>
              <a:rPr lang="es-ES" sz="1600" b="1" dirty="0" err="1">
                <a:effectLst/>
                <a:latin typeface="Calibri" panose="020F0502020204030204" pitchFamily="34" charset="0"/>
                <a:ea typeface="Calibri" panose="020F0502020204030204" pitchFamily="34" charset="0"/>
                <a:cs typeface="Times New Roman" panose="02020603050405020304" pitchFamily="18" charset="0"/>
              </a:rPr>
              <a:t>Lacked</a:t>
            </a:r>
            <a:r>
              <a:rPr lang="es-ES" sz="1600" dirty="0">
                <a:effectLst/>
                <a:latin typeface="Calibri" panose="020F0502020204030204" pitchFamily="34" charset="0"/>
                <a:ea typeface="Calibri" panose="020F0502020204030204" pitchFamily="34" charset="0"/>
                <a:cs typeface="Times New Roman" panose="02020603050405020304" pitchFamily="18" charset="0"/>
              </a:rPr>
              <a:t>: cosas que el equipo ha hecho, pero que consideras que se pueden o se deben hacer mejor.</a:t>
            </a:r>
          </a:p>
          <a:p>
            <a:pPr marL="914400" lvl="1" indent="-457200">
              <a:lnSpc>
                <a:spcPct val="120000"/>
              </a:lnSpc>
              <a:spcBef>
                <a:spcPts val="0"/>
              </a:spcBef>
              <a:spcAft>
                <a:spcPts val="800"/>
              </a:spcAft>
              <a:buFont typeface="+mj-lt"/>
              <a:buAutoNum type="alphaLcParenR"/>
            </a:pPr>
            <a:r>
              <a:rPr lang="es-ES" sz="1600" b="1" dirty="0" err="1">
                <a:effectLst/>
                <a:latin typeface="Calibri" panose="020F0502020204030204" pitchFamily="34" charset="0"/>
                <a:ea typeface="Calibri" panose="020F0502020204030204" pitchFamily="34" charset="0"/>
                <a:cs typeface="Times New Roman" panose="02020603050405020304" pitchFamily="18" charset="0"/>
              </a:rPr>
              <a:t>Longed</a:t>
            </a:r>
            <a:r>
              <a:rPr lang="es-ES" sz="1600" dirty="0">
                <a:effectLst/>
                <a:latin typeface="Calibri" panose="020F0502020204030204" pitchFamily="34" charset="0"/>
                <a:ea typeface="Calibri" panose="020F0502020204030204" pitchFamily="34" charset="0"/>
                <a:cs typeface="Times New Roman" panose="02020603050405020304" pitchFamily="18" charset="0"/>
              </a:rPr>
              <a:t> </a:t>
            </a:r>
            <a:r>
              <a:rPr lang="es-ES" sz="1600" b="1" dirty="0" err="1">
                <a:effectLst/>
                <a:latin typeface="Calibri" panose="020F0502020204030204" pitchFamily="34" charset="0"/>
                <a:ea typeface="Calibri" panose="020F0502020204030204" pitchFamily="34" charset="0"/>
                <a:cs typeface="Times New Roman" panose="02020603050405020304" pitchFamily="18" charset="0"/>
              </a:rPr>
              <a:t>for</a:t>
            </a:r>
            <a:r>
              <a:rPr lang="es-ES" sz="1600" dirty="0">
                <a:effectLst/>
                <a:latin typeface="Calibri" panose="020F0502020204030204" pitchFamily="34" charset="0"/>
                <a:ea typeface="Calibri" panose="020F0502020204030204" pitchFamily="34" charset="0"/>
                <a:cs typeface="Times New Roman" panose="02020603050405020304" pitchFamily="18" charset="0"/>
              </a:rPr>
              <a:t>: algo que te gustaría o desearías que se hubiera hecho</a:t>
            </a:r>
          </a:p>
          <a:p>
            <a:pPr>
              <a:lnSpc>
                <a:spcPct val="120000"/>
              </a:lnSpc>
              <a:spcBef>
                <a:spcPts val="0"/>
              </a:spcBef>
              <a:spcAft>
                <a:spcPts val="800"/>
              </a:spcAft>
            </a:pPr>
            <a:r>
              <a:rPr lang="es-ES" sz="1600" b="1" dirty="0">
                <a:effectLst/>
                <a:latin typeface="Calibri" panose="020F0502020204030204" pitchFamily="34" charset="0"/>
                <a:ea typeface="Calibri" panose="020F0502020204030204" pitchFamily="34" charset="0"/>
                <a:cs typeface="Times New Roman" panose="02020603050405020304" pitchFamily="18" charset="0"/>
              </a:rPr>
              <a:t>La dinámica es sencilla:</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Los participantes mediante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post-its</a:t>
            </a:r>
            <a:r>
              <a:rPr lang="es-ES" sz="1400" dirty="0">
                <a:effectLst/>
                <a:latin typeface="Calibri" panose="020F0502020204030204" pitchFamily="34" charset="0"/>
                <a:ea typeface="Calibri" panose="020F0502020204030204" pitchFamily="34" charset="0"/>
                <a:cs typeface="Times New Roman" panose="02020603050405020304" pitchFamily="18" charset="0"/>
              </a:rPr>
              <a:t> ponen al menos uno en cada una de las áreas.</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debaten en grupo</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votan</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compara el escenario con el de la anterior retrospectiva para ver el avance del equipo.</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identifican los puntos de mejora para el siguiente Sprint.</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establece el plan para el siguiente Sprint</a:t>
            </a:r>
          </a:p>
          <a:p>
            <a:pPr marL="800100" lvl="1" indent="-342900">
              <a:lnSpc>
                <a:spcPct val="120000"/>
              </a:lnSpc>
              <a:spcBef>
                <a:spcPts val="0"/>
              </a:spcBef>
              <a:spcAft>
                <a:spcPts val="800"/>
              </a:spcAft>
              <a:buFont typeface="+mj-lt"/>
              <a:buAutoNum type="arabicPeriod"/>
            </a:pPr>
            <a:r>
              <a:rPr lang="es-ES" sz="1400" dirty="0">
                <a:effectLst/>
                <a:latin typeface="Calibri" panose="020F0502020204030204" pitchFamily="34" charset="0"/>
                <a:ea typeface="Calibri" panose="020F0502020204030204" pitchFamily="34" charset="0"/>
                <a:cs typeface="Times New Roman" panose="02020603050405020304" pitchFamily="18" charset="0"/>
              </a:rPr>
              <a:t>Se conserva una imagen del escenario para tomarlo como input para la siguiente retrospectiva.</a:t>
            </a:r>
          </a:p>
          <a:p>
            <a:pPr>
              <a:lnSpc>
                <a:spcPct val="120000"/>
              </a:lnSpc>
              <a:spcBef>
                <a:spcPts val="0"/>
              </a:spcBef>
            </a:pPr>
            <a:endParaRPr lang="es-ES" sz="2400" dirty="0">
              <a:latin typeface="Verdana" panose="020B0604030504040204" pitchFamily="34" charset="0"/>
              <a:ea typeface="Verdana" panose="020B0604030504040204" pitchFamily="34" charset="0"/>
            </a:endParaRPr>
          </a:p>
        </p:txBody>
      </p:sp>
      <p:pic>
        <p:nvPicPr>
          <p:cNvPr id="4" name="Imagen 3">
            <a:extLst>
              <a:ext uri="{FF2B5EF4-FFF2-40B4-BE49-F238E27FC236}">
                <a16:creationId xmlns:a16="http://schemas.microsoft.com/office/drawing/2014/main" id="{9BEBEE65-EEA7-4755-AE79-D8EDE1BD6B6A}"/>
              </a:ext>
            </a:extLst>
          </p:cNvPr>
          <p:cNvPicPr>
            <a:picLocks noChangeAspect="1"/>
          </p:cNvPicPr>
          <p:nvPr/>
        </p:nvPicPr>
        <p:blipFill>
          <a:blip r:embed="rId2"/>
          <a:stretch>
            <a:fillRect/>
          </a:stretch>
        </p:blipFill>
        <p:spPr>
          <a:xfrm>
            <a:off x="11017745" y="0"/>
            <a:ext cx="1353429" cy="823031"/>
          </a:xfrm>
          <a:prstGeom prst="rect">
            <a:avLst/>
          </a:prstGeom>
        </p:spPr>
      </p:pic>
    </p:spTree>
    <p:extLst>
      <p:ext uri="{BB962C8B-B14F-4D97-AF65-F5344CB8AC3E}">
        <p14:creationId xmlns:p14="http://schemas.microsoft.com/office/powerpoint/2010/main" val="13529307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76ED0-21F1-3309-0970-A33183DC33D3}"/>
              </a:ext>
            </a:extLst>
          </p:cNvPr>
          <p:cNvSpPr>
            <a:spLocks noGrp="1"/>
          </p:cNvSpPr>
          <p:nvPr>
            <p:ph type="title"/>
          </p:nvPr>
        </p:nvSpPr>
        <p:spPr/>
        <p:txBody>
          <a:bodyPr/>
          <a:lstStyle/>
          <a:p>
            <a:r>
              <a:rPr lang="es-ES"/>
              <a:t>Herramientas</a:t>
            </a:r>
          </a:p>
        </p:txBody>
      </p:sp>
      <p:sp>
        <p:nvSpPr>
          <p:cNvPr id="3" name="Marcador de contenido 2">
            <a:extLst>
              <a:ext uri="{FF2B5EF4-FFF2-40B4-BE49-F238E27FC236}">
                <a16:creationId xmlns:a16="http://schemas.microsoft.com/office/drawing/2014/main" id="{F4365004-B320-447E-81B9-E88D69AAC18A}"/>
              </a:ext>
            </a:extLst>
          </p:cNvPr>
          <p:cNvSpPr>
            <a:spLocks noGrp="1"/>
          </p:cNvSpPr>
          <p:nvPr>
            <p:ph type="body" sz="quarter" idx="13"/>
          </p:nvPr>
        </p:nvSpPr>
        <p:spPr>
          <a:xfrm>
            <a:off x="100484" y="870012"/>
            <a:ext cx="12239312" cy="5987987"/>
          </a:xfrm>
        </p:spPr>
        <p:txBody>
          <a:bodyPr>
            <a:normAutofit fontScale="85000" lnSpcReduction="20000"/>
          </a:bodyPr>
          <a:lstStyle/>
          <a:p>
            <a:pPr marL="0" indent="0">
              <a:lnSpc>
                <a:spcPct val="120000"/>
              </a:lnSpc>
              <a:spcBef>
                <a:spcPts val="0"/>
              </a:spcBef>
              <a:buNone/>
            </a:pPr>
            <a:r>
              <a:rPr lang="es-ES" sz="2200" b="1" dirty="0">
                <a:effectLst/>
                <a:latin typeface="Calibri" panose="020F0502020204030204" pitchFamily="34" charset="0"/>
                <a:ea typeface="Calibri" panose="020F0502020204030204" pitchFamily="34" charset="0"/>
                <a:cs typeface="Times New Roman" panose="02020603050405020304" pitchFamily="18" charset="0"/>
              </a:rPr>
              <a:t>2</a:t>
            </a:r>
            <a:r>
              <a:rPr lang="es-ES" sz="2900" b="1" dirty="0">
                <a:effectLst/>
                <a:latin typeface="Calibri" panose="020F0502020204030204" pitchFamily="34" charset="0"/>
                <a:ea typeface="Calibri" panose="020F0502020204030204" pitchFamily="34" charset="0"/>
                <a:cs typeface="Times New Roman" panose="02020603050405020304" pitchFamily="18" charset="0"/>
              </a:rPr>
              <a:t>. El barco de vela ( </a:t>
            </a:r>
            <a:r>
              <a:rPr lang="es-ES" sz="2900" b="1"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2900" b="1" dirty="0">
                <a:effectLst/>
                <a:latin typeface="Calibri" panose="020F0502020204030204" pitchFamily="34" charset="0"/>
                <a:ea typeface="Calibri" panose="020F0502020204030204" pitchFamily="34" charset="0"/>
                <a:cs typeface="Times New Roman" panose="02020603050405020304" pitchFamily="18" charset="0"/>
              </a:rPr>
              <a:t> </a:t>
            </a:r>
            <a:r>
              <a:rPr lang="es-ES" sz="2900" b="1" dirty="0" err="1">
                <a:effectLst/>
                <a:latin typeface="Calibri" panose="020F0502020204030204" pitchFamily="34" charset="0"/>
                <a:ea typeface="Calibri" panose="020F0502020204030204" pitchFamily="34" charset="0"/>
                <a:cs typeface="Times New Roman" panose="02020603050405020304" pitchFamily="18" charset="0"/>
              </a:rPr>
              <a:t>sailboat</a:t>
            </a:r>
            <a:r>
              <a:rPr lang="es-ES" sz="2900" b="1" dirty="0">
                <a:effectLst/>
                <a:latin typeface="Calibri" panose="020F0502020204030204" pitchFamily="34" charset="0"/>
                <a:ea typeface="Calibri" panose="020F0502020204030204" pitchFamily="34" charset="0"/>
                <a:cs typeface="Times New Roman" panose="02020603050405020304" pitchFamily="18" charset="0"/>
              </a:rPr>
              <a:t> </a:t>
            </a:r>
            <a:r>
              <a:rPr lang="es-ES"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20000"/>
              </a:lnSpc>
              <a:spcBef>
                <a:spcPts val="0"/>
              </a:spcBef>
            </a:pPr>
            <a:r>
              <a:rPr lang="es-ES" sz="1800" dirty="0">
                <a:effectLst/>
                <a:latin typeface="Calibri" panose="020F0502020204030204" pitchFamily="34" charset="0"/>
                <a:ea typeface="Calibri" panose="020F0502020204030204" pitchFamily="34" charset="0"/>
                <a:cs typeface="Times New Roman" panose="02020603050405020304" pitchFamily="18" charset="0"/>
              </a:rPr>
              <a:t>La retrospectiva del velero es una de las técnicas de visualización favoritas. El origen de esta técnica se remonta a Luke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Hohmann</a:t>
            </a:r>
            <a:r>
              <a:rPr lang="es-ES" sz="1800" dirty="0">
                <a:effectLst/>
                <a:latin typeface="Calibri" panose="020F0502020204030204" pitchFamily="34" charset="0"/>
                <a:ea typeface="Calibri" panose="020F0502020204030204" pitchFamily="34" charset="0"/>
                <a:cs typeface="Times New Roman" panose="02020603050405020304" pitchFamily="18" charset="0"/>
              </a:rPr>
              <a:t>, quien la presentó como uno de los juegos de innovación en su libro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Innovation</a:t>
            </a:r>
            <a:r>
              <a:rPr lang="es-ES" sz="18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Games</a:t>
            </a:r>
            <a:r>
              <a:rPr lang="es-ES" sz="1800" dirty="0">
                <a:effectLst/>
                <a:latin typeface="Calibri" panose="020F0502020204030204" pitchFamily="34" charset="0"/>
                <a:ea typeface="Calibri" panose="020F0502020204030204" pitchFamily="34" charset="0"/>
                <a:cs typeface="Times New Roman" panose="02020603050405020304" pitchFamily="18" charset="0"/>
              </a:rPr>
              <a:t>". Hay muchos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templates</a:t>
            </a:r>
            <a:r>
              <a:rPr lang="es-ES" sz="1800" dirty="0">
                <a:effectLst/>
                <a:latin typeface="Calibri" panose="020F0502020204030204" pitchFamily="34" charset="0"/>
                <a:ea typeface="Calibri" panose="020F0502020204030204" pitchFamily="34" charset="0"/>
                <a:cs typeface="Times New Roman" panose="02020603050405020304" pitchFamily="18" charset="0"/>
              </a:rPr>
              <a:t> para esta técnica del velero, pero la que más se suele usar es la que contiene los siguientes elementos:</a:t>
            </a:r>
          </a:p>
          <a:p>
            <a:pPr marL="800100" lvl="1" indent="-342900">
              <a:lnSpc>
                <a:spcPct val="120000"/>
              </a:lnSpc>
              <a:spcBef>
                <a:spcPts val="0"/>
              </a:spcBef>
              <a:buFont typeface="+mj-lt"/>
              <a:buAutoNum type="alphaLcParenR"/>
            </a:pPr>
            <a:r>
              <a:rPr lang="es-ES" sz="1900" dirty="0">
                <a:effectLst/>
                <a:latin typeface="Calibri" panose="020F0502020204030204" pitchFamily="34" charset="0"/>
                <a:ea typeface="Calibri" panose="020F0502020204030204" pitchFamily="34" charset="0"/>
                <a:cs typeface="Times New Roman" panose="02020603050405020304" pitchFamily="18" charset="0"/>
              </a:rPr>
              <a:t>El barco velero con su vela henchida por el viento: el velero significa el equipo y las velas henchidas o el viento a favor indican las fortalezas del mismo.</a:t>
            </a:r>
          </a:p>
          <a:p>
            <a:pPr marL="800100" lvl="1" indent="-342900">
              <a:lnSpc>
                <a:spcPct val="120000"/>
              </a:lnSpc>
              <a:spcBef>
                <a:spcPts val="0"/>
              </a:spcBef>
              <a:buFont typeface="+mj-lt"/>
              <a:buAutoNum type="alphaLcParenR"/>
            </a:pPr>
            <a:r>
              <a:rPr lang="es-ES" sz="1900" dirty="0">
                <a:effectLst/>
                <a:latin typeface="Calibri" panose="020F0502020204030204" pitchFamily="34" charset="0"/>
                <a:ea typeface="Calibri" panose="020F0502020204030204" pitchFamily="34" charset="0"/>
                <a:cs typeface="Times New Roman" panose="02020603050405020304" pitchFamily="18" charset="0"/>
              </a:rPr>
              <a:t>Un ancla que lo sujeta al fondo marino: el ancla simboliza las debilidades internas del equipo o los hándicaps del mismo</a:t>
            </a:r>
          </a:p>
          <a:p>
            <a:pPr marL="800100" lvl="1" indent="-342900">
              <a:lnSpc>
                <a:spcPct val="120000"/>
              </a:lnSpc>
              <a:spcBef>
                <a:spcPts val="0"/>
              </a:spcBef>
              <a:buFont typeface="+mj-lt"/>
              <a:buAutoNum type="alphaLcParenR"/>
            </a:pPr>
            <a:r>
              <a:rPr lang="es-ES" sz="1900" dirty="0">
                <a:effectLst/>
                <a:latin typeface="Calibri" panose="020F0502020204030204" pitchFamily="34" charset="0"/>
                <a:ea typeface="Calibri" panose="020F0502020204030204" pitchFamily="34" charset="0"/>
                <a:cs typeface="Times New Roman" panose="02020603050405020304" pitchFamily="18" charset="0"/>
              </a:rPr>
              <a:t>Una isla como destino: la isla es la tierra prometida, el escenario ideal, allí donde el equipo se encuentra realizado, entrega todo a tiempo, el cliente está encantado con su trabajo, </a:t>
            </a:r>
            <a:r>
              <a:rPr lang="es-ES" sz="1900" dirty="0" err="1">
                <a:effectLst/>
                <a:latin typeface="Calibri" panose="020F0502020204030204" pitchFamily="34" charset="0"/>
                <a:ea typeface="Calibri" panose="020F0502020204030204" pitchFamily="34" charset="0"/>
                <a:cs typeface="Times New Roman" panose="02020603050405020304" pitchFamily="18" charset="0"/>
              </a:rPr>
              <a:t>etc</a:t>
            </a:r>
            <a:r>
              <a:rPr lang="es-ES" sz="1900" dirty="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20000"/>
              </a:lnSpc>
              <a:spcBef>
                <a:spcPts val="0"/>
              </a:spcBef>
              <a:buFont typeface="+mj-lt"/>
              <a:buAutoNum type="alphaLcParenR"/>
            </a:pPr>
            <a:r>
              <a:rPr lang="es-ES" sz="1900" dirty="0">
                <a:effectLst/>
                <a:latin typeface="Calibri" panose="020F0502020204030204" pitchFamily="34" charset="0"/>
                <a:ea typeface="Calibri" panose="020F0502020204030204" pitchFamily="34" charset="0"/>
                <a:cs typeface="Times New Roman" panose="02020603050405020304" pitchFamily="18" charset="0"/>
              </a:rPr>
              <a:t>Unas rocas que se interponen en su camino: estas son las amenazas o riesgos externos al equipo que complican su viaje hacia la isla paradisiaca.</a:t>
            </a:r>
          </a:p>
          <a:p>
            <a:pPr marL="800100" lvl="1" indent="-342900">
              <a:lnSpc>
                <a:spcPct val="120000"/>
              </a:lnSpc>
              <a:spcBef>
                <a:spcPts val="0"/>
              </a:spcBef>
              <a:buFont typeface="+mj-lt"/>
              <a:buAutoNum type="alphaLcParenR"/>
            </a:pPr>
            <a:r>
              <a:rPr lang="es-ES" sz="1900" dirty="0">
                <a:effectLst/>
                <a:latin typeface="Calibri" panose="020F0502020204030204" pitchFamily="34" charset="0"/>
                <a:ea typeface="Calibri" panose="020F0502020204030204" pitchFamily="34" charset="0"/>
                <a:cs typeface="Times New Roman" panose="02020603050405020304" pitchFamily="18" charset="0"/>
              </a:rPr>
              <a:t>Y un maravilloso sol brillando en el cielo (opcional): el sol si queremos usarlo, indica aquellos elementos externos al equipo que le ayudan a sentirse mejor y focalizarse en su trabajo. No es un elemento habitual, pero cumple su objetivo.</a:t>
            </a:r>
          </a:p>
          <a:p>
            <a:pPr>
              <a:lnSpc>
                <a:spcPct val="120000"/>
              </a:lnSpc>
              <a:spcBef>
                <a:spcPts val="0"/>
              </a:spcBef>
            </a:pPr>
            <a:r>
              <a:rPr lang="es-ES" sz="1800" b="1" dirty="0">
                <a:effectLst/>
                <a:latin typeface="Calibri" panose="020F0502020204030204" pitchFamily="34" charset="0"/>
                <a:ea typeface="Calibri" panose="020F0502020204030204" pitchFamily="34" charset="0"/>
                <a:cs typeface="Times New Roman" panose="02020603050405020304" pitchFamily="18" charset="0"/>
              </a:rPr>
              <a:t>La mecánica es muy simple.</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En una hoja o superficie de gran tamaño ( A2 mínimo ) se dibuja o se imprime un </a:t>
            </a:r>
            <a:r>
              <a:rPr lang="es-ES" sz="1900" dirty="0" err="1">
                <a:effectLst/>
                <a:latin typeface="Calibri" panose="020F0502020204030204" pitchFamily="34" charset="0"/>
                <a:ea typeface="Calibri" panose="020F0502020204030204" pitchFamily="34" charset="0"/>
                <a:cs typeface="Times New Roman" panose="02020603050405020304" pitchFamily="18" charset="0"/>
              </a:rPr>
              <a:t>template</a:t>
            </a:r>
            <a:r>
              <a:rPr lang="es-ES" sz="1900" dirty="0">
                <a:effectLst/>
                <a:latin typeface="Calibri" panose="020F0502020204030204" pitchFamily="34" charset="0"/>
                <a:ea typeface="Calibri" panose="020F0502020204030204" pitchFamily="34" charset="0"/>
                <a:cs typeface="Times New Roman" panose="02020603050405020304" pitchFamily="18" charset="0"/>
              </a:rPr>
              <a:t> como el arriba descrito. Se añade el sol, si vamos a hacer uso de ese escenario.</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Los participantes en grupo mejor que individualmente, mediante </a:t>
            </a:r>
            <a:r>
              <a:rPr lang="es-ES" sz="1900" dirty="0" err="1">
                <a:effectLst/>
                <a:latin typeface="Calibri" panose="020F0502020204030204" pitchFamily="34" charset="0"/>
                <a:ea typeface="Calibri" panose="020F0502020204030204" pitchFamily="34" charset="0"/>
                <a:cs typeface="Times New Roman" panose="02020603050405020304" pitchFamily="18" charset="0"/>
              </a:rPr>
              <a:t>post-its</a:t>
            </a:r>
            <a:r>
              <a:rPr lang="es-ES" sz="1900" dirty="0">
                <a:effectLst/>
                <a:latin typeface="Calibri" panose="020F0502020204030204" pitchFamily="34" charset="0"/>
                <a:ea typeface="Calibri" panose="020F0502020204030204" pitchFamily="34" charset="0"/>
                <a:cs typeface="Times New Roman" panose="02020603050405020304" pitchFamily="18" charset="0"/>
              </a:rPr>
              <a:t>, ponen al menos uno en cada una de las áreas.</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debaten en grupo, se realizan agrupaciones o fusiones de los existentes.</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priorizan dando un número de puntos a cada integrante del equipo y que este reparta entre todos los elementos identificados.</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compara el escenario con el de la anterior retrospectiva para ver el avance del equipo.</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identifican los puntos de mejora para el siguiente Sprint.</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establece el plan para el siguiente Sprint</a:t>
            </a:r>
          </a:p>
          <a:p>
            <a:pPr marL="800100" lvl="1" indent="-342900">
              <a:lnSpc>
                <a:spcPct val="120000"/>
              </a:lnSpc>
              <a:spcBef>
                <a:spcPts val="0"/>
              </a:spcBef>
              <a:buFont typeface="+mj-lt"/>
              <a:buAutoNum type="arabicPeriod"/>
            </a:pPr>
            <a:r>
              <a:rPr lang="es-ES" sz="1900" dirty="0">
                <a:effectLst/>
                <a:latin typeface="Calibri" panose="020F0502020204030204" pitchFamily="34" charset="0"/>
                <a:ea typeface="Calibri" panose="020F0502020204030204" pitchFamily="34" charset="0"/>
                <a:cs typeface="Times New Roman" panose="02020603050405020304" pitchFamily="18" charset="0"/>
              </a:rPr>
              <a:t>Se conserva una imagen del escenario para tomarlo como input para la siguiente retrospectiva.</a:t>
            </a:r>
          </a:p>
          <a:p>
            <a:pPr>
              <a:lnSpc>
                <a:spcPct val="120000"/>
              </a:lnSpc>
              <a:spcBef>
                <a:spcPts val="0"/>
              </a:spcBef>
            </a:pPr>
            <a:endParaRPr lang="es-ES" dirty="0"/>
          </a:p>
        </p:txBody>
      </p:sp>
      <p:pic>
        <p:nvPicPr>
          <p:cNvPr id="4" name="Imagen 3">
            <a:extLst>
              <a:ext uri="{FF2B5EF4-FFF2-40B4-BE49-F238E27FC236}">
                <a16:creationId xmlns:a16="http://schemas.microsoft.com/office/drawing/2014/main" id="{62BBC808-6710-4859-95AD-AF38FB93C2AD}"/>
              </a:ext>
            </a:extLst>
          </p:cNvPr>
          <p:cNvPicPr>
            <a:picLocks noChangeAspect="1"/>
          </p:cNvPicPr>
          <p:nvPr/>
        </p:nvPicPr>
        <p:blipFill>
          <a:blip r:embed="rId2"/>
          <a:stretch>
            <a:fillRect/>
          </a:stretch>
        </p:blipFill>
        <p:spPr>
          <a:xfrm>
            <a:off x="10986367" y="6034969"/>
            <a:ext cx="1353429" cy="823031"/>
          </a:xfrm>
          <a:prstGeom prst="rect">
            <a:avLst/>
          </a:prstGeom>
        </p:spPr>
      </p:pic>
    </p:spTree>
    <p:extLst>
      <p:ext uri="{BB962C8B-B14F-4D97-AF65-F5344CB8AC3E}">
        <p14:creationId xmlns:p14="http://schemas.microsoft.com/office/powerpoint/2010/main" val="7827826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806D57-3898-D0C6-8517-1746D9C8B648}"/>
              </a:ext>
            </a:extLst>
          </p:cNvPr>
          <p:cNvSpPr>
            <a:spLocks noGrp="1"/>
          </p:cNvSpPr>
          <p:nvPr>
            <p:ph type="title"/>
          </p:nvPr>
        </p:nvSpPr>
        <p:spPr/>
        <p:txBody>
          <a:bodyPr/>
          <a:lstStyle/>
          <a:p>
            <a:r>
              <a:rPr lang="es-ES"/>
              <a:t>Herramientas</a:t>
            </a:r>
          </a:p>
        </p:txBody>
      </p:sp>
      <p:sp>
        <p:nvSpPr>
          <p:cNvPr id="3" name="Marcador de contenido 2">
            <a:extLst>
              <a:ext uri="{FF2B5EF4-FFF2-40B4-BE49-F238E27FC236}">
                <a16:creationId xmlns:a16="http://schemas.microsoft.com/office/drawing/2014/main" id="{62070CE2-F65B-4E4A-A3E4-AF78735166C3}"/>
              </a:ext>
            </a:extLst>
          </p:cNvPr>
          <p:cNvSpPr>
            <a:spLocks noGrp="1"/>
          </p:cNvSpPr>
          <p:nvPr>
            <p:ph type="body" sz="quarter" idx="13"/>
          </p:nvPr>
        </p:nvSpPr>
        <p:spPr>
          <a:xfrm>
            <a:off x="100484" y="1004835"/>
            <a:ext cx="11666136" cy="5486400"/>
          </a:xfrm>
        </p:spPr>
        <p:txBody>
          <a:bodyPr>
            <a:normAutofit lnSpcReduction="10000"/>
          </a:bodyPr>
          <a:lstStyle/>
          <a:p>
            <a:pPr marL="0" indent="0">
              <a:lnSpc>
                <a:spcPct val="107000"/>
              </a:lnSpc>
              <a:spcBef>
                <a:spcPts val="0"/>
              </a:spcBef>
              <a:buNone/>
            </a:pPr>
            <a:r>
              <a:rPr lang="es-ES" sz="2000" b="1" dirty="0">
                <a:effectLst/>
                <a:latin typeface="Calibri" panose="020F0502020204030204" pitchFamily="34" charset="0"/>
                <a:ea typeface="Calibri" panose="020F0502020204030204" pitchFamily="34" charset="0"/>
                <a:cs typeface="Times New Roman" panose="02020603050405020304" pitchFamily="18" charset="0"/>
              </a:rPr>
              <a:t>3. La Estrella de Mar ( </a:t>
            </a:r>
            <a:r>
              <a:rPr lang="es-ES" sz="2000" b="1" dirty="0" err="1">
                <a:effectLst/>
                <a:latin typeface="Calibri" panose="020F0502020204030204" pitchFamily="34" charset="0"/>
                <a:ea typeface="Calibri" panose="020F0502020204030204" pitchFamily="34" charset="0"/>
                <a:cs typeface="Times New Roman" panose="02020603050405020304" pitchFamily="18" charset="0"/>
              </a:rPr>
              <a:t>Starfish</a:t>
            </a:r>
            <a:r>
              <a:rPr lang="es-ES" sz="2000" b="1"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s-ES" sz="1400" dirty="0">
                <a:effectLst/>
                <a:latin typeface="Calibri" panose="020F0502020204030204" pitchFamily="34" charset="0"/>
                <a:ea typeface="Calibri" panose="020F0502020204030204" pitchFamily="34" charset="0"/>
                <a:cs typeface="Times New Roman" panose="02020603050405020304" pitchFamily="18" charset="0"/>
              </a:rPr>
              <a:t>Esta técnica es ideal para captar un gran volumen de información del equipo y fomentar el pensamiento en torno a los comportamientos puestos en práctica y su comparación con el valor obtenido por el equipo. Ayuda a los miembros del equipo a comprender el valor que cada uno de ellos obtiene de tales prácticas. La estrella de mar divide un área o tablero en cinco partes:</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Comenzar a hacer +: actividades o ideas que el equipo quiere llevar a la ejecución del siguiente Sprint.</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Parar de hacer -: actividades o ideas que el equipo quiere erradicar o minimizar en el siguiente Sprint.</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Hacer más &gt;: actividades o ideas en las que el equipo se tiene que focalizar y realizar más a menudo en el siguiente Sprint.</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Hacer menos &lt;: actividades que no aportan valor al equipo, producto o cliente. Hay que realizarlas en menor medida.</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Seguir haciendo =: usualmente actividades que aportan valor o son útiles al equipo durante el Sprint y el equipo quiere mantenerlas.</a:t>
            </a:r>
          </a:p>
          <a:p>
            <a:pPr marL="0" indent="0">
              <a:lnSpc>
                <a:spcPct val="107000"/>
              </a:lnSpc>
              <a:spcBef>
                <a:spcPts val="0"/>
              </a:spcBef>
              <a:buNone/>
            </a:pP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s-ES" sz="1600" b="1" dirty="0">
                <a:effectLst/>
                <a:latin typeface="Calibri" panose="020F0502020204030204" pitchFamily="34" charset="0"/>
                <a:ea typeface="Calibri" panose="020F0502020204030204" pitchFamily="34" charset="0"/>
                <a:cs typeface="Times New Roman" panose="02020603050405020304" pitchFamily="18" charset="0"/>
              </a:rPr>
              <a:t>La mecánica es sencilla:</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En una hoja o superficie de gran tamaño ( A2 mínimo ) se dibuja o se imprime un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template</a:t>
            </a:r>
            <a:r>
              <a:rPr lang="es-ES" sz="1600" dirty="0">
                <a:effectLst/>
                <a:latin typeface="Calibri" panose="020F0502020204030204" pitchFamily="34" charset="0"/>
                <a:ea typeface="Calibri" panose="020F0502020204030204" pitchFamily="34" charset="0"/>
                <a:cs typeface="Times New Roman" panose="02020603050405020304" pitchFamily="18" charset="0"/>
              </a:rPr>
              <a:t> como el arriba descrito.</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Los participantes individualmente, mediante </a:t>
            </a:r>
            <a:r>
              <a:rPr lang="es-ES" sz="1600" dirty="0" err="1">
                <a:effectLst/>
                <a:latin typeface="Calibri" panose="020F0502020204030204" pitchFamily="34" charset="0"/>
                <a:ea typeface="Calibri" panose="020F0502020204030204" pitchFamily="34" charset="0"/>
                <a:cs typeface="Times New Roman" panose="02020603050405020304" pitchFamily="18" charset="0"/>
              </a:rPr>
              <a:t>post-its</a:t>
            </a:r>
            <a:r>
              <a:rPr lang="es-ES" sz="1600" dirty="0">
                <a:effectLst/>
                <a:latin typeface="Calibri" panose="020F0502020204030204" pitchFamily="34" charset="0"/>
                <a:ea typeface="Calibri" panose="020F0502020204030204" pitchFamily="34" charset="0"/>
                <a:cs typeface="Times New Roman" panose="02020603050405020304" pitchFamily="18" charset="0"/>
              </a:rPr>
              <a:t>, ponen al menos uno en cada una de las áreas.</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debaten en grupo, se realizan agrupaciones o fusiones de los existentes.</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priorizan dando un número de puntos a cada integrante del equipo y que este reparta entre todos los elementos identificados.</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compara el escenario con el de la anterior retrospectiva para ver el avance del equipo.</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identifican los puntos de mejora para el siguiente Sprint.</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establece el plan para el siguiente Sprint</a:t>
            </a:r>
          </a:p>
          <a:p>
            <a:pPr marL="800100" lvl="1" indent="-342900">
              <a:lnSpc>
                <a:spcPct val="107000"/>
              </a:lnSpc>
              <a:spcBef>
                <a:spcPts val="0"/>
              </a:spcBef>
              <a:buFont typeface="+mj-lt"/>
              <a:buAutoNum type="arabicPeriod"/>
            </a:pPr>
            <a:r>
              <a:rPr lang="es-ES" sz="1600" dirty="0">
                <a:effectLst/>
                <a:latin typeface="Calibri" panose="020F0502020204030204" pitchFamily="34" charset="0"/>
                <a:ea typeface="Calibri" panose="020F0502020204030204" pitchFamily="34" charset="0"/>
                <a:cs typeface="Times New Roman" panose="02020603050405020304" pitchFamily="18" charset="0"/>
              </a:rPr>
              <a:t>Se conserva una imagen del escenario para tomarlo como input para la siguiente retrospectiva.</a:t>
            </a:r>
          </a:p>
          <a:p>
            <a:pPr marL="0" indent="0">
              <a:lnSpc>
                <a:spcPct val="107000"/>
              </a:lnSpc>
              <a:spcBef>
                <a:spcPts val="0"/>
              </a:spcBef>
              <a:buNone/>
            </a:pPr>
            <a:r>
              <a:rPr lang="es-ES" sz="1400" dirty="0">
                <a:effectLst/>
                <a:latin typeface="Calibri" panose="020F0502020204030204" pitchFamily="34" charset="0"/>
                <a:ea typeface="Calibri" panose="020F0502020204030204" pitchFamily="34" charset="0"/>
                <a:cs typeface="Times New Roman" panose="02020603050405020304" pitchFamily="18" charset="0"/>
              </a:rPr>
              <a:t>Similar a la mecánica de la Estrella de Mar existen otras como KALM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Keep</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Add</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Less</a:t>
            </a:r>
            <a:r>
              <a:rPr lang="es-ES" sz="1400" dirty="0">
                <a:effectLst/>
                <a:latin typeface="Calibri" panose="020F0502020204030204" pitchFamily="34" charset="0"/>
                <a:ea typeface="Calibri" panose="020F0502020204030204" pitchFamily="34" charset="0"/>
                <a:cs typeface="Times New Roman" panose="02020603050405020304" pitchFamily="18" charset="0"/>
              </a:rPr>
              <a:t>, More), DAKI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Drop</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Add</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Keep</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Improve</a:t>
            </a:r>
            <a:r>
              <a:rPr lang="es-ES" sz="1400" dirty="0">
                <a:effectLst/>
                <a:latin typeface="Calibri" panose="020F0502020204030204" pitchFamily="34" charset="0"/>
                <a:ea typeface="Calibri" panose="020F0502020204030204" pitchFamily="34" charset="0"/>
                <a:cs typeface="Times New Roman" panose="02020603050405020304" pitchFamily="18" charset="0"/>
              </a:rPr>
              <a:t>) o PMI (Plus,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Minus</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Improve</a:t>
            </a:r>
            <a:r>
              <a:rPr lang="es-ES" sz="1400" dirty="0">
                <a:effectLst/>
                <a:latin typeface="Calibri" panose="020F0502020204030204" pitchFamily="34" charset="0"/>
                <a:ea typeface="Calibri" panose="020F0502020204030204" pitchFamily="34" charset="0"/>
                <a:cs typeface="Times New Roman" panose="02020603050405020304" pitchFamily="18" charset="0"/>
              </a:rPr>
              <a:t>). Creo que todas ellas son auto explicativas y pueden sustituir en algún equipo o situación a la antes comentada.</a:t>
            </a:r>
          </a:p>
          <a:p>
            <a:pPr marL="0" indent="0">
              <a:spcBef>
                <a:spcPts val="0"/>
              </a:spcBef>
              <a:buNone/>
            </a:pPr>
            <a:endParaRPr lang="es-ES" dirty="0"/>
          </a:p>
        </p:txBody>
      </p:sp>
      <p:pic>
        <p:nvPicPr>
          <p:cNvPr id="4" name="Imagen 3">
            <a:extLst>
              <a:ext uri="{FF2B5EF4-FFF2-40B4-BE49-F238E27FC236}">
                <a16:creationId xmlns:a16="http://schemas.microsoft.com/office/drawing/2014/main" id="{6AE67C90-8F79-4E9F-990E-1AF34423E7CA}"/>
              </a:ext>
            </a:extLst>
          </p:cNvPr>
          <p:cNvPicPr>
            <a:picLocks noChangeAspect="1"/>
          </p:cNvPicPr>
          <p:nvPr/>
        </p:nvPicPr>
        <p:blipFill>
          <a:blip r:embed="rId2"/>
          <a:stretch>
            <a:fillRect/>
          </a:stretch>
        </p:blipFill>
        <p:spPr>
          <a:xfrm>
            <a:off x="10986367" y="6034969"/>
            <a:ext cx="1353429" cy="823031"/>
          </a:xfrm>
          <a:prstGeom prst="rect">
            <a:avLst/>
          </a:prstGeom>
        </p:spPr>
      </p:pic>
    </p:spTree>
    <p:extLst>
      <p:ext uri="{BB962C8B-B14F-4D97-AF65-F5344CB8AC3E}">
        <p14:creationId xmlns:p14="http://schemas.microsoft.com/office/powerpoint/2010/main" val="6447731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BBDB67-444B-33B0-C782-2C41A35F4AF8}"/>
              </a:ext>
            </a:extLst>
          </p:cNvPr>
          <p:cNvSpPr>
            <a:spLocks noGrp="1"/>
          </p:cNvSpPr>
          <p:nvPr>
            <p:ph type="title"/>
          </p:nvPr>
        </p:nvSpPr>
        <p:spPr/>
        <p:txBody>
          <a:bodyPr/>
          <a:lstStyle/>
          <a:p>
            <a:r>
              <a:rPr lang="es-ES"/>
              <a:t>OTRAS HERRAMIENTAS AGILES</a:t>
            </a:r>
          </a:p>
        </p:txBody>
      </p:sp>
      <p:sp>
        <p:nvSpPr>
          <p:cNvPr id="3" name="Marcador de contenido 2">
            <a:extLst>
              <a:ext uri="{FF2B5EF4-FFF2-40B4-BE49-F238E27FC236}">
                <a16:creationId xmlns:a16="http://schemas.microsoft.com/office/drawing/2014/main" id="{04592967-6972-4E73-9FCE-0580BA0B8BB7}"/>
              </a:ext>
            </a:extLst>
          </p:cNvPr>
          <p:cNvSpPr>
            <a:spLocks noGrp="1"/>
          </p:cNvSpPr>
          <p:nvPr>
            <p:ph type="body" sz="quarter" idx="13"/>
          </p:nvPr>
        </p:nvSpPr>
        <p:spPr>
          <a:xfrm>
            <a:off x="-331596" y="916702"/>
            <a:ext cx="13173389" cy="4838700"/>
          </a:xfrm>
        </p:spPr>
        <p:txBody>
          <a:bodyPr>
            <a:normAutofit/>
          </a:bodyPr>
          <a:lstStyle/>
          <a:p>
            <a:pPr marL="457200" lvl="1" indent="0">
              <a:buNone/>
            </a:pPr>
            <a:r>
              <a:rPr lang="es-ES"/>
              <a:t>EXTREME </a:t>
            </a:r>
            <a:r>
              <a:rPr lang="es-ES" dirty="0"/>
              <a:t>PROGRAMMING</a:t>
            </a:r>
          </a:p>
          <a:p>
            <a:pPr marL="457200" lvl="1" indent="0">
              <a:buNone/>
            </a:pPr>
            <a:r>
              <a:rPr lang="es-ES" dirty="0"/>
              <a:t>Es una metodología ágil, aplicada a la ingeniera de software, creada por Kent Beck</a:t>
            </a:r>
          </a:p>
          <a:p>
            <a:pPr marL="457200" lvl="1" indent="0">
              <a:buNone/>
            </a:pPr>
            <a:r>
              <a:rPr lang="es-ES" dirty="0"/>
              <a:t>Uno de sus objetivos es reducir los costes. </a:t>
            </a:r>
            <a:r>
              <a:rPr lang="es-ES" b="1" i="0" dirty="0">
                <a:solidFill>
                  <a:srgbClr val="3C3C3C"/>
                </a:solidFill>
                <a:effectLst/>
                <a:latin typeface="OpenSansRegular"/>
              </a:rPr>
              <a:t>aplicación más radical del desarrollo ágil de software</a:t>
            </a:r>
            <a:r>
              <a:rPr lang="es-ES" b="0" i="0" dirty="0">
                <a:solidFill>
                  <a:srgbClr val="3C3C3C"/>
                </a:solidFill>
                <a:effectLst/>
                <a:latin typeface="OpenSansRegular"/>
              </a:rPr>
              <a:t>.</a:t>
            </a:r>
            <a:endParaRPr lang="es-ES" dirty="0"/>
          </a:p>
          <a:p>
            <a:pPr marL="457200" lvl="1" indent="0">
              <a:buNone/>
            </a:pPr>
            <a:endParaRPr lang="es-ES" dirty="0"/>
          </a:p>
          <a:p>
            <a:pPr marL="457200" lvl="1" indent="0">
              <a:buNone/>
            </a:pPr>
            <a:endParaRPr lang="es-ES" dirty="0"/>
          </a:p>
          <a:p>
            <a:endParaRPr lang="es-ES" dirty="0"/>
          </a:p>
        </p:txBody>
      </p:sp>
      <p:pic>
        <p:nvPicPr>
          <p:cNvPr id="4" name="Imagen 3">
            <a:extLst>
              <a:ext uri="{FF2B5EF4-FFF2-40B4-BE49-F238E27FC236}">
                <a16:creationId xmlns:a16="http://schemas.microsoft.com/office/drawing/2014/main" id="{2E6A93AB-2A5F-4CCB-8E45-536A0032256C}"/>
              </a:ext>
            </a:extLst>
          </p:cNvPr>
          <p:cNvPicPr>
            <a:picLocks noChangeAspect="1"/>
          </p:cNvPicPr>
          <p:nvPr/>
        </p:nvPicPr>
        <p:blipFill>
          <a:blip r:embed="rId2"/>
          <a:stretch>
            <a:fillRect/>
          </a:stretch>
        </p:blipFill>
        <p:spPr>
          <a:xfrm>
            <a:off x="11338303" y="-3986"/>
            <a:ext cx="936429" cy="569450"/>
          </a:xfrm>
          <a:prstGeom prst="rect">
            <a:avLst/>
          </a:prstGeom>
        </p:spPr>
      </p:pic>
      <p:sp>
        <p:nvSpPr>
          <p:cNvPr id="7" name="Rectángulo 6">
            <a:extLst>
              <a:ext uri="{FF2B5EF4-FFF2-40B4-BE49-F238E27FC236}">
                <a16:creationId xmlns:a16="http://schemas.microsoft.com/office/drawing/2014/main" id="{A3ECB076-5BA7-402D-9D10-916951D02E42}"/>
              </a:ext>
            </a:extLst>
          </p:cNvPr>
          <p:cNvSpPr/>
          <p:nvPr/>
        </p:nvSpPr>
        <p:spPr>
          <a:xfrm>
            <a:off x="265890" y="2251292"/>
            <a:ext cx="3612777" cy="340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VENTAJAS</a:t>
            </a:r>
          </a:p>
        </p:txBody>
      </p:sp>
      <p:sp>
        <p:nvSpPr>
          <p:cNvPr id="8" name="Rectángulo: esquinas redondeadas 7">
            <a:extLst>
              <a:ext uri="{FF2B5EF4-FFF2-40B4-BE49-F238E27FC236}">
                <a16:creationId xmlns:a16="http://schemas.microsoft.com/office/drawing/2014/main" id="{F71F5560-6796-498B-8502-B8502D2EA7D3}"/>
              </a:ext>
            </a:extLst>
          </p:cNvPr>
          <p:cNvSpPr/>
          <p:nvPr/>
        </p:nvSpPr>
        <p:spPr>
          <a:xfrm>
            <a:off x="-69476" y="2591951"/>
            <a:ext cx="4320988" cy="4087907"/>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Arial" panose="020B0604020202020204" pitchFamily="34" charset="0"/>
              <a:buChar char="•"/>
            </a:pPr>
            <a:r>
              <a:rPr lang="es-ES" b="0" i="0" dirty="0">
                <a:solidFill>
                  <a:srgbClr val="3C3C3C"/>
                </a:solidFill>
                <a:effectLst/>
                <a:latin typeface="1und1WebSansCondens"/>
              </a:rPr>
              <a:t>Relación estrecha con el cliente</a:t>
            </a:r>
          </a:p>
          <a:p>
            <a:pPr marL="285750" indent="-285750">
              <a:buFont typeface="Arial" panose="020B0604020202020204" pitchFamily="34" charset="0"/>
              <a:buChar char="•"/>
            </a:pPr>
            <a:r>
              <a:rPr lang="es-ES" b="0" i="0" dirty="0">
                <a:solidFill>
                  <a:srgbClr val="3C3C3C"/>
                </a:solidFill>
                <a:effectLst/>
                <a:latin typeface="1und1WebSansCondens"/>
              </a:rPr>
              <a:t>Ausencia de trabajos de programación innecesarios</a:t>
            </a:r>
          </a:p>
          <a:p>
            <a:pPr marL="285750" indent="-285750">
              <a:buFont typeface="Arial" panose="020B0604020202020204" pitchFamily="34" charset="0"/>
              <a:buChar char="•"/>
            </a:pPr>
            <a:r>
              <a:rPr lang="es-ES" b="0" i="0" dirty="0">
                <a:solidFill>
                  <a:srgbClr val="3C3C3C"/>
                </a:solidFill>
                <a:effectLst/>
                <a:latin typeface="1und1WebSansCondens"/>
              </a:rPr>
              <a:t>Software estable debido a continuas pruebas</a:t>
            </a:r>
          </a:p>
          <a:p>
            <a:pPr marL="285750" indent="-285750">
              <a:buFont typeface="Arial" panose="020B0604020202020204" pitchFamily="34" charset="0"/>
              <a:buChar char="•"/>
            </a:pPr>
            <a:r>
              <a:rPr lang="es-ES" b="0" i="0" dirty="0">
                <a:solidFill>
                  <a:srgbClr val="3C3C3C"/>
                </a:solidFill>
                <a:effectLst/>
                <a:latin typeface="1und1WebSansCondens"/>
              </a:rPr>
              <a:t>Menos errores gracias a la programación en pareja</a:t>
            </a:r>
            <a:endParaRPr lang="es-ES" dirty="0">
              <a:solidFill>
                <a:srgbClr val="3C3C3C"/>
              </a:solidFill>
              <a:latin typeface="1und1WebSansCondens"/>
            </a:endParaRPr>
          </a:p>
          <a:p>
            <a:pPr marL="285750" indent="-285750">
              <a:buFont typeface="Arial" panose="020B0604020202020204" pitchFamily="34" charset="0"/>
              <a:buChar char="•"/>
            </a:pPr>
            <a:r>
              <a:rPr lang="es-ES" b="0" i="0" dirty="0">
                <a:solidFill>
                  <a:srgbClr val="3C3C3C"/>
                </a:solidFill>
                <a:effectLst/>
                <a:latin typeface="1und1WebSansCondens"/>
              </a:rPr>
              <a:t>Ausencia de horas extra, gestión propia del tiempo</a:t>
            </a:r>
          </a:p>
          <a:p>
            <a:pPr marL="285750" indent="-285750">
              <a:buFont typeface="Arial" panose="020B0604020202020204" pitchFamily="34" charset="0"/>
              <a:buChar char="•"/>
            </a:pPr>
            <a:r>
              <a:rPr lang="es-ES" b="0" i="0" dirty="0">
                <a:solidFill>
                  <a:srgbClr val="3C3C3C"/>
                </a:solidFill>
                <a:effectLst/>
                <a:latin typeface="1und1WebSansCondens"/>
              </a:rPr>
              <a:t>Aplicación rápida de cambios</a:t>
            </a:r>
          </a:p>
          <a:p>
            <a:pPr marL="285750" indent="-285750">
              <a:buFont typeface="Arial" panose="020B0604020202020204" pitchFamily="34" charset="0"/>
              <a:buChar char="•"/>
            </a:pPr>
            <a:r>
              <a:rPr lang="es-ES" b="0" i="0" dirty="0">
                <a:solidFill>
                  <a:srgbClr val="3C3C3C"/>
                </a:solidFill>
                <a:effectLst/>
                <a:latin typeface="1und1WebSansCondens"/>
              </a:rPr>
              <a:t>Código de comprensión sencilla en todo momento</a:t>
            </a:r>
          </a:p>
          <a:p>
            <a:pPr marL="285750" indent="-285750">
              <a:buFont typeface="Arial" panose="020B0604020202020204" pitchFamily="34" charset="0"/>
              <a:buChar char="•"/>
            </a:pPr>
            <a:endParaRPr lang="es-ES" dirty="0"/>
          </a:p>
        </p:txBody>
      </p:sp>
      <p:sp>
        <p:nvSpPr>
          <p:cNvPr id="9" name="Rectángulo 8">
            <a:extLst>
              <a:ext uri="{FF2B5EF4-FFF2-40B4-BE49-F238E27FC236}">
                <a16:creationId xmlns:a16="http://schemas.microsoft.com/office/drawing/2014/main" id="{EB5DED48-52E1-48E1-93F5-6CC69E59A986}"/>
              </a:ext>
            </a:extLst>
          </p:cNvPr>
          <p:cNvSpPr/>
          <p:nvPr/>
        </p:nvSpPr>
        <p:spPr>
          <a:xfrm>
            <a:off x="4981015" y="2251292"/>
            <a:ext cx="1317812" cy="3406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Valores </a:t>
            </a:r>
          </a:p>
        </p:txBody>
      </p:sp>
      <p:sp>
        <p:nvSpPr>
          <p:cNvPr id="10" name="Rectángulo: esquinas redondeadas 9">
            <a:extLst>
              <a:ext uri="{FF2B5EF4-FFF2-40B4-BE49-F238E27FC236}">
                <a16:creationId xmlns:a16="http://schemas.microsoft.com/office/drawing/2014/main" id="{0AA22F82-3141-4DF5-82CC-409186066F4D}"/>
              </a:ext>
            </a:extLst>
          </p:cNvPr>
          <p:cNvSpPr/>
          <p:nvPr/>
        </p:nvSpPr>
        <p:spPr>
          <a:xfrm>
            <a:off x="4820572" y="2864799"/>
            <a:ext cx="2034989" cy="1694329"/>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Arial" panose="020B0604020202020204" pitchFamily="34" charset="0"/>
              <a:buChar char="•"/>
            </a:pPr>
            <a:r>
              <a:rPr lang="es-ES" dirty="0"/>
              <a:t>comunicación</a:t>
            </a:r>
          </a:p>
          <a:p>
            <a:pPr marL="285750" indent="-285750">
              <a:buFont typeface="Arial" panose="020B0604020202020204" pitchFamily="34" charset="0"/>
              <a:buChar char="•"/>
            </a:pPr>
            <a:r>
              <a:rPr lang="es-ES" dirty="0"/>
              <a:t>Sencillez</a:t>
            </a:r>
          </a:p>
          <a:p>
            <a:pPr marL="285750" indent="-285750">
              <a:buFont typeface="Arial" panose="020B0604020202020204" pitchFamily="34" charset="0"/>
              <a:buChar char="•"/>
            </a:pPr>
            <a:r>
              <a:rPr lang="es-ES" dirty="0" err="1"/>
              <a:t>Feedback</a:t>
            </a:r>
            <a:endParaRPr lang="es-ES" dirty="0"/>
          </a:p>
          <a:p>
            <a:pPr marL="285750" indent="-285750">
              <a:buFont typeface="Arial" panose="020B0604020202020204" pitchFamily="34" charset="0"/>
              <a:buChar char="•"/>
            </a:pPr>
            <a:r>
              <a:rPr lang="es-ES" dirty="0" err="1"/>
              <a:t>Valentia</a:t>
            </a:r>
            <a:endParaRPr lang="es-ES" dirty="0"/>
          </a:p>
          <a:p>
            <a:pPr marL="285750" indent="-285750">
              <a:buFont typeface="Arial" panose="020B0604020202020204" pitchFamily="34" charset="0"/>
              <a:buChar char="•"/>
            </a:pPr>
            <a:r>
              <a:rPr lang="es-ES" dirty="0"/>
              <a:t>Respeto</a:t>
            </a:r>
          </a:p>
          <a:p>
            <a:pPr marL="285750" indent="-285750">
              <a:buFont typeface="Arial" panose="020B0604020202020204" pitchFamily="34" charset="0"/>
              <a:buChar char="•"/>
            </a:pPr>
            <a:endParaRPr lang="es-ES" dirty="0"/>
          </a:p>
        </p:txBody>
      </p:sp>
      <p:sp>
        <p:nvSpPr>
          <p:cNvPr id="11" name="Rectángulo 10">
            <a:extLst>
              <a:ext uri="{FF2B5EF4-FFF2-40B4-BE49-F238E27FC236}">
                <a16:creationId xmlns:a16="http://schemas.microsoft.com/office/drawing/2014/main" id="{8C1B54ED-799A-49C2-921F-620F0FA362A2}"/>
              </a:ext>
            </a:extLst>
          </p:cNvPr>
          <p:cNvSpPr/>
          <p:nvPr/>
        </p:nvSpPr>
        <p:spPr>
          <a:xfrm>
            <a:off x="7846166" y="2180130"/>
            <a:ext cx="4213414" cy="340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Desventajas </a:t>
            </a:r>
          </a:p>
        </p:txBody>
      </p:sp>
      <p:sp>
        <p:nvSpPr>
          <p:cNvPr id="12" name="Rectángulo: esquinas redondeadas 11">
            <a:extLst>
              <a:ext uri="{FF2B5EF4-FFF2-40B4-BE49-F238E27FC236}">
                <a16:creationId xmlns:a16="http://schemas.microsoft.com/office/drawing/2014/main" id="{ECC9D29D-B7BC-4A80-8B06-22EFD0F8E384}"/>
              </a:ext>
            </a:extLst>
          </p:cNvPr>
          <p:cNvSpPr/>
          <p:nvPr/>
        </p:nvSpPr>
        <p:spPr>
          <a:xfrm>
            <a:off x="7662509" y="2421621"/>
            <a:ext cx="4643717" cy="2617695"/>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Arial" panose="020B0604020202020204" pitchFamily="34" charset="0"/>
              <a:buChar char="•"/>
            </a:pPr>
            <a:r>
              <a:rPr lang="es-ES" b="0" i="0" dirty="0">
                <a:solidFill>
                  <a:srgbClr val="3C3C3C"/>
                </a:solidFill>
                <a:effectLst/>
                <a:latin typeface="1und1WebSansCondens"/>
              </a:rPr>
              <a:t>Mayor esfuerzo de trabajo</a:t>
            </a:r>
          </a:p>
          <a:p>
            <a:pPr marL="285750" indent="-285750">
              <a:buFont typeface="Arial" panose="020B0604020202020204" pitchFamily="34" charset="0"/>
              <a:buChar char="•"/>
            </a:pPr>
            <a:r>
              <a:rPr lang="es-ES" b="0" i="0" dirty="0">
                <a:solidFill>
                  <a:srgbClr val="3C3C3C"/>
                </a:solidFill>
                <a:effectLst/>
                <a:latin typeface="1und1WebSansCondens"/>
              </a:rPr>
              <a:t>El cliente se implica en el proceso</a:t>
            </a:r>
            <a:endParaRPr lang="es-ES" dirty="0">
              <a:solidFill>
                <a:srgbClr val="3C3C3C"/>
              </a:solidFill>
              <a:latin typeface="1und1WebSansCondens"/>
            </a:endParaRPr>
          </a:p>
          <a:p>
            <a:pPr marL="285750" indent="-285750">
              <a:buFont typeface="Arial" panose="020B0604020202020204" pitchFamily="34" charset="0"/>
              <a:buChar char="•"/>
            </a:pPr>
            <a:r>
              <a:rPr lang="es-ES" b="0" i="0" dirty="0">
                <a:solidFill>
                  <a:srgbClr val="3C3C3C"/>
                </a:solidFill>
                <a:effectLst/>
                <a:latin typeface="1und1WebSansCondens"/>
              </a:rPr>
              <a:t>Requiere mucho tiempo</a:t>
            </a:r>
          </a:p>
          <a:p>
            <a:pPr marL="285750" indent="-285750">
              <a:buFont typeface="Arial" panose="020B0604020202020204" pitchFamily="34" charset="0"/>
              <a:buChar char="•"/>
            </a:pPr>
            <a:r>
              <a:rPr lang="es-ES" b="0" i="0" dirty="0">
                <a:solidFill>
                  <a:srgbClr val="3C3C3C"/>
                </a:solidFill>
                <a:effectLst/>
                <a:latin typeface="1und1WebSansCondens"/>
              </a:rPr>
              <a:t>Relativamente caro</a:t>
            </a:r>
            <a:endParaRPr lang="es-ES" dirty="0">
              <a:solidFill>
                <a:srgbClr val="3C3C3C"/>
              </a:solidFill>
              <a:latin typeface="1und1WebSansCondens"/>
            </a:endParaRPr>
          </a:p>
          <a:p>
            <a:pPr marL="285750" indent="-285750">
              <a:buFont typeface="Arial" panose="020B0604020202020204" pitchFamily="34" charset="0"/>
              <a:buChar char="•"/>
            </a:pPr>
            <a:r>
              <a:rPr lang="es-ES" dirty="0">
                <a:solidFill>
                  <a:srgbClr val="3C3C3C"/>
                </a:solidFill>
                <a:latin typeface="1und1WebSansCondens"/>
              </a:rPr>
              <a:t>Requiere control de versiones</a:t>
            </a:r>
          </a:p>
          <a:p>
            <a:pPr marL="285750" indent="-285750">
              <a:buFont typeface="Arial" panose="020B0604020202020204" pitchFamily="34" charset="0"/>
              <a:buChar char="•"/>
            </a:pPr>
            <a:r>
              <a:rPr lang="es-ES" b="0" i="0" dirty="0">
                <a:solidFill>
                  <a:srgbClr val="3C3C3C"/>
                </a:solidFill>
                <a:effectLst/>
                <a:latin typeface="1und1WebSansCondens"/>
              </a:rPr>
              <a:t>Requiere autodisciplina en la aplicación</a:t>
            </a:r>
            <a:endParaRPr lang="es-ES" dirty="0"/>
          </a:p>
        </p:txBody>
      </p:sp>
      <p:sp>
        <p:nvSpPr>
          <p:cNvPr id="13" name="Rectángulo 12">
            <a:extLst>
              <a:ext uri="{FF2B5EF4-FFF2-40B4-BE49-F238E27FC236}">
                <a16:creationId xmlns:a16="http://schemas.microsoft.com/office/drawing/2014/main" id="{56E90F89-35E9-4F48-9285-961CC332827B}"/>
              </a:ext>
            </a:extLst>
          </p:cNvPr>
          <p:cNvSpPr/>
          <p:nvPr/>
        </p:nvSpPr>
        <p:spPr>
          <a:xfrm>
            <a:off x="5345410" y="5172636"/>
            <a:ext cx="1098177" cy="34065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dirty="0"/>
              <a:t>FASES</a:t>
            </a:r>
          </a:p>
        </p:txBody>
      </p:sp>
      <p:sp>
        <p:nvSpPr>
          <p:cNvPr id="14" name="Rectángulo: esquinas redondeadas 13">
            <a:extLst>
              <a:ext uri="{FF2B5EF4-FFF2-40B4-BE49-F238E27FC236}">
                <a16:creationId xmlns:a16="http://schemas.microsoft.com/office/drawing/2014/main" id="{606E0DF6-6339-4B85-BDA5-F3B01AFB0D41}"/>
              </a:ext>
            </a:extLst>
          </p:cNvPr>
          <p:cNvSpPr/>
          <p:nvPr/>
        </p:nvSpPr>
        <p:spPr>
          <a:xfrm>
            <a:off x="7028331" y="4607859"/>
            <a:ext cx="4213414" cy="1722603"/>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l">
              <a:buFont typeface="Arial" panose="020B0604020202020204" pitchFamily="34" charset="0"/>
              <a:buChar char="•"/>
            </a:pPr>
            <a:r>
              <a:rPr lang="es-ES" b="1" i="0">
                <a:solidFill>
                  <a:srgbClr val="202124"/>
                </a:solidFill>
                <a:effectLst/>
                <a:latin typeface="arial" panose="020B0604020202020204" pitchFamily="34" charset="0"/>
              </a:rPr>
              <a:t>Fase</a:t>
            </a:r>
            <a:r>
              <a:rPr lang="es-ES" b="0" i="0">
                <a:solidFill>
                  <a:srgbClr val="202124"/>
                </a:solidFill>
                <a:effectLst/>
                <a:latin typeface="arial" panose="020B0604020202020204" pitchFamily="34" charset="0"/>
              </a:rPr>
              <a:t> 1: Planificación.</a:t>
            </a:r>
          </a:p>
          <a:p>
            <a:pPr algn="l">
              <a:buFont typeface="Arial" panose="020B0604020202020204" pitchFamily="34" charset="0"/>
              <a:buChar char="•"/>
            </a:pPr>
            <a:r>
              <a:rPr lang="es-ES" b="1" i="0">
                <a:solidFill>
                  <a:srgbClr val="202124"/>
                </a:solidFill>
                <a:effectLst/>
                <a:latin typeface="arial" panose="020B0604020202020204" pitchFamily="34" charset="0"/>
              </a:rPr>
              <a:t>Fase</a:t>
            </a:r>
            <a:r>
              <a:rPr lang="es-ES" b="0" i="0">
                <a:solidFill>
                  <a:srgbClr val="202124"/>
                </a:solidFill>
                <a:effectLst/>
                <a:latin typeface="arial" panose="020B0604020202020204" pitchFamily="34" charset="0"/>
              </a:rPr>
              <a:t> 2: Diseño.</a:t>
            </a:r>
          </a:p>
          <a:p>
            <a:pPr algn="l">
              <a:buFont typeface="Arial" panose="020B0604020202020204" pitchFamily="34" charset="0"/>
              <a:buChar char="•"/>
            </a:pPr>
            <a:r>
              <a:rPr lang="es-ES" b="1" i="0">
                <a:solidFill>
                  <a:srgbClr val="202124"/>
                </a:solidFill>
                <a:effectLst/>
                <a:latin typeface="arial" panose="020B0604020202020204" pitchFamily="34" charset="0"/>
              </a:rPr>
              <a:t>Fase</a:t>
            </a:r>
            <a:r>
              <a:rPr lang="es-ES" b="0" i="0">
                <a:solidFill>
                  <a:srgbClr val="202124"/>
                </a:solidFill>
                <a:effectLst/>
                <a:latin typeface="arial" panose="020B0604020202020204" pitchFamily="34" charset="0"/>
              </a:rPr>
              <a:t> 3: Codificación «de todos»</a:t>
            </a:r>
          </a:p>
          <a:p>
            <a:pPr algn="l">
              <a:buFont typeface="Arial" panose="020B0604020202020204" pitchFamily="34" charset="0"/>
              <a:buChar char="•"/>
            </a:pPr>
            <a:r>
              <a:rPr lang="es-ES" b="1" i="0">
                <a:solidFill>
                  <a:srgbClr val="202124"/>
                </a:solidFill>
                <a:effectLst/>
                <a:latin typeface="arial" panose="020B0604020202020204" pitchFamily="34" charset="0"/>
              </a:rPr>
              <a:t>Fase</a:t>
            </a:r>
            <a:r>
              <a:rPr lang="es-ES" b="0" i="0">
                <a:solidFill>
                  <a:srgbClr val="202124"/>
                </a:solidFill>
                <a:effectLst/>
                <a:latin typeface="arial" panose="020B0604020202020204" pitchFamily="34" charset="0"/>
              </a:rPr>
              <a:t> 4: Pruebas.</a:t>
            </a:r>
          </a:p>
          <a:p>
            <a:pPr algn="l">
              <a:buFont typeface="Arial" panose="020B0604020202020204" pitchFamily="34" charset="0"/>
              <a:buChar char="•"/>
            </a:pPr>
            <a:r>
              <a:rPr lang="es-ES" b="1" i="0">
                <a:solidFill>
                  <a:srgbClr val="202124"/>
                </a:solidFill>
                <a:effectLst/>
                <a:latin typeface="arial" panose="020B0604020202020204" pitchFamily="34" charset="0"/>
              </a:rPr>
              <a:t>Fase</a:t>
            </a:r>
            <a:r>
              <a:rPr lang="es-ES" b="0" i="0">
                <a:solidFill>
                  <a:srgbClr val="202124"/>
                </a:solidFill>
                <a:effectLst/>
                <a:latin typeface="arial" panose="020B0604020202020204" pitchFamily="34" charset="0"/>
              </a:rPr>
              <a:t> 5: Lanzamiento.</a:t>
            </a:r>
          </a:p>
        </p:txBody>
      </p:sp>
      <p:sp>
        <p:nvSpPr>
          <p:cNvPr id="15" name="Flecha: a la derecha 14">
            <a:extLst>
              <a:ext uri="{FF2B5EF4-FFF2-40B4-BE49-F238E27FC236}">
                <a16:creationId xmlns:a16="http://schemas.microsoft.com/office/drawing/2014/main" id="{86FF6CD4-AAF9-4640-8FD2-172A58E866F0}"/>
              </a:ext>
            </a:extLst>
          </p:cNvPr>
          <p:cNvSpPr/>
          <p:nvPr/>
        </p:nvSpPr>
        <p:spPr>
          <a:xfrm>
            <a:off x="6619339" y="5172636"/>
            <a:ext cx="340659" cy="340659"/>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064618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53E548-3D00-44E4-AA7D-2702EB5AB5C8}"/>
              </a:ext>
            </a:extLst>
          </p:cNvPr>
          <p:cNvSpPr>
            <a:spLocks noGrp="1"/>
          </p:cNvSpPr>
          <p:nvPr>
            <p:ph type="title"/>
          </p:nvPr>
        </p:nvSpPr>
        <p:spPr/>
        <p:txBody>
          <a:bodyPr>
            <a:noAutofit/>
          </a:bodyPr>
          <a:lstStyle/>
          <a:p>
            <a:r>
              <a:rPr lang="es-ES" sz="3200" b="1" dirty="0"/>
              <a:t>FASES DE XP</a:t>
            </a:r>
          </a:p>
        </p:txBody>
      </p:sp>
      <p:sp>
        <p:nvSpPr>
          <p:cNvPr id="3" name="Marcador de contenido 2">
            <a:extLst>
              <a:ext uri="{FF2B5EF4-FFF2-40B4-BE49-F238E27FC236}">
                <a16:creationId xmlns:a16="http://schemas.microsoft.com/office/drawing/2014/main" id="{B3AE09F1-E83D-49AE-A9B3-9956C17C6F34}"/>
              </a:ext>
            </a:extLst>
          </p:cNvPr>
          <p:cNvSpPr>
            <a:spLocks noGrp="1"/>
          </p:cNvSpPr>
          <p:nvPr>
            <p:ph type="body" sz="quarter" idx="13"/>
          </p:nvPr>
        </p:nvSpPr>
        <p:spPr/>
        <p:txBody>
          <a:bodyPr>
            <a:normAutofit fontScale="55000" lnSpcReduction="20000"/>
          </a:bodyPr>
          <a:lstStyle/>
          <a:p>
            <a:pPr marL="0" indent="0" algn="l">
              <a:buNone/>
            </a:pPr>
            <a:r>
              <a:rPr lang="es-ES" b="1" i="0" cap="all" dirty="0">
                <a:solidFill>
                  <a:srgbClr val="404040"/>
                </a:solidFill>
                <a:effectLst/>
                <a:latin typeface="Quicksand"/>
              </a:rPr>
              <a:t>FASE 1: PLANIFICACIÓN</a:t>
            </a:r>
          </a:p>
          <a:p>
            <a:pPr algn="l" fontAlgn="base"/>
            <a:r>
              <a:rPr lang="es-ES" b="0" i="0" dirty="0">
                <a:solidFill>
                  <a:srgbClr val="333333"/>
                </a:solidFill>
                <a:effectLst/>
                <a:latin typeface="Quicksand"/>
              </a:rPr>
              <a:t>Según la identificación de las historias de usuario, se priorizan y se descomponen en </a:t>
            </a:r>
            <a:r>
              <a:rPr lang="es-ES" b="0" i="0" dirty="0" err="1">
                <a:solidFill>
                  <a:srgbClr val="333333"/>
                </a:solidFill>
                <a:effectLst/>
                <a:latin typeface="Quicksand"/>
              </a:rPr>
              <a:t>mini-versiones</a:t>
            </a:r>
            <a:r>
              <a:rPr lang="es-ES" b="0" i="0" dirty="0">
                <a:solidFill>
                  <a:srgbClr val="333333"/>
                </a:solidFill>
                <a:effectLst/>
                <a:latin typeface="Quicksand"/>
              </a:rPr>
              <a:t>. La planificación se va a ir revisando. Cada dos semanas aproximadamente de iteración, se debe obtener un software útil, funcional, listo para probar y lanzar.</a:t>
            </a:r>
          </a:p>
          <a:p>
            <a:pPr marL="0" indent="0" algn="l">
              <a:buNone/>
            </a:pPr>
            <a:r>
              <a:rPr lang="es-ES" b="1" i="0" cap="all" dirty="0">
                <a:solidFill>
                  <a:srgbClr val="404040"/>
                </a:solidFill>
                <a:effectLst/>
                <a:latin typeface="Quicksand"/>
              </a:rPr>
              <a:t>FASE 2: DISEÑO</a:t>
            </a:r>
          </a:p>
          <a:p>
            <a:pPr algn="l" fontAlgn="base"/>
            <a:r>
              <a:rPr lang="es-ES" b="0" i="0" dirty="0">
                <a:solidFill>
                  <a:srgbClr val="333333"/>
                </a:solidFill>
                <a:effectLst/>
                <a:latin typeface="Quicksand"/>
              </a:rPr>
              <a:t>En este paso se intentará trabajar con un código sencillo, haciendo lo mínimo imprescindible para que funcione. Se obtendrá el prototipo. </a:t>
            </a:r>
          </a:p>
          <a:p>
            <a:pPr marL="0" indent="0" algn="l">
              <a:buNone/>
            </a:pPr>
            <a:r>
              <a:rPr lang="es-ES" b="1" i="0" cap="all" dirty="0">
                <a:solidFill>
                  <a:srgbClr val="404040"/>
                </a:solidFill>
                <a:effectLst/>
                <a:latin typeface="Quicksand"/>
              </a:rPr>
              <a:t>FASE 3: CODIFICACIÓN «DE TODOS»</a:t>
            </a:r>
          </a:p>
          <a:p>
            <a:pPr algn="l" fontAlgn="base"/>
            <a:r>
              <a:rPr lang="es-ES" b="0" i="0" dirty="0">
                <a:solidFill>
                  <a:srgbClr val="333333"/>
                </a:solidFill>
                <a:effectLst/>
                <a:latin typeface="Quicksand"/>
              </a:rPr>
              <a:t>La programación aquí se hace «a dos manos», en parejas en frente del mismo ordenador. Incluso, a veces se intercambian las parejas. De esta forma, nos aseguramos que se realice un código más universal, con el que cualquier otro programador podría trabajar y entender.  Y es que deber parecer que ha sido realizado por una única persona. Así se conseguirá una programación organizada y planificada. </a:t>
            </a:r>
          </a:p>
          <a:p>
            <a:pPr marL="0" indent="0" algn="l">
              <a:buNone/>
            </a:pPr>
            <a:r>
              <a:rPr lang="es-ES" b="1" i="0" cap="all" dirty="0">
                <a:solidFill>
                  <a:srgbClr val="404040"/>
                </a:solidFill>
                <a:effectLst/>
                <a:latin typeface="Quicksand"/>
              </a:rPr>
              <a:t>FASE 4: PRUEBAS</a:t>
            </a:r>
          </a:p>
          <a:p>
            <a:pPr algn="l" fontAlgn="base"/>
            <a:r>
              <a:rPr lang="es-ES" b="0" i="0" dirty="0">
                <a:solidFill>
                  <a:srgbClr val="333333"/>
                </a:solidFill>
                <a:effectLst/>
                <a:latin typeface="Quicksand"/>
              </a:rPr>
              <a:t>Se deben realizar pruebas automáticas continuamente. Al tratarse normalmente de proyectos a corto plazo, este testeo automatizado y constante es clave. Además, el propio cliente puede hacer pruebas, proponer nuevas pruebas e ir validando las </a:t>
            </a:r>
            <a:r>
              <a:rPr lang="es-ES" b="0" i="0" dirty="0" err="1">
                <a:solidFill>
                  <a:srgbClr val="333333"/>
                </a:solidFill>
                <a:effectLst/>
                <a:latin typeface="Quicksand"/>
              </a:rPr>
              <a:t>mini-versiones</a:t>
            </a:r>
            <a:r>
              <a:rPr lang="es-ES" b="0" i="0" dirty="0">
                <a:solidFill>
                  <a:srgbClr val="333333"/>
                </a:solidFill>
                <a:effectLst/>
                <a:latin typeface="Quicksand"/>
              </a:rPr>
              <a:t>. </a:t>
            </a:r>
          </a:p>
          <a:p>
            <a:pPr marL="0" indent="0" algn="l">
              <a:buNone/>
            </a:pPr>
            <a:r>
              <a:rPr lang="es-ES" b="1" i="0" cap="all" dirty="0">
                <a:solidFill>
                  <a:srgbClr val="404040"/>
                </a:solidFill>
                <a:effectLst/>
                <a:latin typeface="Quicksand"/>
              </a:rPr>
              <a:t>FASE 5: LANZAMIENTO</a:t>
            </a:r>
          </a:p>
          <a:p>
            <a:pPr algn="l" fontAlgn="base"/>
            <a:r>
              <a:rPr lang="es-ES" b="0" i="0" dirty="0">
                <a:solidFill>
                  <a:srgbClr val="333333"/>
                </a:solidFill>
                <a:effectLst/>
                <a:latin typeface="Quicksand"/>
              </a:rPr>
              <a:t>Si hemos llegado a este punto, significa que hemos probado todas las historias de usuario o </a:t>
            </a:r>
            <a:r>
              <a:rPr lang="es-ES" b="0" i="0" dirty="0" err="1">
                <a:solidFill>
                  <a:srgbClr val="333333"/>
                </a:solidFill>
                <a:effectLst/>
                <a:latin typeface="Quicksand"/>
              </a:rPr>
              <a:t>mini-versiones</a:t>
            </a:r>
            <a:r>
              <a:rPr lang="es-ES" b="0" i="0" dirty="0">
                <a:solidFill>
                  <a:srgbClr val="333333"/>
                </a:solidFill>
                <a:effectLst/>
                <a:latin typeface="Quicksand"/>
              </a:rPr>
              <a:t> con éxito, ajustándonos a los requerimientos del clientes. Tenemos un software útil y podemos incorporarlo en el producto.</a:t>
            </a:r>
          </a:p>
          <a:p>
            <a:endParaRPr lang="es-ES" dirty="0"/>
          </a:p>
        </p:txBody>
      </p:sp>
      <p:pic>
        <p:nvPicPr>
          <p:cNvPr id="4" name="Imagen 3">
            <a:extLst>
              <a:ext uri="{FF2B5EF4-FFF2-40B4-BE49-F238E27FC236}">
                <a16:creationId xmlns:a16="http://schemas.microsoft.com/office/drawing/2014/main" id="{C2CDB014-3FF4-400A-8424-269DB5E8AFD9}"/>
              </a:ext>
            </a:extLst>
          </p:cNvPr>
          <p:cNvPicPr>
            <a:picLocks noChangeAspect="1"/>
          </p:cNvPicPr>
          <p:nvPr/>
        </p:nvPicPr>
        <p:blipFill>
          <a:blip r:embed="rId2"/>
          <a:stretch>
            <a:fillRect/>
          </a:stretch>
        </p:blipFill>
        <p:spPr>
          <a:xfrm>
            <a:off x="11338303" y="-3986"/>
            <a:ext cx="936429" cy="569450"/>
          </a:xfrm>
          <a:prstGeom prst="rect">
            <a:avLst/>
          </a:prstGeom>
        </p:spPr>
      </p:pic>
    </p:spTree>
    <p:extLst>
      <p:ext uri="{BB962C8B-B14F-4D97-AF65-F5344CB8AC3E}">
        <p14:creationId xmlns:p14="http://schemas.microsoft.com/office/powerpoint/2010/main" val="158896646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C4BA5E-72A3-428E-A472-DB66B668FF24}"/>
              </a:ext>
            </a:extLst>
          </p:cNvPr>
          <p:cNvSpPr>
            <a:spLocks noGrp="1"/>
          </p:cNvSpPr>
          <p:nvPr>
            <p:ph type="title"/>
          </p:nvPr>
        </p:nvSpPr>
        <p:spPr/>
        <p:txBody>
          <a:bodyPr>
            <a:noAutofit/>
          </a:bodyPr>
          <a:lstStyle/>
          <a:p>
            <a:r>
              <a:rPr lang="es-ES" sz="3200" b="1" dirty="0"/>
              <a:t>Método </a:t>
            </a:r>
            <a:r>
              <a:rPr lang="es-ES" sz="3200" b="1" dirty="0" err="1"/>
              <a:t>kanban</a:t>
            </a:r>
            <a:endParaRPr lang="es-ES" sz="3200" b="1" dirty="0"/>
          </a:p>
        </p:txBody>
      </p:sp>
      <p:sp>
        <p:nvSpPr>
          <p:cNvPr id="3" name="Marcador de contenido 2">
            <a:extLst>
              <a:ext uri="{FF2B5EF4-FFF2-40B4-BE49-F238E27FC236}">
                <a16:creationId xmlns:a16="http://schemas.microsoft.com/office/drawing/2014/main" id="{A9EE427E-A8CF-4F9C-B113-AC3481184677}"/>
              </a:ext>
            </a:extLst>
          </p:cNvPr>
          <p:cNvSpPr>
            <a:spLocks noGrp="1"/>
          </p:cNvSpPr>
          <p:nvPr>
            <p:ph type="body" sz="quarter" idx="13"/>
          </p:nvPr>
        </p:nvSpPr>
        <p:spPr>
          <a:xfrm>
            <a:off x="233358" y="958206"/>
            <a:ext cx="12191999" cy="4885142"/>
          </a:xfrm>
        </p:spPr>
        <p:txBody>
          <a:bodyPr>
            <a:normAutofit/>
          </a:bodyPr>
          <a:lstStyle/>
          <a:p>
            <a:r>
              <a:rPr lang="es-ES" sz="2000" dirty="0"/>
              <a:t>Kanban es un método para gestionar el trabajo que surgió en Toyota </a:t>
            </a:r>
            <a:r>
              <a:rPr lang="es-ES" sz="2000" dirty="0" err="1"/>
              <a:t>Production</a:t>
            </a:r>
            <a:r>
              <a:rPr lang="es-ES" sz="2000" dirty="0"/>
              <a:t> </a:t>
            </a:r>
            <a:r>
              <a:rPr lang="es-ES" sz="2000" dirty="0" err="1"/>
              <a:t>System</a:t>
            </a:r>
            <a:r>
              <a:rPr lang="es-ES" sz="2000" dirty="0"/>
              <a:t> (TPS). ... La palabra Kanban viene del japonés y traducida literalmente quiere decir tarjeta con signos o señal visual. El tablero más básico de Kanban está compuesto por tres columnas: “Por hacer”, “En proceso” y “Hecho”</a:t>
            </a:r>
          </a:p>
          <a:p>
            <a:pPr marL="0" indent="0">
              <a:buNone/>
            </a:pPr>
            <a:r>
              <a:rPr lang="es-ES" sz="2000" b="1" dirty="0"/>
              <a:t>KANBAN BÁSICO</a:t>
            </a:r>
          </a:p>
        </p:txBody>
      </p:sp>
      <p:graphicFrame>
        <p:nvGraphicFramePr>
          <p:cNvPr id="5" name="Tabla 5">
            <a:extLst>
              <a:ext uri="{FF2B5EF4-FFF2-40B4-BE49-F238E27FC236}">
                <a16:creationId xmlns:a16="http://schemas.microsoft.com/office/drawing/2014/main" id="{CFF5FF68-5C34-4731-9151-2F93BA1B7E1D}"/>
              </a:ext>
            </a:extLst>
          </p:cNvPr>
          <p:cNvGraphicFramePr>
            <a:graphicFrameLocks noGrp="1"/>
          </p:cNvGraphicFramePr>
          <p:nvPr/>
        </p:nvGraphicFramePr>
        <p:xfrm>
          <a:off x="385482" y="2670914"/>
          <a:ext cx="9111132" cy="1928500"/>
        </p:xfrm>
        <a:graphic>
          <a:graphicData uri="http://schemas.openxmlformats.org/drawingml/2006/table">
            <a:tbl>
              <a:tblPr firstRow="1" bandRow="1">
                <a:tableStyleId>{5C22544A-7EE6-4342-B048-85BDC9FD1C3A}</a:tableStyleId>
              </a:tblPr>
              <a:tblGrid>
                <a:gridCol w="2956362">
                  <a:extLst>
                    <a:ext uri="{9D8B030D-6E8A-4147-A177-3AD203B41FA5}">
                      <a16:colId xmlns:a16="http://schemas.microsoft.com/office/drawing/2014/main" val="2052027454"/>
                    </a:ext>
                  </a:extLst>
                </a:gridCol>
                <a:gridCol w="3077385">
                  <a:extLst>
                    <a:ext uri="{9D8B030D-6E8A-4147-A177-3AD203B41FA5}">
                      <a16:colId xmlns:a16="http://schemas.microsoft.com/office/drawing/2014/main" val="4128583807"/>
                    </a:ext>
                  </a:extLst>
                </a:gridCol>
                <a:gridCol w="3077385">
                  <a:extLst>
                    <a:ext uri="{9D8B030D-6E8A-4147-A177-3AD203B41FA5}">
                      <a16:colId xmlns:a16="http://schemas.microsoft.com/office/drawing/2014/main" val="2490076634"/>
                    </a:ext>
                  </a:extLst>
                </a:gridCol>
              </a:tblGrid>
              <a:tr h="356276">
                <a:tc>
                  <a:txBody>
                    <a:bodyPr/>
                    <a:lstStyle/>
                    <a:p>
                      <a:pPr algn="ctr"/>
                      <a:r>
                        <a:rPr lang="es-ES" dirty="0"/>
                        <a:t>POR HACER</a:t>
                      </a:r>
                    </a:p>
                  </a:txBody>
                  <a:tcPr anchor="ctr"/>
                </a:tc>
                <a:tc>
                  <a:txBody>
                    <a:bodyPr/>
                    <a:lstStyle/>
                    <a:p>
                      <a:pPr algn="ctr"/>
                      <a:r>
                        <a:rPr lang="es-ES" dirty="0"/>
                        <a:t>EN PROCESO</a:t>
                      </a:r>
                    </a:p>
                  </a:txBody>
                  <a:tcPr anchor="ctr"/>
                </a:tc>
                <a:tc>
                  <a:txBody>
                    <a:bodyPr/>
                    <a:lstStyle/>
                    <a:p>
                      <a:pPr algn="ctr"/>
                      <a:r>
                        <a:rPr lang="es-ES" dirty="0"/>
                        <a:t>HECHO</a:t>
                      </a:r>
                    </a:p>
                  </a:txBody>
                  <a:tcPr anchor="ctr"/>
                </a:tc>
                <a:extLst>
                  <a:ext uri="{0D108BD9-81ED-4DB2-BD59-A6C34878D82A}">
                    <a16:rowId xmlns:a16="http://schemas.microsoft.com/office/drawing/2014/main" val="1532185131"/>
                  </a:ext>
                </a:extLst>
              </a:tr>
              <a:tr h="781370">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557825449"/>
                  </a:ext>
                </a:extLst>
              </a:tr>
              <a:tr h="781370">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35242933"/>
                  </a:ext>
                </a:extLst>
              </a:tr>
            </a:tbl>
          </a:graphicData>
        </a:graphic>
      </p:graphicFrame>
      <p:pic>
        <p:nvPicPr>
          <p:cNvPr id="7" name="Picture 2" descr="Nota, Nota Adhesiva, Papel, Escocés">
            <a:extLst>
              <a:ext uri="{FF2B5EF4-FFF2-40B4-BE49-F238E27FC236}">
                <a16:creationId xmlns:a16="http://schemas.microsoft.com/office/drawing/2014/main" id="{C8CBED20-C84E-4914-BECA-472E4B7B85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0902" y="3073417"/>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Nota, Nota Adhesiva, Papel, Escocés">
            <a:extLst>
              <a:ext uri="{FF2B5EF4-FFF2-40B4-BE49-F238E27FC236}">
                <a16:creationId xmlns:a16="http://schemas.microsoft.com/office/drawing/2014/main" id="{CB3CDDA3-E09D-4F08-98D3-6828267F05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969" y="3752086"/>
            <a:ext cx="1114637" cy="8167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ota, Nota Adhesiva, Papel, Escocés">
            <a:extLst>
              <a:ext uri="{FF2B5EF4-FFF2-40B4-BE49-F238E27FC236}">
                <a16:creationId xmlns:a16="http://schemas.microsoft.com/office/drawing/2014/main" id="{D10CE76E-C87C-4344-818B-53652D798E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945" y="3074128"/>
            <a:ext cx="1114637" cy="8167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Nota, Nota Adhesiva, Papel, Escocés">
            <a:extLst>
              <a:ext uri="{FF2B5EF4-FFF2-40B4-BE49-F238E27FC236}">
                <a16:creationId xmlns:a16="http://schemas.microsoft.com/office/drawing/2014/main" id="{395360F1-8915-42C0-9215-E4460BC0CF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2869" y="3063742"/>
            <a:ext cx="1114638" cy="8167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a 5">
            <a:extLst>
              <a:ext uri="{FF2B5EF4-FFF2-40B4-BE49-F238E27FC236}">
                <a16:creationId xmlns:a16="http://schemas.microsoft.com/office/drawing/2014/main" id="{A493D89D-F628-497F-B73A-4019832F0142}"/>
              </a:ext>
            </a:extLst>
          </p:cNvPr>
          <p:cNvGraphicFramePr>
            <a:graphicFrameLocks noGrp="1"/>
          </p:cNvGraphicFramePr>
          <p:nvPr/>
        </p:nvGraphicFramePr>
        <p:xfrm>
          <a:off x="385482" y="5093859"/>
          <a:ext cx="9111134" cy="1548988"/>
        </p:xfrm>
        <a:graphic>
          <a:graphicData uri="http://schemas.openxmlformats.org/drawingml/2006/table">
            <a:tbl>
              <a:tblPr firstRow="1" bandRow="1">
                <a:tableStyleId>{5C22544A-7EE6-4342-B048-85BDC9FD1C3A}</a:tableStyleId>
              </a:tblPr>
              <a:tblGrid>
                <a:gridCol w="1764442">
                  <a:extLst>
                    <a:ext uri="{9D8B030D-6E8A-4147-A177-3AD203B41FA5}">
                      <a16:colId xmlns:a16="http://schemas.microsoft.com/office/drawing/2014/main" val="2052027454"/>
                    </a:ext>
                  </a:extLst>
                </a:gridCol>
                <a:gridCol w="1836673">
                  <a:extLst>
                    <a:ext uri="{9D8B030D-6E8A-4147-A177-3AD203B41FA5}">
                      <a16:colId xmlns:a16="http://schemas.microsoft.com/office/drawing/2014/main" val="4128583807"/>
                    </a:ext>
                  </a:extLst>
                </a:gridCol>
                <a:gridCol w="1836673">
                  <a:extLst>
                    <a:ext uri="{9D8B030D-6E8A-4147-A177-3AD203B41FA5}">
                      <a16:colId xmlns:a16="http://schemas.microsoft.com/office/drawing/2014/main" val="2490076634"/>
                    </a:ext>
                  </a:extLst>
                </a:gridCol>
                <a:gridCol w="1836673">
                  <a:extLst>
                    <a:ext uri="{9D8B030D-6E8A-4147-A177-3AD203B41FA5}">
                      <a16:colId xmlns:a16="http://schemas.microsoft.com/office/drawing/2014/main" val="2229419154"/>
                    </a:ext>
                  </a:extLst>
                </a:gridCol>
                <a:gridCol w="1836673">
                  <a:extLst>
                    <a:ext uri="{9D8B030D-6E8A-4147-A177-3AD203B41FA5}">
                      <a16:colId xmlns:a16="http://schemas.microsoft.com/office/drawing/2014/main" val="2754787980"/>
                    </a:ext>
                  </a:extLst>
                </a:gridCol>
              </a:tblGrid>
              <a:tr h="394754">
                <a:tc>
                  <a:txBody>
                    <a:bodyPr/>
                    <a:lstStyle/>
                    <a:p>
                      <a:pPr algn="ctr"/>
                      <a:r>
                        <a:rPr lang="es-ES" dirty="0"/>
                        <a:t>HISTORIA</a:t>
                      </a:r>
                    </a:p>
                  </a:txBody>
                  <a:tcPr anchor="ctr"/>
                </a:tc>
                <a:tc>
                  <a:txBody>
                    <a:bodyPr/>
                    <a:lstStyle/>
                    <a:p>
                      <a:pPr algn="ctr"/>
                      <a:r>
                        <a:rPr lang="es-ES" dirty="0"/>
                        <a:t>POR HACER</a:t>
                      </a:r>
                    </a:p>
                  </a:txBody>
                  <a:tcPr anchor="ctr"/>
                </a:tc>
                <a:tc>
                  <a:txBody>
                    <a:bodyPr/>
                    <a:lstStyle/>
                    <a:p>
                      <a:pPr algn="ctr"/>
                      <a:r>
                        <a:rPr lang="es-ES" dirty="0"/>
                        <a:t>EN PROCESO</a:t>
                      </a:r>
                    </a:p>
                  </a:txBody>
                  <a:tcPr anchor="ctr"/>
                </a:tc>
                <a:tc>
                  <a:txBody>
                    <a:bodyPr/>
                    <a:lstStyle/>
                    <a:p>
                      <a:pPr algn="ctr"/>
                      <a:r>
                        <a:rPr lang="es-ES" dirty="0"/>
                        <a:t>TESTEAR</a:t>
                      </a:r>
                    </a:p>
                  </a:txBody>
                  <a:tcPr anchor="ctr"/>
                </a:tc>
                <a:tc>
                  <a:txBody>
                    <a:bodyPr/>
                    <a:lstStyle/>
                    <a:p>
                      <a:pPr algn="ctr"/>
                      <a:r>
                        <a:rPr lang="es-ES" dirty="0"/>
                        <a:t>HECHO</a:t>
                      </a:r>
                    </a:p>
                  </a:txBody>
                  <a:tcPr anchor="ctr"/>
                </a:tc>
                <a:extLst>
                  <a:ext uri="{0D108BD9-81ED-4DB2-BD59-A6C34878D82A}">
                    <a16:rowId xmlns:a16="http://schemas.microsoft.com/office/drawing/2014/main" val="1532185131"/>
                  </a:ext>
                </a:extLst>
              </a:tr>
              <a:tr h="607542">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557825449"/>
                  </a:ext>
                </a:extLst>
              </a:tr>
              <a:tr h="546692">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35242933"/>
                  </a:ext>
                </a:extLst>
              </a:tr>
            </a:tbl>
          </a:graphicData>
        </a:graphic>
      </p:graphicFrame>
      <p:sp>
        <p:nvSpPr>
          <p:cNvPr id="6" name="CuadroTexto 5">
            <a:extLst>
              <a:ext uri="{FF2B5EF4-FFF2-40B4-BE49-F238E27FC236}">
                <a16:creationId xmlns:a16="http://schemas.microsoft.com/office/drawing/2014/main" id="{03EF1770-63BA-4B2E-9E3F-93F3094919D2}"/>
              </a:ext>
            </a:extLst>
          </p:cNvPr>
          <p:cNvSpPr txBox="1"/>
          <p:nvPr/>
        </p:nvSpPr>
        <p:spPr>
          <a:xfrm>
            <a:off x="103094" y="4586236"/>
            <a:ext cx="3275064" cy="523220"/>
          </a:xfrm>
          <a:prstGeom prst="rect">
            <a:avLst/>
          </a:prstGeom>
          <a:noFill/>
        </p:spPr>
        <p:txBody>
          <a:bodyPr wrap="none" rtlCol="0">
            <a:spAutoFit/>
          </a:bodyPr>
          <a:lstStyle/>
          <a:p>
            <a:r>
              <a:rPr lang="es-ES" sz="2800" b="1" dirty="0"/>
              <a:t>KANBAN AVANZADO</a:t>
            </a:r>
          </a:p>
        </p:txBody>
      </p:sp>
      <p:pic>
        <p:nvPicPr>
          <p:cNvPr id="14" name="Picture 2" descr="Nota, Nota Adhesiva, Papel, Escocés">
            <a:extLst>
              <a:ext uri="{FF2B5EF4-FFF2-40B4-BE49-F238E27FC236}">
                <a16:creationId xmlns:a16="http://schemas.microsoft.com/office/drawing/2014/main" id="{762A0E64-8A76-4F40-AB4B-DDF4021539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102" y="5469742"/>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3BA40D4E-9017-4450-9E39-75B1C5F45738}"/>
              </a:ext>
            </a:extLst>
          </p:cNvPr>
          <p:cNvPicPr>
            <a:picLocks noChangeAspect="1" noChangeArrowheads="1"/>
          </p:cNvPicPr>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820230" y="6082307"/>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49B90D4D-FB7C-4F78-BE44-7E0C4638535E}"/>
              </a:ext>
            </a:extLst>
          </p:cNvPr>
          <p:cNvPicPr>
            <a:picLocks noChangeAspect="1" noChangeArrowheads="1"/>
          </p:cNvPicPr>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2585197" y="5457029"/>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ota, Nota Adhesiva, Papel, Escocés">
            <a:extLst>
              <a:ext uri="{FF2B5EF4-FFF2-40B4-BE49-F238E27FC236}">
                <a16:creationId xmlns:a16="http://schemas.microsoft.com/office/drawing/2014/main" id="{F612995D-2F85-4A21-A3D8-3008739EC6B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85197" y="6067205"/>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ota, Nota Adhesiva, Papel, Escocés">
            <a:extLst>
              <a:ext uri="{FF2B5EF4-FFF2-40B4-BE49-F238E27FC236}">
                <a16:creationId xmlns:a16="http://schemas.microsoft.com/office/drawing/2014/main" id="{97FDA322-B67C-42FB-AD72-23060699896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49687" y="5517024"/>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Nota, Nota Adhesiva, Papel, Escocés">
            <a:extLst>
              <a:ext uri="{FF2B5EF4-FFF2-40B4-BE49-F238E27FC236}">
                <a16:creationId xmlns:a16="http://schemas.microsoft.com/office/drawing/2014/main" id="{BFD0C970-F9C8-4352-ACA8-78ADDB59A3C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49113" y="5486601"/>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Nota, Nota Adhesiva, Papel, Escocés">
            <a:extLst>
              <a:ext uri="{FF2B5EF4-FFF2-40B4-BE49-F238E27FC236}">
                <a16:creationId xmlns:a16="http://schemas.microsoft.com/office/drawing/2014/main" id="{EB2B0BEC-096C-480E-976B-FE096DE6EAE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7858" y="6043288"/>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Nota, Nota Adhesiva, Papel, Escocés">
            <a:extLst>
              <a:ext uri="{FF2B5EF4-FFF2-40B4-BE49-F238E27FC236}">
                <a16:creationId xmlns:a16="http://schemas.microsoft.com/office/drawing/2014/main" id="{38051D04-A606-40E0-84BD-3B5679CD92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6029" y="5493659"/>
            <a:ext cx="782722" cy="57354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Nota, Nota Adhesiva, Papel, Escocés">
            <a:extLst>
              <a:ext uri="{FF2B5EF4-FFF2-40B4-BE49-F238E27FC236}">
                <a16:creationId xmlns:a16="http://schemas.microsoft.com/office/drawing/2014/main" id="{515C4926-7E61-4107-BF57-0D2FBB2F9C0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6029" y="6090570"/>
            <a:ext cx="782722" cy="573546"/>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86648837-2393-4A4B-9070-14CE83971FFC}"/>
              </a:ext>
            </a:extLst>
          </p:cNvPr>
          <p:cNvSpPr txBox="1"/>
          <p:nvPr/>
        </p:nvSpPr>
        <p:spPr>
          <a:xfrm>
            <a:off x="9850996" y="2552908"/>
            <a:ext cx="2231861" cy="4031873"/>
          </a:xfrm>
          <a:prstGeom prst="rect">
            <a:avLst/>
          </a:prstGeom>
          <a:solidFill>
            <a:srgbClr val="FF0000"/>
          </a:solidFill>
        </p:spPr>
        <p:txBody>
          <a:bodyPr wrap="square" rtlCol="0">
            <a:spAutoFit/>
          </a:bodyPr>
          <a:lstStyle/>
          <a:p>
            <a:r>
              <a:rPr lang="es-ES" sz="1600" b="1" dirty="0">
                <a:solidFill>
                  <a:schemeClr val="bg1"/>
                </a:solidFill>
              </a:rPr>
              <a:t>TENER CUIDADO</a:t>
            </a:r>
          </a:p>
          <a:p>
            <a:r>
              <a:rPr lang="es-ES" sz="1600" b="1" dirty="0">
                <a:solidFill>
                  <a:schemeClr val="bg1"/>
                </a:solidFill>
              </a:rPr>
              <a:t>CON LOS CUELLOS DE </a:t>
            </a:r>
          </a:p>
          <a:p>
            <a:r>
              <a:rPr lang="es-ES" sz="1600" b="1" dirty="0">
                <a:solidFill>
                  <a:schemeClr val="bg1"/>
                </a:solidFill>
              </a:rPr>
              <a:t>BOTELLA: POR EJEMPLO</a:t>
            </a:r>
          </a:p>
          <a:p>
            <a:r>
              <a:rPr lang="es-ES" sz="1600" b="1" dirty="0">
                <a:solidFill>
                  <a:schemeClr val="bg1"/>
                </a:solidFill>
              </a:rPr>
              <a:t>SI VOY AÑADIENDO EN TESTEAR</a:t>
            </a:r>
          </a:p>
          <a:p>
            <a:r>
              <a:rPr lang="es-ES" sz="1600" b="1" dirty="0">
                <a:solidFill>
                  <a:schemeClr val="bg1"/>
                </a:solidFill>
              </a:rPr>
              <a:t>Y LA CAPACIDAD DE TESTEAR</a:t>
            </a:r>
          </a:p>
          <a:p>
            <a:r>
              <a:rPr lang="es-ES" sz="1600" b="1" dirty="0">
                <a:solidFill>
                  <a:schemeClr val="bg1"/>
                </a:solidFill>
              </a:rPr>
              <a:t>HA SIDO SUPERADO, DEBO</a:t>
            </a:r>
          </a:p>
          <a:p>
            <a:r>
              <a:rPr lang="es-ES" sz="1600" b="1" dirty="0">
                <a:solidFill>
                  <a:schemeClr val="bg1"/>
                </a:solidFill>
              </a:rPr>
              <a:t>TRANSFERIR RECURSOS DE UN AREA</a:t>
            </a:r>
          </a:p>
          <a:p>
            <a:r>
              <a:rPr lang="es-ES" sz="1600" b="1" dirty="0">
                <a:solidFill>
                  <a:schemeClr val="bg1"/>
                </a:solidFill>
              </a:rPr>
              <a:t>A OTRA, ES DECIR QUE EL DESARROLLADOR</a:t>
            </a:r>
          </a:p>
          <a:p>
            <a:r>
              <a:rPr lang="es-ES" sz="1600" b="1" dirty="0">
                <a:solidFill>
                  <a:schemeClr val="bg1"/>
                </a:solidFill>
              </a:rPr>
              <a:t>PASE A TESTEO, HASA SOLUCIONAR</a:t>
            </a:r>
          </a:p>
          <a:p>
            <a:r>
              <a:rPr lang="es-ES" sz="1600" b="1" dirty="0">
                <a:solidFill>
                  <a:schemeClr val="bg1"/>
                </a:solidFill>
              </a:rPr>
              <a:t>EL CUELLO DE BOTELLA.</a:t>
            </a:r>
          </a:p>
        </p:txBody>
      </p:sp>
      <p:pic>
        <p:nvPicPr>
          <p:cNvPr id="24" name="Imagen 23">
            <a:extLst>
              <a:ext uri="{FF2B5EF4-FFF2-40B4-BE49-F238E27FC236}">
                <a16:creationId xmlns:a16="http://schemas.microsoft.com/office/drawing/2014/main" id="{750745B9-C00F-4A35-B757-482566B8FB18}"/>
              </a:ext>
            </a:extLst>
          </p:cNvPr>
          <p:cNvPicPr>
            <a:picLocks noChangeAspect="1"/>
          </p:cNvPicPr>
          <p:nvPr/>
        </p:nvPicPr>
        <p:blipFill>
          <a:blip r:embed="rId5"/>
          <a:stretch>
            <a:fillRect/>
          </a:stretch>
        </p:blipFill>
        <p:spPr>
          <a:xfrm>
            <a:off x="11338303" y="-3986"/>
            <a:ext cx="936429" cy="569450"/>
          </a:xfrm>
          <a:prstGeom prst="rect">
            <a:avLst/>
          </a:prstGeom>
        </p:spPr>
      </p:pic>
    </p:spTree>
    <p:extLst>
      <p:ext uri="{BB962C8B-B14F-4D97-AF65-F5344CB8AC3E}">
        <p14:creationId xmlns:p14="http://schemas.microsoft.com/office/powerpoint/2010/main" val="28832988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EAF0FF-4202-4509-8F73-36079D1FF9B7}"/>
              </a:ext>
            </a:extLst>
          </p:cNvPr>
          <p:cNvSpPr>
            <a:spLocks noGrp="1"/>
          </p:cNvSpPr>
          <p:nvPr>
            <p:ph type="title"/>
          </p:nvPr>
        </p:nvSpPr>
        <p:spPr/>
        <p:txBody>
          <a:bodyPr/>
          <a:lstStyle/>
          <a:p>
            <a:r>
              <a:rPr lang="es-ES" dirty="0"/>
              <a:t>Objetivos y </a:t>
            </a:r>
            <a:r>
              <a:rPr lang="es-ES"/>
              <a:t>principio del método  </a:t>
            </a:r>
            <a:r>
              <a:rPr lang="es-ES" dirty="0"/>
              <a:t>Kanban</a:t>
            </a:r>
          </a:p>
        </p:txBody>
      </p:sp>
      <p:sp>
        <p:nvSpPr>
          <p:cNvPr id="3" name="Marcador de contenido 2">
            <a:extLst>
              <a:ext uri="{FF2B5EF4-FFF2-40B4-BE49-F238E27FC236}">
                <a16:creationId xmlns:a16="http://schemas.microsoft.com/office/drawing/2014/main" id="{9A8518DD-7DBF-4A8A-895B-58C3FE19A2BD}"/>
              </a:ext>
            </a:extLst>
          </p:cNvPr>
          <p:cNvSpPr>
            <a:spLocks noGrp="1"/>
          </p:cNvSpPr>
          <p:nvPr>
            <p:ph type="body" sz="quarter" idx="13"/>
          </p:nvPr>
        </p:nvSpPr>
        <p:spPr/>
        <p:txBody>
          <a:bodyPr/>
          <a:lstStyle/>
          <a:p>
            <a:r>
              <a:rPr lang="es-ES" b="1" dirty="0"/>
              <a:t>Visualizar el flujo de trabajo</a:t>
            </a:r>
          </a:p>
          <a:p>
            <a:r>
              <a:rPr lang="es-ES" b="1" dirty="0"/>
              <a:t>Desglosar el trabajo</a:t>
            </a:r>
          </a:p>
          <a:p>
            <a:r>
              <a:rPr lang="es-ES" b="1" dirty="0"/>
              <a:t>Delimitar el limite de trabajo en curso (</a:t>
            </a:r>
            <a:r>
              <a:rPr lang="es-ES" b="1" dirty="0" err="1"/>
              <a:t>Work</a:t>
            </a:r>
            <a:r>
              <a:rPr lang="es-ES" b="1" dirty="0"/>
              <a:t> in </a:t>
            </a:r>
            <a:r>
              <a:rPr lang="es-ES" b="1" dirty="0" err="1"/>
              <a:t>progress</a:t>
            </a:r>
            <a:r>
              <a:rPr lang="es-ES" b="1" dirty="0"/>
              <a:t>)</a:t>
            </a:r>
          </a:p>
          <a:p>
            <a:r>
              <a:rPr lang="es-ES" b="1" dirty="0"/>
              <a:t>Medir el tiempo el completar una tarea(Lead time)</a:t>
            </a:r>
          </a:p>
          <a:p>
            <a:endParaRPr lang="es-ES" dirty="0"/>
          </a:p>
        </p:txBody>
      </p:sp>
      <p:pic>
        <p:nvPicPr>
          <p:cNvPr id="4" name="Imagen 3">
            <a:extLst>
              <a:ext uri="{FF2B5EF4-FFF2-40B4-BE49-F238E27FC236}">
                <a16:creationId xmlns:a16="http://schemas.microsoft.com/office/drawing/2014/main" id="{39C3F8A3-9B07-4CCA-BAF9-870E09F9FF80}"/>
              </a:ext>
            </a:extLst>
          </p:cNvPr>
          <p:cNvPicPr>
            <a:picLocks noChangeAspect="1"/>
          </p:cNvPicPr>
          <p:nvPr/>
        </p:nvPicPr>
        <p:blipFill>
          <a:blip r:embed="rId2"/>
          <a:stretch>
            <a:fillRect/>
          </a:stretch>
        </p:blipFill>
        <p:spPr>
          <a:xfrm>
            <a:off x="11338303" y="-3986"/>
            <a:ext cx="936429" cy="569450"/>
          </a:xfrm>
          <a:prstGeom prst="rect">
            <a:avLst/>
          </a:prstGeom>
        </p:spPr>
      </p:pic>
    </p:spTree>
    <p:extLst>
      <p:ext uri="{BB962C8B-B14F-4D97-AF65-F5344CB8AC3E}">
        <p14:creationId xmlns:p14="http://schemas.microsoft.com/office/powerpoint/2010/main" val="3476872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80D2D-E503-43D8-87A9-269CE426715C}"/>
              </a:ext>
            </a:extLst>
          </p:cNvPr>
          <p:cNvSpPr>
            <a:spLocks noGrp="1"/>
          </p:cNvSpPr>
          <p:nvPr>
            <p:ph type="title"/>
          </p:nvPr>
        </p:nvSpPr>
        <p:spPr/>
        <p:txBody>
          <a:bodyPr>
            <a:normAutofit/>
          </a:bodyPr>
          <a:lstStyle/>
          <a:p>
            <a:r>
              <a:rPr lang="es-ES" sz="4000" b="1" dirty="0"/>
              <a:t>Ejemplo de Kanban para el desarrollo de software</a:t>
            </a:r>
          </a:p>
        </p:txBody>
      </p:sp>
      <p:sp>
        <p:nvSpPr>
          <p:cNvPr id="3" name="Marcador de texto 2">
            <a:extLst>
              <a:ext uri="{FF2B5EF4-FFF2-40B4-BE49-F238E27FC236}">
                <a16:creationId xmlns:a16="http://schemas.microsoft.com/office/drawing/2014/main" id="{7F8B8F92-90D9-FDE2-F5E9-A57B2D5B2E21}"/>
              </a:ext>
            </a:extLst>
          </p:cNvPr>
          <p:cNvSpPr>
            <a:spLocks noGrp="1"/>
          </p:cNvSpPr>
          <p:nvPr>
            <p:ph type="body" sz="quarter" idx="13"/>
          </p:nvPr>
        </p:nvSpPr>
        <p:spPr/>
        <p:txBody>
          <a:bodyPr/>
          <a:lstStyle/>
          <a:p>
            <a:endParaRPr lang="es-ES"/>
          </a:p>
        </p:txBody>
      </p:sp>
      <p:sp>
        <p:nvSpPr>
          <p:cNvPr id="5" name="Rectángulo 4">
            <a:extLst>
              <a:ext uri="{FF2B5EF4-FFF2-40B4-BE49-F238E27FC236}">
                <a16:creationId xmlns:a16="http://schemas.microsoft.com/office/drawing/2014/main" id="{1467997F-C594-415A-9861-138FD9477D2D}"/>
              </a:ext>
            </a:extLst>
          </p:cNvPr>
          <p:cNvSpPr/>
          <p:nvPr/>
        </p:nvSpPr>
        <p:spPr>
          <a:xfrm>
            <a:off x="860612" y="1066800"/>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PENDIENTE</a:t>
            </a:r>
          </a:p>
        </p:txBody>
      </p:sp>
      <p:sp>
        <p:nvSpPr>
          <p:cNvPr id="6" name="Rectángulo 5">
            <a:extLst>
              <a:ext uri="{FF2B5EF4-FFF2-40B4-BE49-F238E27FC236}">
                <a16:creationId xmlns:a16="http://schemas.microsoft.com/office/drawing/2014/main" id="{FC8C7396-0359-4143-824E-F4FDD4930AB5}"/>
              </a:ext>
            </a:extLst>
          </p:cNvPr>
          <p:cNvSpPr/>
          <p:nvPr/>
        </p:nvSpPr>
        <p:spPr>
          <a:xfrm>
            <a:off x="2707340" y="918638"/>
            <a:ext cx="1891553" cy="757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LISTO PARA EMPEZAR</a:t>
            </a:r>
          </a:p>
          <a:p>
            <a:pPr algn="ctr"/>
            <a:r>
              <a:rPr lang="es-ES" dirty="0"/>
              <a:t>4</a:t>
            </a:r>
          </a:p>
        </p:txBody>
      </p:sp>
      <p:sp>
        <p:nvSpPr>
          <p:cNvPr id="7" name="Rectángulo 6">
            <a:extLst>
              <a:ext uri="{FF2B5EF4-FFF2-40B4-BE49-F238E27FC236}">
                <a16:creationId xmlns:a16="http://schemas.microsoft.com/office/drawing/2014/main" id="{5226AE74-DFD6-4977-8695-1B3B72826B8F}"/>
              </a:ext>
            </a:extLst>
          </p:cNvPr>
          <p:cNvSpPr/>
          <p:nvPr/>
        </p:nvSpPr>
        <p:spPr>
          <a:xfrm>
            <a:off x="5719752" y="812416"/>
            <a:ext cx="1891553" cy="757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DESARROLLO</a:t>
            </a:r>
          </a:p>
          <a:p>
            <a:pPr algn="ctr"/>
            <a:r>
              <a:rPr lang="es-ES" dirty="0"/>
              <a:t>2</a:t>
            </a:r>
          </a:p>
        </p:txBody>
      </p:sp>
      <p:sp>
        <p:nvSpPr>
          <p:cNvPr id="8" name="Rectángulo 7">
            <a:extLst>
              <a:ext uri="{FF2B5EF4-FFF2-40B4-BE49-F238E27FC236}">
                <a16:creationId xmlns:a16="http://schemas.microsoft.com/office/drawing/2014/main" id="{57E699AE-E5A3-4640-8E1C-1D292F2B37AF}"/>
              </a:ext>
            </a:extLst>
          </p:cNvPr>
          <p:cNvSpPr/>
          <p:nvPr/>
        </p:nvSpPr>
        <p:spPr>
          <a:xfrm>
            <a:off x="5046056" y="1599263"/>
            <a:ext cx="1524000" cy="6096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HACIENDO</a:t>
            </a:r>
          </a:p>
        </p:txBody>
      </p:sp>
      <p:sp>
        <p:nvSpPr>
          <p:cNvPr id="9" name="Rectángulo 8">
            <a:extLst>
              <a:ext uri="{FF2B5EF4-FFF2-40B4-BE49-F238E27FC236}">
                <a16:creationId xmlns:a16="http://schemas.microsoft.com/office/drawing/2014/main" id="{131B56D1-243B-45D9-9DF5-67DE81F3B1BF}"/>
              </a:ext>
            </a:extLst>
          </p:cNvPr>
          <p:cNvSpPr/>
          <p:nvPr/>
        </p:nvSpPr>
        <p:spPr>
          <a:xfrm>
            <a:off x="6758315" y="1572023"/>
            <a:ext cx="1524000" cy="6096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 dirty="0"/>
              <a:t>LISTO</a:t>
            </a:r>
          </a:p>
        </p:txBody>
      </p:sp>
      <p:sp>
        <p:nvSpPr>
          <p:cNvPr id="10" name="Rectángulo 9">
            <a:extLst>
              <a:ext uri="{FF2B5EF4-FFF2-40B4-BE49-F238E27FC236}">
                <a16:creationId xmlns:a16="http://schemas.microsoft.com/office/drawing/2014/main" id="{5990F55A-53A6-4132-95C5-FE1ABA26C1BD}"/>
              </a:ext>
            </a:extLst>
          </p:cNvPr>
          <p:cNvSpPr/>
          <p:nvPr/>
        </p:nvSpPr>
        <p:spPr>
          <a:xfrm>
            <a:off x="8622974" y="1034487"/>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VALIDAR</a:t>
            </a:r>
          </a:p>
        </p:txBody>
      </p:sp>
      <p:sp>
        <p:nvSpPr>
          <p:cNvPr id="11" name="Rectángulo 10">
            <a:extLst>
              <a:ext uri="{FF2B5EF4-FFF2-40B4-BE49-F238E27FC236}">
                <a16:creationId xmlns:a16="http://schemas.microsoft.com/office/drawing/2014/main" id="{12649CBC-398C-4FD3-A090-A95BE65DC24D}"/>
              </a:ext>
            </a:extLst>
          </p:cNvPr>
          <p:cNvSpPr/>
          <p:nvPr/>
        </p:nvSpPr>
        <p:spPr>
          <a:xfrm>
            <a:off x="10395844" y="1048178"/>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TERMINADO</a:t>
            </a:r>
          </a:p>
        </p:txBody>
      </p:sp>
      <p:pic>
        <p:nvPicPr>
          <p:cNvPr id="12" name="Picture 2" descr="Nota, Nota Adhesiva, Papel, Escocés">
            <a:extLst>
              <a:ext uri="{FF2B5EF4-FFF2-40B4-BE49-F238E27FC236}">
                <a16:creationId xmlns:a16="http://schemas.microsoft.com/office/drawing/2014/main" id="{589B0DFF-EB2F-43B7-9ECC-4BBB6FE9CE2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8149" y="1881305"/>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ota, Nota Adhesiva, Papel, Escocés">
            <a:extLst>
              <a:ext uri="{FF2B5EF4-FFF2-40B4-BE49-F238E27FC236}">
                <a16:creationId xmlns:a16="http://schemas.microsoft.com/office/drawing/2014/main" id="{80858897-83A0-4A54-B843-18FAD1C0CF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5396" y="2641008"/>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Nota, Nota Adhesiva, Papel, Escocés">
            <a:extLst>
              <a:ext uri="{FF2B5EF4-FFF2-40B4-BE49-F238E27FC236}">
                <a16:creationId xmlns:a16="http://schemas.microsoft.com/office/drawing/2014/main" id="{F84FF5B8-90AF-40D4-BEFC-570D22F03A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9173" y="1829011"/>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ota, Nota Adhesiva, Papel, Escocés">
            <a:extLst>
              <a:ext uri="{FF2B5EF4-FFF2-40B4-BE49-F238E27FC236}">
                <a16:creationId xmlns:a16="http://schemas.microsoft.com/office/drawing/2014/main" id="{CFAE770F-B83B-4CCE-921E-E26C84AEC2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8602" y="2669297"/>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ota, Nota Adhesiva, Papel, Escocés">
            <a:extLst>
              <a:ext uri="{FF2B5EF4-FFF2-40B4-BE49-F238E27FC236}">
                <a16:creationId xmlns:a16="http://schemas.microsoft.com/office/drawing/2014/main" id="{208CEAE3-6AA9-4897-806D-7F6CAFDA00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9670" y="2267034"/>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Nota, Nota Adhesiva, Papel, Escocés">
            <a:extLst>
              <a:ext uri="{FF2B5EF4-FFF2-40B4-BE49-F238E27FC236}">
                <a16:creationId xmlns:a16="http://schemas.microsoft.com/office/drawing/2014/main" id="{13D8FF43-4ACD-452B-938B-CA8D1D5175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4490" y="2289445"/>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ota, Nota Adhesiva, Papel, Escocés">
            <a:extLst>
              <a:ext uri="{FF2B5EF4-FFF2-40B4-BE49-F238E27FC236}">
                <a16:creationId xmlns:a16="http://schemas.microsoft.com/office/drawing/2014/main" id="{FD95D092-1715-44D8-99B0-6C916A5CE4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43985" y="1801771"/>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Nota, Nota Adhesiva, Papel, Escocés">
            <a:extLst>
              <a:ext uri="{FF2B5EF4-FFF2-40B4-BE49-F238E27FC236}">
                <a16:creationId xmlns:a16="http://schemas.microsoft.com/office/drawing/2014/main" id="{A2425921-68F0-43B8-89F7-DD97631FD9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3538" y="2561474"/>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Nota, Nota Adhesiva, Papel, Escocés">
            <a:extLst>
              <a:ext uri="{FF2B5EF4-FFF2-40B4-BE49-F238E27FC236}">
                <a16:creationId xmlns:a16="http://schemas.microsoft.com/office/drawing/2014/main" id="{3B326169-63CA-4229-A0DF-8108ED44E4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4647" y="1829011"/>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Nota, Nota Adhesiva, Papel, Escocés">
            <a:extLst>
              <a:ext uri="{FF2B5EF4-FFF2-40B4-BE49-F238E27FC236}">
                <a16:creationId xmlns:a16="http://schemas.microsoft.com/office/drawing/2014/main" id="{0905091A-B221-4F76-B380-190287BAF1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53612" y="2617412"/>
            <a:ext cx="1036772" cy="75970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Nota, Nota Adhesiva, Papel, Escocés">
            <a:extLst>
              <a:ext uri="{FF2B5EF4-FFF2-40B4-BE49-F238E27FC236}">
                <a16:creationId xmlns:a16="http://schemas.microsoft.com/office/drawing/2014/main" id="{2C0A86A0-526E-402F-943D-01E467C5BF9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9458" y="3400711"/>
            <a:ext cx="1036772" cy="759703"/>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A8D5AD54-C895-4023-84FC-740AF1DD9ED4}"/>
              </a:ext>
            </a:extLst>
          </p:cNvPr>
          <p:cNvSpPr txBox="1"/>
          <p:nvPr/>
        </p:nvSpPr>
        <p:spPr>
          <a:xfrm>
            <a:off x="4864547" y="3891721"/>
            <a:ext cx="6705600" cy="369332"/>
          </a:xfrm>
          <a:prstGeom prst="rect">
            <a:avLst/>
          </a:prstGeom>
          <a:noFill/>
        </p:spPr>
        <p:txBody>
          <a:bodyPr wrap="square">
            <a:spAutoFit/>
          </a:bodyPr>
          <a:lstStyle/>
          <a:p>
            <a:r>
              <a:rPr lang="es-ES" b="1" dirty="0"/>
              <a:t>Visualizar el flujo de trabajo</a:t>
            </a:r>
          </a:p>
        </p:txBody>
      </p:sp>
      <p:pic>
        <p:nvPicPr>
          <p:cNvPr id="24" name="Imagen 23">
            <a:extLst>
              <a:ext uri="{FF2B5EF4-FFF2-40B4-BE49-F238E27FC236}">
                <a16:creationId xmlns:a16="http://schemas.microsoft.com/office/drawing/2014/main" id="{E30623F0-7B1C-4CEC-80CA-072289E2EF56}"/>
              </a:ext>
            </a:extLst>
          </p:cNvPr>
          <p:cNvPicPr>
            <a:picLocks noChangeAspect="1"/>
          </p:cNvPicPr>
          <p:nvPr/>
        </p:nvPicPr>
        <p:blipFill>
          <a:blip r:embed="rId3"/>
          <a:stretch>
            <a:fillRect/>
          </a:stretch>
        </p:blipFill>
        <p:spPr>
          <a:xfrm>
            <a:off x="11338303" y="-3986"/>
            <a:ext cx="936429" cy="569450"/>
          </a:xfrm>
          <a:prstGeom prst="rect">
            <a:avLst/>
          </a:prstGeom>
        </p:spPr>
      </p:pic>
    </p:spTree>
    <p:extLst>
      <p:ext uri="{BB962C8B-B14F-4D97-AF65-F5344CB8AC3E}">
        <p14:creationId xmlns:p14="http://schemas.microsoft.com/office/powerpoint/2010/main" val="2338585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B70BEA-5622-434C-8F98-5F3A2C2D65F2}"/>
              </a:ext>
            </a:extLst>
          </p:cNvPr>
          <p:cNvSpPr>
            <a:spLocks noGrp="1"/>
          </p:cNvSpPr>
          <p:nvPr>
            <p:ph type="title"/>
          </p:nvPr>
        </p:nvSpPr>
        <p:spPr/>
        <p:txBody>
          <a:bodyPr>
            <a:noAutofit/>
          </a:bodyPr>
          <a:lstStyle/>
          <a:p>
            <a:r>
              <a:rPr lang="es-ES" sz="3200" b="1" dirty="0"/>
              <a:t>Medición del tiempo en el método Kanban</a:t>
            </a:r>
          </a:p>
        </p:txBody>
      </p:sp>
      <p:sp>
        <p:nvSpPr>
          <p:cNvPr id="3" name="Marcador de contenido 2">
            <a:extLst>
              <a:ext uri="{FF2B5EF4-FFF2-40B4-BE49-F238E27FC236}">
                <a16:creationId xmlns:a16="http://schemas.microsoft.com/office/drawing/2014/main" id="{75734EF1-BEDD-471A-9A36-3C7407EEBC11}"/>
              </a:ext>
            </a:extLst>
          </p:cNvPr>
          <p:cNvSpPr>
            <a:spLocks noGrp="1"/>
          </p:cNvSpPr>
          <p:nvPr>
            <p:ph type="body" sz="quarter" idx="13"/>
          </p:nvPr>
        </p:nvSpPr>
        <p:spPr>
          <a:xfrm>
            <a:off x="351692" y="870013"/>
            <a:ext cx="10868758" cy="5186550"/>
          </a:xfrm>
        </p:spPr>
        <p:style>
          <a:lnRef idx="2">
            <a:schemeClr val="accent1"/>
          </a:lnRef>
          <a:fillRef idx="1">
            <a:schemeClr val="lt1"/>
          </a:fillRef>
          <a:effectRef idx="0">
            <a:schemeClr val="accent1"/>
          </a:effectRef>
          <a:fontRef idx="minor">
            <a:schemeClr val="dk1"/>
          </a:fontRef>
        </p:style>
        <p:txBody>
          <a:bodyPr>
            <a:normAutofit/>
          </a:bodyPr>
          <a:lstStyle/>
          <a:p>
            <a:r>
              <a:rPr lang="es-ES" b="1" dirty="0"/>
              <a:t>Lead Time</a:t>
            </a:r>
            <a:r>
              <a:rPr lang="es-ES" dirty="0"/>
              <a:t>: se mide lo que los clientes ven o esperan.</a:t>
            </a:r>
            <a:r>
              <a:rPr lang="es-ES" b="1" i="0" dirty="0">
                <a:solidFill>
                  <a:srgbClr val="202124"/>
                </a:solidFill>
                <a:effectLst/>
                <a:latin typeface="arial" panose="020B0604020202020204" pitchFamily="34" charset="0"/>
              </a:rPr>
              <a:t> Lead Time</a:t>
            </a:r>
            <a:r>
              <a:rPr lang="es-ES" b="0" i="0" dirty="0">
                <a:solidFill>
                  <a:srgbClr val="202124"/>
                </a:solidFill>
                <a:effectLst/>
                <a:latin typeface="arial" panose="020B0604020202020204" pitchFamily="34" charset="0"/>
              </a:rPr>
              <a:t>: registra el tiempo que sucede entre el momento en el cual se anota una historia en el </a:t>
            </a:r>
            <a:r>
              <a:rPr lang="es-ES" b="0" i="0" dirty="0" err="1">
                <a:solidFill>
                  <a:srgbClr val="202124"/>
                </a:solidFill>
                <a:effectLst/>
                <a:latin typeface="arial" panose="020B0604020202020204" pitchFamily="34" charset="0"/>
              </a:rPr>
              <a:t>Product</a:t>
            </a:r>
            <a:r>
              <a:rPr lang="es-ES" b="0" i="0" dirty="0">
                <a:solidFill>
                  <a:srgbClr val="202124"/>
                </a:solidFill>
                <a:effectLst/>
                <a:latin typeface="arial" panose="020B0604020202020204" pitchFamily="34" charset="0"/>
              </a:rPr>
              <a:t> Backlog ( una vez que se recibe el nuevo pedido o surge una determinada característica o funcionalidad que hay que desarrollar) y el momento de su entrega en producción ( Done ) (el final del proceso del equipo</a:t>
            </a:r>
            <a:endParaRPr lang="es-ES" dirty="0"/>
          </a:p>
          <a:p>
            <a:r>
              <a:rPr lang="es-ES" b="1" dirty="0" err="1"/>
              <a:t>Circle</a:t>
            </a:r>
            <a:r>
              <a:rPr lang="es-ES" b="1" dirty="0"/>
              <a:t> time</a:t>
            </a:r>
            <a:r>
              <a:rPr lang="es-ES" dirty="0"/>
              <a:t>: se mide el rendimiento del proceso. </a:t>
            </a:r>
            <a:br>
              <a:rPr lang="es-ES" dirty="0"/>
            </a:br>
            <a:r>
              <a:rPr lang="es-ES" b="0" i="0" dirty="0">
                <a:solidFill>
                  <a:srgbClr val="202124"/>
                </a:solidFill>
                <a:effectLst/>
                <a:latin typeface="arial" panose="020B0604020202020204" pitchFamily="34" charset="0"/>
              </a:rPr>
              <a:t>Esta métrica ayuda a los equipos a determinar los tiempos de inicio y final de cada trabajo, además de su capacidad general de entrega. El tiempo de ciclo de un proceso </a:t>
            </a:r>
            <a:r>
              <a:rPr lang="es-ES" b="1" i="0" dirty="0">
                <a:solidFill>
                  <a:srgbClr val="202124"/>
                </a:solidFill>
                <a:effectLst/>
                <a:latin typeface="arial" panose="020B0604020202020204" pitchFamily="34" charset="0"/>
              </a:rPr>
              <a:t>se calcula</a:t>
            </a:r>
            <a:r>
              <a:rPr lang="es-ES" b="0" i="0" dirty="0">
                <a:solidFill>
                  <a:srgbClr val="202124"/>
                </a:solidFill>
                <a:effectLst/>
                <a:latin typeface="arial" panose="020B0604020202020204" pitchFamily="34" charset="0"/>
              </a:rPr>
              <a:t> dividiendo todos los ítems que </a:t>
            </a:r>
            <a:r>
              <a:rPr lang="es-ES" b="1" i="0" dirty="0">
                <a:solidFill>
                  <a:srgbClr val="202124"/>
                </a:solidFill>
                <a:effectLst/>
                <a:latin typeface="arial" panose="020B0604020202020204" pitchFamily="34" charset="0"/>
              </a:rPr>
              <a:t>se</a:t>
            </a:r>
            <a:r>
              <a:rPr lang="es-ES" b="0" i="0" dirty="0">
                <a:solidFill>
                  <a:srgbClr val="202124"/>
                </a:solidFill>
                <a:effectLst/>
                <a:latin typeface="arial" panose="020B0604020202020204" pitchFamily="34" charset="0"/>
              </a:rPr>
              <a:t> encuentran en progreso, entre su tasa promedio de terminación</a:t>
            </a:r>
            <a:endParaRPr lang="es-ES" dirty="0"/>
          </a:p>
        </p:txBody>
      </p:sp>
      <p:pic>
        <p:nvPicPr>
          <p:cNvPr id="7" name="Imagen 6">
            <a:extLst>
              <a:ext uri="{FF2B5EF4-FFF2-40B4-BE49-F238E27FC236}">
                <a16:creationId xmlns:a16="http://schemas.microsoft.com/office/drawing/2014/main" id="{A54FF07B-E833-41CA-8887-15AE941E2ACA}"/>
              </a:ext>
            </a:extLst>
          </p:cNvPr>
          <p:cNvPicPr>
            <a:picLocks noChangeAspect="1"/>
          </p:cNvPicPr>
          <p:nvPr/>
        </p:nvPicPr>
        <p:blipFill>
          <a:blip r:embed="rId2"/>
          <a:stretch>
            <a:fillRect/>
          </a:stretch>
        </p:blipFill>
        <p:spPr>
          <a:xfrm>
            <a:off x="11338303" y="-3986"/>
            <a:ext cx="936429" cy="569450"/>
          </a:xfrm>
          <a:prstGeom prst="rect">
            <a:avLst/>
          </a:prstGeom>
        </p:spPr>
      </p:pic>
    </p:spTree>
    <p:extLst>
      <p:ext uri="{BB962C8B-B14F-4D97-AF65-F5344CB8AC3E}">
        <p14:creationId xmlns:p14="http://schemas.microsoft.com/office/powerpoint/2010/main" val="2876937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3264A7-AE47-42E0-87D3-59944E173424}"/>
              </a:ext>
            </a:extLst>
          </p:cNvPr>
          <p:cNvSpPr>
            <a:spLocks noGrp="1"/>
          </p:cNvSpPr>
          <p:nvPr>
            <p:ph type="title"/>
          </p:nvPr>
        </p:nvSpPr>
        <p:spPr/>
        <p:txBody>
          <a:bodyPr>
            <a:normAutofit/>
          </a:bodyPr>
          <a:lstStyle/>
          <a:p>
            <a:r>
              <a:rPr lang="es-ES" dirty="0"/>
              <a:t>Diferencias entre scrum y Kanban</a:t>
            </a:r>
          </a:p>
        </p:txBody>
      </p:sp>
      <p:sp>
        <p:nvSpPr>
          <p:cNvPr id="3" name="Marcador de texto 2">
            <a:extLst>
              <a:ext uri="{FF2B5EF4-FFF2-40B4-BE49-F238E27FC236}">
                <a16:creationId xmlns:a16="http://schemas.microsoft.com/office/drawing/2014/main" id="{63E28933-9C28-C217-1E00-AAB984C5130B}"/>
              </a:ext>
            </a:extLst>
          </p:cNvPr>
          <p:cNvSpPr>
            <a:spLocks noGrp="1"/>
          </p:cNvSpPr>
          <p:nvPr>
            <p:ph type="body" sz="quarter" idx="13"/>
          </p:nvPr>
        </p:nvSpPr>
        <p:spPr/>
        <p:txBody>
          <a:bodyPr/>
          <a:lstStyle/>
          <a:p>
            <a:endParaRPr lang="es-ES"/>
          </a:p>
        </p:txBody>
      </p:sp>
      <p:pic>
        <p:nvPicPr>
          <p:cNvPr id="2050" name="Picture 2" descr="Kanban vs. Scrum">
            <a:extLst>
              <a:ext uri="{FF2B5EF4-FFF2-40B4-BE49-F238E27FC236}">
                <a16:creationId xmlns:a16="http://schemas.microsoft.com/office/drawing/2014/main" id="{A51FCCD0-589A-480E-9797-9CF9306687AA}"/>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0" y="860425"/>
            <a:ext cx="11095038" cy="384651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B20FAFF-12E6-4D28-9028-D2B4290E338A}"/>
              </a:ext>
            </a:extLst>
          </p:cNvPr>
          <p:cNvSpPr/>
          <p:nvPr/>
        </p:nvSpPr>
        <p:spPr>
          <a:xfrm>
            <a:off x="672903" y="4799959"/>
            <a:ext cx="2465294" cy="609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La planificación en Kanban es innecesaria</a:t>
            </a:r>
          </a:p>
        </p:txBody>
      </p:sp>
      <p:sp>
        <p:nvSpPr>
          <p:cNvPr id="6" name="Rectángulo 5">
            <a:extLst>
              <a:ext uri="{FF2B5EF4-FFF2-40B4-BE49-F238E27FC236}">
                <a16:creationId xmlns:a16="http://schemas.microsoft.com/office/drawing/2014/main" id="{A406B57F-53E3-462E-831E-974191FB3C08}"/>
              </a:ext>
            </a:extLst>
          </p:cNvPr>
          <p:cNvSpPr/>
          <p:nvPr/>
        </p:nvSpPr>
        <p:spPr>
          <a:xfrm>
            <a:off x="7658967" y="4706470"/>
            <a:ext cx="3509775" cy="609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En Kanban Se pueden crear equipos especializados</a:t>
            </a:r>
          </a:p>
        </p:txBody>
      </p:sp>
      <p:pic>
        <p:nvPicPr>
          <p:cNvPr id="7" name="Imagen 6">
            <a:extLst>
              <a:ext uri="{FF2B5EF4-FFF2-40B4-BE49-F238E27FC236}">
                <a16:creationId xmlns:a16="http://schemas.microsoft.com/office/drawing/2014/main" id="{3091D862-277A-40AF-91A0-446DCE41EB08}"/>
              </a:ext>
            </a:extLst>
          </p:cNvPr>
          <p:cNvPicPr>
            <a:picLocks noChangeAspect="1"/>
          </p:cNvPicPr>
          <p:nvPr/>
        </p:nvPicPr>
        <p:blipFill>
          <a:blip r:embed="rId3"/>
          <a:stretch>
            <a:fillRect/>
          </a:stretch>
        </p:blipFill>
        <p:spPr>
          <a:xfrm>
            <a:off x="11338303" y="-3986"/>
            <a:ext cx="936429" cy="569450"/>
          </a:xfrm>
          <a:prstGeom prst="rect">
            <a:avLst/>
          </a:prstGeom>
        </p:spPr>
      </p:pic>
      <p:sp>
        <p:nvSpPr>
          <p:cNvPr id="8" name="Rectángulo 7">
            <a:extLst>
              <a:ext uri="{FF2B5EF4-FFF2-40B4-BE49-F238E27FC236}">
                <a16:creationId xmlns:a16="http://schemas.microsoft.com/office/drawing/2014/main" id="{F66B4C50-080D-4CF6-8334-04E4D2F82850}"/>
              </a:ext>
            </a:extLst>
          </p:cNvPr>
          <p:cNvSpPr/>
          <p:nvPr/>
        </p:nvSpPr>
        <p:spPr>
          <a:xfrm>
            <a:off x="7746053" y="5521343"/>
            <a:ext cx="3509775" cy="6096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En Kanban  </a:t>
            </a:r>
            <a:r>
              <a:rPr lang="es-ES"/>
              <a:t>reuniones diarias. </a:t>
            </a:r>
            <a:endParaRPr lang="es-ES" dirty="0"/>
          </a:p>
        </p:txBody>
      </p:sp>
    </p:spTree>
    <p:extLst>
      <p:ext uri="{BB962C8B-B14F-4D97-AF65-F5344CB8AC3E}">
        <p14:creationId xmlns:p14="http://schemas.microsoft.com/office/powerpoint/2010/main" val="23049848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9BD00-7512-4DC2-8484-A630D610FC18}"/>
              </a:ext>
            </a:extLst>
          </p:cNvPr>
          <p:cNvSpPr>
            <a:spLocks noGrp="1"/>
          </p:cNvSpPr>
          <p:nvPr>
            <p:ph type="title"/>
          </p:nvPr>
        </p:nvSpPr>
        <p:spPr/>
        <p:txBody>
          <a:bodyPr/>
          <a:lstStyle/>
          <a:p>
            <a:r>
              <a:rPr lang="es-ES" dirty="0"/>
              <a:t>Método </a:t>
            </a:r>
            <a:r>
              <a:rPr lang="es-ES" dirty="0" err="1"/>
              <a:t>Scrumban</a:t>
            </a:r>
            <a:endParaRPr lang="es-ES" dirty="0"/>
          </a:p>
        </p:txBody>
      </p:sp>
      <p:sp>
        <p:nvSpPr>
          <p:cNvPr id="3" name="Marcador de contenido 2">
            <a:extLst>
              <a:ext uri="{FF2B5EF4-FFF2-40B4-BE49-F238E27FC236}">
                <a16:creationId xmlns:a16="http://schemas.microsoft.com/office/drawing/2014/main" id="{E5E15D11-5509-46BE-9B09-E1A28EA0B85C}"/>
              </a:ext>
            </a:extLst>
          </p:cNvPr>
          <p:cNvSpPr>
            <a:spLocks noGrp="1"/>
          </p:cNvSpPr>
          <p:nvPr>
            <p:ph type="body" sz="quarter" idx="13"/>
          </p:nvPr>
        </p:nvSpPr>
        <p:spPr/>
        <p:txBody>
          <a:bodyPr/>
          <a:lstStyle/>
          <a:p>
            <a:br>
              <a:rPr lang="es-ES" b="1" i="0" dirty="0">
                <a:solidFill>
                  <a:srgbClr val="202124"/>
                </a:solidFill>
                <a:effectLst/>
                <a:latin typeface="arial" panose="020B0604020202020204" pitchFamily="34" charset="0"/>
              </a:rPr>
            </a:br>
            <a:r>
              <a:rPr lang="es-ES" b="1" i="0" dirty="0" err="1">
                <a:solidFill>
                  <a:srgbClr val="202124"/>
                </a:solidFill>
                <a:effectLst/>
                <a:latin typeface="arial" panose="020B0604020202020204" pitchFamily="34" charset="0"/>
              </a:rPr>
              <a:t>Scrumban</a:t>
            </a:r>
            <a:r>
              <a:rPr lang="es-ES" b="0" i="0" dirty="0">
                <a:solidFill>
                  <a:srgbClr val="202124"/>
                </a:solidFill>
                <a:effectLst/>
                <a:latin typeface="arial" panose="020B0604020202020204" pitchFamily="34" charset="0"/>
              </a:rPr>
              <a:t> es una metodología para gestionar proyectos, que combina las mejores características que tienen el marco de trabajo Scrum y el método </a:t>
            </a:r>
            <a:r>
              <a:rPr lang="es-ES" b="1" i="0" dirty="0">
                <a:solidFill>
                  <a:srgbClr val="202124"/>
                </a:solidFill>
                <a:effectLst/>
                <a:latin typeface="arial" panose="020B0604020202020204" pitchFamily="34" charset="0"/>
              </a:rPr>
              <a:t>Kanban</a:t>
            </a:r>
            <a:r>
              <a:rPr lang="es-ES" b="0" i="0" dirty="0">
                <a:solidFill>
                  <a:srgbClr val="202124"/>
                </a:solidFill>
                <a:effectLst/>
                <a:latin typeface="arial" panose="020B0604020202020204" pitchFamily="34" charset="0"/>
              </a:rPr>
              <a:t>, con la finalidad de obtener mejores y más rápidos resultados.</a:t>
            </a:r>
            <a:endParaRPr lang="es-ES" dirty="0"/>
          </a:p>
        </p:txBody>
      </p:sp>
      <p:pic>
        <p:nvPicPr>
          <p:cNvPr id="4" name="Imagen 3">
            <a:extLst>
              <a:ext uri="{FF2B5EF4-FFF2-40B4-BE49-F238E27FC236}">
                <a16:creationId xmlns:a16="http://schemas.microsoft.com/office/drawing/2014/main" id="{FCBBCD1E-D336-4F39-9E72-5F2C9D5CEEAF}"/>
              </a:ext>
            </a:extLst>
          </p:cNvPr>
          <p:cNvPicPr>
            <a:picLocks noChangeAspect="1"/>
          </p:cNvPicPr>
          <p:nvPr/>
        </p:nvPicPr>
        <p:blipFill>
          <a:blip r:embed="rId2"/>
          <a:stretch>
            <a:fillRect/>
          </a:stretch>
        </p:blipFill>
        <p:spPr>
          <a:xfrm>
            <a:off x="11338303" y="-3986"/>
            <a:ext cx="936429" cy="569450"/>
          </a:xfrm>
          <a:prstGeom prst="rect">
            <a:avLst/>
          </a:prstGeom>
        </p:spPr>
      </p:pic>
    </p:spTree>
    <p:extLst>
      <p:ext uri="{BB962C8B-B14F-4D97-AF65-F5344CB8AC3E}">
        <p14:creationId xmlns:p14="http://schemas.microsoft.com/office/powerpoint/2010/main" val="37020721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8EA5DB-AD45-4850-8565-9147F6BE2D6D}"/>
              </a:ext>
            </a:extLst>
          </p:cNvPr>
          <p:cNvSpPr>
            <a:spLocks noGrp="1"/>
          </p:cNvSpPr>
          <p:nvPr>
            <p:ph type="title"/>
          </p:nvPr>
        </p:nvSpPr>
        <p:spPr/>
        <p:txBody>
          <a:bodyPr>
            <a:normAutofit/>
          </a:bodyPr>
          <a:lstStyle/>
          <a:p>
            <a:r>
              <a:rPr lang="es-ES" dirty="0"/>
              <a:t>Conceptos lean</a:t>
            </a:r>
          </a:p>
        </p:txBody>
      </p:sp>
      <p:sp>
        <p:nvSpPr>
          <p:cNvPr id="3" name="Marcador de texto 2">
            <a:extLst>
              <a:ext uri="{FF2B5EF4-FFF2-40B4-BE49-F238E27FC236}">
                <a16:creationId xmlns:a16="http://schemas.microsoft.com/office/drawing/2014/main" id="{E47165A6-50ED-83E3-DD23-8586E70C3F87}"/>
              </a:ext>
            </a:extLst>
          </p:cNvPr>
          <p:cNvSpPr>
            <a:spLocks noGrp="1"/>
          </p:cNvSpPr>
          <p:nvPr>
            <p:ph type="body" sz="quarter" idx="13"/>
          </p:nvPr>
        </p:nvSpPr>
        <p:spPr/>
        <p:txBody>
          <a:bodyPr/>
          <a:lstStyle/>
          <a:p>
            <a:endParaRPr lang="es-ES"/>
          </a:p>
        </p:txBody>
      </p:sp>
      <p:sp>
        <p:nvSpPr>
          <p:cNvPr id="6" name="Rectángulo 5">
            <a:extLst>
              <a:ext uri="{FF2B5EF4-FFF2-40B4-BE49-F238E27FC236}">
                <a16:creationId xmlns:a16="http://schemas.microsoft.com/office/drawing/2014/main" id="{4FAFF69D-63C5-4725-9755-005D363130D7}"/>
              </a:ext>
            </a:extLst>
          </p:cNvPr>
          <p:cNvSpPr/>
          <p:nvPr/>
        </p:nvSpPr>
        <p:spPr>
          <a:xfrm>
            <a:off x="1022350" y="1240923"/>
            <a:ext cx="24384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dirty="0"/>
              <a:t>LEAN MANAGEMENT</a:t>
            </a:r>
          </a:p>
        </p:txBody>
      </p:sp>
      <p:sp>
        <p:nvSpPr>
          <p:cNvPr id="7" name="Rectángulo 6">
            <a:extLst>
              <a:ext uri="{FF2B5EF4-FFF2-40B4-BE49-F238E27FC236}">
                <a16:creationId xmlns:a16="http://schemas.microsoft.com/office/drawing/2014/main" id="{DDE30D8E-A9B5-4F05-9948-C0245875D310}"/>
              </a:ext>
            </a:extLst>
          </p:cNvPr>
          <p:cNvSpPr/>
          <p:nvPr/>
        </p:nvSpPr>
        <p:spPr>
          <a:xfrm>
            <a:off x="8552329" y="738375"/>
            <a:ext cx="24384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dirty="0"/>
              <a:t>LEAN THINKING</a:t>
            </a:r>
          </a:p>
        </p:txBody>
      </p:sp>
      <p:sp>
        <p:nvSpPr>
          <p:cNvPr id="8" name="Rectángulo: esquinas redondeadas 7">
            <a:extLst>
              <a:ext uri="{FF2B5EF4-FFF2-40B4-BE49-F238E27FC236}">
                <a16:creationId xmlns:a16="http://schemas.microsoft.com/office/drawing/2014/main" id="{D53681D1-ADAD-4FC0-B5EC-58FF953D8039}"/>
              </a:ext>
            </a:extLst>
          </p:cNvPr>
          <p:cNvSpPr/>
          <p:nvPr/>
        </p:nvSpPr>
        <p:spPr>
          <a:xfrm>
            <a:off x="838200" y="3518647"/>
            <a:ext cx="2277035" cy="11295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PENSAMIENTO LEAN</a:t>
            </a:r>
          </a:p>
        </p:txBody>
      </p:sp>
      <p:sp>
        <p:nvSpPr>
          <p:cNvPr id="9" name="Flecha: a la derecha 8">
            <a:extLst>
              <a:ext uri="{FF2B5EF4-FFF2-40B4-BE49-F238E27FC236}">
                <a16:creationId xmlns:a16="http://schemas.microsoft.com/office/drawing/2014/main" id="{D606D66B-A2B5-4C61-9598-493D29B9EC30}"/>
              </a:ext>
            </a:extLst>
          </p:cNvPr>
          <p:cNvSpPr/>
          <p:nvPr/>
        </p:nvSpPr>
        <p:spPr>
          <a:xfrm>
            <a:off x="3551637" y="3741923"/>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8F4E3B14-7DEF-45D9-AFFF-7CDCFCD02B53}"/>
              </a:ext>
            </a:extLst>
          </p:cNvPr>
          <p:cNvSpPr/>
          <p:nvPr/>
        </p:nvSpPr>
        <p:spPr>
          <a:xfrm>
            <a:off x="4966447" y="2103437"/>
            <a:ext cx="6786282" cy="13255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s-ES" b="0" i="0" dirty="0">
                <a:solidFill>
                  <a:schemeClr val="bg1"/>
                </a:solidFill>
                <a:effectLst/>
                <a:latin typeface="arial" panose="020B0604020202020204" pitchFamily="34" charset="0"/>
              </a:rPr>
              <a:t>Muda:</a:t>
            </a:r>
          </a:p>
          <a:p>
            <a:r>
              <a:rPr lang="es-ES" b="0" i="0" dirty="0">
                <a:solidFill>
                  <a:schemeClr val="bg1"/>
                </a:solidFill>
                <a:effectLst/>
                <a:latin typeface="arial" panose="020B0604020202020204" pitchFamily="34" charset="0"/>
              </a:rPr>
              <a:t>En las gestiones enfocadas al </a:t>
            </a:r>
            <a:r>
              <a:rPr lang="es-ES" b="1" i="0" dirty="0">
                <a:solidFill>
                  <a:schemeClr val="bg1"/>
                </a:solidFill>
                <a:effectLst/>
                <a:latin typeface="arial" panose="020B0604020202020204" pitchFamily="34" charset="0"/>
              </a:rPr>
              <a:t>Lean</a:t>
            </a:r>
            <a:r>
              <a:rPr lang="es-ES" b="0" i="0" dirty="0">
                <a:solidFill>
                  <a:schemeClr val="bg1"/>
                </a:solidFill>
                <a:effectLst/>
                <a:latin typeface="arial" panose="020B0604020202020204" pitchFamily="34" charset="0"/>
              </a:rPr>
              <a:t> </a:t>
            </a:r>
            <a:r>
              <a:rPr lang="es-ES" b="0" i="0" dirty="0" err="1">
                <a:solidFill>
                  <a:schemeClr val="bg1"/>
                </a:solidFill>
                <a:effectLst/>
                <a:latin typeface="arial" panose="020B0604020202020204" pitchFamily="34" charset="0"/>
              </a:rPr>
              <a:t>manufacturing</a:t>
            </a:r>
            <a:r>
              <a:rPr lang="es-ES" b="0" i="0" dirty="0">
                <a:solidFill>
                  <a:schemeClr val="bg1"/>
                </a:solidFill>
                <a:effectLst/>
                <a:latin typeface="arial" panose="020B0604020202020204" pitchFamily="34" charset="0"/>
              </a:rPr>
              <a:t> se utiliza con frecuencia el término </a:t>
            </a:r>
            <a:r>
              <a:rPr lang="es-ES" b="1" i="0" dirty="0">
                <a:solidFill>
                  <a:schemeClr val="bg1"/>
                </a:solidFill>
                <a:effectLst/>
                <a:latin typeface="arial" panose="020B0604020202020204" pitchFamily="34" charset="0"/>
              </a:rPr>
              <a:t>MUDA</a:t>
            </a:r>
            <a:r>
              <a:rPr lang="es-ES" b="0" i="0" dirty="0">
                <a:solidFill>
                  <a:schemeClr val="bg1"/>
                </a:solidFill>
                <a:effectLst/>
                <a:latin typeface="arial" panose="020B0604020202020204" pitchFamily="34" charset="0"/>
              </a:rPr>
              <a:t>, que proviene del japonés y cuyo significado literal es algo inútil o que genera algún tipo de desperdicio.</a:t>
            </a:r>
            <a:endParaRPr lang="es-ES" dirty="0">
              <a:solidFill>
                <a:schemeClr val="bg1"/>
              </a:solidFill>
            </a:endParaRPr>
          </a:p>
        </p:txBody>
      </p:sp>
      <p:sp>
        <p:nvSpPr>
          <p:cNvPr id="11" name="Rectángulo 10">
            <a:extLst>
              <a:ext uri="{FF2B5EF4-FFF2-40B4-BE49-F238E27FC236}">
                <a16:creationId xmlns:a16="http://schemas.microsoft.com/office/drawing/2014/main" id="{74F316C9-4809-4428-9C34-65EF2D610EA9}"/>
              </a:ext>
            </a:extLst>
          </p:cNvPr>
          <p:cNvSpPr/>
          <p:nvPr/>
        </p:nvSpPr>
        <p:spPr>
          <a:xfrm>
            <a:off x="4966448" y="3741923"/>
            <a:ext cx="6786282" cy="13255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s-ES" dirty="0" err="1">
                <a:solidFill>
                  <a:schemeClr val="bg1"/>
                </a:solidFill>
                <a:latin typeface="arial" panose="020B0604020202020204" pitchFamily="34" charset="0"/>
              </a:rPr>
              <a:t>Muri</a:t>
            </a:r>
            <a:r>
              <a:rPr lang="es-ES" dirty="0">
                <a:solidFill>
                  <a:schemeClr val="bg1"/>
                </a:solidFill>
                <a:latin typeface="arial" panose="020B0604020202020204" pitchFamily="34" charset="0"/>
              </a:rPr>
              <a:t>: </a:t>
            </a:r>
          </a:p>
          <a:p>
            <a:r>
              <a:rPr lang="es-ES" dirty="0">
                <a:solidFill>
                  <a:schemeClr val="bg1"/>
                </a:solidFill>
                <a:latin typeface="arial" panose="020B0604020202020204" pitchFamily="34" charset="0"/>
              </a:rPr>
              <a:t>Consiste en trabajar a un ritmo por encima de la capacidad nominal de la línea de producción, provoca ineficiencias por cansancio del personal, deterioros acelerados de máquinas o equipos, generalmente aumentan los defectos de calidad.</a:t>
            </a:r>
          </a:p>
        </p:txBody>
      </p:sp>
      <p:sp>
        <p:nvSpPr>
          <p:cNvPr id="12" name="Rectángulo 11">
            <a:extLst>
              <a:ext uri="{FF2B5EF4-FFF2-40B4-BE49-F238E27FC236}">
                <a16:creationId xmlns:a16="http://schemas.microsoft.com/office/drawing/2014/main" id="{30A2FBAB-BD10-49C8-BBD4-FE4E599AB9CA}"/>
              </a:ext>
            </a:extLst>
          </p:cNvPr>
          <p:cNvSpPr/>
          <p:nvPr/>
        </p:nvSpPr>
        <p:spPr>
          <a:xfrm>
            <a:off x="4966447" y="5380409"/>
            <a:ext cx="6786282" cy="7945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s-ES" dirty="0">
                <a:solidFill>
                  <a:schemeClr val="bg1"/>
                </a:solidFill>
                <a:latin typeface="arial" panose="020B0604020202020204" pitchFamily="34" charset="0"/>
              </a:rPr>
              <a:t>Mura </a:t>
            </a:r>
          </a:p>
          <a:p>
            <a:r>
              <a:rPr lang="es-ES" dirty="0">
                <a:solidFill>
                  <a:schemeClr val="bg1"/>
                </a:solidFill>
                <a:latin typeface="arial" panose="020B0604020202020204" pitchFamily="34" charset="0"/>
              </a:rPr>
              <a:t>(Tiempos muertos, irregularidad)</a:t>
            </a:r>
            <a:br>
              <a:rPr lang="es-ES" dirty="0">
                <a:solidFill>
                  <a:schemeClr val="bg1"/>
                </a:solidFill>
                <a:latin typeface="arial" panose="020B0604020202020204" pitchFamily="34" charset="0"/>
              </a:rPr>
            </a:br>
            <a:endParaRPr lang="es-ES" dirty="0">
              <a:solidFill>
                <a:schemeClr val="bg1"/>
              </a:solidFill>
              <a:latin typeface="arial" panose="020B0604020202020204" pitchFamily="34" charset="0"/>
            </a:endParaRPr>
          </a:p>
        </p:txBody>
      </p:sp>
      <p:sp>
        <p:nvSpPr>
          <p:cNvPr id="13" name="Flecha: a la derecha 12">
            <a:extLst>
              <a:ext uri="{FF2B5EF4-FFF2-40B4-BE49-F238E27FC236}">
                <a16:creationId xmlns:a16="http://schemas.microsoft.com/office/drawing/2014/main" id="{F0BF72AA-E11F-431E-BDD4-ACA00F51ACC4}"/>
              </a:ext>
            </a:extLst>
          </p:cNvPr>
          <p:cNvSpPr/>
          <p:nvPr/>
        </p:nvSpPr>
        <p:spPr>
          <a:xfrm rot="19937449">
            <a:off x="3551637" y="2873761"/>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4" name="Flecha: a la derecha 13">
            <a:extLst>
              <a:ext uri="{FF2B5EF4-FFF2-40B4-BE49-F238E27FC236}">
                <a16:creationId xmlns:a16="http://schemas.microsoft.com/office/drawing/2014/main" id="{42573ED5-A77B-496F-B996-87D6D1F5C79A}"/>
              </a:ext>
            </a:extLst>
          </p:cNvPr>
          <p:cNvSpPr/>
          <p:nvPr/>
        </p:nvSpPr>
        <p:spPr>
          <a:xfrm rot="1450166">
            <a:off x="3551879" y="4916468"/>
            <a:ext cx="978408" cy="484632"/>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S"/>
          </a:p>
        </p:txBody>
      </p:sp>
      <p:pic>
        <p:nvPicPr>
          <p:cNvPr id="15" name="Imagen 14">
            <a:extLst>
              <a:ext uri="{FF2B5EF4-FFF2-40B4-BE49-F238E27FC236}">
                <a16:creationId xmlns:a16="http://schemas.microsoft.com/office/drawing/2014/main" id="{691372C6-9222-4F77-8932-6666D2F2D45F}"/>
              </a:ext>
            </a:extLst>
          </p:cNvPr>
          <p:cNvPicPr>
            <a:picLocks noChangeAspect="1"/>
          </p:cNvPicPr>
          <p:nvPr/>
        </p:nvPicPr>
        <p:blipFill>
          <a:blip r:embed="rId2"/>
          <a:stretch>
            <a:fillRect/>
          </a:stretch>
        </p:blipFill>
        <p:spPr>
          <a:xfrm>
            <a:off x="11338303" y="-3986"/>
            <a:ext cx="936429" cy="569450"/>
          </a:xfrm>
          <a:prstGeom prst="rect">
            <a:avLst/>
          </a:prstGeom>
        </p:spPr>
      </p:pic>
    </p:spTree>
    <p:extLst>
      <p:ext uri="{BB962C8B-B14F-4D97-AF65-F5344CB8AC3E}">
        <p14:creationId xmlns:p14="http://schemas.microsoft.com/office/powerpoint/2010/main" val="3571849300"/>
      </p:ext>
    </p:extLst>
  </p:cSld>
  <p:clrMapOvr>
    <a:masterClrMapping/>
  </p:clrMapOvr>
</p:sld>
</file>

<file path=ppt/theme/theme1.xml><?xml version="1.0" encoding="utf-8"?>
<a:theme xmlns:a="http://schemas.openxmlformats.org/drawingml/2006/main" name="GMQ">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TODOLOGIA SCRUM 2022" id="{0D36D0BA-D5BB-40CE-9302-33CBABECD1AE}" vid="{4B904CCD-2524-49EA-8AF7-D92F09B7285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METODOLOGIA SCRUM 2022</Template>
  <TotalTime>14</TotalTime>
  <Words>11783</Words>
  <Application>Microsoft Office PowerPoint</Application>
  <PresentationFormat>Panorámica</PresentationFormat>
  <Paragraphs>1000</Paragraphs>
  <Slides>105</Slides>
  <Notes>7</Notes>
  <HiddenSlides>0</HiddenSlides>
  <MMClips>0</MMClips>
  <ScaleCrop>false</ScaleCrop>
  <HeadingPairs>
    <vt:vector size="6" baseType="variant">
      <vt:variant>
        <vt:lpstr>Fuentes usadas</vt:lpstr>
      </vt:variant>
      <vt:variant>
        <vt:i4>21</vt:i4>
      </vt:variant>
      <vt:variant>
        <vt:lpstr>Tema</vt:lpstr>
      </vt:variant>
      <vt:variant>
        <vt:i4>1</vt:i4>
      </vt:variant>
      <vt:variant>
        <vt:lpstr>Títulos de diapositiva</vt:lpstr>
      </vt:variant>
      <vt:variant>
        <vt:i4>105</vt:i4>
      </vt:variant>
    </vt:vector>
  </HeadingPairs>
  <TitlesOfParts>
    <vt:vector size="127" baseType="lpstr">
      <vt:lpstr>1und1WebSansCondens</vt:lpstr>
      <vt:lpstr>Arial</vt:lpstr>
      <vt:lpstr>Arial</vt:lpstr>
      <vt:lpstr>Brush Script Std</vt:lpstr>
      <vt:lpstr>Calibri</vt:lpstr>
      <vt:lpstr>Calibri Light</vt:lpstr>
      <vt:lpstr>Cambria Math</vt:lpstr>
      <vt:lpstr>Charlie Display</vt:lpstr>
      <vt:lpstr>Charlie Text</vt:lpstr>
      <vt:lpstr>Exo</vt:lpstr>
      <vt:lpstr>Georgia</vt:lpstr>
      <vt:lpstr>Montserrat</vt:lpstr>
      <vt:lpstr>Open Sans</vt:lpstr>
      <vt:lpstr>OpenSansRegular</vt:lpstr>
      <vt:lpstr>Quicksand</vt:lpstr>
      <vt:lpstr>Raleway</vt:lpstr>
      <vt:lpstr>Raleway-Light</vt:lpstr>
      <vt:lpstr>Raleway-Medium</vt:lpstr>
      <vt:lpstr>Source Sans Pro</vt:lpstr>
      <vt:lpstr>Ubuntu</vt:lpstr>
      <vt:lpstr>Verdana</vt:lpstr>
      <vt:lpstr>GMQ</vt:lpstr>
      <vt:lpstr>METODOLOGÍA DE GESTIÓN Y DESARROLLO DE PROYECTOS DE SOFTWARE CON SCRUM. IFCD048PO </vt:lpstr>
      <vt:lpstr>TEMARIO</vt:lpstr>
      <vt:lpstr>TEMARIO</vt:lpstr>
      <vt:lpstr>TEMARIO</vt:lpstr>
      <vt:lpstr>TEMA 1:INTRODUCCIÓN</vt:lpstr>
      <vt:lpstr>Beneficios de Scrum</vt:lpstr>
      <vt:lpstr>1.1 ¿Qué es? Objetivos. </vt:lpstr>
      <vt:lpstr>1.2 Fundamentos.</vt:lpstr>
      <vt:lpstr>Inspección-transparencia-adaptación</vt:lpstr>
      <vt:lpstr>Valores de Scrum</vt:lpstr>
      <vt:lpstr>1.3: Principios agiles </vt:lpstr>
      <vt:lpstr>Principios agiles</vt:lpstr>
      <vt:lpstr>Alianza ágil</vt:lpstr>
      <vt:lpstr>Agile Proyect Management</vt:lpstr>
      <vt:lpstr>Saber mas: Historia de las metodologías agiles</vt:lpstr>
      <vt:lpstr>Ciclo de Deming</vt:lpstr>
      <vt:lpstr>El triangulo de hierro</vt:lpstr>
      <vt:lpstr>Cono de incertidumbre</vt:lpstr>
      <vt:lpstr>Presentación de PowerPoint</vt:lpstr>
      <vt:lpstr>1.4. SCRUM como proceso iteractivo e incremental</vt:lpstr>
      <vt:lpstr>Presentación de PowerPoint</vt:lpstr>
      <vt:lpstr>FASES METODOLOGIA SCRUM</vt:lpstr>
      <vt:lpstr>Beneficios de Scrum</vt:lpstr>
      <vt:lpstr>2. ROLES Y RESPONSABILIDADES</vt:lpstr>
      <vt:lpstr>Elementos de Scrum</vt:lpstr>
      <vt:lpstr>Fases </vt:lpstr>
      <vt:lpstr>Elementos de Scrum</vt:lpstr>
      <vt:lpstr>Propietario del producto (Product Owner) </vt:lpstr>
      <vt:lpstr>El equipo Scrum (Scrum Team) </vt:lpstr>
      <vt:lpstr>Características equipo Scrum</vt:lpstr>
      <vt:lpstr>2.2. Scrum Master (Director de proyecto)</vt:lpstr>
      <vt:lpstr>Tareas del Scrum Master</vt:lpstr>
      <vt:lpstr>Errores comunes del Scrum Master</vt:lpstr>
      <vt:lpstr>2.3. Product Owner (representa a los interesados)</vt:lpstr>
      <vt:lpstr>2.4. Team (desarrolladores). Roles auxiliares.</vt:lpstr>
      <vt:lpstr>Tareas y habilidades del equipo Team</vt:lpstr>
      <vt:lpstr>Roles auxiliares</vt:lpstr>
      <vt:lpstr>AGILE LEADERSHIP</vt:lpstr>
      <vt:lpstr>3. GESTIÓN DEL TIEMPO</vt:lpstr>
      <vt:lpstr>3.1. Técnicas.</vt:lpstr>
      <vt:lpstr>Métodos de gestión de tiempo en Scrum</vt:lpstr>
      <vt:lpstr>Presentación de PowerPoint</vt:lpstr>
      <vt:lpstr>METODO EISENHOWER</vt:lpstr>
      <vt:lpstr>Consejo</vt:lpstr>
      <vt:lpstr>4. ¿Qué es un Sprint?</vt:lpstr>
      <vt:lpstr>Timeboxing</vt:lpstr>
      <vt:lpstr>Características</vt:lpstr>
      <vt:lpstr>Fases</vt:lpstr>
      <vt:lpstr>Sprint planning</vt:lpstr>
      <vt:lpstr>Objetivos del sprint planning</vt:lpstr>
      <vt:lpstr>Tarea</vt:lpstr>
      <vt:lpstr>TIPOS DE TAREAS POR SU ESTADO</vt:lpstr>
      <vt:lpstr>PRODUCTIVIDAD PERSONAL-MÉTODO KANBAN (TAREAS)</vt:lpstr>
      <vt:lpstr>Incrementos del producto.</vt:lpstr>
      <vt:lpstr>Estructura de un PRODUCT backlog</vt:lpstr>
      <vt:lpstr>pila de productos (sprint backlog)</vt:lpstr>
      <vt:lpstr>Ejemplo:</vt:lpstr>
      <vt:lpstr>Problemas en la implantación Scrum</vt:lpstr>
      <vt:lpstr>Ejemplo: Pizarra o scrum task board</vt:lpstr>
      <vt:lpstr>Tipos de reuniones</vt:lpstr>
      <vt:lpstr>Reunión de planificación del sprint (sprint planning meeting).</vt:lpstr>
      <vt:lpstr>Daily Scrum</vt:lpstr>
      <vt:lpstr>Scrum de Scrum</vt:lpstr>
      <vt:lpstr>Reunión diaria- Daily Scrum</vt:lpstr>
      <vt:lpstr>Agenda</vt:lpstr>
      <vt:lpstr>Revisión (sprint review)</vt:lpstr>
      <vt:lpstr>Revisión / demo</vt:lpstr>
      <vt:lpstr>sprint Retrospective </vt:lpstr>
      <vt:lpstr>Retrospectiva</vt:lpstr>
      <vt:lpstr>Spring refinament</vt:lpstr>
      <vt:lpstr>Refinamiento</vt:lpstr>
      <vt:lpstr>Documentos</vt:lpstr>
      <vt:lpstr>Gráfico de Avance (burndown).</vt:lpstr>
      <vt:lpstr>Métricas</vt:lpstr>
      <vt:lpstr>Criterios para la estimación y métricas</vt:lpstr>
      <vt:lpstr>Conceptos a tener en cuenta en la métrica:</vt:lpstr>
      <vt:lpstr>Presentación de PowerPoint</vt:lpstr>
      <vt:lpstr>Modo de empleo del Planning Poker</vt:lpstr>
      <vt:lpstr>Estimación de tiempo</vt:lpstr>
      <vt:lpstr>Cuadro de mandos o dashboard: actualización</vt:lpstr>
      <vt:lpstr>QUÉ ES EL SCALING SCRUM?</vt:lpstr>
      <vt:lpstr>El scrum aplicado al desarrollo de software. Características:</vt:lpstr>
      <vt:lpstr>Conceptos fundamentales:</vt:lpstr>
      <vt:lpstr>Funciones </vt:lpstr>
      <vt:lpstr>Scrum de Scrum aplicado a software</vt:lpstr>
      <vt:lpstr>9. HERRAMIENTAS SCRUM</vt:lpstr>
      <vt:lpstr>herramientas</vt:lpstr>
      <vt:lpstr>Herramientas</vt:lpstr>
      <vt:lpstr>Otras herramientas</vt:lpstr>
      <vt:lpstr>Trello</vt:lpstr>
      <vt:lpstr>Obstaculos en la implantación Scrum </vt:lpstr>
      <vt:lpstr>Técnicas en el equipo Scrum</vt:lpstr>
      <vt:lpstr>Herramientas problemas en las reuniones</vt:lpstr>
      <vt:lpstr>Ejemplo: reunión de retrospectiva</vt:lpstr>
      <vt:lpstr>Herramientas</vt:lpstr>
      <vt:lpstr>Herramientas</vt:lpstr>
      <vt:lpstr>OTRAS HERRAMIENTAS AGILES</vt:lpstr>
      <vt:lpstr>FASES DE XP</vt:lpstr>
      <vt:lpstr>Método kanban</vt:lpstr>
      <vt:lpstr>Objetivos y principio del método  Kanban</vt:lpstr>
      <vt:lpstr>Ejemplo de Kanban para el desarrollo de software</vt:lpstr>
      <vt:lpstr>Medición del tiempo en el método Kanban</vt:lpstr>
      <vt:lpstr>Diferencias entre scrum y Kanban</vt:lpstr>
      <vt:lpstr>Método Scrumban</vt:lpstr>
      <vt:lpstr>Conceptos lean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 DE GESTIÓN Y DESARROLLO DE PROYECTOS DE SOFTWARE CON SCRUM. IFCD048PO</dc:title>
  <dc:creator>Alberto Ruiz</dc:creator>
  <cp:lastModifiedBy>Alberto Ruiz</cp:lastModifiedBy>
  <cp:revision>4</cp:revision>
  <dcterms:created xsi:type="dcterms:W3CDTF">2022-12-23T06:26:33Z</dcterms:created>
  <dcterms:modified xsi:type="dcterms:W3CDTF">2023-01-12T18:18:35Z</dcterms:modified>
</cp:coreProperties>
</file>