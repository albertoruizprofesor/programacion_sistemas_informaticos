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122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0AE394F-AFF1-4485-AF1F-7387A2F041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Vídeo 4" descr="Icono de personas conectando">
            <a:extLst>
              <a:ext uri="{FF2B5EF4-FFF2-40B4-BE49-F238E27FC236}">
                <a16:creationId xmlns:a16="http://schemas.microsoft.com/office/drawing/2014/main" id="{BF5F5F0F-9C42-F620-7155-509A889BFAB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12426" r="12360" b="-1"/>
          <a:stretch>
            <a:fillRect/>
          </a:stretch>
        </p:blipFill>
        <p:spPr>
          <a:xfrm>
            <a:off x="-2285" y="10"/>
            <a:ext cx="9143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683D043-25BB-4AC9-8130-641179672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3323345"/>
          </a:xfrm>
          <a:prstGeom prst="rect">
            <a:avLst/>
          </a:prstGeom>
          <a:gradFill flip="none" rotWithShape="1">
            <a:gsLst>
              <a:gs pos="57000">
                <a:srgbClr val="000000">
                  <a:alpha val="30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299" y="554845"/>
            <a:ext cx="7992669" cy="3902673"/>
          </a:xfrm>
        </p:spPr>
        <p:txBody>
          <a:bodyPr anchor="t">
            <a:normAutofit/>
          </a:bodyPr>
          <a:lstStyle/>
          <a:p>
            <a:pPr algn="l"/>
            <a:r>
              <a:rPr lang="es-ES" sz="4500">
                <a:solidFill>
                  <a:srgbClr val="FFFFFF"/>
                </a:solidFill>
              </a:rPr>
              <a:t>UNIDAD 3 – Programación de Comunicaciones en Red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61CCAC-6875-474C-8E9E-F57ABF078C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2285" y="4704862"/>
            <a:ext cx="9143999" cy="2155484"/>
          </a:xfrm>
          <a:prstGeom prst="rect">
            <a:avLst/>
          </a:prstGeom>
          <a:gradFill flip="none" rotWithShape="1">
            <a:gsLst>
              <a:gs pos="59000">
                <a:srgbClr val="000000">
                  <a:alpha val="30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6642" y="4718033"/>
            <a:ext cx="8008722" cy="1175039"/>
          </a:xfrm>
        </p:spPr>
        <p:txBody>
          <a:bodyPr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es-ES" sz="2200">
                <a:solidFill>
                  <a:srgbClr val="FFFFFF"/>
                </a:solidFill>
              </a:rPr>
              <a:t>Programación de Servicios y Procesos</a:t>
            </a:r>
          </a:p>
          <a:p>
            <a:pPr algn="l">
              <a:lnSpc>
                <a:spcPct val="90000"/>
              </a:lnSpc>
            </a:pPr>
            <a:r>
              <a:rPr lang="es-ES" sz="2200">
                <a:solidFill>
                  <a:srgbClr val="FFFFFF"/>
                </a:solidFill>
              </a:rPr>
              <a:t>DAM / DAW</a:t>
            </a:r>
          </a:p>
          <a:p>
            <a:pPr algn="l">
              <a:lnSpc>
                <a:spcPct val="90000"/>
              </a:lnSpc>
            </a:pPr>
            <a:r>
              <a:rPr lang="es-ES" sz="2200">
                <a:solidFill>
                  <a:srgbClr val="FFFFFF"/>
                </a:solidFill>
              </a:rPr>
              <a:t>Explicación completa con definiciones y ejemplos prácticos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s-ES" sz="4700"/>
              <a:t>¿Qué es una red?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r>
              <a:rPr lang="es-ES" sz="1900"/>
              <a:t>Conjunto de dispositivos conectados que comparten información.</a:t>
            </a:r>
          </a:p>
          <a:p>
            <a:r>
              <a:rPr lang="es-ES" sz="1900"/>
              <a:t>Puede ser LAN (local) o WAN (Internet).</a:t>
            </a:r>
          </a:p>
          <a:p>
            <a:r>
              <a:rPr lang="es-ES" sz="1900"/>
              <a:t>Permite comunicación entre procesos remotos.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s-ES" sz="4700"/>
              <a:t>¿Qué es un protocolo?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r>
              <a:rPr lang="es-ES" sz="1900"/>
              <a:t>Conjunto de reglas que definen cómo se comunican dos dispositivos.</a:t>
            </a:r>
          </a:p>
          <a:p>
            <a:r>
              <a:rPr lang="es-ES" sz="1900"/>
              <a:t>Define formato del mensaje.</a:t>
            </a:r>
          </a:p>
          <a:p>
            <a:r>
              <a:rPr lang="es-ES" sz="1900"/>
              <a:t>Define control de errores.</a:t>
            </a:r>
          </a:p>
          <a:p>
            <a:r>
              <a:rPr lang="es-ES" sz="1900"/>
              <a:t>Define sincronización.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s-ES" sz="4700"/>
              <a:t>¿Qué es una dirección IP?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r>
              <a:rPr lang="es-ES" sz="1900"/>
              <a:t>Identificador único de un dispositivo en la red.</a:t>
            </a:r>
          </a:p>
          <a:p>
            <a:r>
              <a:rPr lang="es-ES" sz="1900"/>
              <a:t>IPv4: cuatro números entre 0 y 255.</a:t>
            </a:r>
          </a:p>
          <a:p>
            <a:r>
              <a:rPr lang="es-ES" sz="1900"/>
              <a:t>Ejemplo: 192.168.1.10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s-ES" sz="4700"/>
              <a:t>¿Qué es un puerto?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r>
              <a:rPr lang="es-ES" sz="1900"/>
              <a:t>Número que identifica una aplicación dentro del equipo.</a:t>
            </a:r>
          </a:p>
          <a:p>
            <a:r>
              <a:rPr lang="es-ES" sz="1900"/>
              <a:t>Rango: 0 – 65535.</a:t>
            </a:r>
          </a:p>
          <a:p>
            <a:r>
              <a:rPr lang="es-ES" sz="1900"/>
              <a:t>Ejemplo: 80 (HTTP), 3306 (MySQL).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s-ES" sz="4700"/>
              <a:t>IP + Puerto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r>
              <a:rPr lang="es-ES" sz="1900"/>
              <a:t>IP identifica el equipo.</a:t>
            </a:r>
          </a:p>
          <a:p>
            <a:r>
              <a:rPr lang="es-ES" sz="1900"/>
              <a:t>Puerto identifica el proceso.</a:t>
            </a:r>
          </a:p>
          <a:p>
            <a:r>
              <a:rPr lang="es-ES" sz="1900"/>
              <a:t>Ejemplo completo: 192.168.1.10:2000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s-ES" sz="4700"/>
              <a:t>¿Qué es TCP?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r>
              <a:rPr lang="es-ES" sz="1900"/>
              <a:t>Transmission Control Protocol.</a:t>
            </a:r>
          </a:p>
          <a:p>
            <a:r>
              <a:rPr lang="es-ES" sz="1900"/>
              <a:t>Orientado a conexión.</a:t>
            </a:r>
          </a:p>
          <a:p>
            <a:r>
              <a:rPr lang="es-ES" sz="1900"/>
              <a:t>Garantiza entrega y orden.</a:t>
            </a:r>
          </a:p>
          <a:p>
            <a:r>
              <a:rPr lang="es-ES" sz="1900"/>
              <a:t>Más lento pero seguro.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s-ES" sz="4700"/>
              <a:t>¿Qué es UDP?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r>
              <a:rPr lang="es-ES" sz="1900"/>
              <a:t>User Datagram Protocol.</a:t>
            </a:r>
          </a:p>
          <a:p>
            <a:r>
              <a:rPr lang="es-ES" sz="1900"/>
              <a:t>No orientado a conexión.</a:t>
            </a:r>
          </a:p>
          <a:p>
            <a:r>
              <a:rPr lang="es-ES" sz="1900"/>
              <a:t>No garantiza entrega.</a:t>
            </a:r>
          </a:p>
          <a:p>
            <a:r>
              <a:rPr lang="es-ES" sz="1900"/>
              <a:t>Más rápido.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s-ES" sz="4700"/>
              <a:t>¿Qué es un Socket?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r>
              <a:rPr lang="es-ES" sz="1900"/>
              <a:t>Extremo de comunicación entre dos procesos.</a:t>
            </a:r>
          </a:p>
          <a:p>
            <a:r>
              <a:rPr lang="es-ES" sz="1900"/>
              <a:t>Permite enviar y recibir datos.</a:t>
            </a:r>
          </a:p>
          <a:p>
            <a:r>
              <a:rPr lang="es-ES" sz="1900"/>
              <a:t>Funciona como 'enchufe' de red.</a:t>
            </a:r>
          </a:p>
          <a:p>
            <a:r>
              <a:rPr lang="es-ES" sz="1900"/>
              <a:t>Usa IP + Puerto.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s-ES" sz="4700"/>
              <a:t>Tipos de Socket en Java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r>
              <a:rPr lang="es-ES" sz="1900"/>
              <a:t>Socket → Cliente TCP.</a:t>
            </a:r>
          </a:p>
          <a:p>
            <a:r>
              <a:rPr lang="es-ES" sz="1900"/>
              <a:t>ServerSocket → Servidor TCP.</a:t>
            </a:r>
          </a:p>
          <a:p>
            <a:r>
              <a:rPr lang="es-ES" sz="1900"/>
              <a:t>DatagramSocket → Comunicación UDP.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3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Servidor TCP Completo Explicado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28650" y="1929384"/>
            <a:ext cx="7886700" cy="4251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latin typeface="Consolas"/>
              </a:defRPr>
            </a:pPr>
            <a:r>
              <a:rPr lang="en-US" sz="1200"/>
              <a:t>import java.net.*;</a:t>
            </a:r>
            <a:br>
              <a:rPr lang="en-US" sz="1200"/>
            </a:br>
            <a:r>
              <a:rPr lang="en-US" sz="1200"/>
              <a:t>import java.io.*;</a:t>
            </a:r>
            <a:br>
              <a:rPr lang="en-US" sz="1200"/>
            </a:br>
            <a:br>
              <a:rPr lang="en-US" sz="1200"/>
            </a:br>
            <a:r>
              <a:rPr lang="en-US" sz="1200"/>
              <a:t>public class Servidor {</a:t>
            </a:r>
            <a:br>
              <a:rPr lang="en-US" sz="1200"/>
            </a:br>
            <a:r>
              <a:rPr lang="en-US" sz="1200"/>
              <a:t>    public static void main(String[] args) throws Exception {</a:t>
            </a:r>
            <a:br>
              <a:rPr lang="en-US" sz="1200"/>
            </a:br>
            <a:r>
              <a:rPr lang="en-US" sz="1200"/>
              <a:t>        ServerSocket servidor = new ServerSocket(2000);</a:t>
            </a:r>
            <a:br>
              <a:rPr lang="en-US" sz="1200"/>
            </a:br>
            <a:r>
              <a:rPr lang="en-US" sz="1200"/>
              <a:t>        System.out.println("Servidor esperando...");</a:t>
            </a:r>
            <a:br>
              <a:rPr lang="en-US" sz="1200"/>
            </a:br>
            <a:br>
              <a:rPr lang="en-US" sz="1200"/>
            </a:br>
            <a:r>
              <a:rPr lang="en-US" sz="1200"/>
              <a:t>        Socket cliente = servidor.accept(); // Espera conexión</a:t>
            </a:r>
            <a:br>
              <a:rPr lang="en-US" sz="1200"/>
            </a:br>
            <a:br>
              <a:rPr lang="en-US" sz="1200"/>
            </a:br>
            <a:r>
              <a:rPr lang="en-US" sz="1200"/>
              <a:t>        BufferedReader in = new BufferedReader(</a:t>
            </a:r>
            <a:br>
              <a:rPr lang="en-US" sz="1200"/>
            </a:br>
            <a:r>
              <a:rPr lang="en-US" sz="1200"/>
              <a:t>            new InputStreamReader(cliente.getInputStream()));</a:t>
            </a:r>
            <a:br>
              <a:rPr lang="en-US" sz="1200"/>
            </a:br>
            <a:br>
              <a:rPr lang="en-US" sz="1200"/>
            </a:br>
            <a:r>
              <a:rPr lang="en-US" sz="1200"/>
              <a:t>        PrintWriter out = new PrintWriter(</a:t>
            </a:r>
            <a:br>
              <a:rPr lang="en-US" sz="1200"/>
            </a:br>
            <a:r>
              <a:rPr lang="en-US" sz="1200"/>
              <a:t>            cliente.getOutputStream(), true);</a:t>
            </a:r>
            <a:br>
              <a:rPr lang="en-US" sz="1200"/>
            </a:br>
            <a:br>
              <a:rPr lang="en-US" sz="1200"/>
            </a:br>
            <a:r>
              <a:rPr lang="en-US" sz="1200"/>
              <a:t>        String mensaje = in.readLine();</a:t>
            </a:r>
            <a:br>
              <a:rPr lang="en-US" sz="1200"/>
            </a:br>
            <a:r>
              <a:rPr lang="en-US" sz="1200"/>
              <a:t>        System.out.println("Recibido: " + mensaje);</a:t>
            </a:r>
            <a:br>
              <a:rPr lang="en-US" sz="1200"/>
            </a:br>
            <a:br>
              <a:rPr lang="en-US" sz="1200"/>
            </a:br>
            <a:r>
              <a:rPr lang="en-US" sz="1200"/>
              <a:t>        out.println("Longitud: " + mensaje.length());</a:t>
            </a:r>
            <a:br>
              <a:rPr lang="en-US" sz="1200"/>
            </a:br>
            <a:br>
              <a:rPr lang="en-US" sz="1200"/>
            </a:br>
            <a:r>
              <a:rPr lang="en-US" sz="1200"/>
              <a:t>        cliente.close();</a:t>
            </a:r>
            <a:br>
              <a:rPr lang="en-US" sz="1200"/>
            </a:br>
            <a:r>
              <a:rPr lang="en-US" sz="1200"/>
              <a:t>        servidor.close();</a:t>
            </a:r>
            <a:br>
              <a:rPr lang="en-US" sz="1200"/>
            </a:br>
            <a:r>
              <a:rPr lang="en-US" sz="1200"/>
              <a:t>    }</a:t>
            </a:r>
            <a:br>
              <a:rPr lang="en-US" sz="1200"/>
            </a:br>
            <a:r>
              <a:rPr lang="en-US" sz="1200"/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Cliente TCP Completo Explicado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28650" y="1929384"/>
            <a:ext cx="7886700" cy="4251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latin typeface="Consolas"/>
              </a:defRPr>
            </a:pPr>
            <a:r>
              <a:rPr lang="en-US" sz="1500"/>
              <a:t>import java.net.*;</a:t>
            </a:r>
            <a:br>
              <a:rPr lang="en-US" sz="1500"/>
            </a:br>
            <a:r>
              <a:rPr lang="en-US" sz="1500"/>
              <a:t>import java.io.*;</a:t>
            </a:r>
            <a:br>
              <a:rPr lang="en-US" sz="1500"/>
            </a:br>
            <a:br>
              <a:rPr lang="en-US" sz="1500"/>
            </a:br>
            <a:r>
              <a:rPr lang="en-US" sz="1500"/>
              <a:t>public class Cliente {</a:t>
            </a:r>
            <a:br>
              <a:rPr lang="en-US" sz="1500"/>
            </a:br>
            <a:r>
              <a:rPr lang="en-US" sz="1500"/>
              <a:t>    public static void main(String[] args) throws Exception {</a:t>
            </a:r>
            <a:br>
              <a:rPr lang="en-US" sz="1500"/>
            </a:br>
            <a:r>
              <a:rPr lang="en-US" sz="1500"/>
              <a:t>        Socket socket = new Socket("localhost", 2000);</a:t>
            </a:r>
            <a:br>
              <a:rPr lang="en-US" sz="1500"/>
            </a:br>
            <a:br>
              <a:rPr lang="en-US" sz="1500"/>
            </a:br>
            <a:r>
              <a:rPr lang="en-US" sz="1500"/>
              <a:t>        PrintWriter out = new PrintWriter(</a:t>
            </a:r>
            <a:br>
              <a:rPr lang="en-US" sz="1500"/>
            </a:br>
            <a:r>
              <a:rPr lang="en-US" sz="1500"/>
              <a:t>            socket.getOutputStream(), true);</a:t>
            </a:r>
            <a:br>
              <a:rPr lang="en-US" sz="1500"/>
            </a:br>
            <a:br>
              <a:rPr lang="en-US" sz="1500"/>
            </a:br>
            <a:r>
              <a:rPr lang="en-US" sz="1500"/>
              <a:t>        BufferedReader in = new BufferedReader(</a:t>
            </a:r>
            <a:br>
              <a:rPr lang="en-US" sz="1500"/>
            </a:br>
            <a:r>
              <a:rPr lang="en-US" sz="1500"/>
              <a:t>            new InputStreamReader(socket.getInputStream()));</a:t>
            </a:r>
            <a:br>
              <a:rPr lang="en-US" sz="1500"/>
            </a:br>
            <a:br>
              <a:rPr lang="en-US" sz="1500"/>
            </a:br>
            <a:r>
              <a:rPr lang="en-US" sz="1500"/>
              <a:t>        out.println("Hola mundo");</a:t>
            </a:r>
            <a:br>
              <a:rPr lang="en-US" sz="1500"/>
            </a:br>
            <a:r>
              <a:rPr lang="en-US" sz="1500"/>
              <a:t>        System.out.println(in.readLine());</a:t>
            </a:r>
            <a:br>
              <a:rPr lang="en-US" sz="1500"/>
            </a:br>
            <a:br>
              <a:rPr lang="en-US" sz="1500"/>
            </a:br>
            <a:r>
              <a:rPr lang="en-US" sz="1500"/>
              <a:t>        socket.close();</a:t>
            </a:r>
            <a:br>
              <a:rPr lang="en-US" sz="1500"/>
            </a:br>
            <a:r>
              <a:rPr lang="en-US" sz="1500"/>
              <a:t>    }</a:t>
            </a:r>
            <a:br>
              <a:rPr lang="en-US" sz="1500"/>
            </a:br>
            <a:r>
              <a:rPr lang="en-US" sz="1500"/>
              <a:t>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s-ES" sz="4300"/>
              <a:t>¿Qué es un servidor concurrente?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r>
              <a:rPr lang="es-ES" sz="1900"/>
              <a:t>Servidor que atiende múltiples clientes a la vez.</a:t>
            </a:r>
          </a:p>
          <a:p>
            <a:r>
              <a:rPr lang="es-ES" sz="1900"/>
              <a:t>Se implementa usando hilos.</a:t>
            </a:r>
          </a:p>
          <a:p>
            <a:r>
              <a:rPr lang="es-ES" sz="1900"/>
              <a:t>Cada cliente se atiende en un Thread independiente.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3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Servidor Concurrente (Hilo por cliente)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28650" y="1929384"/>
            <a:ext cx="7886700" cy="4251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latin typeface="Consolas"/>
              </a:defRPr>
            </a:pPr>
            <a:r>
              <a:rPr lang="en-US" sz="1500"/>
              <a:t>while(true){</a:t>
            </a:r>
            <a:br>
              <a:rPr lang="en-US" sz="1500"/>
            </a:br>
            <a:r>
              <a:rPr lang="en-US" sz="1500"/>
              <a:t>    Socket cliente = servidor.accept();</a:t>
            </a:r>
            <a:br>
              <a:rPr lang="en-US" sz="1500"/>
            </a:br>
            <a:br>
              <a:rPr lang="en-US" sz="1500"/>
            </a:br>
            <a:r>
              <a:rPr lang="en-US" sz="1500"/>
              <a:t>    new Thread(() -&gt; {</a:t>
            </a:r>
            <a:br>
              <a:rPr lang="en-US" sz="1500"/>
            </a:br>
            <a:r>
              <a:rPr lang="en-US" sz="1500"/>
              <a:t>        try{</a:t>
            </a:r>
            <a:br>
              <a:rPr lang="en-US" sz="1500"/>
            </a:br>
            <a:r>
              <a:rPr lang="en-US" sz="1500"/>
              <a:t>            BufferedReader in = new BufferedReader(</a:t>
            </a:r>
            <a:br>
              <a:rPr lang="en-US" sz="1500"/>
            </a:br>
            <a:r>
              <a:rPr lang="en-US" sz="1500"/>
              <a:t>                new InputStreamReader(cliente.getInputStream()));</a:t>
            </a:r>
            <a:br>
              <a:rPr lang="en-US" sz="1500"/>
            </a:br>
            <a:r>
              <a:rPr lang="en-US" sz="1500"/>
              <a:t>            PrintWriter out = new PrintWriter(</a:t>
            </a:r>
            <a:br>
              <a:rPr lang="en-US" sz="1500"/>
            </a:br>
            <a:r>
              <a:rPr lang="en-US" sz="1500"/>
              <a:t>                cliente.getOutputStream(), true);</a:t>
            </a:r>
            <a:br>
              <a:rPr lang="en-US" sz="1500"/>
            </a:br>
            <a:br>
              <a:rPr lang="en-US" sz="1500"/>
            </a:br>
            <a:r>
              <a:rPr lang="en-US" sz="1500"/>
              <a:t>            String msg = in.readLine();</a:t>
            </a:r>
            <a:br>
              <a:rPr lang="en-US" sz="1500"/>
            </a:br>
            <a:r>
              <a:rPr lang="en-US" sz="1500"/>
              <a:t>            out.println("Caracteres: " + msg.length());</a:t>
            </a:r>
            <a:br>
              <a:rPr lang="en-US" sz="1500"/>
            </a:br>
            <a:br>
              <a:rPr lang="en-US" sz="1500"/>
            </a:br>
            <a:r>
              <a:rPr lang="en-US" sz="1500"/>
              <a:t>            cliente.close();</a:t>
            </a:r>
            <a:br>
              <a:rPr lang="en-US" sz="1500"/>
            </a:br>
            <a:r>
              <a:rPr lang="en-US" sz="1500"/>
              <a:t>        }catch(Exception e){</a:t>
            </a:r>
            <a:br>
              <a:rPr lang="en-US" sz="1500"/>
            </a:br>
            <a:r>
              <a:rPr lang="en-US" sz="1500"/>
              <a:t>            e.printStackTrace();</a:t>
            </a:r>
            <a:br>
              <a:rPr lang="en-US" sz="1500"/>
            </a:br>
            <a:r>
              <a:rPr lang="en-US" sz="1500"/>
              <a:t>        }</a:t>
            </a:r>
            <a:br>
              <a:rPr lang="en-US" sz="1500"/>
            </a:br>
            <a:r>
              <a:rPr lang="en-US" sz="1500"/>
              <a:t>    }).start();</a:t>
            </a:r>
            <a:br>
              <a:rPr lang="en-US" sz="1500"/>
            </a:br>
            <a:r>
              <a:rPr lang="en-US" sz="1500"/>
              <a:t>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s-ES" sz="4700"/>
              <a:t>¿Qué es un DatagramPacket?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r>
              <a:rPr lang="es-ES" sz="1900"/>
              <a:t>Paquete de datos usado en UDP.</a:t>
            </a:r>
          </a:p>
          <a:p>
            <a:r>
              <a:rPr lang="es-ES" sz="1900"/>
              <a:t>Contiene bytes, IP destino y puerto.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Ejemplo Emisor UDP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28650" y="1929384"/>
            <a:ext cx="7886700" cy="4251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latin typeface="Consolas"/>
              </a:defRPr>
            </a:pPr>
            <a:r>
              <a:rPr lang="en-US" sz="1900"/>
              <a:t>DatagramSocket ds = new DatagramSocket();</a:t>
            </a:r>
            <a:br>
              <a:rPr lang="en-US" sz="1900"/>
            </a:br>
            <a:br>
              <a:rPr lang="en-US" sz="1900"/>
            </a:br>
            <a:r>
              <a:rPr lang="en-US" sz="1900"/>
              <a:t>String mensaje = "Hola UDP";</a:t>
            </a:r>
            <a:br>
              <a:rPr lang="en-US" sz="1900"/>
            </a:br>
            <a:r>
              <a:rPr lang="en-US" sz="1900"/>
              <a:t>byte[] buffer = mensaje.getBytes();</a:t>
            </a:r>
            <a:br>
              <a:rPr lang="en-US" sz="1900"/>
            </a:br>
            <a:br>
              <a:rPr lang="en-US" sz="1900"/>
            </a:br>
            <a:r>
              <a:rPr lang="en-US" sz="1900"/>
              <a:t>DatagramPacket paquete = new DatagramPacket(</a:t>
            </a:r>
            <a:br>
              <a:rPr lang="en-US" sz="1900"/>
            </a:br>
            <a:r>
              <a:rPr lang="en-US" sz="1900"/>
              <a:t>    buffer, buffer.length,</a:t>
            </a:r>
            <a:br>
              <a:rPr lang="en-US" sz="1900"/>
            </a:br>
            <a:r>
              <a:rPr lang="en-US" sz="1900"/>
              <a:t>    InetAddress.getByName("localhost"), 3000);</a:t>
            </a:r>
            <a:br>
              <a:rPr lang="en-US" sz="1900"/>
            </a:br>
            <a:br>
              <a:rPr lang="en-US" sz="1900"/>
            </a:br>
            <a:r>
              <a:rPr lang="en-US" sz="1900"/>
              <a:t>ds.send(paquete);</a:t>
            </a:r>
            <a:br>
              <a:rPr lang="en-US" sz="1900"/>
            </a:br>
            <a:r>
              <a:rPr lang="en-US" sz="1900"/>
              <a:t>ds.close();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ES" sz="4300"/>
              <a:t>¿Cómo medir tiempo de respuesta?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r>
              <a:rPr lang="es-ES" sz="1900"/>
              <a:t>Usamos System.currentTimeMillis().</a:t>
            </a:r>
          </a:p>
          <a:p>
            <a:r>
              <a:rPr lang="es-ES" sz="1900"/>
              <a:t>Restamos tiempo final - tiempo inicial.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Ejemplo medición tiempo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28650" y="1929384"/>
            <a:ext cx="7886700" cy="4251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latin typeface="Consolas"/>
              </a:defRPr>
            </a:pPr>
            <a:r>
              <a:rPr lang="en-US" sz="1900"/>
              <a:t>long inicio = System.currentTimeMillis();</a:t>
            </a:r>
            <a:br>
              <a:rPr lang="en-US" sz="1900"/>
            </a:br>
            <a:br>
              <a:rPr lang="en-US" sz="1900"/>
            </a:br>
            <a:r>
              <a:rPr lang="en-US" sz="1900"/>
              <a:t>// tarea</a:t>
            </a:r>
            <a:br>
              <a:rPr lang="en-US" sz="1900"/>
            </a:br>
            <a:br>
              <a:rPr lang="en-US" sz="1900"/>
            </a:br>
            <a:r>
              <a:rPr lang="en-US" sz="1900"/>
              <a:t>long fin = System.currentTimeMillis();</a:t>
            </a:r>
            <a:br>
              <a:rPr lang="en-US" sz="1900"/>
            </a:br>
            <a:r>
              <a:rPr lang="en-US" sz="1900"/>
              <a:t>System.out.println("Tiempo: " + (fin - inicio) + " ms");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s-ES" sz="4300"/>
              <a:t>Excepciones comunes en Sockets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r>
              <a:rPr lang="es-ES" sz="1900"/>
              <a:t>IOException → error E/S.</a:t>
            </a:r>
          </a:p>
          <a:p>
            <a:r>
              <a:rPr lang="es-ES" sz="1900"/>
              <a:t>SocketTimeoutException → tiempo agotado.</a:t>
            </a:r>
          </a:p>
          <a:p>
            <a:r>
              <a:rPr lang="es-ES" sz="1900"/>
              <a:t>IllegalArgumentException → puerto inválido.</a:t>
            </a:r>
          </a:p>
          <a:p>
            <a:r>
              <a:rPr lang="es-ES" sz="1900"/>
              <a:t>NullPointerException → argumentos nulos.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ES" sz="4300"/>
              <a:t>Conclusión Unidad 3 (Dominio Completo)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r>
              <a:rPr lang="es-ES" sz="1900"/>
              <a:t>Comprendes IP y Puertos.</a:t>
            </a:r>
          </a:p>
          <a:p>
            <a:r>
              <a:rPr lang="es-ES" sz="1900"/>
              <a:t>Comprendes TCP vs UDP.</a:t>
            </a:r>
          </a:p>
          <a:p>
            <a:r>
              <a:rPr lang="es-ES" sz="1900"/>
              <a:t>Sabes crear cliente y servidor.</a:t>
            </a:r>
          </a:p>
          <a:p>
            <a:r>
              <a:rPr lang="es-ES" sz="1900"/>
              <a:t>Sabes crear servidor concurrente.</a:t>
            </a:r>
          </a:p>
          <a:p>
            <a:r>
              <a:rPr lang="es-ES" sz="1900"/>
              <a:t>Sabes medir rendimiento.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889</Words>
  <Application>Microsoft Office PowerPoint</Application>
  <PresentationFormat>Presentación en pantalla (4:3)</PresentationFormat>
  <Paragraphs>75</Paragraphs>
  <Slides>20</Slides>
  <Notes>0</Notes>
  <HiddenSlides>0</HiddenSlides>
  <MMClips>1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UNIDAD 3 – Programación de Comunicaciones en Red</vt:lpstr>
      <vt:lpstr>¿Qué es una red?</vt:lpstr>
      <vt:lpstr>¿Qué es un protocolo?</vt:lpstr>
      <vt:lpstr>¿Qué es una dirección IP?</vt:lpstr>
      <vt:lpstr>¿Qué es un puerto?</vt:lpstr>
      <vt:lpstr>IP + Puerto</vt:lpstr>
      <vt:lpstr>¿Qué es TCP?</vt:lpstr>
      <vt:lpstr>¿Qué es UDP?</vt:lpstr>
      <vt:lpstr>¿Qué es un Socket?</vt:lpstr>
      <vt:lpstr>Tipos de Socket en Java</vt:lpstr>
      <vt:lpstr>Servidor TCP Completo Explicado</vt:lpstr>
      <vt:lpstr>Cliente TCP Completo Explicado</vt:lpstr>
      <vt:lpstr>¿Qué es un servidor concurrente?</vt:lpstr>
      <vt:lpstr>Servidor Concurrente (Hilo por cliente)</vt:lpstr>
      <vt:lpstr>¿Qué es un DatagramPacket?</vt:lpstr>
      <vt:lpstr>Ejemplo Emisor UDP</vt:lpstr>
      <vt:lpstr>¿Cómo medir tiempo de respuesta?</vt:lpstr>
      <vt:lpstr>Ejemplo medición tiempo</vt:lpstr>
      <vt:lpstr>Excepciones comunes en Sockets</vt:lpstr>
      <vt:lpstr>Conclusión Unidad 3 (Dominio Completo)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Alberto Ruiz</cp:lastModifiedBy>
  <cp:revision>2</cp:revision>
  <dcterms:created xsi:type="dcterms:W3CDTF">2013-01-27T09:14:16Z</dcterms:created>
  <dcterms:modified xsi:type="dcterms:W3CDTF">2026-03-01T17:46:06Z</dcterms:modified>
  <cp:category/>
</cp:coreProperties>
</file>