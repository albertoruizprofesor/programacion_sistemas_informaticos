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836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22CBF9D0-4B3B-4798-ADA2-7CC65431CA66}"/>
    <pc:docChg chg="modSld sldOrd">
      <pc:chgData name="Alberto Ruiz" userId="47fa91d207cfb014" providerId="LiveId" clId="{22CBF9D0-4B3B-4798-ADA2-7CC65431CA66}" dt="2025-01-07T16:48:24.255" v="4"/>
      <pc:docMkLst>
        <pc:docMk/>
      </pc:docMkLst>
      <pc:sldChg chg="modSp mod">
        <pc:chgData name="Alberto Ruiz" userId="47fa91d207cfb014" providerId="LiveId" clId="{22CBF9D0-4B3B-4798-ADA2-7CC65431CA66}" dt="2025-01-07T16:47:55.115" v="2" actId="113"/>
        <pc:sldMkLst>
          <pc:docMk/>
          <pc:sldMk cId="0" sldId="260"/>
        </pc:sldMkLst>
        <pc:spChg chg="mod">
          <ac:chgData name="Alberto Ruiz" userId="47fa91d207cfb014" providerId="LiveId" clId="{22CBF9D0-4B3B-4798-ADA2-7CC65431CA66}" dt="2025-01-07T16:47:55.115" v="2" actId="113"/>
          <ac:spMkLst>
            <pc:docMk/>
            <pc:sldMk cId="0" sldId="260"/>
            <ac:spMk id="3" creationId="{00000000-0000-0000-0000-000000000000}"/>
          </ac:spMkLst>
        </pc:spChg>
      </pc:sldChg>
      <pc:sldChg chg="ord">
        <pc:chgData name="Alberto Ruiz" userId="47fa91d207cfb014" providerId="LiveId" clId="{22CBF9D0-4B3B-4798-ADA2-7CC65431CA66}" dt="2025-01-07T16:48:24.255" v="4"/>
        <pc:sldMkLst>
          <pc:docMk/>
          <pc:sldMk cId="3885424234" sldId="264"/>
        </pc:sldMkLst>
      </pc:sldChg>
    </pc:docChg>
  </pc:docChgLst>
  <pc:docChgLst>
    <pc:chgData name="Alberto Ruiz" userId="47fa91d207cfb014" providerId="LiveId" clId="{9119ACE8-08AD-4384-9B69-1A6E16514E19}"/>
    <pc:docChg chg="custSel addSld modSld">
      <pc:chgData name="Alberto Ruiz" userId="47fa91d207cfb014" providerId="LiveId" clId="{9119ACE8-08AD-4384-9B69-1A6E16514E19}" dt="2024-08-01T08:09:27.243" v="215" actId="122"/>
      <pc:docMkLst>
        <pc:docMk/>
      </pc:docMkLst>
      <pc:sldChg chg="modSp new mod">
        <pc:chgData name="Alberto Ruiz" userId="47fa91d207cfb014" providerId="LiveId" clId="{9119ACE8-08AD-4384-9B69-1A6E16514E19}" dt="2024-08-01T07:11:55.005" v="70" actId="20577"/>
        <pc:sldMkLst>
          <pc:docMk/>
          <pc:sldMk cId="1068883806" sldId="262"/>
        </pc:sldMkLst>
      </pc:sldChg>
      <pc:sldChg chg="addSp delSp modSp new mod setBg">
        <pc:chgData name="Alberto Ruiz" userId="47fa91d207cfb014" providerId="LiveId" clId="{9119ACE8-08AD-4384-9B69-1A6E16514E19}" dt="2024-08-01T08:09:27.243" v="215" actId="122"/>
        <pc:sldMkLst>
          <pc:docMk/>
          <pc:sldMk cId="3955295852" sldId="263"/>
        </pc:sldMkLst>
      </pc:sldChg>
      <pc:sldChg chg="addSp modSp new mod setBg">
        <pc:chgData name="Alberto Ruiz" userId="47fa91d207cfb014" providerId="LiveId" clId="{9119ACE8-08AD-4384-9B69-1A6E16514E19}" dt="2024-08-01T08:04:26.473" v="198" actId="26606"/>
        <pc:sldMkLst>
          <pc:docMk/>
          <pc:sldMk cId="3885424234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start.spring.io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16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17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18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281" y="666351"/>
            <a:ext cx="7918803" cy="3044335"/>
          </a:xfrm>
        </p:spPr>
        <p:txBody>
          <a:bodyPr anchor="b">
            <a:normAutofit/>
          </a:bodyPr>
          <a:lstStyle/>
          <a:p>
            <a:r>
              <a:rPr lang="es-ES" sz="4200">
                <a:solidFill>
                  <a:schemeClr val="bg1"/>
                </a:solidFill>
              </a:rPr>
              <a:t>Introducción a Spring y Spring Boot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2281" y="3866064"/>
            <a:ext cx="7918803" cy="2234485"/>
          </a:xfrm>
        </p:spPr>
        <p:txBody>
          <a:bodyPr anchor="t"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Una visión general de los frameworks para el desarrollo de aplicaciones Java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s-ES" sz="3500"/>
              <a:t>Spring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s-ES" sz="1700"/>
              <a:t>Spring es un marco de trabajo para el desarrollo de aplicaciones empresariales en Java.</a:t>
            </a:r>
          </a:p>
          <a:p>
            <a:r>
              <a:rPr lang="es-ES" sz="1700"/>
              <a:t>Proporciona infraestructura para el desarrollo de aplicaciones robustas, escalables y seguras.</a:t>
            </a:r>
          </a:p>
          <a:p>
            <a:r>
              <a:rPr lang="es-ES" sz="1700"/>
              <a:t>Componentes clave: Inversión de Control (IoC), Programación Orientada a Aspectos (AOP), y más.</a:t>
            </a:r>
          </a:p>
        </p:txBody>
      </p:sp>
      <p:pic>
        <p:nvPicPr>
          <p:cNvPr id="5" name="Picture 4" descr="Gráfico económico digital">
            <a:extLst>
              <a:ext uri="{FF2B5EF4-FFF2-40B4-BE49-F238E27FC236}">
                <a16:creationId xmlns:a16="http://schemas.microsoft.com/office/drawing/2014/main" id="{E16163E7-ACEF-413C-9D72-E6A25DC2BA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872" r="23586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556" y="762001"/>
            <a:ext cx="3117384" cy="1708244"/>
          </a:xfrm>
        </p:spPr>
        <p:txBody>
          <a:bodyPr anchor="ctr">
            <a:normAutofit/>
          </a:bodyPr>
          <a:lstStyle/>
          <a:p>
            <a:r>
              <a:rPr lang="es-ES" sz="3500"/>
              <a:t>Componentes Principales de Spring</a:t>
            </a:r>
          </a:p>
        </p:txBody>
      </p:sp>
      <p:pic>
        <p:nvPicPr>
          <p:cNvPr id="5" name="Picture 4" descr="Escritorio con estetoscopio y teclado de ordenador">
            <a:extLst>
              <a:ext uri="{FF2B5EF4-FFF2-40B4-BE49-F238E27FC236}">
                <a16:creationId xmlns:a16="http://schemas.microsoft.com/office/drawing/2014/main" id="{57F21DA1-E642-C732-C0EE-4D0F0985BC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226" r="273" b="-2"/>
          <a:stretch/>
        </p:blipFill>
        <p:spPr>
          <a:xfrm>
            <a:off x="20" y="-2"/>
            <a:ext cx="4571980" cy="685800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556" y="2470245"/>
            <a:ext cx="3117384" cy="376983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700"/>
              <a:t>Inversión de Control (IoC): Gestiona la creación y el ciclo de vida de los objetos.</a:t>
            </a:r>
          </a:p>
          <a:p>
            <a:pPr>
              <a:lnSpc>
                <a:spcPct val="90000"/>
              </a:lnSpc>
            </a:pPr>
            <a:r>
              <a:rPr lang="es-ES" sz="1700"/>
              <a:t>Programación Orientada a Aspectos (AOP): Maneja las preocupaciones transversales, como la seguridad y el registro.</a:t>
            </a:r>
          </a:p>
          <a:p>
            <a:pPr>
              <a:lnSpc>
                <a:spcPct val="90000"/>
              </a:lnSpc>
            </a:pPr>
            <a:r>
              <a:rPr lang="es-ES" sz="1700"/>
              <a:t>Acceso a Datos: Integración con JDBC, JPA, Hibernate, etc.</a:t>
            </a:r>
          </a:p>
          <a:p>
            <a:pPr>
              <a:lnSpc>
                <a:spcPct val="90000"/>
              </a:lnSpc>
            </a:pPr>
            <a:r>
              <a:rPr lang="es-ES" sz="1700"/>
              <a:t>Web y Servicios Web: Incluye Spring MVC para aplicaciones web y soporte para RESTful y SOAP.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556" y="762001"/>
            <a:ext cx="3117384" cy="1708244"/>
          </a:xfrm>
        </p:spPr>
        <p:txBody>
          <a:bodyPr anchor="ctr">
            <a:normAutofit/>
          </a:bodyPr>
          <a:lstStyle/>
          <a:p>
            <a:r>
              <a:rPr lang="es-ES" sz="3500"/>
              <a:t>Spring Boot</a:t>
            </a:r>
          </a:p>
        </p:txBody>
      </p:sp>
      <p:pic>
        <p:nvPicPr>
          <p:cNvPr id="5" name="Picture 4" descr="Herramientas en un fondo rojo">
            <a:extLst>
              <a:ext uri="{FF2B5EF4-FFF2-40B4-BE49-F238E27FC236}">
                <a16:creationId xmlns:a16="http://schemas.microsoft.com/office/drawing/2014/main" id="{58CE227D-61A3-9A82-7D73-74210840C0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10" r="33089" b="-2"/>
          <a:stretch/>
        </p:blipFill>
        <p:spPr>
          <a:xfrm>
            <a:off x="20" y="-2"/>
            <a:ext cx="4571980" cy="685800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556" y="2470245"/>
            <a:ext cx="3117384" cy="3769835"/>
          </a:xfrm>
        </p:spPr>
        <p:txBody>
          <a:bodyPr anchor="ctr">
            <a:normAutofit/>
          </a:bodyPr>
          <a:lstStyle/>
          <a:p>
            <a:r>
              <a:rPr lang="es-ES" sz="1700"/>
              <a:t>Spring Boot es una extensión de Spring que facilita el desarrollo de aplicaciones de producción listas para usar.</a:t>
            </a:r>
          </a:p>
          <a:p>
            <a:r>
              <a:rPr lang="es-ES" sz="1700"/>
              <a:t>Simplifica la configuración y proporciona características como auto-configuración y arranque rápido.</a:t>
            </a:r>
          </a:p>
          <a:p>
            <a:r>
              <a:rPr lang="es-ES" sz="1700"/>
              <a:t>Ideal para microservicios y aplicaciones basadas en la nube.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s-ES" sz="3500"/>
              <a:t>Características de Spring Boot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700" dirty="0" err="1"/>
              <a:t>Auto-configuración</a:t>
            </a:r>
            <a:r>
              <a:rPr lang="es-ES" sz="1700" dirty="0"/>
              <a:t>: Configura automáticamente componentes según las dependencias.</a:t>
            </a:r>
          </a:p>
          <a:p>
            <a:pPr>
              <a:lnSpc>
                <a:spcPct val="90000"/>
              </a:lnSpc>
            </a:pPr>
            <a:r>
              <a:rPr lang="es-ES" sz="1700" b="1" dirty="0"/>
              <a:t>Starter </a:t>
            </a:r>
            <a:r>
              <a:rPr lang="es-ES" sz="1700" b="1" dirty="0" err="1"/>
              <a:t>POMs</a:t>
            </a:r>
            <a:r>
              <a:rPr lang="es-ES" sz="1700" b="1" dirty="0"/>
              <a:t>: </a:t>
            </a:r>
            <a:r>
              <a:rPr lang="es-ES" sz="1700" dirty="0"/>
              <a:t>Conjuntos de dependencias predefinidas para comenzar rápidamente con nuevos proyectos.</a:t>
            </a:r>
          </a:p>
          <a:p>
            <a:pPr>
              <a:lnSpc>
                <a:spcPct val="90000"/>
              </a:lnSpc>
            </a:pPr>
            <a:r>
              <a:rPr lang="es-ES" sz="1700" b="1" dirty="0"/>
              <a:t>Servidor embebido: </a:t>
            </a:r>
            <a:r>
              <a:rPr lang="es-ES" sz="1700" dirty="0"/>
              <a:t>Incluye servidores como Tomcat o </a:t>
            </a:r>
            <a:r>
              <a:rPr lang="es-ES" sz="1700" dirty="0" err="1"/>
              <a:t>Jetty</a:t>
            </a:r>
            <a:r>
              <a:rPr lang="es-ES" sz="1700" dirty="0"/>
              <a:t> para ejecutar la aplicación sin necesidad de configuración externa.</a:t>
            </a:r>
          </a:p>
          <a:p>
            <a:pPr>
              <a:lnSpc>
                <a:spcPct val="90000"/>
              </a:lnSpc>
            </a:pPr>
            <a:r>
              <a:rPr lang="es-ES" sz="1700" b="1" dirty="0"/>
              <a:t>Actuadores: </a:t>
            </a:r>
            <a:r>
              <a:rPr lang="es-ES" sz="1700" dirty="0"/>
              <a:t>Herramientas para monitorear y gestionar la aplicación en producción.</a:t>
            </a:r>
          </a:p>
        </p:txBody>
      </p:sp>
      <p:pic>
        <p:nvPicPr>
          <p:cNvPr id="5" name="Picture 4" descr="Placa de circuito electrónico">
            <a:extLst>
              <a:ext uri="{FF2B5EF4-FFF2-40B4-BE49-F238E27FC236}">
                <a16:creationId xmlns:a16="http://schemas.microsoft.com/office/drawing/2014/main" id="{C458EADA-8249-7F61-A58B-9FC3F17E62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477" r="14646" b="-1"/>
          <a:stretch/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ombilla en fondo amarillo con rayos de luz y cable pintados">
            <a:extLst>
              <a:ext uri="{FF2B5EF4-FFF2-40B4-BE49-F238E27FC236}">
                <a16:creationId xmlns:a16="http://schemas.microsoft.com/office/drawing/2014/main" id="{4B918511-0B06-B6CB-0255-5987DDD7BD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935" r="9677"/>
          <a:stretch/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s-ES" sz="3500"/>
              <a:t>Ventajas de Usar Spring y Spring Boot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s-ES" sz="1700"/>
              <a:t>Desarrollo rápido y simplificado de aplicaciones Java.</a:t>
            </a:r>
          </a:p>
          <a:p>
            <a:r>
              <a:rPr lang="es-ES" sz="1700"/>
              <a:t>Fácil integración con otras tecnologías y herramientas.</a:t>
            </a:r>
          </a:p>
          <a:p>
            <a:r>
              <a:rPr lang="es-ES" sz="1700"/>
              <a:t>Gran comunidad y abundante documentación.</a:t>
            </a:r>
          </a:p>
          <a:p>
            <a:r>
              <a:rPr lang="es-ES" sz="1700"/>
              <a:t>Ideal para aplicaciones empresariales y de microservicios.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ompecabezas blanco con una pieza roja">
            <a:extLst>
              <a:ext uri="{FF2B5EF4-FFF2-40B4-BE49-F238E27FC236}">
                <a16:creationId xmlns:a16="http://schemas.microsoft.com/office/drawing/2014/main" id="{00CBA5F4-D5CF-058E-6B80-82F50064B1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161" r="32557"/>
          <a:stretch/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A710F22-DE36-17D5-A97E-89FCD6C5E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s-ES" sz="3500"/>
              <a:t>Diferencias entre Spring y Spring Boot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C3FE57-E2BB-1931-4BA9-C65F4C2AB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kumimoji="0" lang="es-ES" altLang="es-E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Esta tabla muestra cómo Spring </a:t>
            </a:r>
            <a:r>
              <a:rPr kumimoji="0" lang="es-ES" altLang="es-ES" sz="17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Boot</a:t>
            </a:r>
            <a:r>
              <a:rPr kumimoji="0" lang="es-ES" altLang="es-E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simplifica muchos aspectos del desarrollo con Spring, ofreciendo </a:t>
            </a:r>
            <a:r>
              <a:rPr kumimoji="0" lang="es-ES" altLang="es-ES" sz="17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auto-configuración</a:t>
            </a:r>
            <a:r>
              <a:rPr kumimoji="0" lang="es-ES" altLang="es-E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servidores embebidos, y herramientas adicionales para facilitar el desarrollo y la gestión de aplicaciones, especialmente en el contexto de arquitecturas modernas como los microservicios.</a:t>
            </a:r>
          </a:p>
          <a:p>
            <a:endParaRPr lang="es-ES" sz="1700" dirty="0"/>
          </a:p>
        </p:txBody>
      </p:sp>
    </p:spTree>
    <p:extLst>
      <p:ext uri="{BB962C8B-B14F-4D97-AF65-F5344CB8AC3E}">
        <p14:creationId xmlns:p14="http://schemas.microsoft.com/office/powerpoint/2010/main" val="3885424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681440-3613-7133-A838-355415680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88" y="151169"/>
            <a:ext cx="8182230" cy="26640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Diferencias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entre Spring y Spring Boot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F5DBD20-C29D-9B25-1793-F68B960F1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042584"/>
              </p:ext>
            </p:extLst>
          </p:nvPr>
        </p:nvGraphicFramePr>
        <p:xfrm>
          <a:off x="121920" y="762000"/>
          <a:ext cx="8779767" cy="599302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91920">
                  <a:extLst>
                    <a:ext uri="{9D8B030D-6E8A-4147-A177-3AD203B41FA5}">
                      <a16:colId xmlns:a16="http://schemas.microsoft.com/office/drawing/2014/main" val="3042782909"/>
                    </a:ext>
                  </a:extLst>
                </a:gridCol>
                <a:gridCol w="3495040">
                  <a:extLst>
                    <a:ext uri="{9D8B030D-6E8A-4147-A177-3AD203B41FA5}">
                      <a16:colId xmlns:a16="http://schemas.microsoft.com/office/drawing/2014/main" val="1198660045"/>
                    </a:ext>
                  </a:extLst>
                </a:gridCol>
                <a:gridCol w="3892807">
                  <a:extLst>
                    <a:ext uri="{9D8B030D-6E8A-4147-A177-3AD203B41FA5}">
                      <a16:colId xmlns:a16="http://schemas.microsoft.com/office/drawing/2014/main" val="1506033145"/>
                    </a:ext>
                  </a:extLst>
                </a:gridCol>
              </a:tblGrid>
              <a:tr h="369561">
                <a:tc>
                  <a:txBody>
                    <a:bodyPr/>
                    <a:lstStyle/>
                    <a:p>
                      <a:r>
                        <a:rPr lang="es-ES" sz="1600" b="1" cap="none" spc="0" dirty="0">
                          <a:solidFill>
                            <a:schemeClr val="tx1"/>
                          </a:solidFill>
                        </a:rPr>
                        <a:t>Característica</a:t>
                      </a:r>
                      <a:endParaRPr lang="es-E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4630" marR="24630" marT="12315" marB="55236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cap="none" spc="0" dirty="0">
                          <a:solidFill>
                            <a:schemeClr val="tx1"/>
                          </a:solidFill>
                        </a:rPr>
                        <a:t>Spring</a:t>
                      </a:r>
                      <a:endParaRPr lang="es-E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4630" marR="24630" marT="12315" marB="55236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cap="none" spc="0" dirty="0">
                          <a:solidFill>
                            <a:schemeClr val="tx1"/>
                          </a:solidFill>
                        </a:rPr>
                        <a:t>Spring </a:t>
                      </a:r>
                      <a:r>
                        <a:rPr lang="es-ES" sz="1600" b="1" cap="none" spc="0" dirty="0" err="1">
                          <a:solidFill>
                            <a:schemeClr val="tx1"/>
                          </a:solidFill>
                        </a:rPr>
                        <a:t>Boot</a:t>
                      </a:r>
                      <a:endParaRPr lang="es-E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4630" marR="24630" marT="12315" marB="55236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351321"/>
                  </a:ext>
                </a:extLst>
              </a:tr>
              <a:tr h="599303">
                <a:tc>
                  <a:txBody>
                    <a:bodyPr/>
                    <a:lstStyle/>
                    <a:p>
                      <a:r>
                        <a:rPr lang="es-ES" sz="1600" b="1" cap="none" spc="0" dirty="0">
                          <a:solidFill>
                            <a:schemeClr val="tx1"/>
                          </a:solidFill>
                        </a:rPr>
                        <a:t>Configuración</a:t>
                      </a:r>
                      <a:endParaRPr lang="es-E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4630" marR="24630" marT="12315" marB="5523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cap="none" spc="0" dirty="0">
                          <a:solidFill>
                            <a:schemeClr val="tx1"/>
                          </a:solidFill>
                        </a:rPr>
                        <a:t>Requiere configuración manual extensa mediante XML o anotaciones.</a:t>
                      </a:r>
                    </a:p>
                  </a:txBody>
                  <a:tcPr marL="24630" marR="24630" marT="12315" marB="55236" anchor="ctr"/>
                </a:tc>
                <a:tc>
                  <a:txBody>
                    <a:bodyPr/>
                    <a:lstStyle/>
                    <a:p>
                      <a:r>
                        <a:rPr lang="es-ES" sz="1600" cap="none" spc="0">
                          <a:solidFill>
                            <a:schemeClr val="tx1"/>
                          </a:solidFill>
                        </a:rPr>
                        <a:t>Proporciona auto-configuración y convenciones sobre configuración.</a:t>
                      </a:r>
                    </a:p>
                  </a:txBody>
                  <a:tcPr marL="24630" marR="24630" marT="12315" marB="55236" anchor="ctr"/>
                </a:tc>
                <a:extLst>
                  <a:ext uri="{0D108BD9-81ED-4DB2-BD59-A6C34878D82A}">
                    <a16:rowId xmlns:a16="http://schemas.microsoft.com/office/drawing/2014/main" val="17817945"/>
                  </a:ext>
                </a:extLst>
              </a:tr>
              <a:tr h="599303">
                <a:tc>
                  <a:txBody>
                    <a:bodyPr/>
                    <a:lstStyle/>
                    <a:p>
                      <a:r>
                        <a:rPr lang="es-ES" sz="1600" b="1" cap="none" spc="0" dirty="0">
                          <a:solidFill>
                            <a:schemeClr val="tx1"/>
                          </a:solidFill>
                        </a:rPr>
                        <a:t>Facilidad de Uso</a:t>
                      </a:r>
                      <a:endParaRPr lang="es-E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4630" marR="24630" marT="12315" marB="5523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cap="none" spc="0">
                          <a:solidFill>
                            <a:schemeClr val="tx1"/>
                          </a:solidFill>
                        </a:rPr>
                        <a:t>Tiene una curva de aprendizaje más pronunciada debido a la configuración detallada requerida.</a:t>
                      </a:r>
                    </a:p>
                  </a:txBody>
                  <a:tcPr marL="24630" marR="24630" marT="12315" marB="55236" anchor="ctr"/>
                </a:tc>
                <a:tc>
                  <a:txBody>
                    <a:bodyPr/>
                    <a:lstStyle/>
                    <a:p>
                      <a:r>
                        <a:rPr lang="es-ES" sz="1600" cap="none" spc="0">
                          <a:solidFill>
                            <a:schemeClr val="tx1"/>
                          </a:solidFill>
                        </a:rPr>
                        <a:t>Simplifica la configuración y el desarrollo, accesible para desarrolladores.</a:t>
                      </a:r>
                    </a:p>
                  </a:txBody>
                  <a:tcPr marL="24630" marR="24630" marT="12315" marB="55236" anchor="ctr"/>
                </a:tc>
                <a:extLst>
                  <a:ext uri="{0D108BD9-81ED-4DB2-BD59-A6C34878D82A}">
                    <a16:rowId xmlns:a16="http://schemas.microsoft.com/office/drawing/2014/main" val="4276330587"/>
                  </a:ext>
                </a:extLst>
              </a:tr>
              <a:tr h="829043">
                <a:tc>
                  <a:txBody>
                    <a:bodyPr/>
                    <a:lstStyle/>
                    <a:p>
                      <a:r>
                        <a:rPr lang="es-ES" sz="1600" b="1" cap="none" spc="0" dirty="0">
                          <a:solidFill>
                            <a:schemeClr val="tx1"/>
                          </a:solidFill>
                        </a:rPr>
                        <a:t>Arranque de la Aplicación</a:t>
                      </a:r>
                      <a:endParaRPr lang="es-E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4630" marR="24630" marT="12315" marB="5523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cap="none" spc="0" dirty="0">
                          <a:solidFill>
                            <a:schemeClr val="tx1"/>
                          </a:solidFill>
                        </a:rPr>
                        <a:t>Requiere un contenedor de </a:t>
                      </a:r>
                      <a:r>
                        <a:rPr lang="es-ES" sz="1600" cap="none" spc="0" dirty="0" err="1">
                          <a:solidFill>
                            <a:schemeClr val="tx1"/>
                          </a:solidFill>
                        </a:rPr>
                        <a:t>servlets</a:t>
                      </a:r>
                      <a:r>
                        <a:rPr lang="es-ES" sz="1600" cap="none" spc="0">
                          <a:solidFill>
                            <a:schemeClr val="tx1"/>
                          </a:solidFill>
                        </a:rPr>
                        <a:t> externo (como Tomcat) para ejecutar aplicaciones web.</a:t>
                      </a:r>
                    </a:p>
                  </a:txBody>
                  <a:tcPr marL="24630" marR="24630" marT="12315" marB="55236" anchor="ctr"/>
                </a:tc>
                <a:tc>
                  <a:txBody>
                    <a:bodyPr/>
                    <a:lstStyle/>
                    <a:p>
                      <a:r>
                        <a:rPr lang="es-ES" sz="1600" cap="none" spc="0">
                          <a:solidFill>
                            <a:schemeClr val="tx1"/>
                          </a:solidFill>
                        </a:rPr>
                        <a:t>Incluye un servidor web integrado (como Tomcat, Jetty, o Undertow) para ejecutar aplicaciones de manera autónoma.</a:t>
                      </a:r>
                    </a:p>
                  </a:txBody>
                  <a:tcPr marL="24630" marR="24630" marT="12315" marB="55236" anchor="ctr"/>
                </a:tc>
                <a:extLst>
                  <a:ext uri="{0D108BD9-81ED-4DB2-BD59-A6C34878D82A}">
                    <a16:rowId xmlns:a16="http://schemas.microsoft.com/office/drawing/2014/main" val="3887106454"/>
                  </a:ext>
                </a:extLst>
              </a:tr>
              <a:tr h="599303">
                <a:tc>
                  <a:txBody>
                    <a:bodyPr/>
                    <a:lstStyle/>
                    <a:p>
                      <a:r>
                        <a:rPr lang="es-ES" sz="1600" b="1" cap="none" spc="0" dirty="0">
                          <a:solidFill>
                            <a:schemeClr val="tx1"/>
                          </a:solidFill>
                        </a:rPr>
                        <a:t>Starter </a:t>
                      </a:r>
                      <a:r>
                        <a:rPr lang="es-ES" sz="1600" b="1" cap="none" spc="0" dirty="0" err="1">
                          <a:solidFill>
                            <a:schemeClr val="tx1"/>
                          </a:solidFill>
                        </a:rPr>
                        <a:t>POMs</a:t>
                      </a:r>
                      <a:endParaRPr lang="es-E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4630" marR="24630" marT="12315" marB="5523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cap="none" spc="0">
                          <a:solidFill>
                            <a:schemeClr val="tx1"/>
                          </a:solidFill>
                        </a:rPr>
                        <a:t>No proporciona starter POMs específicos.</a:t>
                      </a:r>
                    </a:p>
                  </a:txBody>
                  <a:tcPr marL="24630" marR="24630" marT="12315" marB="55236" anchor="ctr"/>
                </a:tc>
                <a:tc>
                  <a:txBody>
                    <a:bodyPr/>
                    <a:lstStyle/>
                    <a:p>
                      <a:r>
                        <a:rPr lang="es-ES" sz="1600" cap="none" spc="0">
                          <a:solidFill>
                            <a:schemeClr val="tx1"/>
                          </a:solidFill>
                        </a:rPr>
                        <a:t>Incluye starter POMs para facilitar la configuración de dependencias comunes.</a:t>
                      </a:r>
                    </a:p>
                  </a:txBody>
                  <a:tcPr marL="24630" marR="24630" marT="12315" marB="55236" anchor="ctr"/>
                </a:tc>
                <a:extLst>
                  <a:ext uri="{0D108BD9-81ED-4DB2-BD59-A6C34878D82A}">
                    <a16:rowId xmlns:a16="http://schemas.microsoft.com/office/drawing/2014/main" val="979865172"/>
                  </a:ext>
                </a:extLst>
              </a:tr>
              <a:tr h="599303">
                <a:tc>
                  <a:txBody>
                    <a:bodyPr/>
                    <a:lstStyle/>
                    <a:p>
                      <a:r>
                        <a:rPr lang="es-ES" sz="1600" b="1" cap="none" spc="0" dirty="0">
                          <a:solidFill>
                            <a:schemeClr val="tx1"/>
                          </a:solidFill>
                        </a:rPr>
                        <a:t>Actuadores</a:t>
                      </a:r>
                      <a:endParaRPr lang="es-E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4630" marR="24630" marT="12315" marB="5523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cap="none" spc="0">
                          <a:solidFill>
                            <a:schemeClr val="tx1"/>
                          </a:solidFill>
                        </a:rPr>
                        <a:t>No tiene una solución integrada para monitoreo y gestión.</a:t>
                      </a:r>
                    </a:p>
                  </a:txBody>
                  <a:tcPr marL="24630" marR="24630" marT="12315" marB="55236" anchor="ctr"/>
                </a:tc>
                <a:tc>
                  <a:txBody>
                    <a:bodyPr/>
                    <a:lstStyle/>
                    <a:p>
                      <a:r>
                        <a:rPr lang="es-ES" sz="1600" cap="none" spc="0">
                          <a:solidFill>
                            <a:schemeClr val="tx1"/>
                          </a:solidFill>
                        </a:rPr>
                        <a:t>Incluye actuadores para monitoreo y gestión de la aplicación.</a:t>
                      </a:r>
                    </a:p>
                  </a:txBody>
                  <a:tcPr marL="24630" marR="24630" marT="12315" marB="55236" anchor="ctr"/>
                </a:tc>
                <a:extLst>
                  <a:ext uri="{0D108BD9-81ED-4DB2-BD59-A6C34878D82A}">
                    <a16:rowId xmlns:a16="http://schemas.microsoft.com/office/drawing/2014/main" val="1176646942"/>
                  </a:ext>
                </a:extLst>
              </a:tr>
              <a:tr h="599303">
                <a:tc>
                  <a:txBody>
                    <a:bodyPr/>
                    <a:lstStyle/>
                    <a:p>
                      <a:r>
                        <a:rPr lang="es-ES" sz="1600" b="1" cap="none" spc="0" dirty="0">
                          <a:solidFill>
                            <a:schemeClr val="tx1"/>
                          </a:solidFill>
                        </a:rPr>
                        <a:t>Arquitectura de Microservicios</a:t>
                      </a:r>
                      <a:endParaRPr lang="es-E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4630" marR="24630" marT="12315" marB="5523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cap="none" spc="0">
                          <a:solidFill>
                            <a:schemeClr val="tx1"/>
                          </a:solidFill>
                        </a:rPr>
                        <a:t>Soporta microservicios, pero requiere configuración manual.</a:t>
                      </a:r>
                    </a:p>
                  </a:txBody>
                  <a:tcPr marL="24630" marR="24630" marT="12315" marB="55236" anchor="ctr"/>
                </a:tc>
                <a:tc>
                  <a:txBody>
                    <a:bodyPr/>
                    <a:lstStyle/>
                    <a:p>
                      <a:r>
                        <a:rPr lang="es-ES" sz="1600" cap="none" spc="0">
                          <a:solidFill>
                            <a:schemeClr val="tx1"/>
                          </a:solidFill>
                        </a:rPr>
                        <a:t>Ofrece herramientas y configuraciones predefinidas que facilitan el desarrollo de microservicios.</a:t>
                      </a:r>
                    </a:p>
                  </a:txBody>
                  <a:tcPr marL="24630" marR="24630" marT="12315" marB="55236" anchor="ctr"/>
                </a:tc>
                <a:extLst>
                  <a:ext uri="{0D108BD9-81ED-4DB2-BD59-A6C34878D82A}">
                    <a16:rowId xmlns:a16="http://schemas.microsoft.com/office/drawing/2014/main" val="2633453829"/>
                  </a:ext>
                </a:extLst>
              </a:tr>
              <a:tr h="599303">
                <a:tc>
                  <a:txBody>
                    <a:bodyPr/>
                    <a:lstStyle/>
                    <a:p>
                      <a:r>
                        <a:rPr lang="es-ES" sz="1600" b="1" cap="none" spc="0" dirty="0">
                          <a:solidFill>
                            <a:schemeClr val="tx1"/>
                          </a:solidFill>
                        </a:rPr>
                        <a:t>Velocidad de Desarrollo</a:t>
                      </a:r>
                      <a:endParaRPr lang="es-E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4630" marR="24630" marT="12315" marB="5523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cap="none" spc="0">
                          <a:solidFill>
                            <a:schemeClr val="tx1"/>
                          </a:solidFill>
                        </a:rPr>
                        <a:t>Requiere más tiempo de configuración inicial.</a:t>
                      </a:r>
                    </a:p>
                  </a:txBody>
                  <a:tcPr marL="24630" marR="24630" marT="12315" marB="55236" anchor="ctr"/>
                </a:tc>
                <a:tc>
                  <a:txBody>
                    <a:bodyPr/>
                    <a:lstStyle/>
                    <a:p>
                      <a:r>
                        <a:rPr lang="es-ES" sz="1600" cap="none" spc="0">
                          <a:solidFill>
                            <a:schemeClr val="tx1"/>
                          </a:solidFill>
                        </a:rPr>
                        <a:t>Permite un desarrollo más rápido con menos configuración.</a:t>
                      </a:r>
                    </a:p>
                  </a:txBody>
                  <a:tcPr marL="24630" marR="24630" marT="12315" marB="55236" anchor="ctr"/>
                </a:tc>
                <a:extLst>
                  <a:ext uri="{0D108BD9-81ED-4DB2-BD59-A6C34878D82A}">
                    <a16:rowId xmlns:a16="http://schemas.microsoft.com/office/drawing/2014/main" val="2543347236"/>
                  </a:ext>
                </a:extLst>
              </a:tr>
              <a:tr h="599303">
                <a:tc>
                  <a:txBody>
                    <a:bodyPr/>
                    <a:lstStyle/>
                    <a:p>
                      <a:r>
                        <a:rPr lang="es-ES" sz="1600" b="1" cap="none" spc="0" dirty="0">
                          <a:solidFill>
                            <a:schemeClr val="tx1"/>
                          </a:solidFill>
                        </a:rPr>
                        <a:t>Enfoque</a:t>
                      </a:r>
                      <a:endParaRPr lang="es-E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4630" marR="24630" marT="12315" marB="5523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cap="none" spc="0">
                          <a:solidFill>
                            <a:schemeClr val="tx1"/>
                          </a:solidFill>
                        </a:rPr>
                        <a:t>Framework integral para aplicaciones empresariales con modularidad y desacoplamiento.</a:t>
                      </a:r>
                    </a:p>
                  </a:txBody>
                  <a:tcPr marL="24630" marR="24630" marT="12315" marB="55236" anchor="ctr"/>
                </a:tc>
                <a:tc>
                  <a:txBody>
                    <a:bodyPr/>
                    <a:lstStyle/>
                    <a:p>
                      <a:r>
                        <a:rPr lang="es-ES" sz="1600" cap="none" spc="0" dirty="0">
                          <a:solidFill>
                            <a:schemeClr val="tx1"/>
                          </a:solidFill>
                        </a:rPr>
                        <a:t>Extensión de Spring que simplifica el desarrollo, ideal para aplicaciones autónomas y microservicios.</a:t>
                      </a:r>
                    </a:p>
                  </a:txBody>
                  <a:tcPr marL="24630" marR="24630" marT="12315" marB="55236" anchor="ctr"/>
                </a:tc>
                <a:extLst>
                  <a:ext uri="{0D108BD9-81ED-4DB2-BD59-A6C34878D82A}">
                    <a16:rowId xmlns:a16="http://schemas.microsoft.com/office/drawing/2014/main" val="226294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5295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848F63-509F-F7CC-0A31-BB7A76AC4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Recursos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C6E071-F11A-E8DE-3E2E-5D80C31A8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Para crear proyectos en </a:t>
            </a:r>
            <a:r>
              <a:rPr lang="es-ES" dirty="0" err="1"/>
              <a:t>spring</a:t>
            </a:r>
            <a:r>
              <a:rPr lang="es-ES" dirty="0"/>
              <a:t>, utiliza este url:</a:t>
            </a:r>
          </a:p>
          <a:p>
            <a:endParaRPr lang="es-ES" dirty="0"/>
          </a:p>
          <a:p>
            <a:r>
              <a:rPr lang="es-ES" dirty="0">
                <a:hlinkClick r:id="rId2"/>
              </a:rPr>
              <a:t>Spring </a:t>
            </a:r>
            <a:r>
              <a:rPr lang="es-ES" dirty="0" err="1">
                <a:hlinkClick r:id="rId2"/>
              </a:rPr>
              <a:t>Initializr</a:t>
            </a:r>
            <a:endParaRPr lang="es-ES" dirty="0"/>
          </a:p>
          <a:p>
            <a:r>
              <a:rPr lang="es-ES">
                <a:hlinkClick r:id="rId2"/>
              </a:rPr>
              <a:t>https://start.spring.io/</a:t>
            </a:r>
            <a:r>
              <a:rPr lang="es-ES"/>
              <a:t>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68883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552</Words>
  <Application>Microsoft Office PowerPoint</Application>
  <PresentationFormat>Presentación en pantalla (4:3)</PresentationFormat>
  <Paragraphs>60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Introducción a Spring y Spring Boot</vt:lpstr>
      <vt:lpstr>Spring Framework</vt:lpstr>
      <vt:lpstr>Componentes Principales de Spring</vt:lpstr>
      <vt:lpstr>Spring Boot</vt:lpstr>
      <vt:lpstr>Características de Spring Boot</vt:lpstr>
      <vt:lpstr>Ventajas de Usar Spring y Spring Boot</vt:lpstr>
      <vt:lpstr>Diferencias entre Spring y Spring Boot</vt:lpstr>
      <vt:lpstr>Diferencias entre Spring y Spring Boot</vt:lpstr>
      <vt:lpstr>Recursos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2</cp:revision>
  <dcterms:created xsi:type="dcterms:W3CDTF">2013-01-27T09:14:16Z</dcterms:created>
  <dcterms:modified xsi:type="dcterms:W3CDTF">2025-01-07T16:48:33Z</dcterms:modified>
  <cp:category/>
</cp:coreProperties>
</file>