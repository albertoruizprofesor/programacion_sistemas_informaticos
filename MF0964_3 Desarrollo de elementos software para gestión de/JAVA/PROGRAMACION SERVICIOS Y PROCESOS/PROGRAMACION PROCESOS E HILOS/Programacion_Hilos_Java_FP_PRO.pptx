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Fila de rollos de hilo blanco">
            <a:extLst>
              <a:ext uri="{FF2B5EF4-FFF2-40B4-BE49-F238E27FC236}">
                <a16:creationId xmlns:a16="http://schemas.microsoft.com/office/drawing/2014/main" id="{79C11130-FDA4-8035-6782-29F7BE5FFF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2023" r="12762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299" y="554845"/>
            <a:ext cx="7992669" cy="3902673"/>
          </a:xfrm>
        </p:spPr>
        <p:txBody>
          <a:bodyPr anchor="t">
            <a:normAutofit/>
          </a:bodyPr>
          <a:lstStyle/>
          <a:p>
            <a:pPr algn="l"/>
            <a:r>
              <a:rPr lang="es-ES" sz="4500">
                <a:solidFill>
                  <a:srgbClr val="FFFFFF"/>
                </a:solidFill>
              </a:rPr>
              <a:t>Programación de Hilos (Threads) en Java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285" y="4704862"/>
            <a:ext cx="9143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642" y="4718033"/>
            <a:ext cx="8008722" cy="1175039"/>
          </a:xfrm>
        </p:spPr>
        <p:txBody>
          <a:bodyPr anchor="b">
            <a:normAutofit/>
          </a:bodyPr>
          <a:lstStyle/>
          <a:p>
            <a:pPr algn="l"/>
            <a:r>
              <a:rPr lang="es-ES">
                <a:solidFill>
                  <a:srgbClr val="FFFFFF"/>
                </a:solidFill>
              </a:rPr>
              <a:t>Programación de Servicios y Procesos</a:t>
            </a:r>
          </a:p>
          <a:p>
            <a:pPr algn="l"/>
            <a:r>
              <a:rPr lang="es-ES">
                <a:solidFill>
                  <a:srgbClr val="FFFFFF"/>
                </a:solidFill>
              </a:rPr>
              <a:t>CFGS DAM / DAW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imer plano de bloques de juguete multicolores">
            <a:extLst>
              <a:ext uri="{FF2B5EF4-FFF2-40B4-BE49-F238E27FC236}">
                <a16:creationId xmlns:a16="http://schemas.microsoft.com/office/drawing/2014/main" id="{9303EB8B-24B4-8BC4-49CE-70736EFC4B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500">
                <a:solidFill>
                  <a:srgbClr val="FFFFFF"/>
                </a:solidFill>
              </a:rPr>
              <a:t>Bloque 1: Conceptos básicos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Fundamentos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¿Qué es un hilo?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Un hilo es una unidad de ejecución.</a:t>
            </a:r>
          </a:p>
          <a:p>
            <a:pPr>
              <a:defRPr sz="2600" b="0">
                <a:latin typeface="Calibri"/>
              </a:defRPr>
            </a:pPr>
            <a:r>
              <a:t>Forma parte de un proceso.</a:t>
            </a:r>
          </a:p>
          <a:p>
            <a:pPr>
              <a:defRPr sz="2600" b="0">
                <a:latin typeface="Calibri"/>
              </a:defRPr>
            </a:pPr>
            <a:r>
              <a:t>Permite ejecutar varias tareas a la vez.</a:t>
            </a:r>
          </a:p>
          <a:p>
            <a:pPr>
              <a:defRPr sz="2600" b="0">
                <a:latin typeface="Calibri"/>
              </a:defRPr>
            </a:pPr>
            <a:r>
              <a:t>Se llama multitarea.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Ejemplo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Escuchar música</a:t>
            </a:r>
          </a:p>
          <a:p>
            <a:pPr>
              <a:defRPr sz="2600" b="0">
                <a:latin typeface="Calibri"/>
              </a:defRPr>
            </a:pPr>
            <a:r>
              <a:t>Navegar por internet</a:t>
            </a:r>
          </a:p>
          <a:p>
            <a:pPr>
              <a:defRPr sz="2600" b="0">
                <a:latin typeface="Calibri"/>
              </a:defRPr>
            </a:pPr>
            <a:r>
              <a:t>Descargar archivo</a:t>
            </a:r>
          </a:p>
          <a:p>
            <a:pPr>
              <a:defRPr sz="2600" b="0">
                <a:latin typeface="Calibri"/>
              </a:defRPr>
            </a:pPr>
            <a:r>
              <a:t>Todo al mismo tiempo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Proceso vs Hilo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Proceso → programa completo.</a:t>
            </a:r>
          </a:p>
          <a:p>
            <a:pPr>
              <a:defRPr sz="2600" b="0">
                <a:latin typeface="Calibri"/>
              </a:defRPr>
            </a:pPr>
            <a:r>
              <a:t>Hilo → parte del proceso.</a:t>
            </a:r>
          </a:p>
          <a:p>
            <a:pPr>
              <a:defRPr sz="2600" b="0">
                <a:latin typeface="Calibri"/>
              </a:defRPr>
            </a:pPr>
            <a:r>
              <a:t>Un proceso puede tener varios hilos.</a:t>
            </a:r>
          </a:p>
          <a:p>
            <a:pPr>
              <a:defRPr sz="2600" b="0">
                <a:latin typeface="Calibri"/>
              </a:defRPr>
            </a:pPr>
            <a:r>
              <a:t>Ejemplo: navegador web.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bo de tiza pasteles apiladas">
            <a:extLst>
              <a:ext uri="{FF2B5EF4-FFF2-40B4-BE49-F238E27FC236}">
                <a16:creationId xmlns:a16="http://schemas.microsoft.com/office/drawing/2014/main" id="{A3EF2522-BF90-0C98-8CF7-3B87FF8482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1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500">
                <a:solidFill>
                  <a:srgbClr val="FFFFFF"/>
                </a:solidFill>
              </a:rPr>
              <a:t>Bloque 2: Crear hilos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Clase Thread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Clase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Se usa para crear hilos.</a:t>
            </a:r>
          </a:p>
          <a:p>
            <a:pPr>
              <a:defRPr sz="2600" b="0">
                <a:latin typeface="Calibri"/>
              </a:defRPr>
            </a:pPr>
            <a:r>
              <a:t>Se utiliza extend Thread.</a:t>
            </a:r>
          </a:p>
          <a:p>
            <a:pPr>
              <a:defRPr sz="2600" b="0">
                <a:latin typeface="Calibri"/>
              </a:defRPr>
            </a:pPr>
            <a:r>
              <a:t>Se sobrescribe run().</a:t>
            </a:r>
          </a:p>
          <a:p>
            <a:pPr>
              <a:defRPr sz="2600" b="0">
                <a:latin typeface="Calibri"/>
              </a:defRPr>
            </a:pPr>
            <a:r>
              <a:t>Se inicia con start().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Ejemplo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class MiHilo extends Thread {</a:t>
            </a:r>
          </a:p>
          <a:p>
            <a:pPr>
              <a:defRPr sz="2600" b="0">
                <a:latin typeface="Calibri"/>
              </a:defRPr>
            </a:pPr>
            <a:r>
              <a:t> public void run(){</a:t>
            </a:r>
          </a:p>
          <a:p>
            <a:pPr>
              <a:defRPr sz="2600" b="0">
                <a:latin typeface="Calibri"/>
              </a:defRPr>
            </a:pPr>
            <a:r>
              <a:t>  System.out.println("Hola");</a:t>
            </a:r>
          </a:p>
          <a:p>
            <a:pPr>
              <a:defRPr sz="2600" b="0">
                <a:latin typeface="Calibri"/>
              </a:defRPr>
            </a:pPr>
            <a:r>
              <a:t> }</a:t>
            </a:r>
          </a:p>
          <a:p>
            <a:pPr>
              <a:defRPr sz="2600" b="0"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Iniciar hilo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MiHilo h = new MiHilo();</a:t>
            </a:r>
          </a:p>
          <a:p>
            <a:pPr>
              <a:defRPr sz="2600" b="0">
                <a:latin typeface="Calibri"/>
              </a:defRPr>
            </a:pPr>
            <a:r>
              <a:t>h.start();</a:t>
            </a:r>
          </a:p>
          <a:p>
            <a:pPr>
              <a:defRPr sz="2600" b="0">
                <a:latin typeface="Calibri"/>
              </a:defRPr>
            </a:pPr>
            <a:r>
              <a:t>Ejecuta el hilo.</a:t>
            </a:r>
          </a:p>
          <a:p>
            <a:pPr>
              <a:defRPr sz="2600" b="0">
                <a:latin typeface="Calibri"/>
              </a:defRPr>
            </a:pPr>
            <a:r>
              <a:t>No usar run().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adrado y rectángulo en 3D">
            <a:extLst>
              <a:ext uri="{FF2B5EF4-FFF2-40B4-BE49-F238E27FC236}">
                <a16:creationId xmlns:a16="http://schemas.microsoft.com/office/drawing/2014/main" id="{EB5CBB43-E6BB-281E-BF04-2F71B19911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01" b="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500">
                <a:solidFill>
                  <a:srgbClr val="FFFFFF"/>
                </a:solidFill>
              </a:rPr>
              <a:t>Bloque 3: Runnable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Forma profesional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Interfaz Runnable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Forma recomendada.</a:t>
            </a:r>
          </a:p>
          <a:p>
            <a:pPr>
              <a:defRPr sz="2600" b="0">
                <a:latin typeface="Calibri"/>
              </a:defRPr>
            </a:pPr>
            <a:r>
              <a:t>Implementa Runnable.</a:t>
            </a:r>
          </a:p>
          <a:p>
            <a:pPr>
              <a:defRPr sz="2600" b="0">
                <a:latin typeface="Calibri"/>
              </a:defRPr>
            </a:pPr>
            <a:r>
              <a:t>Se pasa a Thread.</a:t>
            </a:r>
          </a:p>
          <a:p>
            <a:pPr>
              <a:defRPr sz="2600" b="0">
                <a:latin typeface="Calibri"/>
              </a:defRPr>
            </a:pPr>
            <a:r>
              <a:t>Más flexible.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Ejemplo Runnable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class MiHilo implements Runnable{</a:t>
            </a:r>
          </a:p>
          <a:p>
            <a:pPr>
              <a:defRPr sz="2600" b="0">
                <a:latin typeface="Calibri"/>
              </a:defRPr>
            </a:pPr>
            <a:r>
              <a:t> public void run(){</a:t>
            </a:r>
          </a:p>
          <a:p>
            <a:pPr>
              <a:defRPr sz="2600" b="0">
                <a:latin typeface="Calibri"/>
              </a:defRPr>
            </a:pPr>
            <a:r>
              <a:t>  System.out.println("Hola");</a:t>
            </a:r>
          </a:p>
          <a:p>
            <a:pPr>
              <a:defRPr sz="2600" b="0">
                <a:latin typeface="Calibri"/>
              </a:defRPr>
            </a:pPr>
            <a:r>
              <a:t> }</a:t>
            </a:r>
          </a:p>
          <a:p>
            <a:pPr>
              <a:defRPr sz="2600" b="0"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ja de resonancia de audio">
            <a:extLst>
              <a:ext uri="{FF2B5EF4-FFF2-40B4-BE49-F238E27FC236}">
                <a16:creationId xmlns:a16="http://schemas.microsoft.com/office/drawing/2014/main" id="{88FBCD0F-2E8A-E167-5F34-5A9D65E5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1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500">
                <a:solidFill>
                  <a:srgbClr val="FFFFFF"/>
                </a:solidFill>
              </a:rPr>
              <a:t>Bloque 4: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Gestión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sleep()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Pausa el hilo.</a:t>
            </a:r>
          </a:p>
          <a:p>
            <a:pPr>
              <a:defRPr sz="2600" b="0">
                <a:latin typeface="Calibri"/>
              </a:defRPr>
            </a:pPr>
            <a:r>
              <a:t>Tiempo en milisegundos.</a:t>
            </a:r>
          </a:p>
          <a:p>
            <a:pPr>
              <a:defRPr sz="2600" b="0">
                <a:latin typeface="Calibri"/>
              </a:defRPr>
            </a:pPr>
            <a:r>
              <a:t>Ejemplo:</a:t>
            </a:r>
          </a:p>
          <a:p>
            <a:pPr>
              <a:defRPr sz="2600" b="0">
                <a:latin typeface="Calibri"/>
              </a:defRPr>
            </a:pPr>
            <a:r>
              <a:t>Thread.sleep(1000);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join()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Espera a otro hilo.</a:t>
            </a:r>
          </a:p>
          <a:p>
            <a:pPr>
              <a:defRPr sz="2600" b="0">
                <a:latin typeface="Calibri"/>
              </a:defRPr>
            </a:pPr>
            <a:r>
              <a:t>Sincronización.</a:t>
            </a:r>
          </a:p>
          <a:p>
            <a:pPr>
              <a:defRPr sz="2600" b="0">
                <a:latin typeface="Calibri"/>
              </a:defRPr>
            </a:pPr>
            <a:r>
              <a:t>Control de ejecución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B4A5D-44BA-70DE-6458-5B7F92F3CD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94" r="5206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500">
                <a:solidFill>
                  <a:srgbClr val="FFFFFF"/>
                </a:solidFill>
              </a:rPr>
              <a:t>Bloque 5: Ejercicios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Prácticas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Ejercicio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Crear hilo</a:t>
            </a:r>
          </a:p>
          <a:p>
            <a:pPr>
              <a:defRPr sz="2600" b="0">
                <a:latin typeface="Calibri"/>
              </a:defRPr>
            </a:pPr>
            <a:r>
              <a:t>Mostrar números</a:t>
            </a:r>
          </a:p>
          <a:p>
            <a:pPr>
              <a:defRPr sz="2600" b="0">
                <a:latin typeface="Calibri"/>
              </a:defRPr>
            </a:pPr>
            <a:r>
              <a:t>Usar sleep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Ejercicio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Crear 2 hilos</a:t>
            </a:r>
          </a:p>
          <a:p>
            <a:pPr>
              <a:defRPr sz="2600" b="0">
                <a:latin typeface="Calibri"/>
              </a:defRPr>
            </a:pPr>
            <a:r>
              <a:t>Mostrar mensajes</a:t>
            </a:r>
          </a:p>
          <a:p>
            <a:pPr>
              <a:defRPr sz="2600" b="0">
                <a:latin typeface="Calibri"/>
              </a:defRPr>
            </a:pPr>
            <a:r>
              <a:t>Simultáneamente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Ejercicio examen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Simular descarga</a:t>
            </a:r>
          </a:p>
          <a:p>
            <a:pPr>
              <a:defRPr sz="2600" b="0">
                <a:latin typeface="Calibri"/>
              </a:defRPr>
            </a:pPr>
            <a:r>
              <a:t>Mostrar progreso</a:t>
            </a:r>
          </a:p>
          <a:p>
            <a:pPr>
              <a:defRPr sz="2600" b="0">
                <a:latin typeface="Calibri"/>
              </a:defRPr>
            </a:pPr>
            <a:r>
              <a:t>Usar hilo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dora y carpetas">
            <a:extLst>
              <a:ext uri="{FF2B5EF4-FFF2-40B4-BE49-F238E27FC236}">
                <a16:creationId xmlns:a16="http://schemas.microsoft.com/office/drawing/2014/main" id="{177059C8-6CE6-A80F-E6A0-A0FFA1A2B0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66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500">
                <a:solidFill>
                  <a:srgbClr val="FFFFFF"/>
                </a:solidFill>
              </a:rPr>
              <a:t>Bloque 6: Caso real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Aplicación profesional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Caso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Servidor web</a:t>
            </a:r>
          </a:p>
          <a:p>
            <a:pPr>
              <a:defRPr sz="2600" b="0">
                <a:latin typeface="Calibri"/>
              </a:defRPr>
            </a:pPr>
            <a:r>
              <a:t>Múltiples usuarios</a:t>
            </a:r>
          </a:p>
          <a:p>
            <a:pPr>
              <a:defRPr sz="2600" b="0">
                <a:latin typeface="Calibri"/>
              </a:defRPr>
            </a:pPr>
            <a:r>
              <a:t>Hilos independientes</a:t>
            </a:r>
          </a:p>
          <a:p>
            <a:pPr>
              <a:defRPr sz="2600" b="0">
                <a:latin typeface="Calibri"/>
              </a:defRPr>
            </a:pPr>
            <a:r>
              <a:t>Uso profesional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seño de piso de cuadros de colores brillantes">
            <a:extLst>
              <a:ext uri="{FF2B5EF4-FFF2-40B4-BE49-F238E27FC236}">
                <a16:creationId xmlns:a16="http://schemas.microsoft.com/office/drawing/2014/main" id="{1397E465-BE93-F183-D871-6325DD92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2" r="4988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500">
                <a:solidFill>
                  <a:srgbClr val="FFFFFF"/>
                </a:solidFill>
              </a:rPr>
              <a:t>Resumen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Conclusión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Resumen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Permiten multitarea</a:t>
            </a:r>
          </a:p>
          <a:p>
            <a:pPr>
              <a:defRPr sz="2600" b="0">
                <a:latin typeface="Calibri"/>
              </a:defRPr>
            </a:pPr>
            <a:r>
              <a:t>Mejoran rendimiento</a:t>
            </a:r>
          </a:p>
          <a:p>
            <a:pPr>
              <a:defRPr sz="2600" b="0">
                <a:latin typeface="Calibri"/>
              </a:defRPr>
            </a:pPr>
            <a:r>
              <a:t>Uso profesional</a:t>
            </a:r>
          </a:p>
          <a:p>
            <a:pPr>
              <a:defRPr sz="2600" b="0">
                <a:latin typeface="Calibri"/>
              </a:defRPr>
            </a:pPr>
            <a:r>
              <a:t>Fundamental en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307</Words>
  <Application>Microsoft Office PowerPoint</Application>
  <PresentationFormat>Presentación en pantalla (4:3)</PresentationFormat>
  <Paragraphs>90</Paragraphs>
  <Slides>23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Programación de Hilos (Threads) en Java</vt:lpstr>
      <vt:lpstr>Bloque 1: Conceptos básicos</vt:lpstr>
      <vt:lpstr>¿Qué es un hilo?</vt:lpstr>
      <vt:lpstr>Ejemplo real</vt:lpstr>
      <vt:lpstr>Proceso vs Hilo</vt:lpstr>
      <vt:lpstr>Bloque 2: Crear hilos</vt:lpstr>
      <vt:lpstr>Clase Thread</vt:lpstr>
      <vt:lpstr>Ejemplo básico</vt:lpstr>
      <vt:lpstr>Iniciar hilo</vt:lpstr>
      <vt:lpstr>Bloque 3: Runnable</vt:lpstr>
      <vt:lpstr>Interfaz Runnable</vt:lpstr>
      <vt:lpstr>Ejemplo Runnable</vt:lpstr>
      <vt:lpstr>Bloque 4: Control</vt:lpstr>
      <vt:lpstr>sleep()</vt:lpstr>
      <vt:lpstr>join()</vt:lpstr>
      <vt:lpstr>Bloque 5: Ejercicios</vt:lpstr>
      <vt:lpstr>Ejercicio 1</vt:lpstr>
      <vt:lpstr>Ejercicio 2</vt:lpstr>
      <vt:lpstr>Ejercicio examen</vt:lpstr>
      <vt:lpstr>Bloque 6: Caso real</vt:lpstr>
      <vt:lpstr>Caso real</vt:lpstr>
      <vt:lpstr>Resumen</vt:lpstr>
      <vt:lpstr>Resumen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2026-02-24T17:43:32Z</dcterms:modified>
  <cp:category/>
</cp:coreProperties>
</file>