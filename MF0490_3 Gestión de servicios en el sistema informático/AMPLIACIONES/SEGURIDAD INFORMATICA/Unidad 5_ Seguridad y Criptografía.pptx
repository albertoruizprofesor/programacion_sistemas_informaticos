
<file path=[Content_Types].xml><?xml version="1.0" encoding="utf-8"?>
<Types xmlns="http://schemas.openxmlformats.org/package/2006/content-types">
  <Default ContentType="application/x-fontdata" Extension="fntdata"/>
  <Default ContentType="image/gif" Extension="gif"/>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 id="294" r:id="rId43"/>
    <p:sldId id="295" r:id="rId44"/>
    <p:sldId id="296" r:id="rId45"/>
    <p:sldId id="297" r:id="rId46"/>
    <p:sldId id="298" r:id="rId47"/>
    <p:sldId id="299" r:id="rId48"/>
    <p:sldId id="300" r:id="rId49"/>
    <p:sldId id="301" r:id="rId50"/>
    <p:sldId id="302" r:id="rId51"/>
    <p:sldId id="303" r:id="rId52"/>
    <p:sldId id="304" r:id="rId53"/>
    <p:sldId id="305" r:id="rId54"/>
    <p:sldId id="306" r:id="rId55"/>
  </p:sldIdLst>
  <p:sldSz cy="6858000" cx="9144000"/>
  <p:notesSz cx="6858000" cy="9144000"/>
  <p:embeddedFontLst>
    <p:embeddedFont>
      <p:font typeface="Roboto"/>
      <p:regular r:id="rId56"/>
      <p:bold r:id="rId57"/>
      <p:italic r:id="rId58"/>
      <p:boldItalic r:id="rId5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slide" Target="slides/slide36.xml"/><Relationship Id="rId42" Type="http://schemas.openxmlformats.org/officeDocument/2006/relationships/slide" Target="slides/slide38.xml"/><Relationship Id="rId41" Type="http://schemas.openxmlformats.org/officeDocument/2006/relationships/slide" Target="slides/slide37.xml"/><Relationship Id="rId44" Type="http://schemas.openxmlformats.org/officeDocument/2006/relationships/slide" Target="slides/slide40.xml"/><Relationship Id="rId43" Type="http://schemas.openxmlformats.org/officeDocument/2006/relationships/slide" Target="slides/slide39.xml"/><Relationship Id="rId46" Type="http://schemas.openxmlformats.org/officeDocument/2006/relationships/slide" Target="slides/slide42.xml"/><Relationship Id="rId45" Type="http://schemas.openxmlformats.org/officeDocument/2006/relationships/slide" Target="slides/slide41.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48" Type="http://schemas.openxmlformats.org/officeDocument/2006/relationships/slide" Target="slides/slide44.xml"/><Relationship Id="rId47" Type="http://schemas.openxmlformats.org/officeDocument/2006/relationships/slide" Target="slides/slide43.xml"/><Relationship Id="rId49" Type="http://schemas.openxmlformats.org/officeDocument/2006/relationships/slide" Target="slides/slide45.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slide" Target="slides/slide27.xml"/><Relationship Id="rId30" Type="http://schemas.openxmlformats.org/officeDocument/2006/relationships/slide" Target="slides/slide26.xml"/><Relationship Id="rId33" Type="http://schemas.openxmlformats.org/officeDocument/2006/relationships/slide" Target="slides/slide29.xml"/><Relationship Id="rId32" Type="http://schemas.openxmlformats.org/officeDocument/2006/relationships/slide" Target="slides/slide28.xml"/><Relationship Id="rId35" Type="http://schemas.openxmlformats.org/officeDocument/2006/relationships/slide" Target="slides/slide31.xml"/><Relationship Id="rId34" Type="http://schemas.openxmlformats.org/officeDocument/2006/relationships/slide" Target="slides/slide30.xml"/><Relationship Id="rId37" Type="http://schemas.openxmlformats.org/officeDocument/2006/relationships/slide" Target="slides/slide33.xml"/><Relationship Id="rId36" Type="http://schemas.openxmlformats.org/officeDocument/2006/relationships/slide" Target="slides/slide32.xml"/><Relationship Id="rId39" Type="http://schemas.openxmlformats.org/officeDocument/2006/relationships/slide" Target="slides/slide35.xml"/><Relationship Id="rId38" Type="http://schemas.openxmlformats.org/officeDocument/2006/relationships/slide" Target="slides/slide34.xml"/><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29" Type="http://schemas.openxmlformats.org/officeDocument/2006/relationships/slide" Target="slides/slide25.xml"/><Relationship Id="rId51" Type="http://schemas.openxmlformats.org/officeDocument/2006/relationships/slide" Target="slides/slide47.xml"/><Relationship Id="rId50" Type="http://schemas.openxmlformats.org/officeDocument/2006/relationships/slide" Target="slides/slide46.xml"/><Relationship Id="rId53" Type="http://schemas.openxmlformats.org/officeDocument/2006/relationships/slide" Target="slides/slide49.xml"/><Relationship Id="rId52" Type="http://schemas.openxmlformats.org/officeDocument/2006/relationships/slide" Target="slides/slide48.xml"/><Relationship Id="rId11" Type="http://schemas.openxmlformats.org/officeDocument/2006/relationships/slide" Target="slides/slide7.xml"/><Relationship Id="rId55" Type="http://schemas.openxmlformats.org/officeDocument/2006/relationships/slide" Target="slides/slide51.xml"/><Relationship Id="rId10" Type="http://schemas.openxmlformats.org/officeDocument/2006/relationships/slide" Target="slides/slide6.xml"/><Relationship Id="rId54" Type="http://schemas.openxmlformats.org/officeDocument/2006/relationships/slide" Target="slides/slide50.xml"/><Relationship Id="rId13" Type="http://schemas.openxmlformats.org/officeDocument/2006/relationships/slide" Target="slides/slide9.xml"/><Relationship Id="rId57" Type="http://schemas.openxmlformats.org/officeDocument/2006/relationships/font" Target="fonts/Roboto-bold.fntdata"/><Relationship Id="rId12" Type="http://schemas.openxmlformats.org/officeDocument/2006/relationships/slide" Target="slides/slide8.xml"/><Relationship Id="rId56" Type="http://schemas.openxmlformats.org/officeDocument/2006/relationships/font" Target="fonts/Roboto-regular.fntdata"/><Relationship Id="rId15" Type="http://schemas.openxmlformats.org/officeDocument/2006/relationships/slide" Target="slides/slide11.xml"/><Relationship Id="rId59" Type="http://schemas.openxmlformats.org/officeDocument/2006/relationships/font" Target="fonts/Roboto-boldItalic.fntdata"/><Relationship Id="rId14" Type="http://schemas.openxmlformats.org/officeDocument/2006/relationships/slide" Target="slides/slide10.xml"/><Relationship Id="rId58" Type="http://schemas.openxmlformats.org/officeDocument/2006/relationships/font" Target="fonts/Roboto-italic.fntdata"/><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118711314d4_0_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g118711314d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118711314d4_0_5: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118711314d4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g6f17407d33_0_13: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63" name="Google Shape;63;g6f17407d33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6f17407d33_0_19: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6f17407d33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g6f1ad5e6a4_0_55: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77" name="Google Shape;77;g6f1ad5e6a4_0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g6f17407d33_0_32: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g6f17407d33_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g6f17407d33_0_38: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91" name="Google Shape;91;g6f17407d33_0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g6f17407d33_0_52: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98" name="Google Shape;98;g6f17407d33_0_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g6f17407d33_0_67: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05" name="Google Shape;105;g6f17407d33_0_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g6f17407d33_0_61: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12" name="Google Shape;112;g6f17407d33_0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g6f17407d33_0_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19" name="Google Shape;119;g6f17407d33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g6f17407d33_0_6: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26" name="Google Shape;126;g6f17407d33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g6f1ad5e6a4_0_26: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33" name="Google Shape;133;g6f1ad5e6a4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6f17407d33_0_73: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40" name="Google Shape;140;g6f17407d33_0_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g6f17407d33_0_79: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47" name="Google Shape;147;g6f17407d33_0_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6f1ad5e6a4_0_43: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6f1ad5e6a4_0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6f1ad5e6a4_0_49: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61" name="Google Shape;161;g6f1ad5e6a4_0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g6f1ad5e6a4_0_6: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68" name="Google Shape;168;g6f1ad5e6a4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g6f1ad5e6a4_0_14: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75" name="Google Shape;175;g6f1ad5e6a4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g6f1ad5e6a4_0_2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82" name="Google Shape;182;g6f1ad5e6a4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g6d44156510_0_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89" name="Google Shape;189;g6d4415651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g6f1ad5e6a4_0_36: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96" name="Google Shape;196;g6f1ad5e6a4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g6d44156510_0_12: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03" name="Google Shape;203;g6d44156510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g6d44156510_0_17: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09" name="Google Shape;209;g6d44156510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g6d44156510_0_22: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15" name="Google Shape;215;g6d44156510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g6d44156510_0_27: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21" name="Google Shape;221;g6d44156510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g6d44156510_0_33: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28" name="Google Shape;228;g6d44156510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g6f1ad5e6a4_0_67: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35" name="Google Shape;235;g6f1ad5e6a4_0_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g6d44156510_0_39: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41" name="Google Shape;241;g6d44156510_0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g6d44156510_0_44: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47" name="Google Shape;247;g6d44156510_0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g6d44156510_0_49: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53" name="Google Shape;253;g6d44156510_0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g6d44156510_0_54: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59" name="Google Shape;259;g6d44156510_0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g6d44156510_0_59: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65" name="Google Shape;265;g6d44156510_0_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g6d44156510_0_64: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71" name="Google Shape;271;g6d44156510_0_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g6d44156510_0_69: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77" name="Google Shape;277;g6d44156510_0_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g6d44156510_0_74: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83" name="Google Shape;283;g6d44156510_0_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g6d44156510_0_8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90" name="Google Shape;290;g6d44156510_0_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g6d44156510_0_86: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97" name="Google Shape;297;g6d44156510_0_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g6d44156510_0_91: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03" name="Google Shape;303;g6d44156510_0_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 name="Shape 307"/>
        <p:cNvGrpSpPr/>
        <p:nvPr/>
      </p:nvGrpSpPr>
      <p:grpSpPr>
        <a:xfrm>
          <a:off x="0" y="0"/>
          <a:ext cx="0" cy="0"/>
          <a:chOff x="0" y="0"/>
          <a:chExt cx="0" cy="0"/>
        </a:xfrm>
      </p:grpSpPr>
      <p:sp>
        <p:nvSpPr>
          <p:cNvPr id="308" name="Google Shape;308;g6d44156510_0_96: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09" name="Google Shape;309;g6d44156510_0_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g6d44156510_0_101: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15" name="Google Shape;315;g6d44156510_0_1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g6d44156510_0_107: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22" name="Google Shape;322;g6d44156510_0_1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 name="Shape 327"/>
        <p:cNvGrpSpPr/>
        <p:nvPr/>
      </p:nvGrpSpPr>
      <p:grpSpPr>
        <a:xfrm>
          <a:off x="0" y="0"/>
          <a:ext cx="0" cy="0"/>
          <a:chOff x="0" y="0"/>
          <a:chExt cx="0" cy="0"/>
        </a:xfrm>
      </p:grpSpPr>
      <p:sp>
        <p:nvSpPr>
          <p:cNvPr id="328" name="Google Shape;328;g6d44156510_0_113: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29" name="Google Shape;329;g6d44156510_0_1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 name="Shape 333"/>
        <p:cNvGrpSpPr/>
        <p:nvPr/>
      </p:nvGrpSpPr>
      <p:grpSpPr>
        <a:xfrm>
          <a:off x="0" y="0"/>
          <a:ext cx="0" cy="0"/>
          <a:chOff x="0" y="0"/>
          <a:chExt cx="0" cy="0"/>
        </a:xfrm>
      </p:grpSpPr>
      <p:sp>
        <p:nvSpPr>
          <p:cNvPr id="334" name="Google Shape;334;g6d44156510_0_118: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35" name="Google Shape;335;g6d44156510_0_1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g6d44156510_0_123: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41" name="Google Shape;341;g6d44156510_0_1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5" name="Shape 345"/>
        <p:cNvGrpSpPr/>
        <p:nvPr/>
      </p:nvGrpSpPr>
      <p:grpSpPr>
        <a:xfrm>
          <a:off x="0" y="0"/>
          <a:ext cx="0" cy="0"/>
          <a:chOff x="0" y="0"/>
          <a:chExt cx="0" cy="0"/>
        </a:xfrm>
      </p:grpSpPr>
      <p:sp>
        <p:nvSpPr>
          <p:cNvPr id="346" name="Google Shape;346;g6d44156510_0_128: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47" name="Google Shape;347;g6d44156510_0_1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 name="Shape 351"/>
        <p:cNvGrpSpPr/>
        <p:nvPr/>
      </p:nvGrpSpPr>
      <p:grpSpPr>
        <a:xfrm>
          <a:off x="0" y="0"/>
          <a:ext cx="0" cy="0"/>
          <a:chOff x="0" y="0"/>
          <a:chExt cx="0" cy="0"/>
        </a:xfrm>
      </p:grpSpPr>
      <p:sp>
        <p:nvSpPr>
          <p:cNvPr id="352" name="Google Shape;352;g6d44156510_0_133: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53" name="Google Shape;353;g6d44156510_0_1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g6d44156510_0_138: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59" name="Google Shape;359;g6d44156510_0_1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5" name="Shape 365"/>
        <p:cNvGrpSpPr/>
        <p:nvPr/>
      </p:nvGrpSpPr>
      <p:grpSpPr>
        <a:xfrm>
          <a:off x="0" y="0"/>
          <a:ext cx="0" cy="0"/>
          <a:chOff x="0" y="0"/>
          <a:chExt cx="0" cy="0"/>
        </a:xfrm>
      </p:grpSpPr>
      <p:sp>
        <p:nvSpPr>
          <p:cNvPr id="366" name="Google Shape;366;g6d44156510_0_145: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67" name="Google Shape;367;g6d44156510_0_1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2" name="Shape 372"/>
        <p:cNvGrpSpPr/>
        <p:nvPr/>
      </p:nvGrpSpPr>
      <p:grpSpPr>
        <a:xfrm>
          <a:off x="0" y="0"/>
          <a:ext cx="0" cy="0"/>
          <a:chOff x="0" y="0"/>
          <a:chExt cx="0" cy="0"/>
        </a:xfrm>
      </p:grpSpPr>
      <p:sp>
        <p:nvSpPr>
          <p:cNvPr id="373" name="Google Shape;373;g6f1ad5e6a4_0_74: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74" name="Google Shape;374;g6f1ad5e6a4_0_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8" name="Shape 378"/>
        <p:cNvGrpSpPr/>
        <p:nvPr/>
      </p:nvGrpSpPr>
      <p:grpSpPr>
        <a:xfrm>
          <a:off x="0" y="0"/>
          <a:ext cx="0" cy="0"/>
          <a:chOff x="0" y="0"/>
          <a:chExt cx="0" cy="0"/>
        </a:xfrm>
      </p:grpSpPr>
      <p:sp>
        <p:nvSpPr>
          <p:cNvPr id="379" name="Google Shape;379;g11a0ff57366_3_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80" name="Google Shape;380;g11a0ff57366_3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992767"/>
            <a:ext cx="8520600" cy="27369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3778833"/>
            <a:ext cx="8520600" cy="10569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867800"/>
            <a:ext cx="8520600" cy="11223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536633"/>
            <a:ext cx="8520600" cy="45552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19" name="Google Shape;19;p4"/>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536633"/>
            <a:ext cx="3999900" cy="45552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3" name="Google Shape;23;p5"/>
          <p:cNvSpPr txBox="1"/>
          <p:nvPr>
            <p:ph idx="2" type="body"/>
          </p:nvPr>
        </p:nvSpPr>
        <p:spPr>
          <a:xfrm>
            <a:off x="4832400" y="1536633"/>
            <a:ext cx="3999900" cy="45552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4" name="Google Shape;24;p5"/>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740800"/>
            <a:ext cx="2808000" cy="1007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852800"/>
            <a:ext cx="2808000" cy="42393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31" name="Google Shape;31;p7"/>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600200"/>
            <a:ext cx="6367800" cy="54543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67"/>
            <a:ext cx="4572000" cy="68580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644233"/>
            <a:ext cx="4045200" cy="19764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3737433"/>
            <a:ext cx="4045200" cy="16467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965433"/>
            <a:ext cx="3837000" cy="49269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40" name="Google Shape;40;p9"/>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5640767"/>
            <a:ext cx="5998800" cy="8067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474833"/>
            <a:ext cx="8520600" cy="26181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4202967"/>
            <a:ext cx="8520600" cy="17343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47" name="Google Shape;47;p11"/>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593367"/>
            <a:ext cx="8520600" cy="7635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536633"/>
            <a:ext cx="8520600" cy="45552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1600"/>
              </a:spcBef>
              <a:spcAft>
                <a:spcPts val="0"/>
              </a:spcAft>
              <a:buClr>
                <a:schemeClr val="dk2"/>
              </a:buClr>
              <a:buSzPts val="1400"/>
              <a:buChar char="○"/>
              <a:defRPr>
                <a:solidFill>
                  <a:schemeClr val="dk2"/>
                </a:solidFill>
              </a:defRPr>
            </a:lvl2pPr>
            <a:lvl3pPr indent="-317500" lvl="2" marL="1371600">
              <a:lnSpc>
                <a:spcPct val="115000"/>
              </a:lnSpc>
              <a:spcBef>
                <a:spcPts val="1600"/>
              </a:spcBef>
              <a:spcAft>
                <a:spcPts val="0"/>
              </a:spcAft>
              <a:buClr>
                <a:schemeClr val="dk2"/>
              </a:buClr>
              <a:buSzPts val="1400"/>
              <a:buChar char="■"/>
              <a:defRPr>
                <a:solidFill>
                  <a:schemeClr val="dk2"/>
                </a:solidFill>
              </a:defRPr>
            </a:lvl3pPr>
            <a:lvl4pPr indent="-317500" lvl="3" marL="1828800">
              <a:lnSpc>
                <a:spcPct val="115000"/>
              </a:lnSpc>
              <a:spcBef>
                <a:spcPts val="1600"/>
              </a:spcBef>
              <a:spcAft>
                <a:spcPts val="0"/>
              </a:spcAft>
              <a:buClr>
                <a:schemeClr val="dk2"/>
              </a:buClr>
              <a:buSzPts val="1400"/>
              <a:buChar char="●"/>
              <a:defRPr>
                <a:solidFill>
                  <a:schemeClr val="dk2"/>
                </a:solidFill>
              </a:defRPr>
            </a:lvl4pPr>
            <a:lvl5pPr indent="-317500" lvl="4" marL="2286000">
              <a:lnSpc>
                <a:spcPct val="115000"/>
              </a:lnSpc>
              <a:spcBef>
                <a:spcPts val="1600"/>
              </a:spcBef>
              <a:spcAft>
                <a:spcPts val="0"/>
              </a:spcAft>
              <a:buClr>
                <a:schemeClr val="dk2"/>
              </a:buClr>
              <a:buSzPts val="1400"/>
              <a:buChar char="○"/>
              <a:defRPr>
                <a:solidFill>
                  <a:schemeClr val="dk2"/>
                </a:solidFill>
              </a:defRPr>
            </a:lvl5pPr>
            <a:lvl6pPr indent="-317500" lvl="5" marL="2743200">
              <a:lnSpc>
                <a:spcPct val="115000"/>
              </a:lnSpc>
              <a:spcBef>
                <a:spcPts val="1600"/>
              </a:spcBef>
              <a:spcAft>
                <a:spcPts val="0"/>
              </a:spcAft>
              <a:buClr>
                <a:schemeClr val="dk2"/>
              </a:buClr>
              <a:buSzPts val="1400"/>
              <a:buChar char="■"/>
              <a:defRPr>
                <a:solidFill>
                  <a:schemeClr val="dk2"/>
                </a:solidFill>
              </a:defRPr>
            </a:lvl6pPr>
            <a:lvl7pPr indent="-317500" lvl="6" marL="3200400">
              <a:lnSpc>
                <a:spcPct val="115000"/>
              </a:lnSpc>
              <a:spcBef>
                <a:spcPts val="1600"/>
              </a:spcBef>
              <a:spcAft>
                <a:spcPts val="0"/>
              </a:spcAft>
              <a:buClr>
                <a:schemeClr val="dk2"/>
              </a:buClr>
              <a:buSzPts val="1400"/>
              <a:buChar char="●"/>
              <a:defRPr>
                <a:solidFill>
                  <a:schemeClr val="dk2"/>
                </a:solidFill>
              </a:defRPr>
            </a:lvl7pPr>
            <a:lvl8pPr indent="-317500" lvl="7" marL="3657600">
              <a:lnSpc>
                <a:spcPct val="115000"/>
              </a:lnSpc>
              <a:spcBef>
                <a:spcPts val="1600"/>
              </a:spcBef>
              <a:spcAft>
                <a:spcPts val="0"/>
              </a:spcAft>
              <a:buClr>
                <a:schemeClr val="dk2"/>
              </a:buClr>
              <a:buSzPts val="1400"/>
              <a:buChar char="○"/>
              <a:defRPr>
                <a:solidFill>
                  <a:schemeClr val="dk2"/>
                </a:solidFill>
              </a:defRPr>
            </a:lvl8pPr>
            <a:lvl9pPr indent="-317500" lvl="8" marL="4114800">
              <a:lnSpc>
                <a:spcPct val="115000"/>
              </a:lnSpc>
              <a:spcBef>
                <a:spcPts val="1600"/>
              </a:spcBef>
              <a:spcAft>
                <a:spcPts val="160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6217622"/>
            <a:ext cx="548700" cy="5247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4.png"/><Relationship Id="rId4" Type="http://schemas.openxmlformats.org/officeDocument/2006/relationships/image" Target="../media/image3.gif"/></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4.png"/><Relationship Id="rId4" Type="http://schemas.openxmlformats.org/officeDocument/2006/relationships/image" Target="../media/image2.gif"/></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4.png"/><Relationship Id="rId4" Type="http://schemas.openxmlformats.org/officeDocument/2006/relationships/image" Target="../media/image1.gif"/></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4.png"/><Relationship Id="rId4" Type="http://schemas.openxmlformats.org/officeDocument/2006/relationships/image" Target="../media/image11.gif"/></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4.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4.png"/><Relationship Id="rId4" Type="http://schemas.openxmlformats.org/officeDocument/2006/relationships/image" Target="../media/image10.gif"/></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4.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4.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4.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4.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4.png"/><Relationship Id="rId4" Type="http://schemas.openxmlformats.org/officeDocument/2006/relationships/hyperlink" Target="https://es.wikipedia.org/wiki/Funci%C3%B3n_hash" TargetMode="External"/><Relationship Id="rId5" Type="http://schemas.openxmlformats.org/officeDocument/2006/relationships/hyperlink" Target="https://es.wikipedia.org/wiki/Secure_Hash_Algorithm#cite_note-1" TargetMode="External"/><Relationship Id="rId6" Type="http://schemas.openxmlformats.org/officeDocument/2006/relationships/hyperlink" Target="https://es.wikipedia.org/wiki/2001" TargetMode="Externa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4.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4.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4.png"/><Relationship Id="rId4" Type="http://schemas.openxmlformats.org/officeDocument/2006/relationships/hyperlink" Target="http://md5hashing.net" TargetMode="Externa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4.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4.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4.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4.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image4.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4.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 Id="rId3" Type="http://schemas.openxmlformats.org/officeDocument/2006/relationships/image" Target="../media/image4.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 Id="rId3" Type="http://schemas.openxmlformats.org/officeDocument/2006/relationships/image" Target="../media/image4.png"/><Relationship Id="rId4" Type="http://schemas.openxmlformats.org/officeDocument/2006/relationships/image" Target="../media/image7.png"/><Relationship Id="rId5" Type="http://schemas.openxmlformats.org/officeDocument/2006/relationships/hyperlink" Target="http://xkcd.com" TargetMode="Externa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 Id="rId3" Type="http://schemas.openxmlformats.org/officeDocument/2006/relationships/image" Target="../media/image4.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 Id="rId3" Type="http://schemas.openxmlformats.org/officeDocument/2006/relationships/image" Target="../media/image4.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 Id="rId3" Type="http://schemas.openxmlformats.org/officeDocument/2006/relationships/image" Target="../media/image4.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 Id="rId3" Type="http://schemas.openxmlformats.org/officeDocument/2006/relationships/image" Target="../media/image4.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 Id="rId3" Type="http://schemas.openxmlformats.org/officeDocument/2006/relationships/image" Target="../media/image4.png"/><Relationship Id="rId4" Type="http://schemas.openxmlformats.org/officeDocument/2006/relationships/image" Target="../media/image8.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 Id="rId3" Type="http://schemas.openxmlformats.org/officeDocument/2006/relationships/image" Target="../media/image4.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 Id="rId3" Type="http://schemas.openxmlformats.org/officeDocument/2006/relationships/image" Target="../media/image4.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 Id="rId3" Type="http://schemas.openxmlformats.org/officeDocument/2006/relationships/image" Target="../media/image4.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 Id="rId3" Type="http://schemas.openxmlformats.org/officeDocument/2006/relationships/image" Target="../media/image4.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 Id="rId3" Type="http://schemas.openxmlformats.org/officeDocument/2006/relationships/image" Target="../media/image4.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 Id="rId3" Type="http://schemas.openxmlformats.org/officeDocument/2006/relationships/image" Target="../media/image4.png"/><Relationship Id="rId4" Type="http://schemas.openxmlformats.org/officeDocument/2006/relationships/image" Target="../media/image9.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 Id="rId3" Type="http://schemas.openxmlformats.org/officeDocument/2006/relationships/image" Target="../media/image4.png"/><Relationship Id="rId4" Type="http://schemas.openxmlformats.org/officeDocument/2006/relationships/image" Target="../media/image6.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 Id="rId3" Type="http://schemas.openxmlformats.org/officeDocument/2006/relationships/image" Target="../media/image4.png"/><Relationship Id="rId4" Type="http://schemas.openxmlformats.org/officeDocument/2006/relationships/hyperlink" Target="https://mvnrepository.com/artifact/commons-codec/commons-codec" TargetMode="Externa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 Id="rId3" Type="http://schemas.openxmlformats.org/officeDocument/2006/relationships/image" Target="../media/image4.png"/><Relationship Id="rId4" Type="http://schemas.openxmlformats.org/officeDocument/2006/relationships/hyperlink" Target="https://portswigger.net/burp" TargetMode="External"/><Relationship Id="rId10" Type="http://schemas.openxmlformats.org/officeDocument/2006/relationships/hyperlink" Target="https://pentestmonkey.net" TargetMode="External"/><Relationship Id="rId9" Type="http://schemas.openxmlformats.org/officeDocument/2006/relationships/hyperlink" Target="https://github.com/vanhauser-thc/thc-hydra" TargetMode="External"/><Relationship Id="rId5" Type="http://schemas.openxmlformats.org/officeDocument/2006/relationships/hyperlink" Target="https://dvwa.co.uk" TargetMode="External"/><Relationship Id="rId6" Type="http://schemas.openxmlformats.org/officeDocument/2006/relationships/hyperlink" Target="https://github.com/redfiles/rockyou.txt" TargetMode="External"/><Relationship Id="rId7" Type="http://schemas.openxmlformats.org/officeDocument/2006/relationships/hyperlink" Target="https://www.kali.org" TargetMode="External"/><Relationship Id="rId8" Type="http://schemas.openxmlformats.org/officeDocument/2006/relationships/hyperlink" Target="https://nmap.org"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3" name="Shape 53"/>
        <p:cNvGrpSpPr/>
        <p:nvPr/>
      </p:nvGrpSpPr>
      <p:grpSpPr>
        <a:xfrm>
          <a:off x="0" y="0"/>
          <a:ext cx="0" cy="0"/>
          <a:chOff x="0" y="0"/>
          <a:chExt cx="0" cy="0"/>
        </a:xfrm>
      </p:grpSpPr>
      <p:sp>
        <p:nvSpPr>
          <p:cNvPr id="54" name="Google Shape;54;p13"/>
          <p:cNvSpPr txBox="1"/>
          <p:nvPr/>
        </p:nvSpPr>
        <p:spPr>
          <a:xfrm>
            <a:off x="0" y="50"/>
            <a:ext cx="9144000" cy="6858000"/>
          </a:xfrm>
          <a:prstGeom prst="rect">
            <a:avLst/>
          </a:prstGeom>
          <a:noFill/>
          <a:ln>
            <a:noFill/>
          </a:ln>
        </p:spPr>
        <p:txBody>
          <a:bodyPr anchorCtr="0" anchor="ctr" bIns="91425" lIns="91425" spcFirstLastPara="1" rIns="91425" wrap="square" tIns="91425">
            <a:noAutofit/>
          </a:bodyPr>
          <a:lstStyle/>
          <a:p>
            <a:pPr indent="0" lvl="0" marL="0" rtl="0" algn="ctr">
              <a:spcBef>
                <a:spcPts val="100"/>
              </a:spcBef>
              <a:spcAft>
                <a:spcPts val="0"/>
              </a:spcAft>
              <a:buNone/>
            </a:pPr>
            <a:r>
              <a:rPr lang="es" sz="7200">
                <a:solidFill>
                  <a:srgbClr val="279999"/>
                </a:solidFill>
                <a:latin typeface="Roboto"/>
                <a:ea typeface="Roboto"/>
                <a:cs typeface="Roboto"/>
                <a:sym typeface="Roboto"/>
              </a:rPr>
              <a:t>UNIDAD 5</a:t>
            </a:r>
            <a:endParaRPr sz="7200">
              <a:solidFill>
                <a:srgbClr val="279999"/>
              </a:solidFill>
              <a:latin typeface="Roboto"/>
              <a:ea typeface="Roboto"/>
              <a:cs typeface="Roboto"/>
              <a:sym typeface="Roboto"/>
            </a:endParaRPr>
          </a:p>
          <a:p>
            <a:pPr indent="0" lvl="0" marL="0" rtl="0" algn="ctr">
              <a:spcBef>
                <a:spcPts val="100"/>
              </a:spcBef>
              <a:spcAft>
                <a:spcPts val="100"/>
              </a:spcAft>
              <a:buNone/>
            </a:pPr>
            <a:r>
              <a:rPr lang="es" sz="7300">
                <a:solidFill>
                  <a:srgbClr val="006699"/>
                </a:solidFill>
                <a:latin typeface="Roboto"/>
                <a:ea typeface="Roboto"/>
                <a:cs typeface="Roboto"/>
                <a:sym typeface="Roboto"/>
              </a:rPr>
              <a:t>SEGURIDAD Y CRIPTOGRAFÍA</a:t>
            </a:r>
            <a:endParaRPr b="1" sz="2400">
              <a:solidFill>
                <a:srgbClr val="CC0000"/>
              </a:solidFill>
              <a:latin typeface="Roboto"/>
              <a:ea typeface="Roboto"/>
              <a:cs typeface="Roboto"/>
              <a:sym typeface="Roboto"/>
            </a:endParaRPr>
          </a:p>
        </p:txBody>
      </p:sp>
      <p:cxnSp>
        <p:nvCxnSpPr>
          <p:cNvPr id="55" name="Google Shape;55;p13"/>
          <p:cNvCxnSpPr/>
          <p:nvPr/>
        </p:nvCxnSpPr>
        <p:spPr>
          <a:xfrm>
            <a:off x="54150" y="2846879"/>
            <a:ext cx="9035700" cy="16200"/>
          </a:xfrm>
          <a:prstGeom prst="straightConnector1">
            <a:avLst/>
          </a:prstGeom>
          <a:noFill/>
          <a:ln cap="flat" cmpd="sng" w="76200">
            <a:solidFill>
              <a:srgbClr val="279999"/>
            </a:solidFill>
            <a:prstDash val="solid"/>
            <a:round/>
            <a:headEnd len="med" w="med" type="none"/>
            <a:tailEnd len="med" w="med" type="none"/>
          </a:ln>
        </p:spPr>
      </p:cxn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9" name="Shape 59"/>
        <p:cNvGrpSpPr/>
        <p:nvPr/>
      </p:nvGrpSpPr>
      <p:grpSpPr>
        <a:xfrm>
          <a:off x="0" y="0"/>
          <a:ext cx="0" cy="0"/>
          <a:chOff x="0" y="0"/>
          <a:chExt cx="0" cy="0"/>
        </a:xfrm>
      </p:grpSpPr>
      <p:sp>
        <p:nvSpPr>
          <p:cNvPr id="60" name="Google Shape;60;p14"/>
          <p:cNvSpPr txBox="1"/>
          <p:nvPr/>
        </p:nvSpPr>
        <p:spPr>
          <a:xfrm>
            <a:off x="0" y="50"/>
            <a:ext cx="9144000" cy="6858000"/>
          </a:xfrm>
          <a:prstGeom prst="rect">
            <a:avLst/>
          </a:prstGeom>
          <a:noFill/>
          <a:ln>
            <a:noFill/>
          </a:ln>
        </p:spPr>
        <p:txBody>
          <a:bodyPr anchorCtr="0" anchor="ctr" bIns="91425" lIns="91425" spcFirstLastPara="1" rIns="91425" wrap="square" tIns="91425">
            <a:noAutofit/>
          </a:bodyPr>
          <a:lstStyle/>
          <a:p>
            <a:pPr indent="-412750" lvl="0" marL="1371600" rtl="0" algn="l">
              <a:spcBef>
                <a:spcPts val="100"/>
              </a:spcBef>
              <a:spcAft>
                <a:spcPts val="0"/>
              </a:spcAft>
              <a:buClr>
                <a:srgbClr val="009999"/>
              </a:buClr>
              <a:buSzPts val="2900"/>
              <a:buFont typeface="Roboto"/>
              <a:buAutoNum type="arabicPeriod"/>
            </a:pPr>
            <a:r>
              <a:rPr lang="es" sz="2900">
                <a:solidFill>
                  <a:srgbClr val="009999"/>
                </a:solidFill>
                <a:latin typeface="Roboto"/>
                <a:ea typeface="Roboto"/>
                <a:cs typeface="Roboto"/>
                <a:sym typeface="Roboto"/>
              </a:rPr>
              <a:t>Nuestros programas son una @#~~!! </a:t>
            </a:r>
            <a:r>
              <a:rPr lang="es" sz="1600">
                <a:solidFill>
                  <a:srgbClr val="009999"/>
                </a:solidFill>
                <a:latin typeface="Roboto"/>
                <a:ea typeface="Roboto"/>
                <a:cs typeface="Roboto"/>
                <a:sym typeface="Roboto"/>
              </a:rPr>
              <a:t>(En seguridad)</a:t>
            </a:r>
            <a:endParaRPr sz="1600">
              <a:solidFill>
                <a:srgbClr val="009999"/>
              </a:solidFill>
              <a:latin typeface="Roboto"/>
              <a:ea typeface="Roboto"/>
              <a:cs typeface="Roboto"/>
              <a:sym typeface="Roboto"/>
            </a:endParaRPr>
          </a:p>
          <a:p>
            <a:pPr indent="-412750" lvl="0" marL="1371600" rtl="0" algn="l">
              <a:spcBef>
                <a:spcPts val="100"/>
              </a:spcBef>
              <a:spcAft>
                <a:spcPts val="0"/>
              </a:spcAft>
              <a:buClr>
                <a:srgbClr val="009999"/>
              </a:buClr>
              <a:buSzPts val="2900"/>
              <a:buFont typeface="Roboto"/>
              <a:buAutoNum type="arabicPeriod"/>
            </a:pPr>
            <a:r>
              <a:rPr lang="es" sz="2900">
                <a:solidFill>
                  <a:srgbClr val="009999"/>
                </a:solidFill>
                <a:latin typeface="Roboto"/>
                <a:ea typeface="Roboto"/>
                <a:cs typeface="Roboto"/>
                <a:sym typeface="Roboto"/>
              </a:rPr>
              <a:t>Conceptos básicos sobre seguridad</a:t>
            </a:r>
            <a:endParaRPr sz="2900">
              <a:solidFill>
                <a:srgbClr val="009999"/>
              </a:solidFill>
              <a:latin typeface="Roboto"/>
              <a:ea typeface="Roboto"/>
              <a:cs typeface="Roboto"/>
              <a:sym typeface="Roboto"/>
            </a:endParaRPr>
          </a:p>
          <a:p>
            <a:pPr indent="-412750" lvl="0" marL="1371600" rtl="0" algn="l">
              <a:spcBef>
                <a:spcPts val="100"/>
              </a:spcBef>
              <a:spcAft>
                <a:spcPts val="0"/>
              </a:spcAft>
              <a:buClr>
                <a:srgbClr val="009999"/>
              </a:buClr>
              <a:buSzPts val="2900"/>
              <a:buFont typeface="Roboto"/>
              <a:buAutoNum type="arabicPeriod"/>
            </a:pPr>
            <a:r>
              <a:rPr lang="es" sz="2900">
                <a:solidFill>
                  <a:srgbClr val="009999"/>
                </a:solidFill>
                <a:latin typeface="Roboto"/>
                <a:ea typeface="Roboto"/>
                <a:cs typeface="Roboto"/>
                <a:sym typeface="Roboto"/>
              </a:rPr>
              <a:t>¿Qué debo proteger?</a:t>
            </a:r>
            <a:endParaRPr sz="2900">
              <a:solidFill>
                <a:srgbClr val="009999"/>
              </a:solidFill>
              <a:latin typeface="Roboto"/>
              <a:ea typeface="Roboto"/>
              <a:cs typeface="Roboto"/>
              <a:sym typeface="Roboto"/>
            </a:endParaRPr>
          </a:p>
          <a:p>
            <a:pPr indent="-412750" lvl="0" marL="1371600" rtl="0" algn="l">
              <a:spcBef>
                <a:spcPts val="100"/>
              </a:spcBef>
              <a:spcAft>
                <a:spcPts val="0"/>
              </a:spcAft>
              <a:buClr>
                <a:srgbClr val="009999"/>
              </a:buClr>
              <a:buSzPts val="2900"/>
              <a:buFont typeface="Roboto"/>
              <a:buAutoNum type="arabicPeriod"/>
            </a:pPr>
            <a:r>
              <a:rPr lang="es" sz="2900">
                <a:solidFill>
                  <a:srgbClr val="009999"/>
                </a:solidFill>
                <a:latin typeface="Roboto"/>
                <a:ea typeface="Roboto"/>
                <a:cs typeface="Roboto"/>
                <a:sym typeface="Roboto"/>
              </a:rPr>
              <a:t>¿Cómo pueden atacarme?</a:t>
            </a:r>
            <a:endParaRPr sz="2900">
              <a:solidFill>
                <a:srgbClr val="009999"/>
              </a:solidFill>
              <a:latin typeface="Roboto"/>
              <a:ea typeface="Roboto"/>
              <a:cs typeface="Roboto"/>
              <a:sym typeface="Roboto"/>
            </a:endParaRPr>
          </a:p>
          <a:p>
            <a:pPr indent="-412750" lvl="0" marL="1371600" rtl="0" algn="l">
              <a:spcBef>
                <a:spcPts val="100"/>
              </a:spcBef>
              <a:spcAft>
                <a:spcPts val="0"/>
              </a:spcAft>
              <a:buClr>
                <a:srgbClr val="009999"/>
              </a:buClr>
              <a:buSzPts val="2900"/>
              <a:buFont typeface="Roboto"/>
              <a:buAutoNum type="arabicPeriod"/>
            </a:pPr>
            <a:r>
              <a:rPr lang="es" sz="2900">
                <a:solidFill>
                  <a:srgbClr val="009999"/>
                </a:solidFill>
                <a:latin typeface="Roboto"/>
                <a:ea typeface="Roboto"/>
                <a:cs typeface="Roboto"/>
                <a:sym typeface="Roboto"/>
              </a:rPr>
              <a:t>¿Cómo puedo protegerlo?</a:t>
            </a:r>
            <a:endParaRPr sz="2900">
              <a:solidFill>
                <a:srgbClr val="009999"/>
              </a:solidFill>
              <a:latin typeface="Roboto"/>
              <a:ea typeface="Roboto"/>
              <a:cs typeface="Roboto"/>
              <a:sym typeface="Roboto"/>
            </a:endParaRPr>
          </a:p>
          <a:p>
            <a:pPr indent="-412750" lvl="1" marL="1828800" rtl="0" algn="l">
              <a:spcBef>
                <a:spcPts val="100"/>
              </a:spcBef>
              <a:spcAft>
                <a:spcPts val="0"/>
              </a:spcAft>
              <a:buClr>
                <a:srgbClr val="009999"/>
              </a:buClr>
              <a:buSzPts val="2900"/>
              <a:buFont typeface="Roboto"/>
              <a:buAutoNum type="arabicPeriod"/>
            </a:pPr>
            <a:r>
              <a:rPr lang="es" sz="2900">
                <a:solidFill>
                  <a:srgbClr val="009999"/>
                </a:solidFill>
                <a:latin typeface="Roboto"/>
                <a:ea typeface="Roboto"/>
                <a:cs typeface="Roboto"/>
                <a:sym typeface="Roboto"/>
              </a:rPr>
              <a:t>Hashing</a:t>
            </a:r>
            <a:endParaRPr sz="2900">
              <a:solidFill>
                <a:srgbClr val="009999"/>
              </a:solidFill>
              <a:latin typeface="Roboto"/>
              <a:ea typeface="Roboto"/>
              <a:cs typeface="Roboto"/>
              <a:sym typeface="Roboto"/>
            </a:endParaRPr>
          </a:p>
          <a:p>
            <a:pPr indent="-412750" lvl="1" marL="1828800" rtl="0" algn="l">
              <a:spcBef>
                <a:spcPts val="100"/>
              </a:spcBef>
              <a:spcAft>
                <a:spcPts val="0"/>
              </a:spcAft>
              <a:buClr>
                <a:srgbClr val="009999"/>
              </a:buClr>
              <a:buSzPts val="2900"/>
              <a:buFont typeface="Roboto"/>
              <a:buAutoNum type="arabicPeriod"/>
            </a:pPr>
            <a:r>
              <a:rPr lang="es" sz="2900">
                <a:solidFill>
                  <a:srgbClr val="009999"/>
                </a:solidFill>
                <a:latin typeface="Roboto"/>
                <a:ea typeface="Roboto"/>
                <a:cs typeface="Roboto"/>
                <a:sym typeface="Roboto"/>
              </a:rPr>
              <a:t>Encriptación</a:t>
            </a:r>
            <a:endParaRPr sz="2900">
              <a:solidFill>
                <a:srgbClr val="009999"/>
              </a:solidFill>
              <a:latin typeface="Roboto"/>
              <a:ea typeface="Roboto"/>
              <a:cs typeface="Roboto"/>
              <a:sym typeface="Roboto"/>
            </a:endParaRPr>
          </a:p>
          <a:p>
            <a:pPr indent="-412750" lvl="1" marL="1828800" rtl="0" algn="l">
              <a:spcBef>
                <a:spcPts val="100"/>
              </a:spcBef>
              <a:spcAft>
                <a:spcPts val="0"/>
              </a:spcAft>
              <a:buClr>
                <a:srgbClr val="009999"/>
              </a:buClr>
              <a:buSzPts val="2900"/>
              <a:buFont typeface="Roboto"/>
              <a:buAutoNum type="arabicPeriod"/>
            </a:pPr>
            <a:r>
              <a:rPr lang="es" sz="2900">
                <a:solidFill>
                  <a:srgbClr val="009999"/>
                </a:solidFill>
                <a:latin typeface="Roboto"/>
                <a:ea typeface="Roboto"/>
                <a:cs typeface="Roboto"/>
                <a:sym typeface="Roboto"/>
              </a:rPr>
              <a:t>SSL/HTTPS</a:t>
            </a:r>
            <a:endParaRPr sz="2900">
              <a:solidFill>
                <a:srgbClr val="009999"/>
              </a:solidFill>
              <a:latin typeface="Roboto"/>
              <a:ea typeface="Roboto"/>
              <a:cs typeface="Roboto"/>
              <a:sym typeface="Roboto"/>
            </a:endParaRPr>
          </a:p>
          <a:p>
            <a:pPr indent="-412750" lvl="1" marL="1828800" rtl="0" algn="l">
              <a:spcBef>
                <a:spcPts val="100"/>
              </a:spcBef>
              <a:spcAft>
                <a:spcPts val="0"/>
              </a:spcAft>
              <a:buClr>
                <a:srgbClr val="009999"/>
              </a:buClr>
              <a:buSzPts val="2900"/>
              <a:buFont typeface="Roboto"/>
              <a:buAutoNum type="arabicPeriod"/>
            </a:pPr>
            <a:r>
              <a:rPr lang="es" sz="2900">
                <a:solidFill>
                  <a:srgbClr val="009999"/>
                </a:solidFill>
                <a:latin typeface="Roboto"/>
                <a:ea typeface="Roboto"/>
                <a:cs typeface="Roboto"/>
                <a:sym typeface="Roboto"/>
              </a:rPr>
              <a:t>Firma digital</a:t>
            </a:r>
            <a:endParaRPr sz="2900">
              <a:solidFill>
                <a:srgbClr val="009999"/>
              </a:solidFill>
              <a:latin typeface="Roboto"/>
              <a:ea typeface="Roboto"/>
              <a:cs typeface="Roboto"/>
              <a:sym typeface="Roboto"/>
            </a:endParaRPr>
          </a:p>
          <a:p>
            <a:pPr indent="-412750" lvl="1" marL="1828800" rtl="0" algn="l">
              <a:spcBef>
                <a:spcPts val="100"/>
              </a:spcBef>
              <a:spcAft>
                <a:spcPts val="0"/>
              </a:spcAft>
              <a:buClr>
                <a:srgbClr val="009999"/>
              </a:buClr>
              <a:buSzPts val="2900"/>
              <a:buFont typeface="Roboto"/>
              <a:buAutoNum type="arabicPeriod"/>
            </a:pPr>
            <a:r>
              <a:rPr lang="es" sz="2900">
                <a:solidFill>
                  <a:srgbClr val="009999"/>
                </a:solidFill>
                <a:latin typeface="Roboto"/>
                <a:ea typeface="Roboto"/>
                <a:cs typeface="Roboto"/>
                <a:sym typeface="Roboto"/>
              </a:rPr>
              <a:t>Control de acceso</a:t>
            </a:r>
            <a:endParaRPr sz="2900">
              <a:solidFill>
                <a:srgbClr val="009999"/>
              </a:solidFill>
              <a:latin typeface="Roboto"/>
              <a:ea typeface="Roboto"/>
              <a:cs typeface="Roboto"/>
              <a:sym typeface="Roboto"/>
            </a:endParaRPr>
          </a:p>
          <a:p>
            <a:pPr indent="-412750" lvl="1" marL="1828800" rtl="0" algn="l">
              <a:spcBef>
                <a:spcPts val="100"/>
              </a:spcBef>
              <a:spcAft>
                <a:spcPts val="100"/>
              </a:spcAft>
              <a:buClr>
                <a:srgbClr val="009999"/>
              </a:buClr>
              <a:buSzPts val="2900"/>
              <a:buFont typeface="Roboto"/>
              <a:buAutoNum type="arabicPeriod"/>
            </a:pPr>
            <a:r>
              <a:rPr lang="es" sz="2900">
                <a:solidFill>
                  <a:srgbClr val="009999"/>
                </a:solidFill>
                <a:latin typeface="Roboto"/>
                <a:ea typeface="Roboto"/>
                <a:cs typeface="Roboto"/>
                <a:sym typeface="Roboto"/>
              </a:rPr>
              <a:t>Ficheros de políticas</a:t>
            </a:r>
            <a:endParaRPr sz="2900">
              <a:solidFill>
                <a:srgbClr val="009999"/>
              </a:solidFill>
              <a:latin typeface="Roboto"/>
              <a:ea typeface="Roboto"/>
              <a:cs typeface="Roboto"/>
              <a:sym typeface="Roboto"/>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64" name="Shape 64"/>
        <p:cNvGrpSpPr/>
        <p:nvPr/>
      </p:nvGrpSpPr>
      <p:grpSpPr>
        <a:xfrm>
          <a:off x="0" y="0"/>
          <a:ext cx="0" cy="0"/>
          <a:chOff x="0" y="0"/>
          <a:chExt cx="0" cy="0"/>
        </a:xfrm>
      </p:grpSpPr>
      <p:pic>
        <p:nvPicPr>
          <p:cNvPr id="65" name="Google Shape;65;p15"/>
          <p:cNvPicPr preferRelativeResize="0"/>
          <p:nvPr/>
        </p:nvPicPr>
        <p:blipFill rotWithShape="1">
          <a:blip r:embed="rId4">
            <a:alphaModFix/>
          </a:blip>
          <a:srcRect b="12011" l="0" r="0" t="12011"/>
          <a:stretch/>
        </p:blipFill>
        <p:spPr>
          <a:xfrm>
            <a:off x="0" y="603300"/>
            <a:ext cx="9144000" cy="6238589"/>
          </a:xfrm>
          <a:prstGeom prst="rect">
            <a:avLst/>
          </a:prstGeom>
          <a:noFill/>
          <a:ln>
            <a:noFill/>
          </a:ln>
        </p:spPr>
      </p:pic>
      <p:sp>
        <p:nvSpPr>
          <p:cNvPr id="66" name="Google Shape;66;p15"/>
          <p:cNvSpPr txBox="1"/>
          <p:nvPr/>
        </p:nvSpPr>
        <p:spPr>
          <a:xfrm>
            <a:off x="7302900" y="6565500"/>
            <a:ext cx="1944600" cy="292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a:solidFill>
                  <a:srgbClr val="FFFFFF"/>
                </a:solidFill>
                <a:highlight>
                  <a:srgbClr val="FF0000"/>
                </a:highlight>
              </a:rPr>
              <a:t>Imagen de Giphy.com</a:t>
            </a:r>
            <a:endParaRPr>
              <a:solidFill>
                <a:srgbClr val="FFFFFF"/>
              </a:solidFill>
              <a:highlight>
                <a:srgbClr val="FF0000"/>
              </a:highlight>
            </a:endParaRPr>
          </a:p>
        </p:txBody>
      </p:sp>
      <p:sp>
        <p:nvSpPr>
          <p:cNvPr id="67" name="Google Shape;67;p15"/>
          <p:cNvSpPr txBox="1"/>
          <p:nvPr/>
        </p:nvSpPr>
        <p:spPr>
          <a:xfrm>
            <a:off x="0" y="0"/>
            <a:ext cx="7302900" cy="603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s" sz="2200">
                <a:solidFill>
                  <a:srgbClr val="136798"/>
                </a:solidFill>
              </a:rPr>
              <a:t>1 - Nuestros programas son una @#~~!! </a:t>
            </a:r>
            <a:r>
              <a:rPr lang="es" sz="1600">
                <a:solidFill>
                  <a:srgbClr val="136798"/>
                </a:solidFill>
              </a:rPr>
              <a:t>(En seguridad)</a:t>
            </a:r>
            <a:endParaRPr sz="1600">
              <a:solidFill>
                <a:srgbClr val="136798"/>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71" name="Shape 71"/>
        <p:cNvGrpSpPr/>
        <p:nvPr/>
      </p:nvGrpSpPr>
      <p:grpSpPr>
        <a:xfrm>
          <a:off x="0" y="0"/>
          <a:ext cx="0" cy="0"/>
          <a:chOff x="0" y="0"/>
          <a:chExt cx="0" cy="0"/>
        </a:xfrm>
      </p:grpSpPr>
      <p:sp>
        <p:nvSpPr>
          <p:cNvPr id="72" name="Google Shape;72;p16"/>
          <p:cNvSpPr txBox="1"/>
          <p:nvPr/>
        </p:nvSpPr>
        <p:spPr>
          <a:xfrm>
            <a:off x="1376600" y="3103625"/>
            <a:ext cx="7208400" cy="840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16"/>
          <p:cNvSpPr txBox="1"/>
          <p:nvPr>
            <p:ph idx="1" type="subTitle"/>
          </p:nvPr>
        </p:nvSpPr>
        <p:spPr>
          <a:xfrm>
            <a:off x="25" y="603300"/>
            <a:ext cx="9144000" cy="61917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None/>
            </a:pPr>
            <a:r>
              <a:rPr lang="es" sz="2900">
                <a:solidFill>
                  <a:srgbClr val="006699"/>
                </a:solidFill>
              </a:rPr>
              <a:t>Bueno, no lo son. Nuestro nivel de programación no lo es.</a:t>
            </a:r>
            <a:br>
              <a:rPr lang="es" sz="2900">
                <a:solidFill>
                  <a:srgbClr val="006699"/>
                </a:solidFill>
              </a:rPr>
            </a:br>
            <a:r>
              <a:rPr lang="es" sz="2900">
                <a:solidFill>
                  <a:srgbClr val="006699"/>
                </a:solidFill>
              </a:rPr>
              <a:t>Pero en el ámbito de la seguridad informática, si lo es (todavía).</a:t>
            </a:r>
            <a:endParaRPr sz="2900">
              <a:solidFill>
                <a:srgbClr val="006699"/>
              </a:solidFill>
            </a:endParaRPr>
          </a:p>
          <a:p>
            <a:pPr indent="0" lvl="0" marL="0" rtl="0" algn="l">
              <a:lnSpc>
                <a:spcPct val="100000"/>
              </a:lnSpc>
              <a:spcBef>
                <a:spcPts val="0"/>
              </a:spcBef>
              <a:spcAft>
                <a:spcPts val="0"/>
              </a:spcAft>
              <a:buNone/>
            </a:pPr>
            <a:r>
              <a:t/>
            </a:r>
            <a:endParaRPr sz="2900">
              <a:solidFill>
                <a:srgbClr val="006699"/>
              </a:solidFill>
            </a:endParaRPr>
          </a:p>
          <a:p>
            <a:pPr indent="0" lvl="0" marL="0" rtl="0" algn="l">
              <a:lnSpc>
                <a:spcPct val="100000"/>
              </a:lnSpc>
              <a:spcBef>
                <a:spcPts val="0"/>
              </a:spcBef>
              <a:spcAft>
                <a:spcPts val="0"/>
              </a:spcAft>
              <a:buNone/>
            </a:pPr>
            <a:r>
              <a:t/>
            </a:r>
            <a:endParaRPr sz="2900">
              <a:solidFill>
                <a:srgbClr val="006699"/>
              </a:solidFill>
            </a:endParaRPr>
          </a:p>
          <a:p>
            <a:pPr indent="-412750" lvl="0" marL="457200" rtl="0" algn="l">
              <a:lnSpc>
                <a:spcPct val="100000"/>
              </a:lnSpc>
              <a:spcBef>
                <a:spcPts val="0"/>
              </a:spcBef>
              <a:spcAft>
                <a:spcPts val="0"/>
              </a:spcAft>
              <a:buClr>
                <a:srgbClr val="006699"/>
              </a:buClr>
              <a:buSzPts val="2900"/>
              <a:buChar char="-"/>
            </a:pPr>
            <a:r>
              <a:rPr lang="es" sz="2900">
                <a:solidFill>
                  <a:srgbClr val="006699"/>
                </a:solidFill>
              </a:rPr>
              <a:t>Vamos a probar a poner </a:t>
            </a:r>
            <a:r>
              <a:rPr lang="es" sz="2900">
                <a:solidFill>
                  <a:srgbClr val="279999"/>
                </a:solidFill>
              </a:rPr>
              <a:t>‘</a:t>
            </a:r>
            <a:r>
              <a:rPr lang="es" sz="2900">
                <a:solidFill>
                  <a:srgbClr val="006699"/>
                </a:solidFill>
              </a:rPr>
              <a:t> como el usuario.</a:t>
            </a:r>
            <a:endParaRPr sz="2900">
              <a:solidFill>
                <a:srgbClr val="006699"/>
              </a:solidFill>
            </a:endParaRPr>
          </a:p>
          <a:p>
            <a:pPr indent="0" lvl="0" marL="457200" rtl="0" algn="l">
              <a:lnSpc>
                <a:spcPct val="100000"/>
              </a:lnSpc>
              <a:spcBef>
                <a:spcPts val="0"/>
              </a:spcBef>
              <a:spcAft>
                <a:spcPts val="0"/>
              </a:spcAft>
              <a:buNone/>
            </a:pPr>
            <a:r>
              <a:t/>
            </a:r>
            <a:endParaRPr sz="2900">
              <a:solidFill>
                <a:srgbClr val="006699"/>
              </a:solidFill>
            </a:endParaRPr>
          </a:p>
          <a:p>
            <a:pPr indent="0" lvl="0" marL="457200" rtl="0" algn="l">
              <a:lnSpc>
                <a:spcPct val="100000"/>
              </a:lnSpc>
              <a:spcBef>
                <a:spcPts val="0"/>
              </a:spcBef>
              <a:spcAft>
                <a:spcPts val="0"/>
              </a:spcAft>
              <a:buNone/>
            </a:pPr>
            <a:r>
              <a:t/>
            </a:r>
            <a:endParaRPr sz="2900">
              <a:solidFill>
                <a:srgbClr val="006699"/>
              </a:solidFill>
            </a:endParaRPr>
          </a:p>
          <a:p>
            <a:pPr indent="-412750" lvl="0" marL="457200" rtl="0" algn="l">
              <a:lnSpc>
                <a:spcPct val="100000"/>
              </a:lnSpc>
              <a:spcBef>
                <a:spcPts val="0"/>
              </a:spcBef>
              <a:spcAft>
                <a:spcPts val="0"/>
              </a:spcAft>
              <a:buClr>
                <a:srgbClr val="006699"/>
              </a:buClr>
              <a:buSzPts val="2900"/>
              <a:buChar char="-"/>
            </a:pPr>
            <a:r>
              <a:rPr lang="es" sz="2900">
                <a:solidFill>
                  <a:srgbClr val="006699"/>
                </a:solidFill>
              </a:rPr>
              <a:t>Después de arreglarlo, a hacer un pequeño sql injection:</a:t>
            </a:r>
            <a:br>
              <a:rPr lang="es" sz="2900">
                <a:solidFill>
                  <a:srgbClr val="006699"/>
                </a:solidFill>
              </a:rPr>
            </a:br>
            <a:r>
              <a:rPr lang="es" sz="2900">
                <a:solidFill>
                  <a:srgbClr val="279999"/>
                </a:solidFill>
              </a:rPr>
              <a:t>‘ or ‘’=’ en el campo de password</a:t>
            </a:r>
            <a:endParaRPr sz="2900">
              <a:solidFill>
                <a:srgbClr val="279999"/>
              </a:solidFill>
            </a:endParaRPr>
          </a:p>
          <a:p>
            <a:pPr indent="0" lvl="0" marL="0" rtl="0" algn="l">
              <a:lnSpc>
                <a:spcPct val="100000"/>
              </a:lnSpc>
              <a:spcBef>
                <a:spcPts val="0"/>
              </a:spcBef>
              <a:spcAft>
                <a:spcPts val="0"/>
              </a:spcAft>
              <a:buNone/>
            </a:pPr>
            <a:r>
              <a:rPr lang="es" sz="2900">
                <a:solidFill>
                  <a:srgbClr val="006699"/>
                </a:solidFill>
              </a:rPr>
              <a:t>No lo copies del navegador, que no va a funcionar. Tienes que escribirlo</a:t>
            </a:r>
            <a:endParaRPr sz="2900">
              <a:solidFill>
                <a:srgbClr val="006699"/>
              </a:solidFill>
            </a:endParaRPr>
          </a:p>
        </p:txBody>
      </p:sp>
      <p:sp>
        <p:nvSpPr>
          <p:cNvPr id="74" name="Google Shape;74;p16"/>
          <p:cNvSpPr txBox="1"/>
          <p:nvPr/>
        </p:nvSpPr>
        <p:spPr>
          <a:xfrm>
            <a:off x="0" y="0"/>
            <a:ext cx="7302900" cy="603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s" sz="2200">
                <a:solidFill>
                  <a:srgbClr val="136798"/>
                </a:solidFill>
              </a:rPr>
              <a:t>1 - Nuestros programas son una @#~~!! </a:t>
            </a:r>
            <a:r>
              <a:rPr lang="es" sz="1600">
                <a:solidFill>
                  <a:srgbClr val="136798"/>
                </a:solidFill>
              </a:rPr>
              <a:t>(En seguridad)</a:t>
            </a:r>
            <a:endParaRPr sz="1600">
              <a:solidFill>
                <a:srgbClr val="136798"/>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78" name="Shape 78"/>
        <p:cNvGrpSpPr/>
        <p:nvPr/>
      </p:nvGrpSpPr>
      <p:grpSpPr>
        <a:xfrm>
          <a:off x="0" y="0"/>
          <a:ext cx="0" cy="0"/>
          <a:chOff x="0" y="0"/>
          <a:chExt cx="0" cy="0"/>
        </a:xfrm>
      </p:grpSpPr>
      <p:sp>
        <p:nvSpPr>
          <p:cNvPr id="79" name="Google Shape;79;p17"/>
          <p:cNvSpPr txBox="1"/>
          <p:nvPr/>
        </p:nvSpPr>
        <p:spPr>
          <a:xfrm>
            <a:off x="1376600" y="3103625"/>
            <a:ext cx="7208400" cy="840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17"/>
          <p:cNvSpPr txBox="1"/>
          <p:nvPr>
            <p:ph idx="1" type="subTitle"/>
          </p:nvPr>
        </p:nvSpPr>
        <p:spPr>
          <a:xfrm>
            <a:off x="25" y="603300"/>
            <a:ext cx="9144000" cy="6191700"/>
          </a:xfrm>
          <a:prstGeom prst="rect">
            <a:avLst/>
          </a:prstGeom>
          <a:noFill/>
          <a:ln>
            <a:noFill/>
          </a:ln>
        </p:spPr>
        <p:txBody>
          <a:bodyPr anchorCtr="0" anchor="t" bIns="45700" lIns="91425" spcFirstLastPara="1" rIns="91425" wrap="square" tIns="45700">
            <a:noAutofit/>
          </a:bodyPr>
          <a:lstStyle/>
          <a:p>
            <a:pPr indent="-412750" lvl="0" marL="457200" rtl="0" algn="l">
              <a:lnSpc>
                <a:spcPct val="100000"/>
              </a:lnSpc>
              <a:spcBef>
                <a:spcPts val="0"/>
              </a:spcBef>
              <a:spcAft>
                <a:spcPts val="0"/>
              </a:spcAft>
              <a:buClr>
                <a:srgbClr val="006699"/>
              </a:buClr>
              <a:buSzPts val="2900"/>
              <a:buChar char="-"/>
            </a:pPr>
            <a:r>
              <a:rPr lang="es" sz="2900">
                <a:solidFill>
                  <a:srgbClr val="006699"/>
                </a:solidFill>
              </a:rPr>
              <a:t>Un sistema web no protegido va a permitir realizar múltiples consultas a la vez, podremos probar su efecto con el modificador de jdbc:</a:t>
            </a:r>
            <a:endParaRPr sz="2900">
              <a:solidFill>
                <a:srgbClr val="006699"/>
              </a:solidFill>
            </a:endParaRPr>
          </a:p>
          <a:p>
            <a:pPr indent="0" lvl="0" marL="457200" rtl="0" algn="l">
              <a:lnSpc>
                <a:spcPct val="100000"/>
              </a:lnSpc>
              <a:spcBef>
                <a:spcPts val="0"/>
              </a:spcBef>
              <a:spcAft>
                <a:spcPts val="0"/>
              </a:spcAft>
              <a:buNone/>
            </a:pPr>
            <a:r>
              <a:rPr lang="es" sz="2900">
                <a:solidFill>
                  <a:srgbClr val="279999"/>
                </a:solidFill>
              </a:rPr>
              <a:t>?allowMultiQueries=true</a:t>
            </a:r>
            <a:br>
              <a:rPr lang="es" sz="2900">
                <a:solidFill>
                  <a:srgbClr val="006699"/>
                </a:solidFill>
              </a:rPr>
            </a:br>
            <a:endParaRPr sz="1000">
              <a:solidFill>
                <a:srgbClr val="7D2727"/>
              </a:solidFill>
              <a:latin typeface="Courier New"/>
              <a:ea typeface="Courier New"/>
              <a:cs typeface="Courier New"/>
              <a:sym typeface="Courier New"/>
            </a:endParaRPr>
          </a:p>
          <a:p>
            <a:pPr indent="0" lvl="0" marL="0" rtl="0" algn="l">
              <a:lnSpc>
                <a:spcPct val="100000"/>
              </a:lnSpc>
              <a:spcBef>
                <a:spcPts val="0"/>
              </a:spcBef>
              <a:spcAft>
                <a:spcPts val="0"/>
              </a:spcAft>
              <a:buNone/>
            </a:pPr>
            <a:r>
              <a:t/>
            </a:r>
            <a:endParaRPr sz="2900">
              <a:solidFill>
                <a:srgbClr val="006699"/>
              </a:solidFill>
            </a:endParaRPr>
          </a:p>
          <a:p>
            <a:pPr indent="0" lvl="0" marL="0" rtl="0" algn="l">
              <a:lnSpc>
                <a:spcPct val="100000"/>
              </a:lnSpc>
              <a:spcBef>
                <a:spcPts val="0"/>
              </a:spcBef>
              <a:spcAft>
                <a:spcPts val="0"/>
              </a:spcAft>
              <a:buNone/>
            </a:pPr>
            <a:r>
              <a:t/>
            </a:r>
            <a:endParaRPr sz="2900">
              <a:solidFill>
                <a:srgbClr val="006699"/>
              </a:solidFill>
            </a:endParaRPr>
          </a:p>
          <a:p>
            <a:pPr indent="-412750" lvl="0" marL="457200" rtl="0" algn="l">
              <a:spcBef>
                <a:spcPts val="0"/>
              </a:spcBef>
              <a:spcAft>
                <a:spcPts val="0"/>
              </a:spcAft>
              <a:buClr>
                <a:srgbClr val="006699"/>
              </a:buClr>
              <a:buSzPts val="2900"/>
              <a:buChar char="-"/>
            </a:pPr>
            <a:r>
              <a:rPr lang="es" sz="2900">
                <a:solidFill>
                  <a:srgbClr val="006699"/>
                </a:solidFill>
              </a:rPr>
              <a:t>Y menos mal que jdbc nos ofusca lo bastante para que wireshark no vea los datos de conexión.</a:t>
            </a:r>
            <a:br>
              <a:rPr lang="es" sz="2900">
                <a:solidFill>
                  <a:srgbClr val="006699"/>
                </a:solidFill>
              </a:rPr>
            </a:br>
            <a:r>
              <a:rPr lang="es" sz="2900">
                <a:solidFill>
                  <a:srgbClr val="279999"/>
                </a:solidFill>
              </a:rPr>
              <a:t>ip.dst==85.214.120.213</a:t>
            </a:r>
            <a:endParaRPr sz="2900">
              <a:solidFill>
                <a:srgbClr val="006699"/>
              </a:solidFill>
            </a:endParaRPr>
          </a:p>
        </p:txBody>
      </p:sp>
      <p:sp>
        <p:nvSpPr>
          <p:cNvPr id="81" name="Google Shape;81;p17"/>
          <p:cNvSpPr txBox="1"/>
          <p:nvPr/>
        </p:nvSpPr>
        <p:spPr>
          <a:xfrm>
            <a:off x="0" y="0"/>
            <a:ext cx="7302900" cy="603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s" sz="2200">
                <a:solidFill>
                  <a:srgbClr val="136798"/>
                </a:solidFill>
              </a:rPr>
              <a:t>1 - Nuestros programas son una @#~~!! </a:t>
            </a:r>
            <a:r>
              <a:rPr lang="es" sz="1600">
                <a:solidFill>
                  <a:srgbClr val="136798"/>
                </a:solidFill>
              </a:rPr>
              <a:t>(En seguridad)</a:t>
            </a:r>
            <a:endParaRPr sz="1600">
              <a:solidFill>
                <a:srgbClr val="136798"/>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85" name="Shape 85"/>
        <p:cNvGrpSpPr/>
        <p:nvPr/>
      </p:nvGrpSpPr>
      <p:grpSpPr>
        <a:xfrm>
          <a:off x="0" y="0"/>
          <a:ext cx="0" cy="0"/>
          <a:chOff x="0" y="0"/>
          <a:chExt cx="0" cy="0"/>
        </a:xfrm>
      </p:grpSpPr>
      <p:pic>
        <p:nvPicPr>
          <p:cNvPr id="86" name="Google Shape;86;p18"/>
          <p:cNvPicPr preferRelativeResize="0"/>
          <p:nvPr/>
        </p:nvPicPr>
        <p:blipFill rotWithShape="1">
          <a:blip r:embed="rId4">
            <a:alphaModFix/>
          </a:blip>
          <a:srcRect b="4521" l="0" r="0" t="4511"/>
          <a:stretch/>
        </p:blipFill>
        <p:spPr>
          <a:xfrm>
            <a:off x="0" y="603300"/>
            <a:ext cx="9144000" cy="6238589"/>
          </a:xfrm>
          <a:prstGeom prst="rect">
            <a:avLst/>
          </a:prstGeom>
          <a:noFill/>
          <a:ln>
            <a:noFill/>
          </a:ln>
        </p:spPr>
      </p:pic>
      <p:sp>
        <p:nvSpPr>
          <p:cNvPr id="87" name="Google Shape;87;p18"/>
          <p:cNvSpPr txBox="1"/>
          <p:nvPr/>
        </p:nvSpPr>
        <p:spPr>
          <a:xfrm>
            <a:off x="7302900" y="6565500"/>
            <a:ext cx="1944600" cy="292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a:solidFill>
                  <a:srgbClr val="FFFFFF"/>
                </a:solidFill>
                <a:highlight>
                  <a:srgbClr val="FF0000"/>
                </a:highlight>
              </a:rPr>
              <a:t>Imagen de Giphy.com</a:t>
            </a:r>
            <a:endParaRPr>
              <a:solidFill>
                <a:srgbClr val="FFFFFF"/>
              </a:solidFill>
              <a:highlight>
                <a:srgbClr val="FF0000"/>
              </a:highlight>
            </a:endParaRPr>
          </a:p>
        </p:txBody>
      </p:sp>
      <p:sp>
        <p:nvSpPr>
          <p:cNvPr id="88" name="Google Shape;88;p18"/>
          <p:cNvSpPr txBox="1"/>
          <p:nvPr/>
        </p:nvSpPr>
        <p:spPr>
          <a:xfrm>
            <a:off x="0" y="0"/>
            <a:ext cx="7302900" cy="603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s" sz="2200">
                <a:solidFill>
                  <a:srgbClr val="136798"/>
                </a:solidFill>
              </a:rPr>
              <a:t>2</a:t>
            </a:r>
            <a:r>
              <a:rPr lang="es" sz="2200">
                <a:solidFill>
                  <a:srgbClr val="136798"/>
                </a:solidFill>
              </a:rPr>
              <a:t> - Conceptos básicos sobre seguridad</a:t>
            </a:r>
            <a:endParaRPr sz="2200">
              <a:solidFill>
                <a:srgbClr val="136798"/>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92" name="Shape 92"/>
        <p:cNvGrpSpPr/>
        <p:nvPr/>
      </p:nvGrpSpPr>
      <p:grpSpPr>
        <a:xfrm>
          <a:off x="0" y="0"/>
          <a:ext cx="0" cy="0"/>
          <a:chOff x="0" y="0"/>
          <a:chExt cx="0" cy="0"/>
        </a:xfrm>
      </p:grpSpPr>
      <p:sp>
        <p:nvSpPr>
          <p:cNvPr id="93" name="Google Shape;93;p19"/>
          <p:cNvSpPr txBox="1"/>
          <p:nvPr/>
        </p:nvSpPr>
        <p:spPr>
          <a:xfrm>
            <a:off x="1376600" y="3103625"/>
            <a:ext cx="7208400" cy="840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19"/>
          <p:cNvSpPr txBox="1"/>
          <p:nvPr>
            <p:ph idx="1" type="subTitle"/>
          </p:nvPr>
        </p:nvSpPr>
        <p:spPr>
          <a:xfrm>
            <a:off x="25" y="603300"/>
            <a:ext cx="9144000" cy="61917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None/>
            </a:pPr>
            <a:r>
              <a:rPr lang="es" sz="3000">
                <a:solidFill>
                  <a:srgbClr val="006699"/>
                </a:solidFill>
              </a:rPr>
              <a:t>La </a:t>
            </a:r>
            <a:r>
              <a:rPr lang="es" sz="3000">
                <a:solidFill>
                  <a:srgbClr val="C36900"/>
                </a:solidFill>
              </a:rPr>
              <a:t>seguridad informática</a:t>
            </a:r>
            <a:r>
              <a:rPr lang="es" sz="3000">
                <a:solidFill>
                  <a:srgbClr val="006699"/>
                </a:solidFill>
              </a:rPr>
              <a:t> es el ámbito de la informática cuya misión es proteger la infraestructura computacional y la información contenida en esta. </a:t>
            </a:r>
            <a:endParaRPr sz="3000">
              <a:solidFill>
                <a:srgbClr val="006699"/>
              </a:solidFill>
            </a:endParaRPr>
          </a:p>
          <a:p>
            <a:pPr indent="0" lvl="0" marL="0" rtl="0" algn="l">
              <a:lnSpc>
                <a:spcPct val="100000"/>
              </a:lnSpc>
              <a:spcBef>
                <a:spcPts val="0"/>
              </a:spcBef>
              <a:spcAft>
                <a:spcPts val="0"/>
              </a:spcAft>
              <a:buNone/>
            </a:pPr>
            <a:r>
              <a:t/>
            </a:r>
            <a:endParaRPr sz="3000">
              <a:solidFill>
                <a:srgbClr val="006699"/>
              </a:solidFill>
            </a:endParaRPr>
          </a:p>
          <a:p>
            <a:pPr indent="0" lvl="0" marL="0" rtl="0" algn="l">
              <a:lnSpc>
                <a:spcPct val="100000"/>
              </a:lnSpc>
              <a:spcBef>
                <a:spcPts val="0"/>
              </a:spcBef>
              <a:spcAft>
                <a:spcPts val="0"/>
              </a:spcAft>
              <a:buNone/>
            </a:pPr>
            <a:r>
              <a:rPr lang="es" sz="3000">
                <a:solidFill>
                  <a:srgbClr val="006699"/>
                </a:solidFill>
              </a:rPr>
              <a:t>La seguridad no pone el foco solamente en el software: el Hardware y las redes son igualmente importantes.</a:t>
            </a:r>
            <a:endParaRPr sz="3000">
              <a:solidFill>
                <a:srgbClr val="006699"/>
              </a:solidFill>
            </a:endParaRPr>
          </a:p>
        </p:txBody>
      </p:sp>
      <p:sp>
        <p:nvSpPr>
          <p:cNvPr id="95" name="Google Shape;95;p19"/>
          <p:cNvSpPr txBox="1"/>
          <p:nvPr/>
        </p:nvSpPr>
        <p:spPr>
          <a:xfrm>
            <a:off x="0" y="0"/>
            <a:ext cx="7302900" cy="603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s" sz="2200">
                <a:solidFill>
                  <a:srgbClr val="136798"/>
                </a:solidFill>
              </a:rPr>
              <a:t>2 - Conceptos básicos sobre seguridad</a:t>
            </a:r>
            <a:endParaRPr sz="2200">
              <a:solidFill>
                <a:srgbClr val="136798"/>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99" name="Shape 99"/>
        <p:cNvGrpSpPr/>
        <p:nvPr/>
      </p:nvGrpSpPr>
      <p:grpSpPr>
        <a:xfrm>
          <a:off x="0" y="0"/>
          <a:ext cx="0" cy="0"/>
          <a:chOff x="0" y="0"/>
          <a:chExt cx="0" cy="0"/>
        </a:xfrm>
      </p:grpSpPr>
      <p:sp>
        <p:nvSpPr>
          <p:cNvPr id="100" name="Google Shape;100;p20"/>
          <p:cNvSpPr txBox="1"/>
          <p:nvPr/>
        </p:nvSpPr>
        <p:spPr>
          <a:xfrm>
            <a:off x="1376600" y="3103625"/>
            <a:ext cx="7208400" cy="840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1" name="Google Shape;101;p20"/>
          <p:cNvSpPr txBox="1"/>
          <p:nvPr>
            <p:ph idx="1" type="subTitle"/>
          </p:nvPr>
        </p:nvSpPr>
        <p:spPr>
          <a:xfrm>
            <a:off x="25" y="603300"/>
            <a:ext cx="9144000" cy="61917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None/>
            </a:pPr>
            <a:r>
              <a:rPr lang="es" sz="3000">
                <a:solidFill>
                  <a:srgbClr val="006699"/>
                </a:solidFill>
              </a:rPr>
              <a:t>Algunos conceptos básicos sobre seguridad son:</a:t>
            </a:r>
            <a:endParaRPr sz="3000">
              <a:solidFill>
                <a:srgbClr val="006699"/>
              </a:solidFill>
            </a:endParaRPr>
          </a:p>
          <a:p>
            <a:pPr indent="0" lvl="0" marL="0" rtl="0" algn="l">
              <a:lnSpc>
                <a:spcPct val="100000"/>
              </a:lnSpc>
              <a:spcBef>
                <a:spcPts val="0"/>
              </a:spcBef>
              <a:spcAft>
                <a:spcPts val="0"/>
              </a:spcAft>
              <a:buNone/>
            </a:pPr>
            <a:r>
              <a:t/>
            </a:r>
            <a:endParaRPr sz="3000">
              <a:solidFill>
                <a:srgbClr val="006699"/>
              </a:solidFill>
            </a:endParaRPr>
          </a:p>
          <a:p>
            <a:pPr indent="-419100" lvl="0" marL="457200" rtl="0" algn="l">
              <a:lnSpc>
                <a:spcPct val="100000"/>
              </a:lnSpc>
              <a:spcBef>
                <a:spcPts val="0"/>
              </a:spcBef>
              <a:spcAft>
                <a:spcPts val="0"/>
              </a:spcAft>
              <a:buClr>
                <a:srgbClr val="006699"/>
              </a:buClr>
              <a:buSzPts val="3000"/>
              <a:buChar char="-"/>
            </a:pPr>
            <a:r>
              <a:rPr lang="es" sz="3000">
                <a:solidFill>
                  <a:srgbClr val="C36900"/>
                </a:solidFill>
              </a:rPr>
              <a:t>Disponibilidad</a:t>
            </a:r>
            <a:r>
              <a:rPr lang="es" sz="3000">
                <a:solidFill>
                  <a:srgbClr val="006699"/>
                </a:solidFill>
              </a:rPr>
              <a:t>: Relación entre el tiempo que una unidad funciona, y el tiempo total. El objetivo es tener 99,999…%, con cuantos más nueves mejor.</a:t>
            </a:r>
            <a:endParaRPr sz="3000">
              <a:solidFill>
                <a:srgbClr val="006699"/>
              </a:solidFill>
            </a:endParaRPr>
          </a:p>
          <a:p>
            <a:pPr indent="0" lvl="0" marL="457200" rtl="0" algn="l">
              <a:lnSpc>
                <a:spcPct val="100000"/>
              </a:lnSpc>
              <a:spcBef>
                <a:spcPts val="0"/>
              </a:spcBef>
              <a:spcAft>
                <a:spcPts val="0"/>
              </a:spcAft>
              <a:buNone/>
            </a:pPr>
            <a:r>
              <a:t/>
            </a:r>
            <a:endParaRPr sz="3000">
              <a:solidFill>
                <a:srgbClr val="006699"/>
              </a:solidFill>
            </a:endParaRPr>
          </a:p>
          <a:p>
            <a:pPr indent="-419100" lvl="0" marL="457200" rtl="0" algn="l">
              <a:lnSpc>
                <a:spcPct val="100000"/>
              </a:lnSpc>
              <a:spcBef>
                <a:spcPts val="0"/>
              </a:spcBef>
              <a:spcAft>
                <a:spcPts val="0"/>
              </a:spcAft>
              <a:buClr>
                <a:srgbClr val="006699"/>
              </a:buClr>
              <a:buSzPts val="3000"/>
              <a:buChar char="-"/>
            </a:pPr>
            <a:r>
              <a:rPr lang="es" sz="3000">
                <a:solidFill>
                  <a:srgbClr val="C36900"/>
                </a:solidFill>
              </a:rPr>
              <a:t>Fiabilidad</a:t>
            </a:r>
            <a:r>
              <a:rPr lang="es" sz="3000">
                <a:solidFill>
                  <a:srgbClr val="006699"/>
                </a:solidFill>
              </a:rPr>
              <a:t>: Define el tiempo que un sistema está funcionando sin fallos.</a:t>
            </a:r>
            <a:br>
              <a:rPr lang="es" sz="3000">
                <a:solidFill>
                  <a:srgbClr val="006699"/>
                </a:solidFill>
              </a:rPr>
            </a:br>
            <a:endParaRPr sz="3000">
              <a:solidFill>
                <a:srgbClr val="006699"/>
              </a:solidFill>
            </a:endParaRPr>
          </a:p>
          <a:p>
            <a:pPr indent="-419100" lvl="0" marL="457200" rtl="0" algn="l">
              <a:lnSpc>
                <a:spcPct val="100000"/>
              </a:lnSpc>
              <a:spcBef>
                <a:spcPts val="0"/>
              </a:spcBef>
              <a:spcAft>
                <a:spcPts val="0"/>
              </a:spcAft>
              <a:buClr>
                <a:srgbClr val="006699"/>
              </a:buClr>
              <a:buSzPts val="3000"/>
              <a:buChar char="-"/>
            </a:pPr>
            <a:r>
              <a:rPr lang="es" sz="3000">
                <a:solidFill>
                  <a:srgbClr val="C36900"/>
                </a:solidFill>
              </a:rPr>
              <a:t>Integridad</a:t>
            </a:r>
            <a:r>
              <a:rPr lang="es" sz="3000">
                <a:solidFill>
                  <a:srgbClr val="006699"/>
                </a:solidFill>
              </a:rPr>
              <a:t>: Capacidad de garantizar que los datos de una BD no son modificados sin autorización, y que nuestros datos son válidos y consistentes.</a:t>
            </a:r>
            <a:br>
              <a:rPr lang="es" sz="3000">
                <a:solidFill>
                  <a:srgbClr val="006699"/>
                </a:solidFill>
              </a:rPr>
            </a:br>
            <a:endParaRPr sz="3000">
              <a:solidFill>
                <a:srgbClr val="006699"/>
              </a:solidFill>
            </a:endParaRPr>
          </a:p>
        </p:txBody>
      </p:sp>
      <p:sp>
        <p:nvSpPr>
          <p:cNvPr id="102" name="Google Shape;102;p20"/>
          <p:cNvSpPr txBox="1"/>
          <p:nvPr/>
        </p:nvSpPr>
        <p:spPr>
          <a:xfrm>
            <a:off x="0" y="0"/>
            <a:ext cx="7302900" cy="603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s" sz="2200">
                <a:solidFill>
                  <a:srgbClr val="136798"/>
                </a:solidFill>
              </a:rPr>
              <a:t>2 - Conceptos básicos sobre seguridad</a:t>
            </a:r>
            <a:endParaRPr sz="2200">
              <a:solidFill>
                <a:srgbClr val="136798"/>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06" name="Shape 106"/>
        <p:cNvGrpSpPr/>
        <p:nvPr/>
      </p:nvGrpSpPr>
      <p:grpSpPr>
        <a:xfrm>
          <a:off x="0" y="0"/>
          <a:ext cx="0" cy="0"/>
          <a:chOff x="0" y="0"/>
          <a:chExt cx="0" cy="0"/>
        </a:xfrm>
      </p:grpSpPr>
      <p:sp>
        <p:nvSpPr>
          <p:cNvPr id="107" name="Google Shape;107;p21"/>
          <p:cNvSpPr txBox="1"/>
          <p:nvPr/>
        </p:nvSpPr>
        <p:spPr>
          <a:xfrm>
            <a:off x="1376600" y="3103625"/>
            <a:ext cx="7208400" cy="840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21"/>
          <p:cNvSpPr txBox="1"/>
          <p:nvPr>
            <p:ph idx="1" type="subTitle"/>
          </p:nvPr>
        </p:nvSpPr>
        <p:spPr>
          <a:xfrm>
            <a:off x="25" y="603300"/>
            <a:ext cx="9144000" cy="6191700"/>
          </a:xfrm>
          <a:prstGeom prst="rect">
            <a:avLst/>
          </a:prstGeom>
          <a:noFill/>
          <a:ln>
            <a:noFill/>
          </a:ln>
        </p:spPr>
        <p:txBody>
          <a:bodyPr anchorCtr="0" anchor="t" bIns="45700" lIns="91425" spcFirstLastPara="1" rIns="91425" wrap="square" tIns="45700">
            <a:noAutofit/>
          </a:bodyPr>
          <a:lstStyle/>
          <a:p>
            <a:pPr indent="-419100" lvl="0" marL="457200" rtl="0" algn="l">
              <a:spcBef>
                <a:spcPts val="0"/>
              </a:spcBef>
              <a:spcAft>
                <a:spcPts val="0"/>
              </a:spcAft>
              <a:buClr>
                <a:srgbClr val="006699"/>
              </a:buClr>
              <a:buSzPts val="3000"/>
              <a:buChar char="-"/>
            </a:pPr>
            <a:r>
              <a:rPr lang="es" sz="3000">
                <a:solidFill>
                  <a:srgbClr val="C36900"/>
                </a:solidFill>
              </a:rPr>
              <a:t>Confidencialidad</a:t>
            </a:r>
            <a:r>
              <a:rPr lang="es" sz="3000">
                <a:solidFill>
                  <a:srgbClr val="006699"/>
                </a:solidFill>
              </a:rPr>
              <a:t>: Capacidad de garantizar que la información que transmite un sistema solo es accesible por los destinatarios autorizados. Y que si la información cae en manos ajenas, no puede ser leída correctamente.</a:t>
            </a:r>
            <a:br>
              <a:rPr lang="es" sz="3000">
                <a:solidFill>
                  <a:srgbClr val="006699"/>
                </a:solidFill>
              </a:rPr>
            </a:br>
            <a:endParaRPr sz="3000">
              <a:solidFill>
                <a:srgbClr val="006699"/>
              </a:solidFill>
            </a:endParaRPr>
          </a:p>
          <a:p>
            <a:pPr indent="-419100" lvl="0" marL="457200" rtl="0" algn="l">
              <a:spcBef>
                <a:spcPts val="0"/>
              </a:spcBef>
              <a:spcAft>
                <a:spcPts val="0"/>
              </a:spcAft>
              <a:buClr>
                <a:srgbClr val="006699"/>
              </a:buClr>
              <a:buSzPts val="3000"/>
              <a:buChar char="-"/>
            </a:pPr>
            <a:r>
              <a:rPr lang="es" sz="3000">
                <a:solidFill>
                  <a:srgbClr val="C36900"/>
                </a:solidFill>
              </a:rPr>
              <a:t>No repudio</a:t>
            </a:r>
            <a:r>
              <a:rPr lang="es" sz="3000">
                <a:solidFill>
                  <a:srgbClr val="006699"/>
                </a:solidFill>
              </a:rPr>
              <a:t>: Capacidad de garantizar que quien envió la información fué el emisor autorizado, y quien la recibió fué el destinatario autorizado.</a:t>
            </a:r>
            <a:br>
              <a:rPr lang="es" sz="3000">
                <a:solidFill>
                  <a:srgbClr val="006699"/>
                </a:solidFill>
              </a:rPr>
            </a:br>
            <a:endParaRPr sz="3000">
              <a:solidFill>
                <a:srgbClr val="006699"/>
              </a:solidFill>
            </a:endParaRPr>
          </a:p>
          <a:p>
            <a:pPr indent="-419100" lvl="0" marL="457200" rtl="0" algn="l">
              <a:spcBef>
                <a:spcPts val="0"/>
              </a:spcBef>
              <a:spcAft>
                <a:spcPts val="0"/>
              </a:spcAft>
              <a:buClr>
                <a:srgbClr val="006699"/>
              </a:buClr>
              <a:buSzPts val="3000"/>
              <a:buChar char="-"/>
            </a:pPr>
            <a:r>
              <a:rPr lang="es" sz="3000">
                <a:solidFill>
                  <a:srgbClr val="C36900"/>
                </a:solidFill>
              </a:rPr>
              <a:t>Autenticación</a:t>
            </a:r>
            <a:r>
              <a:rPr lang="es" sz="3000">
                <a:solidFill>
                  <a:srgbClr val="006699"/>
                </a:solidFill>
              </a:rPr>
              <a:t>: Capacidad de identificar de forma unívoca quien crea, borra, modifica o accede a la información.</a:t>
            </a:r>
            <a:endParaRPr sz="3000">
              <a:solidFill>
                <a:srgbClr val="006699"/>
              </a:solidFill>
            </a:endParaRPr>
          </a:p>
        </p:txBody>
      </p:sp>
      <p:sp>
        <p:nvSpPr>
          <p:cNvPr id="109" name="Google Shape;109;p21"/>
          <p:cNvSpPr txBox="1"/>
          <p:nvPr/>
        </p:nvSpPr>
        <p:spPr>
          <a:xfrm>
            <a:off x="0" y="0"/>
            <a:ext cx="7302900" cy="603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s" sz="2200">
                <a:solidFill>
                  <a:srgbClr val="136798"/>
                </a:solidFill>
              </a:rPr>
              <a:t>2 - Conceptos básicos sobre seguridad</a:t>
            </a:r>
            <a:endParaRPr sz="2200">
              <a:solidFill>
                <a:srgbClr val="136798"/>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13" name="Shape 113"/>
        <p:cNvGrpSpPr/>
        <p:nvPr/>
      </p:nvGrpSpPr>
      <p:grpSpPr>
        <a:xfrm>
          <a:off x="0" y="0"/>
          <a:ext cx="0" cy="0"/>
          <a:chOff x="0" y="0"/>
          <a:chExt cx="0" cy="0"/>
        </a:xfrm>
      </p:grpSpPr>
      <p:sp>
        <p:nvSpPr>
          <p:cNvPr id="114" name="Google Shape;114;p22"/>
          <p:cNvSpPr txBox="1"/>
          <p:nvPr/>
        </p:nvSpPr>
        <p:spPr>
          <a:xfrm>
            <a:off x="1376600" y="3103625"/>
            <a:ext cx="7208400" cy="840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22"/>
          <p:cNvSpPr txBox="1"/>
          <p:nvPr>
            <p:ph idx="1" type="subTitle"/>
          </p:nvPr>
        </p:nvSpPr>
        <p:spPr>
          <a:xfrm>
            <a:off x="25" y="603300"/>
            <a:ext cx="9144000" cy="6191700"/>
          </a:xfrm>
          <a:prstGeom prst="rect">
            <a:avLst/>
          </a:prstGeom>
          <a:noFill/>
          <a:ln>
            <a:noFill/>
          </a:ln>
        </p:spPr>
        <p:txBody>
          <a:bodyPr anchorCtr="0" anchor="t" bIns="45700" lIns="91425" spcFirstLastPara="1" rIns="91425" wrap="square" tIns="45700">
            <a:noAutofit/>
          </a:bodyPr>
          <a:lstStyle/>
          <a:p>
            <a:pPr indent="-412750" lvl="0" marL="457200" rtl="0" algn="l">
              <a:spcBef>
                <a:spcPts val="0"/>
              </a:spcBef>
              <a:spcAft>
                <a:spcPts val="0"/>
              </a:spcAft>
              <a:buClr>
                <a:srgbClr val="006699"/>
              </a:buClr>
              <a:buSzPts val="2900"/>
              <a:buChar char="-"/>
            </a:pPr>
            <a:r>
              <a:rPr lang="es" sz="2900">
                <a:solidFill>
                  <a:srgbClr val="C36900"/>
                </a:solidFill>
              </a:rPr>
              <a:t>Vulnerabilidad</a:t>
            </a:r>
            <a:r>
              <a:rPr lang="es" sz="2900">
                <a:solidFill>
                  <a:srgbClr val="006699"/>
                </a:solidFill>
              </a:rPr>
              <a:t>: Punto débil, capacidad de fallar en cualquiera de los puntos anteriores de forma inesperada. Ya sea en ámbito software o hardware.</a:t>
            </a:r>
            <a:endParaRPr sz="2900">
              <a:solidFill>
                <a:srgbClr val="006699"/>
              </a:solidFill>
            </a:endParaRPr>
          </a:p>
          <a:p>
            <a:pPr indent="0" lvl="0" marL="0" rtl="0" algn="l">
              <a:spcBef>
                <a:spcPts val="0"/>
              </a:spcBef>
              <a:spcAft>
                <a:spcPts val="0"/>
              </a:spcAft>
              <a:buNone/>
            </a:pPr>
            <a:r>
              <a:t/>
            </a:r>
            <a:endParaRPr sz="2900">
              <a:solidFill>
                <a:srgbClr val="006699"/>
              </a:solidFill>
            </a:endParaRPr>
          </a:p>
          <a:p>
            <a:pPr indent="0" lvl="0" marL="0" rtl="0" algn="l">
              <a:spcBef>
                <a:spcPts val="0"/>
              </a:spcBef>
              <a:spcAft>
                <a:spcPts val="0"/>
              </a:spcAft>
              <a:buNone/>
            </a:pPr>
            <a:r>
              <a:t/>
            </a:r>
            <a:endParaRPr sz="2900">
              <a:solidFill>
                <a:srgbClr val="006699"/>
              </a:solidFill>
            </a:endParaRPr>
          </a:p>
          <a:p>
            <a:pPr indent="0" lvl="0" marL="0" rtl="0" algn="l">
              <a:spcBef>
                <a:spcPts val="0"/>
              </a:spcBef>
              <a:spcAft>
                <a:spcPts val="0"/>
              </a:spcAft>
              <a:buNone/>
            </a:pPr>
            <a:r>
              <a:rPr lang="es" sz="2900">
                <a:solidFill>
                  <a:srgbClr val="C36900"/>
                </a:solidFill>
              </a:rPr>
              <a:t>El sistema informático perfectamente seguro, sin ninguna vulnerabilidad no existe</a:t>
            </a:r>
            <a:r>
              <a:rPr lang="es" sz="2900">
                <a:solidFill>
                  <a:srgbClr val="006699"/>
                </a:solidFill>
              </a:rPr>
              <a:t>. Al menos, está por inventar. </a:t>
            </a:r>
            <a:endParaRPr sz="2900">
              <a:solidFill>
                <a:srgbClr val="006699"/>
              </a:solidFill>
            </a:endParaRPr>
          </a:p>
          <a:p>
            <a:pPr indent="0" lvl="0" marL="0" rtl="0" algn="l">
              <a:spcBef>
                <a:spcPts val="0"/>
              </a:spcBef>
              <a:spcAft>
                <a:spcPts val="0"/>
              </a:spcAft>
              <a:buNone/>
            </a:pPr>
            <a:r>
              <a:t/>
            </a:r>
            <a:endParaRPr sz="2900">
              <a:solidFill>
                <a:srgbClr val="006699"/>
              </a:solidFill>
            </a:endParaRPr>
          </a:p>
          <a:p>
            <a:pPr indent="0" lvl="0" marL="0" rtl="0" algn="l">
              <a:spcBef>
                <a:spcPts val="0"/>
              </a:spcBef>
              <a:spcAft>
                <a:spcPts val="0"/>
              </a:spcAft>
              <a:buNone/>
            </a:pPr>
            <a:r>
              <a:rPr lang="es" sz="2900">
                <a:solidFill>
                  <a:srgbClr val="006699"/>
                </a:solidFill>
              </a:rPr>
              <a:t>Pero consideramos un </a:t>
            </a:r>
            <a:r>
              <a:rPr lang="es" sz="2900">
                <a:solidFill>
                  <a:srgbClr val="C36900"/>
                </a:solidFill>
              </a:rPr>
              <a:t>sistema seguro</a:t>
            </a:r>
            <a:r>
              <a:rPr lang="es" sz="2900">
                <a:solidFill>
                  <a:srgbClr val="006699"/>
                </a:solidFill>
              </a:rPr>
              <a:t> cuando tiene niveles suficientemente altos de Disponibilidad, fiabilidad, integridad, confidencialidad, no repudio y autenticación. Y que además no tiene vulnerabilidades conocidas.</a:t>
            </a:r>
            <a:endParaRPr sz="2900">
              <a:solidFill>
                <a:srgbClr val="006699"/>
              </a:solidFill>
            </a:endParaRPr>
          </a:p>
        </p:txBody>
      </p:sp>
      <p:sp>
        <p:nvSpPr>
          <p:cNvPr id="116" name="Google Shape;116;p22"/>
          <p:cNvSpPr txBox="1"/>
          <p:nvPr/>
        </p:nvSpPr>
        <p:spPr>
          <a:xfrm>
            <a:off x="0" y="0"/>
            <a:ext cx="7302900" cy="603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s" sz="2200">
                <a:solidFill>
                  <a:srgbClr val="136798"/>
                </a:solidFill>
              </a:rPr>
              <a:t>2 - Conceptos básicos sobre seguridad</a:t>
            </a:r>
            <a:endParaRPr sz="2200">
              <a:solidFill>
                <a:srgbClr val="136798"/>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20" name="Shape 120"/>
        <p:cNvGrpSpPr/>
        <p:nvPr/>
      </p:nvGrpSpPr>
      <p:grpSpPr>
        <a:xfrm>
          <a:off x="0" y="0"/>
          <a:ext cx="0" cy="0"/>
          <a:chOff x="0" y="0"/>
          <a:chExt cx="0" cy="0"/>
        </a:xfrm>
      </p:grpSpPr>
      <p:pic>
        <p:nvPicPr>
          <p:cNvPr id="121" name="Google Shape;121;p23"/>
          <p:cNvPicPr preferRelativeResize="0"/>
          <p:nvPr/>
        </p:nvPicPr>
        <p:blipFill rotWithShape="1">
          <a:blip r:embed="rId4">
            <a:alphaModFix/>
          </a:blip>
          <a:srcRect b="0" l="8780" r="8772" t="0"/>
          <a:stretch/>
        </p:blipFill>
        <p:spPr>
          <a:xfrm>
            <a:off x="0" y="603300"/>
            <a:ext cx="9144000" cy="6238589"/>
          </a:xfrm>
          <a:prstGeom prst="rect">
            <a:avLst/>
          </a:prstGeom>
          <a:noFill/>
          <a:ln>
            <a:noFill/>
          </a:ln>
        </p:spPr>
      </p:pic>
      <p:sp>
        <p:nvSpPr>
          <p:cNvPr id="122" name="Google Shape;122;p23"/>
          <p:cNvSpPr txBox="1"/>
          <p:nvPr/>
        </p:nvSpPr>
        <p:spPr>
          <a:xfrm>
            <a:off x="7302900" y="6565500"/>
            <a:ext cx="1944600" cy="292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a:solidFill>
                  <a:srgbClr val="FFFFFF"/>
                </a:solidFill>
                <a:highlight>
                  <a:srgbClr val="FF0000"/>
                </a:highlight>
              </a:rPr>
              <a:t>Imagen de Giphy.com</a:t>
            </a:r>
            <a:endParaRPr>
              <a:solidFill>
                <a:srgbClr val="FFFFFF"/>
              </a:solidFill>
              <a:highlight>
                <a:srgbClr val="FF0000"/>
              </a:highlight>
            </a:endParaRPr>
          </a:p>
        </p:txBody>
      </p:sp>
      <p:sp>
        <p:nvSpPr>
          <p:cNvPr id="123" name="Google Shape;123;p23"/>
          <p:cNvSpPr txBox="1"/>
          <p:nvPr/>
        </p:nvSpPr>
        <p:spPr>
          <a:xfrm>
            <a:off x="0" y="0"/>
            <a:ext cx="7302900" cy="603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s" sz="2200">
                <a:solidFill>
                  <a:srgbClr val="136798"/>
                </a:solidFill>
              </a:rPr>
              <a:t>3 - ¿Qué debo proteger?</a:t>
            </a:r>
            <a:endParaRPr sz="2200">
              <a:solidFill>
                <a:srgbClr val="136798"/>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27" name="Shape 127"/>
        <p:cNvGrpSpPr/>
        <p:nvPr/>
      </p:nvGrpSpPr>
      <p:grpSpPr>
        <a:xfrm>
          <a:off x="0" y="0"/>
          <a:ext cx="0" cy="0"/>
          <a:chOff x="0" y="0"/>
          <a:chExt cx="0" cy="0"/>
        </a:xfrm>
      </p:grpSpPr>
      <p:sp>
        <p:nvSpPr>
          <p:cNvPr id="128" name="Google Shape;128;p24"/>
          <p:cNvSpPr txBox="1"/>
          <p:nvPr/>
        </p:nvSpPr>
        <p:spPr>
          <a:xfrm>
            <a:off x="1376600" y="3103625"/>
            <a:ext cx="7208400" cy="840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24"/>
          <p:cNvSpPr txBox="1"/>
          <p:nvPr>
            <p:ph idx="1" type="subTitle"/>
          </p:nvPr>
        </p:nvSpPr>
        <p:spPr>
          <a:xfrm>
            <a:off x="25" y="603300"/>
            <a:ext cx="9144000" cy="61917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None/>
            </a:pPr>
            <a:r>
              <a:rPr lang="es" sz="3000">
                <a:solidFill>
                  <a:srgbClr val="006699"/>
                </a:solidFill>
              </a:rPr>
              <a:t>Para que un sistema se pueda considerar seguro, hay que tener en cuenta todas las partes del mismo:</a:t>
            </a:r>
            <a:endParaRPr sz="3000">
              <a:solidFill>
                <a:srgbClr val="006699"/>
              </a:solidFill>
            </a:endParaRPr>
          </a:p>
          <a:p>
            <a:pPr indent="0" lvl="0" marL="0" rtl="0" algn="l">
              <a:lnSpc>
                <a:spcPct val="100000"/>
              </a:lnSpc>
              <a:spcBef>
                <a:spcPts val="0"/>
              </a:spcBef>
              <a:spcAft>
                <a:spcPts val="0"/>
              </a:spcAft>
              <a:buNone/>
            </a:pPr>
            <a:r>
              <a:t/>
            </a:r>
            <a:endParaRPr sz="3000">
              <a:solidFill>
                <a:srgbClr val="006699"/>
              </a:solidFill>
            </a:endParaRPr>
          </a:p>
          <a:p>
            <a:pPr indent="-419100" lvl="0" marL="457200" rtl="0" algn="l">
              <a:lnSpc>
                <a:spcPct val="100000"/>
              </a:lnSpc>
              <a:spcBef>
                <a:spcPts val="0"/>
              </a:spcBef>
              <a:spcAft>
                <a:spcPts val="0"/>
              </a:spcAft>
              <a:buClr>
                <a:srgbClr val="006699"/>
              </a:buClr>
              <a:buSzPts val="3000"/>
              <a:buChar char="-"/>
            </a:pPr>
            <a:r>
              <a:rPr lang="es" sz="3000">
                <a:solidFill>
                  <a:srgbClr val="006699"/>
                </a:solidFill>
              </a:rPr>
              <a:t>Red eléctrica</a:t>
            </a:r>
            <a:endParaRPr sz="3000">
              <a:solidFill>
                <a:srgbClr val="006699"/>
              </a:solidFill>
            </a:endParaRPr>
          </a:p>
          <a:p>
            <a:pPr indent="-419100" lvl="0" marL="457200" rtl="0" algn="l">
              <a:lnSpc>
                <a:spcPct val="100000"/>
              </a:lnSpc>
              <a:spcBef>
                <a:spcPts val="0"/>
              </a:spcBef>
              <a:spcAft>
                <a:spcPts val="0"/>
              </a:spcAft>
              <a:buClr>
                <a:srgbClr val="006699"/>
              </a:buClr>
              <a:buSzPts val="3000"/>
              <a:buChar char="-"/>
            </a:pPr>
            <a:r>
              <a:rPr lang="es" sz="3000">
                <a:solidFill>
                  <a:srgbClr val="006699"/>
                </a:solidFill>
              </a:rPr>
              <a:t>Hardware del equipo</a:t>
            </a:r>
            <a:endParaRPr sz="3000">
              <a:solidFill>
                <a:srgbClr val="006699"/>
              </a:solidFill>
            </a:endParaRPr>
          </a:p>
          <a:p>
            <a:pPr indent="-419100" lvl="0" marL="457200" rtl="0" algn="l">
              <a:lnSpc>
                <a:spcPct val="100000"/>
              </a:lnSpc>
              <a:spcBef>
                <a:spcPts val="0"/>
              </a:spcBef>
              <a:spcAft>
                <a:spcPts val="0"/>
              </a:spcAft>
              <a:buClr>
                <a:srgbClr val="006699"/>
              </a:buClr>
              <a:buSzPts val="3000"/>
              <a:buChar char="-"/>
            </a:pPr>
            <a:r>
              <a:rPr lang="es" sz="3000">
                <a:solidFill>
                  <a:srgbClr val="006699"/>
                </a:solidFill>
              </a:rPr>
              <a:t>Arquitectura de red</a:t>
            </a:r>
            <a:endParaRPr sz="3000">
              <a:solidFill>
                <a:srgbClr val="006699"/>
              </a:solidFill>
            </a:endParaRPr>
          </a:p>
          <a:p>
            <a:pPr indent="-419100" lvl="0" marL="457200" rtl="0" algn="l">
              <a:lnSpc>
                <a:spcPct val="100000"/>
              </a:lnSpc>
              <a:spcBef>
                <a:spcPts val="0"/>
              </a:spcBef>
              <a:spcAft>
                <a:spcPts val="0"/>
              </a:spcAft>
              <a:buClr>
                <a:srgbClr val="006699"/>
              </a:buClr>
              <a:buSzPts val="3000"/>
              <a:buChar char="-"/>
            </a:pPr>
            <a:r>
              <a:rPr lang="es" sz="3000">
                <a:solidFill>
                  <a:srgbClr val="006699"/>
                </a:solidFill>
              </a:rPr>
              <a:t>Sistema operativo</a:t>
            </a:r>
            <a:endParaRPr sz="3000">
              <a:solidFill>
                <a:srgbClr val="006699"/>
              </a:solidFill>
            </a:endParaRPr>
          </a:p>
          <a:p>
            <a:pPr indent="-419100" lvl="0" marL="457200" rtl="0" algn="l">
              <a:lnSpc>
                <a:spcPct val="100000"/>
              </a:lnSpc>
              <a:spcBef>
                <a:spcPts val="0"/>
              </a:spcBef>
              <a:spcAft>
                <a:spcPts val="0"/>
              </a:spcAft>
              <a:buClr>
                <a:srgbClr val="006699"/>
              </a:buClr>
              <a:buSzPts val="3000"/>
              <a:buChar char="-"/>
            </a:pPr>
            <a:r>
              <a:rPr lang="es" sz="3000">
                <a:solidFill>
                  <a:srgbClr val="006699"/>
                </a:solidFill>
              </a:rPr>
              <a:t>Nuestra Aplicación  </a:t>
            </a:r>
            <a:endParaRPr sz="3000">
              <a:solidFill>
                <a:srgbClr val="006699"/>
              </a:solidFill>
            </a:endParaRPr>
          </a:p>
          <a:p>
            <a:pPr indent="-419100" lvl="0" marL="457200" rtl="0" algn="l">
              <a:lnSpc>
                <a:spcPct val="100000"/>
              </a:lnSpc>
              <a:spcBef>
                <a:spcPts val="0"/>
              </a:spcBef>
              <a:spcAft>
                <a:spcPts val="0"/>
              </a:spcAft>
              <a:buClr>
                <a:srgbClr val="006699"/>
              </a:buClr>
              <a:buSzPts val="3000"/>
              <a:buChar char="-"/>
            </a:pPr>
            <a:r>
              <a:rPr lang="es" sz="3000">
                <a:solidFill>
                  <a:srgbClr val="006699"/>
                </a:solidFill>
              </a:rPr>
              <a:t>El almacenamiento de nuestros datos</a:t>
            </a:r>
            <a:endParaRPr sz="3000">
              <a:solidFill>
                <a:srgbClr val="006699"/>
              </a:solidFill>
            </a:endParaRPr>
          </a:p>
          <a:p>
            <a:pPr indent="-419100" lvl="0" marL="457200" rtl="0" algn="l">
              <a:lnSpc>
                <a:spcPct val="100000"/>
              </a:lnSpc>
              <a:spcBef>
                <a:spcPts val="0"/>
              </a:spcBef>
              <a:spcAft>
                <a:spcPts val="0"/>
              </a:spcAft>
              <a:buClr>
                <a:srgbClr val="006699"/>
              </a:buClr>
              <a:buSzPts val="3000"/>
              <a:buChar char="-"/>
            </a:pPr>
            <a:r>
              <a:rPr lang="es" sz="3000">
                <a:solidFill>
                  <a:srgbClr val="006699"/>
                </a:solidFill>
              </a:rPr>
              <a:t>Usuarios críticos del sistema</a:t>
            </a:r>
            <a:endParaRPr sz="3000">
              <a:solidFill>
                <a:srgbClr val="006699"/>
              </a:solidFill>
            </a:endParaRPr>
          </a:p>
          <a:p>
            <a:pPr indent="0" lvl="0" marL="0" rtl="0" algn="l">
              <a:lnSpc>
                <a:spcPct val="100000"/>
              </a:lnSpc>
              <a:spcBef>
                <a:spcPts val="0"/>
              </a:spcBef>
              <a:spcAft>
                <a:spcPts val="0"/>
              </a:spcAft>
              <a:buNone/>
            </a:pPr>
            <a:r>
              <a:t/>
            </a:r>
            <a:endParaRPr sz="3000">
              <a:solidFill>
                <a:srgbClr val="006699"/>
              </a:solidFill>
            </a:endParaRPr>
          </a:p>
          <a:p>
            <a:pPr indent="0" lvl="0" marL="0" rtl="0" algn="l">
              <a:lnSpc>
                <a:spcPct val="100000"/>
              </a:lnSpc>
              <a:spcBef>
                <a:spcPts val="0"/>
              </a:spcBef>
              <a:spcAft>
                <a:spcPts val="0"/>
              </a:spcAft>
              <a:buNone/>
            </a:pPr>
            <a:r>
              <a:t/>
            </a:r>
            <a:endParaRPr sz="3000">
              <a:solidFill>
                <a:srgbClr val="006699"/>
              </a:solidFill>
            </a:endParaRPr>
          </a:p>
        </p:txBody>
      </p:sp>
      <p:sp>
        <p:nvSpPr>
          <p:cNvPr id="130" name="Google Shape;130;p24"/>
          <p:cNvSpPr txBox="1"/>
          <p:nvPr/>
        </p:nvSpPr>
        <p:spPr>
          <a:xfrm>
            <a:off x="0" y="0"/>
            <a:ext cx="7302900" cy="603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s" sz="2200">
                <a:solidFill>
                  <a:srgbClr val="136798"/>
                </a:solidFill>
              </a:rPr>
              <a:t>3 - ¿Qué debo proteger?</a:t>
            </a:r>
            <a:endParaRPr sz="2200">
              <a:solidFill>
                <a:srgbClr val="136798"/>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34" name="Shape 134"/>
        <p:cNvGrpSpPr/>
        <p:nvPr/>
      </p:nvGrpSpPr>
      <p:grpSpPr>
        <a:xfrm>
          <a:off x="0" y="0"/>
          <a:ext cx="0" cy="0"/>
          <a:chOff x="0" y="0"/>
          <a:chExt cx="0" cy="0"/>
        </a:xfrm>
      </p:grpSpPr>
      <p:sp>
        <p:nvSpPr>
          <p:cNvPr id="135" name="Google Shape;135;p25"/>
          <p:cNvSpPr txBox="1"/>
          <p:nvPr/>
        </p:nvSpPr>
        <p:spPr>
          <a:xfrm>
            <a:off x="1376600" y="3103625"/>
            <a:ext cx="7208400" cy="840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25"/>
          <p:cNvSpPr txBox="1"/>
          <p:nvPr>
            <p:ph idx="1" type="subTitle"/>
          </p:nvPr>
        </p:nvSpPr>
        <p:spPr>
          <a:xfrm>
            <a:off x="25" y="603300"/>
            <a:ext cx="9144000" cy="61917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s" sz="3000">
                <a:solidFill>
                  <a:srgbClr val="006699"/>
                </a:solidFill>
              </a:rPr>
              <a:t>Además, es buena idea incluir aquí las redes sociales y los lugares donde pueden calificar a tu empresa en línea. </a:t>
            </a:r>
            <a:endParaRPr sz="3000">
              <a:solidFill>
                <a:srgbClr val="006699"/>
              </a:solidFill>
            </a:endParaRPr>
          </a:p>
          <a:p>
            <a:pPr indent="0" lvl="0" marL="0" rtl="0" algn="l">
              <a:spcBef>
                <a:spcPts val="0"/>
              </a:spcBef>
              <a:spcAft>
                <a:spcPts val="0"/>
              </a:spcAft>
              <a:buNone/>
            </a:pPr>
            <a:r>
              <a:t/>
            </a:r>
            <a:endParaRPr sz="3000">
              <a:solidFill>
                <a:srgbClr val="006699"/>
              </a:solidFill>
            </a:endParaRPr>
          </a:p>
          <a:p>
            <a:pPr indent="0" lvl="0" marL="0" rtl="0" algn="l">
              <a:spcBef>
                <a:spcPts val="0"/>
              </a:spcBef>
              <a:spcAft>
                <a:spcPts val="0"/>
              </a:spcAft>
              <a:buNone/>
            </a:pPr>
            <a:r>
              <a:rPr lang="es" sz="3000">
                <a:solidFill>
                  <a:srgbClr val="006699"/>
                </a:solidFill>
              </a:rPr>
              <a:t>No son un lugar donde realizar un ataque informático tradicional, pero si atacan tu credibilidad lo suficiente, pueden dar al traste con tu empresa, y con el sistema informático de forma indirecta, si no es rentable mantenerlo por falta de clientes.</a:t>
            </a:r>
            <a:endParaRPr sz="3000">
              <a:solidFill>
                <a:srgbClr val="006699"/>
              </a:solidFill>
            </a:endParaRPr>
          </a:p>
          <a:p>
            <a:pPr indent="0" lvl="0" marL="0" rtl="0" algn="l">
              <a:lnSpc>
                <a:spcPct val="100000"/>
              </a:lnSpc>
              <a:spcBef>
                <a:spcPts val="0"/>
              </a:spcBef>
              <a:spcAft>
                <a:spcPts val="0"/>
              </a:spcAft>
              <a:buNone/>
            </a:pPr>
            <a:r>
              <a:t/>
            </a:r>
            <a:endParaRPr sz="3000">
              <a:solidFill>
                <a:srgbClr val="006699"/>
              </a:solidFill>
            </a:endParaRPr>
          </a:p>
          <a:p>
            <a:pPr indent="0" lvl="0" marL="0" rtl="0" algn="l">
              <a:lnSpc>
                <a:spcPct val="100000"/>
              </a:lnSpc>
              <a:spcBef>
                <a:spcPts val="0"/>
              </a:spcBef>
              <a:spcAft>
                <a:spcPts val="0"/>
              </a:spcAft>
              <a:buNone/>
            </a:pPr>
            <a:r>
              <a:t/>
            </a:r>
            <a:endParaRPr sz="3000">
              <a:solidFill>
                <a:srgbClr val="006699"/>
              </a:solidFill>
            </a:endParaRPr>
          </a:p>
        </p:txBody>
      </p:sp>
      <p:sp>
        <p:nvSpPr>
          <p:cNvPr id="137" name="Google Shape;137;p25"/>
          <p:cNvSpPr txBox="1"/>
          <p:nvPr/>
        </p:nvSpPr>
        <p:spPr>
          <a:xfrm>
            <a:off x="0" y="0"/>
            <a:ext cx="7302900" cy="603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s" sz="2200">
                <a:solidFill>
                  <a:srgbClr val="136798"/>
                </a:solidFill>
              </a:rPr>
              <a:t>3 - ¿Qué debo proteger?</a:t>
            </a:r>
            <a:endParaRPr sz="2200">
              <a:solidFill>
                <a:srgbClr val="136798"/>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41" name="Shape 141"/>
        <p:cNvGrpSpPr/>
        <p:nvPr/>
      </p:nvGrpSpPr>
      <p:grpSpPr>
        <a:xfrm>
          <a:off x="0" y="0"/>
          <a:ext cx="0" cy="0"/>
          <a:chOff x="0" y="0"/>
          <a:chExt cx="0" cy="0"/>
        </a:xfrm>
      </p:grpSpPr>
      <p:pic>
        <p:nvPicPr>
          <p:cNvPr id="142" name="Google Shape;142;p26"/>
          <p:cNvPicPr preferRelativeResize="0"/>
          <p:nvPr/>
        </p:nvPicPr>
        <p:blipFill rotWithShape="1">
          <a:blip r:embed="rId4">
            <a:alphaModFix/>
          </a:blip>
          <a:srcRect b="56687" l="802" r="1350" t="5030"/>
          <a:stretch/>
        </p:blipFill>
        <p:spPr>
          <a:xfrm>
            <a:off x="0" y="603300"/>
            <a:ext cx="9144000" cy="6238600"/>
          </a:xfrm>
          <a:prstGeom prst="rect">
            <a:avLst/>
          </a:prstGeom>
          <a:noFill/>
          <a:ln>
            <a:noFill/>
          </a:ln>
        </p:spPr>
      </p:pic>
      <p:sp>
        <p:nvSpPr>
          <p:cNvPr id="143" name="Google Shape;143;p26"/>
          <p:cNvSpPr txBox="1"/>
          <p:nvPr/>
        </p:nvSpPr>
        <p:spPr>
          <a:xfrm>
            <a:off x="7302900" y="6565500"/>
            <a:ext cx="1944600" cy="292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a:solidFill>
                  <a:srgbClr val="FFFFFF"/>
                </a:solidFill>
                <a:highlight>
                  <a:srgbClr val="FF0000"/>
                </a:highlight>
              </a:rPr>
              <a:t>Imagen de Giphy.com</a:t>
            </a:r>
            <a:endParaRPr>
              <a:solidFill>
                <a:srgbClr val="FFFFFF"/>
              </a:solidFill>
              <a:highlight>
                <a:srgbClr val="FF0000"/>
              </a:highlight>
            </a:endParaRPr>
          </a:p>
        </p:txBody>
      </p:sp>
      <p:sp>
        <p:nvSpPr>
          <p:cNvPr id="144" name="Google Shape;144;p26"/>
          <p:cNvSpPr txBox="1"/>
          <p:nvPr/>
        </p:nvSpPr>
        <p:spPr>
          <a:xfrm>
            <a:off x="0" y="0"/>
            <a:ext cx="7302900" cy="603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s" sz="2200">
                <a:solidFill>
                  <a:srgbClr val="136798"/>
                </a:solidFill>
              </a:rPr>
              <a:t>4</a:t>
            </a:r>
            <a:r>
              <a:rPr lang="es" sz="2200">
                <a:solidFill>
                  <a:srgbClr val="136798"/>
                </a:solidFill>
              </a:rPr>
              <a:t> - ¿Cómo pueden atacarme?</a:t>
            </a:r>
            <a:endParaRPr sz="2200">
              <a:solidFill>
                <a:srgbClr val="136798"/>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48" name="Shape 148"/>
        <p:cNvGrpSpPr/>
        <p:nvPr/>
      </p:nvGrpSpPr>
      <p:grpSpPr>
        <a:xfrm>
          <a:off x="0" y="0"/>
          <a:ext cx="0" cy="0"/>
          <a:chOff x="0" y="0"/>
          <a:chExt cx="0" cy="0"/>
        </a:xfrm>
      </p:grpSpPr>
      <p:sp>
        <p:nvSpPr>
          <p:cNvPr id="149" name="Google Shape;149;p27"/>
          <p:cNvSpPr txBox="1"/>
          <p:nvPr/>
        </p:nvSpPr>
        <p:spPr>
          <a:xfrm>
            <a:off x="1376600" y="3103625"/>
            <a:ext cx="7208400" cy="840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27"/>
          <p:cNvSpPr txBox="1"/>
          <p:nvPr>
            <p:ph idx="1" type="subTitle"/>
          </p:nvPr>
        </p:nvSpPr>
        <p:spPr>
          <a:xfrm>
            <a:off x="66600" y="603300"/>
            <a:ext cx="9144000" cy="61917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None/>
            </a:pPr>
            <a:r>
              <a:rPr lang="es" sz="3000">
                <a:solidFill>
                  <a:srgbClr val="006699"/>
                </a:solidFill>
              </a:rPr>
              <a:t>Una </a:t>
            </a:r>
            <a:r>
              <a:rPr lang="es" sz="3000">
                <a:solidFill>
                  <a:srgbClr val="C36900"/>
                </a:solidFill>
              </a:rPr>
              <a:t>amenaza </a:t>
            </a:r>
            <a:r>
              <a:rPr lang="es" sz="3000">
                <a:solidFill>
                  <a:srgbClr val="006699"/>
                </a:solidFill>
              </a:rPr>
              <a:t>es cualquier acción o evento que ponga en peligro cualquiera de los puntos que definen un sistema seguro, y pueden provocar/descubrir/explotar una vulnerabilidad.</a:t>
            </a:r>
            <a:endParaRPr sz="3000">
              <a:solidFill>
                <a:srgbClr val="006699"/>
              </a:solidFill>
            </a:endParaRPr>
          </a:p>
          <a:p>
            <a:pPr indent="0" lvl="0" marL="0" rtl="0" algn="l">
              <a:lnSpc>
                <a:spcPct val="100000"/>
              </a:lnSpc>
              <a:spcBef>
                <a:spcPts val="0"/>
              </a:spcBef>
              <a:spcAft>
                <a:spcPts val="0"/>
              </a:spcAft>
              <a:buNone/>
            </a:pPr>
            <a:r>
              <a:rPr lang="es" sz="3000">
                <a:solidFill>
                  <a:srgbClr val="006699"/>
                </a:solidFill>
              </a:rPr>
              <a:t>Las amenazas pueden ir desde un ataque Ddos hasta un desastre natural que interrumpa el servicio de nuestros sistemas.</a:t>
            </a:r>
            <a:endParaRPr sz="3000">
              <a:solidFill>
                <a:srgbClr val="006699"/>
              </a:solidFill>
            </a:endParaRPr>
          </a:p>
          <a:p>
            <a:pPr indent="0" lvl="0" marL="0" rtl="0" algn="l">
              <a:lnSpc>
                <a:spcPct val="100000"/>
              </a:lnSpc>
              <a:spcBef>
                <a:spcPts val="0"/>
              </a:spcBef>
              <a:spcAft>
                <a:spcPts val="0"/>
              </a:spcAft>
              <a:buNone/>
            </a:pPr>
            <a:r>
              <a:t/>
            </a:r>
            <a:endParaRPr sz="3000">
              <a:solidFill>
                <a:srgbClr val="006699"/>
              </a:solidFill>
            </a:endParaRPr>
          </a:p>
          <a:p>
            <a:pPr indent="0" lvl="0" marL="0" rtl="0" algn="l">
              <a:lnSpc>
                <a:spcPct val="100000"/>
              </a:lnSpc>
              <a:spcBef>
                <a:spcPts val="0"/>
              </a:spcBef>
              <a:spcAft>
                <a:spcPts val="0"/>
              </a:spcAft>
              <a:buNone/>
            </a:pPr>
            <a:r>
              <a:t/>
            </a:r>
            <a:endParaRPr sz="3000">
              <a:solidFill>
                <a:srgbClr val="006699"/>
              </a:solidFill>
            </a:endParaRPr>
          </a:p>
          <a:p>
            <a:pPr indent="0" lvl="0" marL="0" rtl="0" algn="l">
              <a:lnSpc>
                <a:spcPct val="100000"/>
              </a:lnSpc>
              <a:spcBef>
                <a:spcPts val="0"/>
              </a:spcBef>
              <a:spcAft>
                <a:spcPts val="0"/>
              </a:spcAft>
              <a:buNone/>
            </a:pPr>
            <a:r>
              <a:rPr lang="es" sz="3000">
                <a:solidFill>
                  <a:srgbClr val="006699"/>
                </a:solidFill>
              </a:rPr>
              <a:t>Un </a:t>
            </a:r>
            <a:r>
              <a:rPr lang="es" sz="3000">
                <a:solidFill>
                  <a:srgbClr val="C36900"/>
                </a:solidFill>
              </a:rPr>
              <a:t>ataque </a:t>
            </a:r>
            <a:r>
              <a:rPr lang="es" sz="3000">
                <a:solidFill>
                  <a:srgbClr val="006699"/>
                </a:solidFill>
              </a:rPr>
              <a:t>es la explotación/búsqueda deliberada de una vulnerabilidad.</a:t>
            </a:r>
            <a:endParaRPr sz="3000">
              <a:solidFill>
                <a:srgbClr val="006699"/>
              </a:solidFill>
            </a:endParaRPr>
          </a:p>
        </p:txBody>
      </p:sp>
      <p:sp>
        <p:nvSpPr>
          <p:cNvPr id="151" name="Google Shape;151;p27"/>
          <p:cNvSpPr txBox="1"/>
          <p:nvPr/>
        </p:nvSpPr>
        <p:spPr>
          <a:xfrm>
            <a:off x="0" y="0"/>
            <a:ext cx="7302900" cy="603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s" sz="2200">
                <a:solidFill>
                  <a:srgbClr val="136798"/>
                </a:solidFill>
              </a:rPr>
              <a:t>4 - ¿Cómo pueden atacarme?</a:t>
            </a:r>
            <a:endParaRPr sz="2200">
              <a:solidFill>
                <a:srgbClr val="136798"/>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55" name="Shape 155"/>
        <p:cNvGrpSpPr/>
        <p:nvPr/>
      </p:nvGrpSpPr>
      <p:grpSpPr>
        <a:xfrm>
          <a:off x="0" y="0"/>
          <a:ext cx="0" cy="0"/>
          <a:chOff x="0" y="0"/>
          <a:chExt cx="0" cy="0"/>
        </a:xfrm>
      </p:grpSpPr>
      <p:sp>
        <p:nvSpPr>
          <p:cNvPr id="156" name="Google Shape;156;p28"/>
          <p:cNvSpPr txBox="1"/>
          <p:nvPr/>
        </p:nvSpPr>
        <p:spPr>
          <a:xfrm>
            <a:off x="1376600" y="3103625"/>
            <a:ext cx="7208400" cy="840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28"/>
          <p:cNvSpPr txBox="1"/>
          <p:nvPr>
            <p:ph idx="1" type="subTitle"/>
          </p:nvPr>
        </p:nvSpPr>
        <p:spPr>
          <a:xfrm>
            <a:off x="0" y="603300"/>
            <a:ext cx="9144000" cy="61917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None/>
            </a:pPr>
            <a:r>
              <a:rPr lang="es" sz="3000">
                <a:solidFill>
                  <a:srgbClr val="006699"/>
                </a:solidFill>
              </a:rPr>
              <a:t>Las amenazas pueden clasificarse de varias formas:</a:t>
            </a:r>
            <a:endParaRPr sz="3000">
              <a:solidFill>
                <a:srgbClr val="006699"/>
              </a:solidFill>
            </a:endParaRPr>
          </a:p>
          <a:p>
            <a:pPr indent="0" lvl="0" marL="0" rtl="0" algn="l">
              <a:lnSpc>
                <a:spcPct val="100000"/>
              </a:lnSpc>
              <a:spcBef>
                <a:spcPts val="0"/>
              </a:spcBef>
              <a:spcAft>
                <a:spcPts val="0"/>
              </a:spcAft>
              <a:buNone/>
            </a:pPr>
            <a:r>
              <a:t/>
            </a:r>
            <a:endParaRPr sz="3000">
              <a:solidFill>
                <a:srgbClr val="006699"/>
              </a:solidFill>
            </a:endParaRPr>
          </a:p>
          <a:p>
            <a:pPr indent="-419100" lvl="0" marL="457200" rtl="0" algn="l">
              <a:lnSpc>
                <a:spcPct val="100000"/>
              </a:lnSpc>
              <a:spcBef>
                <a:spcPts val="0"/>
              </a:spcBef>
              <a:spcAft>
                <a:spcPts val="0"/>
              </a:spcAft>
              <a:buClr>
                <a:srgbClr val="006699"/>
              </a:buClr>
              <a:buSzPts val="3000"/>
              <a:buChar char="●"/>
            </a:pPr>
            <a:r>
              <a:rPr lang="es" sz="3000">
                <a:solidFill>
                  <a:srgbClr val="006699"/>
                </a:solidFill>
              </a:rPr>
              <a:t>Por mecanismo:</a:t>
            </a:r>
            <a:endParaRPr sz="3000">
              <a:solidFill>
                <a:srgbClr val="006699"/>
              </a:solidFill>
            </a:endParaRPr>
          </a:p>
          <a:p>
            <a:pPr indent="-419100" lvl="1" marL="914400" rtl="0" algn="l">
              <a:lnSpc>
                <a:spcPct val="100000"/>
              </a:lnSpc>
              <a:spcBef>
                <a:spcPts val="0"/>
              </a:spcBef>
              <a:spcAft>
                <a:spcPts val="0"/>
              </a:spcAft>
              <a:buClr>
                <a:srgbClr val="006699"/>
              </a:buClr>
              <a:buSzPts val="3000"/>
              <a:buChar char="○"/>
            </a:pPr>
            <a:r>
              <a:rPr lang="es" sz="3000">
                <a:solidFill>
                  <a:srgbClr val="C36900"/>
                </a:solidFill>
              </a:rPr>
              <a:t>Físicas</a:t>
            </a:r>
            <a:r>
              <a:rPr lang="es" sz="3000">
                <a:solidFill>
                  <a:srgbClr val="006699"/>
                </a:solidFill>
              </a:rPr>
              <a:t>: Al hardware.</a:t>
            </a:r>
            <a:endParaRPr sz="3000">
              <a:solidFill>
                <a:srgbClr val="006699"/>
              </a:solidFill>
            </a:endParaRPr>
          </a:p>
          <a:p>
            <a:pPr indent="-419100" lvl="1" marL="914400" rtl="0" algn="l">
              <a:lnSpc>
                <a:spcPct val="100000"/>
              </a:lnSpc>
              <a:spcBef>
                <a:spcPts val="0"/>
              </a:spcBef>
              <a:spcAft>
                <a:spcPts val="0"/>
              </a:spcAft>
              <a:buClr>
                <a:srgbClr val="006699"/>
              </a:buClr>
              <a:buSzPts val="3000"/>
              <a:buChar char="○"/>
            </a:pPr>
            <a:r>
              <a:rPr lang="es" sz="3000">
                <a:solidFill>
                  <a:srgbClr val="C36900"/>
                </a:solidFill>
              </a:rPr>
              <a:t>Lógicas</a:t>
            </a:r>
            <a:r>
              <a:rPr lang="es" sz="3000">
                <a:solidFill>
                  <a:srgbClr val="006699"/>
                </a:solidFill>
              </a:rPr>
              <a:t>: Al software.</a:t>
            </a:r>
            <a:br>
              <a:rPr lang="es" sz="3000">
                <a:solidFill>
                  <a:srgbClr val="006699"/>
                </a:solidFill>
              </a:rPr>
            </a:br>
            <a:endParaRPr sz="3000">
              <a:solidFill>
                <a:srgbClr val="006699"/>
              </a:solidFill>
            </a:endParaRPr>
          </a:p>
          <a:p>
            <a:pPr indent="0" lvl="0" marL="914400" rtl="0" algn="l">
              <a:lnSpc>
                <a:spcPct val="100000"/>
              </a:lnSpc>
              <a:spcBef>
                <a:spcPts val="0"/>
              </a:spcBef>
              <a:spcAft>
                <a:spcPts val="0"/>
              </a:spcAft>
              <a:buNone/>
            </a:pPr>
            <a:r>
              <a:t/>
            </a:r>
            <a:endParaRPr sz="3000">
              <a:solidFill>
                <a:srgbClr val="006699"/>
              </a:solidFill>
            </a:endParaRPr>
          </a:p>
          <a:p>
            <a:pPr indent="-419100" lvl="0" marL="457200" rtl="0" algn="l">
              <a:lnSpc>
                <a:spcPct val="100000"/>
              </a:lnSpc>
              <a:spcBef>
                <a:spcPts val="0"/>
              </a:spcBef>
              <a:spcAft>
                <a:spcPts val="0"/>
              </a:spcAft>
              <a:buClr>
                <a:srgbClr val="006699"/>
              </a:buClr>
              <a:buSzPts val="3000"/>
              <a:buChar char="●"/>
            </a:pPr>
            <a:r>
              <a:rPr lang="es" sz="3000">
                <a:solidFill>
                  <a:srgbClr val="006699"/>
                </a:solidFill>
              </a:rPr>
              <a:t>Por origen:</a:t>
            </a:r>
            <a:endParaRPr sz="3000">
              <a:solidFill>
                <a:srgbClr val="006699"/>
              </a:solidFill>
            </a:endParaRPr>
          </a:p>
          <a:p>
            <a:pPr indent="-419100" lvl="1" marL="914400" rtl="0" algn="l">
              <a:lnSpc>
                <a:spcPct val="100000"/>
              </a:lnSpc>
              <a:spcBef>
                <a:spcPts val="0"/>
              </a:spcBef>
              <a:spcAft>
                <a:spcPts val="0"/>
              </a:spcAft>
              <a:buClr>
                <a:srgbClr val="006699"/>
              </a:buClr>
              <a:buSzPts val="3000"/>
              <a:buChar char="○"/>
            </a:pPr>
            <a:r>
              <a:rPr lang="es" sz="3000">
                <a:solidFill>
                  <a:srgbClr val="C36900"/>
                </a:solidFill>
              </a:rPr>
              <a:t>Internas</a:t>
            </a:r>
            <a:r>
              <a:rPr lang="es" sz="3000">
                <a:solidFill>
                  <a:srgbClr val="006699"/>
                </a:solidFill>
              </a:rPr>
              <a:t>: Provocadas por personal de la empresa.</a:t>
            </a:r>
            <a:endParaRPr sz="3000">
              <a:solidFill>
                <a:srgbClr val="006699"/>
              </a:solidFill>
            </a:endParaRPr>
          </a:p>
          <a:p>
            <a:pPr indent="-419100" lvl="1" marL="914400" rtl="0" algn="l">
              <a:lnSpc>
                <a:spcPct val="100000"/>
              </a:lnSpc>
              <a:spcBef>
                <a:spcPts val="0"/>
              </a:spcBef>
              <a:spcAft>
                <a:spcPts val="0"/>
              </a:spcAft>
              <a:buClr>
                <a:srgbClr val="006699"/>
              </a:buClr>
              <a:buSzPts val="3000"/>
              <a:buChar char="○"/>
            </a:pPr>
            <a:r>
              <a:rPr lang="es" sz="3000">
                <a:solidFill>
                  <a:srgbClr val="C36900"/>
                </a:solidFill>
              </a:rPr>
              <a:t>Externas</a:t>
            </a:r>
            <a:r>
              <a:rPr lang="es" sz="3000">
                <a:solidFill>
                  <a:srgbClr val="006699"/>
                </a:solidFill>
              </a:rPr>
              <a:t>: Provocadas por personal ajeno a la empresa.</a:t>
            </a:r>
            <a:endParaRPr sz="3000">
              <a:solidFill>
                <a:srgbClr val="006699"/>
              </a:solidFill>
            </a:endParaRPr>
          </a:p>
        </p:txBody>
      </p:sp>
      <p:sp>
        <p:nvSpPr>
          <p:cNvPr id="158" name="Google Shape;158;p28"/>
          <p:cNvSpPr txBox="1"/>
          <p:nvPr/>
        </p:nvSpPr>
        <p:spPr>
          <a:xfrm>
            <a:off x="0" y="0"/>
            <a:ext cx="7302900" cy="603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s" sz="2200">
                <a:solidFill>
                  <a:srgbClr val="136798"/>
                </a:solidFill>
              </a:rPr>
              <a:t>4 - ¿Cómo pueden atacarme?</a:t>
            </a:r>
            <a:endParaRPr sz="2200">
              <a:solidFill>
                <a:srgbClr val="136798"/>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62" name="Shape 162"/>
        <p:cNvGrpSpPr/>
        <p:nvPr/>
      </p:nvGrpSpPr>
      <p:grpSpPr>
        <a:xfrm>
          <a:off x="0" y="0"/>
          <a:ext cx="0" cy="0"/>
          <a:chOff x="0" y="0"/>
          <a:chExt cx="0" cy="0"/>
        </a:xfrm>
      </p:grpSpPr>
      <p:sp>
        <p:nvSpPr>
          <p:cNvPr id="163" name="Google Shape;163;p29"/>
          <p:cNvSpPr txBox="1"/>
          <p:nvPr/>
        </p:nvSpPr>
        <p:spPr>
          <a:xfrm>
            <a:off x="1376600" y="3103625"/>
            <a:ext cx="7208400" cy="840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4" name="Google Shape;164;p29"/>
          <p:cNvSpPr txBox="1"/>
          <p:nvPr>
            <p:ph idx="1" type="subTitle"/>
          </p:nvPr>
        </p:nvSpPr>
        <p:spPr>
          <a:xfrm>
            <a:off x="0" y="603300"/>
            <a:ext cx="9144000" cy="6191700"/>
          </a:xfrm>
          <a:prstGeom prst="rect">
            <a:avLst/>
          </a:prstGeom>
          <a:noFill/>
          <a:ln>
            <a:noFill/>
          </a:ln>
        </p:spPr>
        <p:txBody>
          <a:bodyPr anchorCtr="0" anchor="t" bIns="45700" lIns="91425" spcFirstLastPara="1" rIns="91425" wrap="square" tIns="45700">
            <a:noAutofit/>
          </a:bodyPr>
          <a:lstStyle/>
          <a:p>
            <a:pPr indent="-412750" lvl="0" marL="457200" rtl="0" algn="l">
              <a:lnSpc>
                <a:spcPct val="100000"/>
              </a:lnSpc>
              <a:spcBef>
                <a:spcPts val="0"/>
              </a:spcBef>
              <a:spcAft>
                <a:spcPts val="0"/>
              </a:spcAft>
              <a:buClr>
                <a:srgbClr val="006699"/>
              </a:buClr>
              <a:buSzPts val="2900"/>
              <a:buChar char="●"/>
            </a:pPr>
            <a:r>
              <a:rPr lang="es" sz="2900">
                <a:solidFill>
                  <a:srgbClr val="006699"/>
                </a:solidFill>
              </a:rPr>
              <a:t>Por efecto:</a:t>
            </a:r>
            <a:endParaRPr sz="2900">
              <a:solidFill>
                <a:srgbClr val="006699"/>
              </a:solidFill>
            </a:endParaRPr>
          </a:p>
          <a:p>
            <a:pPr indent="-412750" lvl="1" marL="914400" rtl="0" algn="l">
              <a:lnSpc>
                <a:spcPct val="100000"/>
              </a:lnSpc>
              <a:spcBef>
                <a:spcPts val="0"/>
              </a:spcBef>
              <a:spcAft>
                <a:spcPts val="0"/>
              </a:spcAft>
              <a:buClr>
                <a:srgbClr val="006699"/>
              </a:buClr>
              <a:buSzPts val="2900"/>
              <a:buChar char="○"/>
            </a:pPr>
            <a:r>
              <a:rPr lang="es" sz="2900">
                <a:solidFill>
                  <a:srgbClr val="C36900"/>
                </a:solidFill>
              </a:rPr>
              <a:t>Robo de información</a:t>
            </a:r>
            <a:endParaRPr sz="2900">
              <a:solidFill>
                <a:srgbClr val="C36900"/>
              </a:solidFill>
            </a:endParaRPr>
          </a:p>
          <a:p>
            <a:pPr indent="-412750" lvl="1" marL="914400" rtl="0" algn="l">
              <a:lnSpc>
                <a:spcPct val="100000"/>
              </a:lnSpc>
              <a:spcBef>
                <a:spcPts val="0"/>
              </a:spcBef>
              <a:spcAft>
                <a:spcPts val="0"/>
              </a:spcAft>
              <a:buClr>
                <a:srgbClr val="006699"/>
              </a:buClr>
              <a:buSzPts val="2900"/>
              <a:buChar char="○"/>
            </a:pPr>
            <a:r>
              <a:rPr lang="es" sz="2900">
                <a:solidFill>
                  <a:srgbClr val="C36900"/>
                </a:solidFill>
              </a:rPr>
              <a:t>Destrucción de información</a:t>
            </a:r>
            <a:endParaRPr sz="2900">
              <a:solidFill>
                <a:srgbClr val="C36900"/>
              </a:solidFill>
            </a:endParaRPr>
          </a:p>
          <a:p>
            <a:pPr indent="-412750" lvl="1" marL="914400" rtl="0" algn="l">
              <a:lnSpc>
                <a:spcPct val="100000"/>
              </a:lnSpc>
              <a:spcBef>
                <a:spcPts val="0"/>
              </a:spcBef>
              <a:spcAft>
                <a:spcPts val="0"/>
              </a:spcAft>
              <a:buClr>
                <a:srgbClr val="006699"/>
              </a:buClr>
              <a:buSzPts val="2900"/>
              <a:buChar char="○"/>
            </a:pPr>
            <a:r>
              <a:rPr lang="es" sz="2900">
                <a:solidFill>
                  <a:srgbClr val="C36900"/>
                </a:solidFill>
              </a:rPr>
              <a:t>Parada en el funcionamiento del sistema</a:t>
            </a:r>
            <a:endParaRPr sz="2900">
              <a:solidFill>
                <a:srgbClr val="C36900"/>
              </a:solidFill>
            </a:endParaRPr>
          </a:p>
          <a:p>
            <a:pPr indent="-412750" lvl="1" marL="914400" rtl="0" algn="l">
              <a:lnSpc>
                <a:spcPct val="100000"/>
              </a:lnSpc>
              <a:spcBef>
                <a:spcPts val="0"/>
              </a:spcBef>
              <a:spcAft>
                <a:spcPts val="0"/>
              </a:spcAft>
              <a:buClr>
                <a:srgbClr val="006699"/>
              </a:buClr>
              <a:buSzPts val="2900"/>
              <a:buChar char="○"/>
            </a:pPr>
            <a:r>
              <a:rPr lang="es" sz="2900">
                <a:solidFill>
                  <a:srgbClr val="C36900"/>
                </a:solidFill>
              </a:rPr>
              <a:t>Suplantación de identidad</a:t>
            </a:r>
            <a:endParaRPr sz="2900">
              <a:solidFill>
                <a:srgbClr val="C36900"/>
              </a:solidFill>
            </a:endParaRPr>
          </a:p>
          <a:p>
            <a:pPr indent="-412750" lvl="1" marL="914400" rtl="0" algn="l">
              <a:lnSpc>
                <a:spcPct val="100000"/>
              </a:lnSpc>
              <a:spcBef>
                <a:spcPts val="0"/>
              </a:spcBef>
              <a:spcAft>
                <a:spcPts val="0"/>
              </a:spcAft>
              <a:buClr>
                <a:srgbClr val="006699"/>
              </a:buClr>
              <a:buSzPts val="2900"/>
              <a:buChar char="○"/>
            </a:pPr>
            <a:r>
              <a:rPr lang="es" sz="2900">
                <a:solidFill>
                  <a:srgbClr val="C36900"/>
                </a:solidFill>
              </a:rPr>
              <a:t>Robo de dinero o estafas</a:t>
            </a:r>
            <a:br>
              <a:rPr lang="es" sz="2900">
                <a:solidFill>
                  <a:srgbClr val="006699"/>
                </a:solidFill>
              </a:rPr>
            </a:br>
            <a:endParaRPr sz="2900">
              <a:solidFill>
                <a:srgbClr val="006699"/>
              </a:solidFill>
            </a:endParaRPr>
          </a:p>
          <a:p>
            <a:pPr indent="0" lvl="0" marL="914400" rtl="0" algn="l">
              <a:lnSpc>
                <a:spcPct val="100000"/>
              </a:lnSpc>
              <a:spcBef>
                <a:spcPts val="0"/>
              </a:spcBef>
              <a:spcAft>
                <a:spcPts val="0"/>
              </a:spcAft>
              <a:buNone/>
            </a:pPr>
            <a:r>
              <a:t/>
            </a:r>
            <a:endParaRPr sz="2900">
              <a:solidFill>
                <a:srgbClr val="006699"/>
              </a:solidFill>
            </a:endParaRPr>
          </a:p>
          <a:p>
            <a:pPr indent="-412750" lvl="0" marL="457200" rtl="0" algn="l">
              <a:lnSpc>
                <a:spcPct val="100000"/>
              </a:lnSpc>
              <a:spcBef>
                <a:spcPts val="0"/>
              </a:spcBef>
              <a:spcAft>
                <a:spcPts val="0"/>
              </a:spcAft>
              <a:buClr>
                <a:srgbClr val="006699"/>
              </a:buClr>
              <a:buSzPts val="2900"/>
              <a:buChar char="●"/>
            </a:pPr>
            <a:r>
              <a:rPr lang="es" sz="2900">
                <a:solidFill>
                  <a:srgbClr val="006699"/>
                </a:solidFill>
              </a:rPr>
              <a:t>Por el medio utilizado:</a:t>
            </a:r>
            <a:endParaRPr sz="2900">
              <a:solidFill>
                <a:srgbClr val="006699"/>
              </a:solidFill>
            </a:endParaRPr>
          </a:p>
          <a:p>
            <a:pPr indent="-412750" lvl="1" marL="914400" rtl="0" algn="l">
              <a:lnSpc>
                <a:spcPct val="100000"/>
              </a:lnSpc>
              <a:spcBef>
                <a:spcPts val="0"/>
              </a:spcBef>
              <a:spcAft>
                <a:spcPts val="0"/>
              </a:spcAft>
              <a:buClr>
                <a:srgbClr val="006699"/>
              </a:buClr>
              <a:buSzPts val="2900"/>
              <a:buChar char="○"/>
            </a:pPr>
            <a:r>
              <a:rPr lang="es" sz="2900">
                <a:solidFill>
                  <a:srgbClr val="C36900"/>
                </a:solidFill>
              </a:rPr>
              <a:t>Malware/virus</a:t>
            </a:r>
            <a:endParaRPr sz="2900">
              <a:solidFill>
                <a:srgbClr val="C36900"/>
              </a:solidFill>
            </a:endParaRPr>
          </a:p>
          <a:p>
            <a:pPr indent="-412750" lvl="1" marL="914400" rtl="0" algn="l">
              <a:lnSpc>
                <a:spcPct val="100000"/>
              </a:lnSpc>
              <a:spcBef>
                <a:spcPts val="0"/>
              </a:spcBef>
              <a:spcAft>
                <a:spcPts val="0"/>
              </a:spcAft>
              <a:buClr>
                <a:srgbClr val="C36900"/>
              </a:buClr>
              <a:buSzPts val="2900"/>
              <a:buChar char="○"/>
            </a:pPr>
            <a:r>
              <a:rPr lang="es" sz="2900">
                <a:solidFill>
                  <a:srgbClr val="C36900"/>
                </a:solidFill>
              </a:rPr>
              <a:t>Pishing</a:t>
            </a:r>
            <a:endParaRPr sz="2900">
              <a:solidFill>
                <a:srgbClr val="C36900"/>
              </a:solidFill>
            </a:endParaRPr>
          </a:p>
          <a:p>
            <a:pPr indent="-412750" lvl="1" marL="914400" rtl="0" algn="l">
              <a:lnSpc>
                <a:spcPct val="100000"/>
              </a:lnSpc>
              <a:spcBef>
                <a:spcPts val="0"/>
              </a:spcBef>
              <a:spcAft>
                <a:spcPts val="0"/>
              </a:spcAft>
              <a:buClr>
                <a:srgbClr val="C36900"/>
              </a:buClr>
              <a:buSzPts val="2900"/>
              <a:buChar char="○"/>
            </a:pPr>
            <a:r>
              <a:rPr lang="es" sz="2900">
                <a:solidFill>
                  <a:srgbClr val="C36900"/>
                </a:solidFill>
              </a:rPr>
              <a:t>Ingeniería social</a:t>
            </a:r>
            <a:endParaRPr sz="2900">
              <a:solidFill>
                <a:srgbClr val="C36900"/>
              </a:solidFill>
            </a:endParaRPr>
          </a:p>
          <a:p>
            <a:pPr indent="-412750" lvl="1" marL="914400" rtl="0" algn="l">
              <a:lnSpc>
                <a:spcPct val="100000"/>
              </a:lnSpc>
              <a:spcBef>
                <a:spcPts val="0"/>
              </a:spcBef>
              <a:spcAft>
                <a:spcPts val="0"/>
              </a:spcAft>
              <a:buClr>
                <a:srgbClr val="C36900"/>
              </a:buClr>
              <a:buSzPts val="2900"/>
              <a:buChar char="○"/>
            </a:pPr>
            <a:r>
              <a:rPr lang="es" sz="2900">
                <a:solidFill>
                  <a:srgbClr val="C36900"/>
                </a:solidFill>
              </a:rPr>
              <a:t>Denegación de servicio</a:t>
            </a:r>
            <a:endParaRPr sz="2900">
              <a:solidFill>
                <a:srgbClr val="C36900"/>
              </a:solidFill>
            </a:endParaRPr>
          </a:p>
          <a:p>
            <a:pPr indent="-412750" lvl="1" marL="914400" rtl="0" algn="l">
              <a:lnSpc>
                <a:spcPct val="100000"/>
              </a:lnSpc>
              <a:spcBef>
                <a:spcPts val="0"/>
              </a:spcBef>
              <a:spcAft>
                <a:spcPts val="0"/>
              </a:spcAft>
              <a:buClr>
                <a:srgbClr val="C36900"/>
              </a:buClr>
              <a:buSzPts val="2900"/>
              <a:buChar char="○"/>
            </a:pPr>
            <a:r>
              <a:rPr lang="es" sz="2900">
                <a:solidFill>
                  <a:srgbClr val="C36900"/>
                </a:solidFill>
              </a:rPr>
              <a:t>Spoofing</a:t>
            </a:r>
            <a:endParaRPr sz="2900">
              <a:solidFill>
                <a:srgbClr val="C36900"/>
              </a:solidFill>
            </a:endParaRPr>
          </a:p>
        </p:txBody>
      </p:sp>
      <p:sp>
        <p:nvSpPr>
          <p:cNvPr id="165" name="Google Shape;165;p29"/>
          <p:cNvSpPr txBox="1"/>
          <p:nvPr/>
        </p:nvSpPr>
        <p:spPr>
          <a:xfrm>
            <a:off x="0" y="0"/>
            <a:ext cx="7302900" cy="603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s" sz="2200">
                <a:solidFill>
                  <a:srgbClr val="136798"/>
                </a:solidFill>
              </a:rPr>
              <a:t>4 - ¿Cómo pueden atacarme?</a:t>
            </a:r>
            <a:endParaRPr sz="2200">
              <a:solidFill>
                <a:srgbClr val="136798"/>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69" name="Shape 169"/>
        <p:cNvGrpSpPr/>
        <p:nvPr/>
      </p:nvGrpSpPr>
      <p:grpSpPr>
        <a:xfrm>
          <a:off x="0" y="0"/>
          <a:ext cx="0" cy="0"/>
          <a:chOff x="0" y="0"/>
          <a:chExt cx="0" cy="0"/>
        </a:xfrm>
      </p:grpSpPr>
      <p:sp>
        <p:nvSpPr>
          <p:cNvPr id="170" name="Google Shape;170;p30"/>
          <p:cNvSpPr txBox="1"/>
          <p:nvPr/>
        </p:nvSpPr>
        <p:spPr>
          <a:xfrm>
            <a:off x="1376600" y="3103625"/>
            <a:ext cx="7208400" cy="840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30"/>
          <p:cNvSpPr txBox="1"/>
          <p:nvPr>
            <p:ph idx="1" type="subTitle"/>
          </p:nvPr>
        </p:nvSpPr>
        <p:spPr>
          <a:xfrm>
            <a:off x="25" y="603300"/>
            <a:ext cx="9144000" cy="61917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None/>
            </a:pPr>
            <a:r>
              <a:rPr lang="es" sz="3000">
                <a:solidFill>
                  <a:srgbClr val="006699"/>
                </a:solidFill>
              </a:rPr>
              <a:t>¿Cómo se ven amenazadas las partes del sistema que queremos proteger?</a:t>
            </a:r>
            <a:endParaRPr sz="3000">
              <a:solidFill>
                <a:srgbClr val="006699"/>
              </a:solidFill>
            </a:endParaRPr>
          </a:p>
          <a:p>
            <a:pPr indent="0" lvl="0" marL="0" rtl="0" algn="l">
              <a:lnSpc>
                <a:spcPct val="100000"/>
              </a:lnSpc>
              <a:spcBef>
                <a:spcPts val="0"/>
              </a:spcBef>
              <a:spcAft>
                <a:spcPts val="0"/>
              </a:spcAft>
              <a:buNone/>
            </a:pPr>
            <a:r>
              <a:t/>
            </a:r>
            <a:endParaRPr sz="3000">
              <a:solidFill>
                <a:srgbClr val="006699"/>
              </a:solidFill>
            </a:endParaRPr>
          </a:p>
          <a:p>
            <a:pPr indent="-419100" lvl="0" marL="457200" rtl="0" algn="l">
              <a:lnSpc>
                <a:spcPct val="100000"/>
              </a:lnSpc>
              <a:spcBef>
                <a:spcPts val="0"/>
              </a:spcBef>
              <a:spcAft>
                <a:spcPts val="0"/>
              </a:spcAft>
              <a:buClr>
                <a:srgbClr val="C36900"/>
              </a:buClr>
              <a:buSzPts val="3000"/>
              <a:buChar char="-"/>
            </a:pPr>
            <a:r>
              <a:rPr lang="es" sz="3000">
                <a:solidFill>
                  <a:srgbClr val="C36900"/>
                </a:solidFill>
              </a:rPr>
              <a:t>Red eléctrica</a:t>
            </a:r>
            <a:endParaRPr sz="3000">
              <a:solidFill>
                <a:srgbClr val="C36900"/>
              </a:solidFill>
            </a:endParaRPr>
          </a:p>
          <a:p>
            <a:pPr indent="0" lvl="0" marL="0" rtl="0" algn="l">
              <a:lnSpc>
                <a:spcPct val="100000"/>
              </a:lnSpc>
              <a:spcBef>
                <a:spcPts val="0"/>
              </a:spcBef>
              <a:spcAft>
                <a:spcPts val="0"/>
              </a:spcAft>
              <a:buNone/>
            </a:pPr>
            <a:r>
              <a:rPr lang="es" sz="3000">
                <a:solidFill>
                  <a:srgbClr val="006699"/>
                </a:solidFill>
              </a:rPr>
              <a:t>Cortes de luz, daño intencionado o no del sistema eléctrico, sobrecargas eléctricas...</a:t>
            </a:r>
            <a:endParaRPr sz="3000">
              <a:solidFill>
                <a:srgbClr val="006699"/>
              </a:solidFill>
            </a:endParaRPr>
          </a:p>
          <a:p>
            <a:pPr indent="0" lvl="0" marL="0" rtl="0" algn="l">
              <a:lnSpc>
                <a:spcPct val="100000"/>
              </a:lnSpc>
              <a:spcBef>
                <a:spcPts val="0"/>
              </a:spcBef>
              <a:spcAft>
                <a:spcPts val="0"/>
              </a:spcAft>
              <a:buNone/>
            </a:pPr>
            <a:r>
              <a:t/>
            </a:r>
            <a:endParaRPr sz="3000">
              <a:solidFill>
                <a:srgbClr val="006699"/>
              </a:solidFill>
            </a:endParaRPr>
          </a:p>
          <a:p>
            <a:pPr indent="-419100" lvl="0" marL="457200" rtl="0" algn="l">
              <a:lnSpc>
                <a:spcPct val="100000"/>
              </a:lnSpc>
              <a:spcBef>
                <a:spcPts val="0"/>
              </a:spcBef>
              <a:spcAft>
                <a:spcPts val="0"/>
              </a:spcAft>
              <a:buClr>
                <a:srgbClr val="C36900"/>
              </a:buClr>
              <a:buSzPts val="3000"/>
              <a:buChar char="-"/>
            </a:pPr>
            <a:r>
              <a:rPr lang="es" sz="3000">
                <a:solidFill>
                  <a:srgbClr val="C36900"/>
                </a:solidFill>
              </a:rPr>
              <a:t>Hardware del equipo</a:t>
            </a:r>
            <a:endParaRPr sz="3000">
              <a:solidFill>
                <a:srgbClr val="C36900"/>
              </a:solidFill>
            </a:endParaRPr>
          </a:p>
          <a:p>
            <a:pPr indent="0" lvl="0" marL="0" rtl="0" algn="l">
              <a:spcBef>
                <a:spcPts val="0"/>
              </a:spcBef>
              <a:spcAft>
                <a:spcPts val="0"/>
              </a:spcAft>
              <a:buNone/>
            </a:pPr>
            <a:r>
              <a:rPr lang="es" sz="3000">
                <a:solidFill>
                  <a:srgbClr val="006699"/>
                </a:solidFill>
              </a:rPr>
              <a:t>Sobrecargas eléctricas, pulsos electromagnéticos, martillos bajo los efectos de la ira, alumnos de CENEC programando con LibGDX, malos perdedores al Fifa …</a:t>
            </a:r>
            <a:endParaRPr sz="3000">
              <a:solidFill>
                <a:srgbClr val="006699"/>
              </a:solidFill>
            </a:endParaRPr>
          </a:p>
          <a:p>
            <a:pPr indent="0" lvl="0" marL="0" rtl="0" algn="l">
              <a:lnSpc>
                <a:spcPct val="100000"/>
              </a:lnSpc>
              <a:spcBef>
                <a:spcPts val="0"/>
              </a:spcBef>
              <a:spcAft>
                <a:spcPts val="0"/>
              </a:spcAft>
              <a:buNone/>
            </a:pPr>
            <a:r>
              <a:t/>
            </a:r>
            <a:endParaRPr sz="3000">
              <a:solidFill>
                <a:srgbClr val="006699"/>
              </a:solidFill>
            </a:endParaRPr>
          </a:p>
        </p:txBody>
      </p:sp>
      <p:sp>
        <p:nvSpPr>
          <p:cNvPr id="172" name="Google Shape;172;p30"/>
          <p:cNvSpPr txBox="1"/>
          <p:nvPr/>
        </p:nvSpPr>
        <p:spPr>
          <a:xfrm>
            <a:off x="0" y="0"/>
            <a:ext cx="7302900" cy="603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s" sz="2200">
                <a:solidFill>
                  <a:srgbClr val="136798"/>
                </a:solidFill>
              </a:rPr>
              <a:t>4 - ¿Cómo pueden atacarme?</a:t>
            </a:r>
            <a:endParaRPr sz="2200">
              <a:solidFill>
                <a:srgbClr val="136798"/>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76" name="Shape 176"/>
        <p:cNvGrpSpPr/>
        <p:nvPr/>
      </p:nvGrpSpPr>
      <p:grpSpPr>
        <a:xfrm>
          <a:off x="0" y="0"/>
          <a:ext cx="0" cy="0"/>
          <a:chOff x="0" y="0"/>
          <a:chExt cx="0" cy="0"/>
        </a:xfrm>
      </p:grpSpPr>
      <p:sp>
        <p:nvSpPr>
          <p:cNvPr id="177" name="Google Shape;177;p31"/>
          <p:cNvSpPr txBox="1"/>
          <p:nvPr/>
        </p:nvSpPr>
        <p:spPr>
          <a:xfrm>
            <a:off x="1376600" y="3103625"/>
            <a:ext cx="7208400" cy="840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8" name="Google Shape;178;p31"/>
          <p:cNvSpPr txBox="1"/>
          <p:nvPr>
            <p:ph idx="1" type="subTitle"/>
          </p:nvPr>
        </p:nvSpPr>
        <p:spPr>
          <a:xfrm>
            <a:off x="25" y="603300"/>
            <a:ext cx="9144000" cy="6191700"/>
          </a:xfrm>
          <a:prstGeom prst="rect">
            <a:avLst/>
          </a:prstGeom>
          <a:noFill/>
          <a:ln>
            <a:noFill/>
          </a:ln>
        </p:spPr>
        <p:txBody>
          <a:bodyPr anchorCtr="0" anchor="t" bIns="45700" lIns="91425" spcFirstLastPara="1" rIns="91425" wrap="square" tIns="45700">
            <a:noAutofit/>
          </a:bodyPr>
          <a:lstStyle/>
          <a:p>
            <a:pPr indent="-419100" lvl="0" marL="457200" rtl="0" algn="l">
              <a:spcBef>
                <a:spcPts val="0"/>
              </a:spcBef>
              <a:spcAft>
                <a:spcPts val="0"/>
              </a:spcAft>
              <a:buClr>
                <a:srgbClr val="C36900"/>
              </a:buClr>
              <a:buSzPts val="3000"/>
              <a:buChar char="-"/>
            </a:pPr>
            <a:r>
              <a:rPr lang="es" sz="3000">
                <a:solidFill>
                  <a:srgbClr val="C36900"/>
                </a:solidFill>
              </a:rPr>
              <a:t>Arquitectura de red</a:t>
            </a:r>
            <a:endParaRPr sz="3000">
              <a:solidFill>
                <a:srgbClr val="C36900"/>
              </a:solidFill>
            </a:endParaRPr>
          </a:p>
          <a:p>
            <a:pPr indent="0" lvl="0" marL="0" rtl="0" algn="l">
              <a:spcBef>
                <a:spcPts val="0"/>
              </a:spcBef>
              <a:spcAft>
                <a:spcPts val="0"/>
              </a:spcAft>
              <a:buNone/>
            </a:pPr>
            <a:r>
              <a:rPr lang="es" sz="3000">
                <a:solidFill>
                  <a:srgbClr val="006699"/>
                </a:solidFill>
              </a:rPr>
              <a:t>Ataques man in the middle, Ddos, Spoofing, cortes en la comunicación de red por fallos hardware o software...</a:t>
            </a:r>
            <a:endParaRPr sz="3000">
              <a:solidFill>
                <a:srgbClr val="006699"/>
              </a:solidFill>
            </a:endParaRPr>
          </a:p>
          <a:p>
            <a:pPr indent="0" lvl="0" marL="0" rtl="0" algn="l">
              <a:spcBef>
                <a:spcPts val="0"/>
              </a:spcBef>
              <a:spcAft>
                <a:spcPts val="0"/>
              </a:spcAft>
              <a:buNone/>
            </a:pPr>
            <a:r>
              <a:t/>
            </a:r>
            <a:endParaRPr sz="3000">
              <a:solidFill>
                <a:srgbClr val="006699"/>
              </a:solidFill>
            </a:endParaRPr>
          </a:p>
          <a:p>
            <a:pPr indent="-419100" lvl="0" marL="457200" rtl="0" algn="l">
              <a:spcBef>
                <a:spcPts val="0"/>
              </a:spcBef>
              <a:spcAft>
                <a:spcPts val="0"/>
              </a:spcAft>
              <a:buClr>
                <a:srgbClr val="C36900"/>
              </a:buClr>
              <a:buSzPts val="3000"/>
              <a:buChar char="-"/>
            </a:pPr>
            <a:r>
              <a:rPr lang="es" sz="3000">
                <a:solidFill>
                  <a:srgbClr val="C36900"/>
                </a:solidFill>
              </a:rPr>
              <a:t>Sistema operativo</a:t>
            </a:r>
            <a:endParaRPr sz="3000">
              <a:solidFill>
                <a:srgbClr val="C36900"/>
              </a:solidFill>
            </a:endParaRPr>
          </a:p>
          <a:p>
            <a:pPr indent="0" lvl="0" marL="0" rtl="0" algn="l">
              <a:spcBef>
                <a:spcPts val="0"/>
              </a:spcBef>
              <a:spcAft>
                <a:spcPts val="0"/>
              </a:spcAft>
              <a:buNone/>
            </a:pPr>
            <a:r>
              <a:rPr lang="es" sz="3000">
                <a:solidFill>
                  <a:srgbClr val="006699"/>
                </a:solidFill>
              </a:rPr>
              <a:t>Exploits y virus propios del sistema operativo, Ddos, que permitan acceso a sus datos…</a:t>
            </a:r>
            <a:endParaRPr sz="3000">
              <a:solidFill>
                <a:srgbClr val="006699"/>
              </a:solidFill>
            </a:endParaRPr>
          </a:p>
          <a:p>
            <a:pPr indent="0" lvl="0" marL="0" rtl="0" algn="l">
              <a:spcBef>
                <a:spcPts val="0"/>
              </a:spcBef>
              <a:spcAft>
                <a:spcPts val="0"/>
              </a:spcAft>
              <a:buNone/>
            </a:pPr>
            <a:r>
              <a:t/>
            </a:r>
            <a:endParaRPr sz="3000">
              <a:solidFill>
                <a:srgbClr val="006699"/>
              </a:solidFill>
            </a:endParaRPr>
          </a:p>
          <a:p>
            <a:pPr indent="-419100" lvl="0" marL="457200" rtl="0" algn="l">
              <a:spcBef>
                <a:spcPts val="0"/>
              </a:spcBef>
              <a:spcAft>
                <a:spcPts val="0"/>
              </a:spcAft>
              <a:buClr>
                <a:srgbClr val="006699"/>
              </a:buClr>
              <a:buSzPts val="3000"/>
              <a:buChar char="-"/>
            </a:pPr>
            <a:r>
              <a:rPr lang="es" sz="3000">
                <a:solidFill>
                  <a:srgbClr val="C36900"/>
                </a:solidFill>
              </a:rPr>
              <a:t>Nuestra Aplicación</a:t>
            </a:r>
            <a:r>
              <a:rPr lang="es" sz="3000">
                <a:solidFill>
                  <a:srgbClr val="006699"/>
                </a:solidFill>
              </a:rPr>
              <a:t>  </a:t>
            </a:r>
            <a:endParaRPr sz="3000">
              <a:solidFill>
                <a:srgbClr val="006699"/>
              </a:solidFill>
            </a:endParaRPr>
          </a:p>
          <a:p>
            <a:pPr indent="0" lvl="0" marL="0" rtl="0" algn="l">
              <a:spcBef>
                <a:spcPts val="0"/>
              </a:spcBef>
              <a:spcAft>
                <a:spcPts val="0"/>
              </a:spcAft>
              <a:buNone/>
            </a:pPr>
            <a:r>
              <a:rPr lang="es" sz="3000">
                <a:solidFill>
                  <a:srgbClr val="006699"/>
                </a:solidFill>
              </a:rPr>
              <a:t>Ataques dirigidos: SQL Injection, Pishing, Spoofing, Desbordamiento de buffer, Javascript/html Injection... </a:t>
            </a:r>
            <a:endParaRPr sz="3000">
              <a:solidFill>
                <a:srgbClr val="006699"/>
              </a:solidFill>
            </a:endParaRPr>
          </a:p>
          <a:p>
            <a:pPr indent="0" lvl="0" marL="0" rtl="0" algn="l">
              <a:spcBef>
                <a:spcPts val="0"/>
              </a:spcBef>
              <a:spcAft>
                <a:spcPts val="0"/>
              </a:spcAft>
              <a:buNone/>
            </a:pPr>
            <a:r>
              <a:t/>
            </a:r>
            <a:endParaRPr sz="3000">
              <a:solidFill>
                <a:srgbClr val="006699"/>
              </a:solidFill>
            </a:endParaRPr>
          </a:p>
          <a:p>
            <a:pPr indent="0" lvl="0" marL="0" rtl="0" algn="l">
              <a:lnSpc>
                <a:spcPct val="100000"/>
              </a:lnSpc>
              <a:spcBef>
                <a:spcPts val="0"/>
              </a:spcBef>
              <a:spcAft>
                <a:spcPts val="0"/>
              </a:spcAft>
              <a:buNone/>
            </a:pPr>
            <a:r>
              <a:t/>
            </a:r>
            <a:endParaRPr sz="3000">
              <a:solidFill>
                <a:srgbClr val="006699"/>
              </a:solidFill>
            </a:endParaRPr>
          </a:p>
        </p:txBody>
      </p:sp>
      <p:sp>
        <p:nvSpPr>
          <p:cNvPr id="179" name="Google Shape;179;p31"/>
          <p:cNvSpPr txBox="1"/>
          <p:nvPr/>
        </p:nvSpPr>
        <p:spPr>
          <a:xfrm>
            <a:off x="0" y="0"/>
            <a:ext cx="7302900" cy="603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s" sz="2200">
                <a:solidFill>
                  <a:srgbClr val="136798"/>
                </a:solidFill>
              </a:rPr>
              <a:t>4 - ¿Cómo pueden atacarme?</a:t>
            </a:r>
            <a:endParaRPr sz="2200">
              <a:solidFill>
                <a:srgbClr val="136798"/>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83" name="Shape 183"/>
        <p:cNvGrpSpPr/>
        <p:nvPr/>
      </p:nvGrpSpPr>
      <p:grpSpPr>
        <a:xfrm>
          <a:off x="0" y="0"/>
          <a:ext cx="0" cy="0"/>
          <a:chOff x="0" y="0"/>
          <a:chExt cx="0" cy="0"/>
        </a:xfrm>
      </p:grpSpPr>
      <p:sp>
        <p:nvSpPr>
          <p:cNvPr id="184" name="Google Shape;184;p32"/>
          <p:cNvSpPr txBox="1"/>
          <p:nvPr/>
        </p:nvSpPr>
        <p:spPr>
          <a:xfrm>
            <a:off x="1376600" y="3103625"/>
            <a:ext cx="7208400" cy="840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32"/>
          <p:cNvSpPr txBox="1"/>
          <p:nvPr>
            <p:ph idx="1" type="subTitle"/>
          </p:nvPr>
        </p:nvSpPr>
        <p:spPr>
          <a:xfrm>
            <a:off x="25" y="603300"/>
            <a:ext cx="9144000" cy="6191700"/>
          </a:xfrm>
          <a:prstGeom prst="rect">
            <a:avLst/>
          </a:prstGeom>
          <a:noFill/>
          <a:ln>
            <a:noFill/>
          </a:ln>
        </p:spPr>
        <p:txBody>
          <a:bodyPr anchorCtr="0" anchor="t" bIns="45700" lIns="91425" spcFirstLastPara="1" rIns="91425" wrap="square" tIns="45700">
            <a:noAutofit/>
          </a:bodyPr>
          <a:lstStyle/>
          <a:p>
            <a:pPr indent="-412750" lvl="0" marL="457200" rtl="0" algn="l">
              <a:spcBef>
                <a:spcPts val="0"/>
              </a:spcBef>
              <a:spcAft>
                <a:spcPts val="0"/>
              </a:spcAft>
              <a:buClr>
                <a:srgbClr val="C36900"/>
              </a:buClr>
              <a:buSzPts val="2900"/>
              <a:buChar char="-"/>
            </a:pPr>
            <a:r>
              <a:rPr lang="es" sz="2900">
                <a:solidFill>
                  <a:srgbClr val="C36900"/>
                </a:solidFill>
              </a:rPr>
              <a:t>Usuarios críticos del sistema</a:t>
            </a:r>
            <a:endParaRPr sz="2900">
              <a:solidFill>
                <a:srgbClr val="C36900"/>
              </a:solidFill>
            </a:endParaRPr>
          </a:p>
          <a:p>
            <a:pPr indent="0" lvl="0" marL="0" rtl="0" algn="l">
              <a:spcBef>
                <a:spcPts val="0"/>
              </a:spcBef>
              <a:spcAft>
                <a:spcPts val="0"/>
              </a:spcAft>
              <a:buNone/>
            </a:pPr>
            <a:r>
              <a:rPr lang="es" sz="2900">
                <a:solidFill>
                  <a:srgbClr val="006699"/>
                </a:solidFill>
              </a:rPr>
              <a:t>Los empleados de nuestra empresa, y otras personas con accesos a datos privados de otros también pueden ser motivo o fuente de ataques, podrían filtrar contraseñas o datos de otros por malicia/dinero/despiste/borrachera.</a:t>
            </a:r>
            <a:endParaRPr sz="2900">
              <a:solidFill>
                <a:srgbClr val="006699"/>
              </a:solidFill>
            </a:endParaRPr>
          </a:p>
          <a:p>
            <a:pPr indent="0" lvl="0" marL="0" rtl="0" algn="l">
              <a:spcBef>
                <a:spcPts val="0"/>
              </a:spcBef>
              <a:spcAft>
                <a:spcPts val="0"/>
              </a:spcAft>
              <a:buNone/>
            </a:pPr>
            <a:r>
              <a:t/>
            </a:r>
            <a:endParaRPr sz="2900">
              <a:solidFill>
                <a:srgbClr val="006699"/>
              </a:solidFill>
            </a:endParaRPr>
          </a:p>
          <a:p>
            <a:pPr indent="-412750" lvl="0" marL="457200" rtl="0" algn="l">
              <a:spcBef>
                <a:spcPts val="0"/>
              </a:spcBef>
              <a:spcAft>
                <a:spcPts val="0"/>
              </a:spcAft>
              <a:buClr>
                <a:srgbClr val="C36900"/>
              </a:buClr>
              <a:buSzPts val="2900"/>
              <a:buChar char="-"/>
            </a:pPr>
            <a:r>
              <a:rPr lang="es" sz="2900">
                <a:solidFill>
                  <a:srgbClr val="C36900"/>
                </a:solidFill>
              </a:rPr>
              <a:t>Redes sociales</a:t>
            </a:r>
            <a:endParaRPr sz="2900">
              <a:solidFill>
                <a:srgbClr val="C36900"/>
              </a:solidFill>
            </a:endParaRPr>
          </a:p>
          <a:p>
            <a:pPr indent="0" lvl="0" marL="0" rtl="0" algn="l">
              <a:spcBef>
                <a:spcPts val="0"/>
              </a:spcBef>
              <a:spcAft>
                <a:spcPts val="0"/>
              </a:spcAft>
              <a:buClr>
                <a:schemeClr val="dk1"/>
              </a:buClr>
              <a:buSzPts val="1100"/>
              <a:buFont typeface="Arial"/>
              <a:buNone/>
            </a:pPr>
            <a:r>
              <a:rPr lang="es" sz="2900">
                <a:solidFill>
                  <a:srgbClr val="006699"/>
                </a:solidFill>
              </a:rPr>
              <a:t>Aunque no son objeto de ataques informáticos tradicionales, pueden dañar la credibilidad de la empresa y su negocio. No contrates al hijo de la vecina como community manager solo porque se pase el día enganchado a twitter. Ten cuidado con lo que twitteas como empleado.</a:t>
            </a:r>
            <a:endParaRPr sz="2900">
              <a:solidFill>
                <a:srgbClr val="006699"/>
              </a:solidFill>
            </a:endParaRPr>
          </a:p>
          <a:p>
            <a:pPr indent="0" lvl="0" marL="0" rtl="0" algn="l">
              <a:spcBef>
                <a:spcPts val="0"/>
              </a:spcBef>
              <a:spcAft>
                <a:spcPts val="0"/>
              </a:spcAft>
              <a:buNone/>
            </a:pPr>
            <a:r>
              <a:t/>
            </a:r>
            <a:endParaRPr sz="3000">
              <a:solidFill>
                <a:srgbClr val="006699"/>
              </a:solidFill>
            </a:endParaRPr>
          </a:p>
          <a:p>
            <a:pPr indent="0" lvl="0" marL="0" rtl="0" algn="l">
              <a:lnSpc>
                <a:spcPct val="100000"/>
              </a:lnSpc>
              <a:spcBef>
                <a:spcPts val="0"/>
              </a:spcBef>
              <a:spcAft>
                <a:spcPts val="0"/>
              </a:spcAft>
              <a:buNone/>
            </a:pPr>
            <a:r>
              <a:t/>
            </a:r>
            <a:endParaRPr sz="3000">
              <a:solidFill>
                <a:srgbClr val="006699"/>
              </a:solidFill>
            </a:endParaRPr>
          </a:p>
        </p:txBody>
      </p:sp>
      <p:sp>
        <p:nvSpPr>
          <p:cNvPr id="186" name="Google Shape;186;p32"/>
          <p:cNvSpPr txBox="1"/>
          <p:nvPr/>
        </p:nvSpPr>
        <p:spPr>
          <a:xfrm>
            <a:off x="0" y="0"/>
            <a:ext cx="7302900" cy="603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s" sz="2200">
                <a:solidFill>
                  <a:srgbClr val="136798"/>
                </a:solidFill>
              </a:rPr>
              <a:t>4 - ¿Cómo pueden atacarme?</a:t>
            </a:r>
            <a:endParaRPr sz="2200">
              <a:solidFill>
                <a:srgbClr val="136798"/>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90" name="Shape 190"/>
        <p:cNvGrpSpPr/>
        <p:nvPr/>
      </p:nvGrpSpPr>
      <p:grpSpPr>
        <a:xfrm>
          <a:off x="0" y="0"/>
          <a:ext cx="0" cy="0"/>
          <a:chOff x="0" y="0"/>
          <a:chExt cx="0" cy="0"/>
        </a:xfrm>
      </p:grpSpPr>
      <p:pic>
        <p:nvPicPr>
          <p:cNvPr id="191" name="Google Shape;191;p33"/>
          <p:cNvPicPr preferRelativeResize="0"/>
          <p:nvPr/>
        </p:nvPicPr>
        <p:blipFill rotWithShape="1">
          <a:blip r:embed="rId4">
            <a:alphaModFix/>
          </a:blip>
          <a:srcRect b="0" l="-796" r="0" t="0"/>
          <a:stretch/>
        </p:blipFill>
        <p:spPr>
          <a:xfrm>
            <a:off x="0" y="603300"/>
            <a:ext cx="9144000" cy="6238589"/>
          </a:xfrm>
          <a:prstGeom prst="rect">
            <a:avLst/>
          </a:prstGeom>
          <a:noFill/>
          <a:ln>
            <a:noFill/>
          </a:ln>
        </p:spPr>
      </p:pic>
      <p:sp>
        <p:nvSpPr>
          <p:cNvPr id="192" name="Google Shape;192;p33"/>
          <p:cNvSpPr txBox="1"/>
          <p:nvPr/>
        </p:nvSpPr>
        <p:spPr>
          <a:xfrm>
            <a:off x="7302900" y="6565500"/>
            <a:ext cx="1944600" cy="292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a:solidFill>
                  <a:srgbClr val="FFFFFF"/>
                </a:solidFill>
                <a:highlight>
                  <a:srgbClr val="FF0000"/>
                </a:highlight>
              </a:rPr>
              <a:t>Imagen de Giphy.com</a:t>
            </a:r>
            <a:endParaRPr>
              <a:solidFill>
                <a:srgbClr val="FFFFFF"/>
              </a:solidFill>
              <a:highlight>
                <a:srgbClr val="FF0000"/>
              </a:highlight>
            </a:endParaRPr>
          </a:p>
        </p:txBody>
      </p:sp>
      <p:sp>
        <p:nvSpPr>
          <p:cNvPr id="193" name="Google Shape;193;p33"/>
          <p:cNvSpPr txBox="1"/>
          <p:nvPr/>
        </p:nvSpPr>
        <p:spPr>
          <a:xfrm>
            <a:off x="0" y="0"/>
            <a:ext cx="7302900" cy="603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s" sz="2200">
                <a:solidFill>
                  <a:srgbClr val="136798"/>
                </a:solidFill>
              </a:rPr>
              <a:t>5</a:t>
            </a:r>
            <a:r>
              <a:rPr lang="es" sz="2200">
                <a:solidFill>
                  <a:srgbClr val="136798"/>
                </a:solidFill>
              </a:rPr>
              <a:t> - ¿Cómo puedo protegerlo?</a:t>
            </a:r>
            <a:endParaRPr sz="2200">
              <a:solidFill>
                <a:srgbClr val="136798"/>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97" name="Shape 197"/>
        <p:cNvGrpSpPr/>
        <p:nvPr/>
      </p:nvGrpSpPr>
      <p:grpSpPr>
        <a:xfrm>
          <a:off x="0" y="0"/>
          <a:ext cx="0" cy="0"/>
          <a:chOff x="0" y="0"/>
          <a:chExt cx="0" cy="0"/>
        </a:xfrm>
      </p:grpSpPr>
      <p:sp>
        <p:nvSpPr>
          <p:cNvPr id="198" name="Google Shape;198;p34"/>
          <p:cNvSpPr txBox="1"/>
          <p:nvPr/>
        </p:nvSpPr>
        <p:spPr>
          <a:xfrm>
            <a:off x="1376600" y="3103625"/>
            <a:ext cx="7208400" cy="840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9" name="Google Shape;199;p34"/>
          <p:cNvSpPr txBox="1"/>
          <p:nvPr>
            <p:ph idx="1" type="subTitle"/>
          </p:nvPr>
        </p:nvSpPr>
        <p:spPr>
          <a:xfrm>
            <a:off x="25" y="603300"/>
            <a:ext cx="9144000" cy="61917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None/>
            </a:pPr>
            <a:r>
              <a:rPr lang="es" sz="3000">
                <a:solidFill>
                  <a:srgbClr val="006699"/>
                </a:solidFill>
              </a:rPr>
              <a:t>Podemos prevenir ataques internos o externos (si vulneran nuestro SO y ganan acceso) por robo de información.</a:t>
            </a:r>
            <a:endParaRPr sz="3000">
              <a:solidFill>
                <a:srgbClr val="006699"/>
              </a:solidFill>
            </a:endParaRPr>
          </a:p>
          <a:p>
            <a:pPr indent="0" lvl="0" marL="0" rtl="0" algn="ctr">
              <a:lnSpc>
                <a:spcPct val="100000"/>
              </a:lnSpc>
              <a:spcBef>
                <a:spcPts val="0"/>
              </a:spcBef>
              <a:spcAft>
                <a:spcPts val="0"/>
              </a:spcAft>
              <a:buNone/>
            </a:pPr>
            <a:r>
              <a:t/>
            </a:r>
            <a:endParaRPr sz="3000">
              <a:solidFill>
                <a:srgbClr val="006699"/>
              </a:solidFill>
            </a:endParaRPr>
          </a:p>
          <a:p>
            <a:pPr indent="0" lvl="0" marL="0" rtl="0" algn="ctr">
              <a:lnSpc>
                <a:spcPct val="100000"/>
              </a:lnSpc>
              <a:spcBef>
                <a:spcPts val="0"/>
              </a:spcBef>
              <a:spcAft>
                <a:spcPts val="0"/>
              </a:spcAft>
              <a:buNone/>
            </a:pPr>
            <a:r>
              <a:rPr lang="es" sz="3000">
                <a:solidFill>
                  <a:srgbClr val="006699"/>
                </a:solidFill>
              </a:rPr>
              <a:t>Para esto disponemos de dos técnicas: </a:t>
            </a:r>
            <a:r>
              <a:rPr lang="es" sz="3000">
                <a:solidFill>
                  <a:srgbClr val="C36900"/>
                </a:solidFill>
              </a:rPr>
              <a:t>Hasing </a:t>
            </a:r>
            <a:r>
              <a:rPr lang="es" sz="3000">
                <a:solidFill>
                  <a:srgbClr val="006699"/>
                </a:solidFill>
              </a:rPr>
              <a:t>y </a:t>
            </a:r>
            <a:r>
              <a:rPr lang="es" sz="3000">
                <a:solidFill>
                  <a:srgbClr val="C36900"/>
                </a:solidFill>
              </a:rPr>
              <a:t>Encriptación</a:t>
            </a:r>
            <a:r>
              <a:rPr lang="es" sz="3000">
                <a:solidFill>
                  <a:srgbClr val="006699"/>
                </a:solidFill>
              </a:rPr>
              <a:t>.</a:t>
            </a:r>
            <a:endParaRPr sz="3000">
              <a:solidFill>
                <a:srgbClr val="006699"/>
              </a:solidFill>
            </a:endParaRPr>
          </a:p>
        </p:txBody>
      </p:sp>
      <p:sp>
        <p:nvSpPr>
          <p:cNvPr id="200" name="Google Shape;200;p34"/>
          <p:cNvSpPr txBox="1"/>
          <p:nvPr/>
        </p:nvSpPr>
        <p:spPr>
          <a:xfrm>
            <a:off x="0" y="0"/>
            <a:ext cx="7302900" cy="603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s" sz="2200">
                <a:solidFill>
                  <a:srgbClr val="136798"/>
                </a:solidFill>
              </a:rPr>
              <a:t>7 - Seguridad</a:t>
            </a:r>
            <a:endParaRPr sz="2200">
              <a:solidFill>
                <a:srgbClr val="136798"/>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04" name="Shape 204"/>
        <p:cNvGrpSpPr/>
        <p:nvPr/>
      </p:nvGrpSpPr>
      <p:grpSpPr>
        <a:xfrm>
          <a:off x="0" y="0"/>
          <a:ext cx="0" cy="0"/>
          <a:chOff x="0" y="0"/>
          <a:chExt cx="0" cy="0"/>
        </a:xfrm>
      </p:grpSpPr>
      <p:sp>
        <p:nvSpPr>
          <p:cNvPr id="205" name="Google Shape;205;p35"/>
          <p:cNvSpPr txBox="1"/>
          <p:nvPr/>
        </p:nvSpPr>
        <p:spPr>
          <a:xfrm>
            <a:off x="-125" y="603300"/>
            <a:ext cx="9144000" cy="6254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s" sz="2400">
                <a:solidFill>
                  <a:srgbClr val="C36900"/>
                </a:solidFill>
              </a:rPr>
              <a:t>Hashing vs Encriptación</a:t>
            </a:r>
            <a:endParaRPr sz="2400">
              <a:solidFill>
                <a:srgbClr val="C36900"/>
              </a:solidFill>
            </a:endParaRPr>
          </a:p>
          <a:p>
            <a:pPr indent="0" lvl="0" marL="0" rtl="0" algn="l">
              <a:lnSpc>
                <a:spcPct val="115000"/>
              </a:lnSpc>
              <a:spcBef>
                <a:spcPts val="900"/>
              </a:spcBef>
              <a:spcAft>
                <a:spcPts val="0"/>
              </a:spcAft>
              <a:buNone/>
            </a:pPr>
            <a:r>
              <a:rPr lang="es" sz="2400">
                <a:solidFill>
                  <a:srgbClr val="C36900"/>
                </a:solidFill>
              </a:rPr>
              <a:t>Hashing </a:t>
            </a:r>
            <a:r>
              <a:rPr lang="es" sz="2400">
                <a:solidFill>
                  <a:srgbClr val="136798"/>
                </a:solidFill>
              </a:rPr>
              <a:t>mapea una entrada de cualquier longitud en una cadena de longitud normalmente fija. MD5 o SHA1/2/256/512 son funciones de hashing. </a:t>
            </a:r>
            <a:br>
              <a:rPr lang="es" sz="2400">
                <a:solidFill>
                  <a:srgbClr val="136798"/>
                </a:solidFill>
              </a:rPr>
            </a:br>
            <a:r>
              <a:rPr lang="es" sz="2400">
                <a:solidFill>
                  <a:srgbClr val="136798"/>
                </a:solidFill>
              </a:rPr>
              <a:t>Su idea es que haya un mapeo en un solo sentido, y no se pueda volver hacia atrás.</a:t>
            </a:r>
            <a:br>
              <a:rPr lang="es" sz="2400">
                <a:solidFill>
                  <a:srgbClr val="136798"/>
                </a:solidFill>
              </a:rPr>
            </a:br>
            <a:br>
              <a:rPr lang="es" sz="2400">
                <a:solidFill>
                  <a:srgbClr val="136798"/>
                </a:solidFill>
              </a:rPr>
            </a:br>
            <a:r>
              <a:rPr lang="es" sz="2400">
                <a:solidFill>
                  <a:srgbClr val="136798"/>
                </a:solidFill>
              </a:rPr>
              <a:t>Normalmente estas funciones realizan varias operaciones varias veces sobre una cadena, y revertir el hasing supondría averiguar esos múltiples métodos en orden.</a:t>
            </a:r>
            <a:endParaRPr sz="2400">
              <a:solidFill>
                <a:srgbClr val="136798"/>
              </a:solidFill>
            </a:endParaRPr>
          </a:p>
          <a:p>
            <a:pPr indent="0" lvl="0" marL="0" rtl="0" algn="l">
              <a:lnSpc>
                <a:spcPct val="115000"/>
              </a:lnSpc>
              <a:spcBef>
                <a:spcPts val="900"/>
              </a:spcBef>
              <a:spcAft>
                <a:spcPts val="0"/>
              </a:spcAft>
              <a:buNone/>
            </a:pPr>
            <a:r>
              <a:t/>
            </a:r>
            <a:endParaRPr sz="2400">
              <a:solidFill>
                <a:srgbClr val="136798"/>
              </a:solidFill>
            </a:endParaRPr>
          </a:p>
          <a:p>
            <a:pPr indent="0" lvl="0" marL="0" rtl="0" algn="l">
              <a:lnSpc>
                <a:spcPct val="115000"/>
              </a:lnSpc>
              <a:spcBef>
                <a:spcPts val="900"/>
              </a:spcBef>
              <a:spcAft>
                <a:spcPts val="900"/>
              </a:spcAft>
              <a:buNone/>
            </a:pPr>
            <a:r>
              <a:rPr lang="es" sz="2400">
                <a:solidFill>
                  <a:srgbClr val="136798"/>
                </a:solidFill>
              </a:rPr>
              <a:t>No se puede evitar que siempre haya colisiones con este método.</a:t>
            </a:r>
            <a:endParaRPr sz="2400">
              <a:solidFill>
                <a:srgbClr val="136798"/>
              </a:solidFill>
            </a:endParaRPr>
          </a:p>
        </p:txBody>
      </p:sp>
      <p:sp>
        <p:nvSpPr>
          <p:cNvPr id="206" name="Google Shape;206;p35"/>
          <p:cNvSpPr txBox="1"/>
          <p:nvPr/>
        </p:nvSpPr>
        <p:spPr>
          <a:xfrm>
            <a:off x="0" y="0"/>
            <a:ext cx="7302900" cy="603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s" sz="2200">
                <a:solidFill>
                  <a:srgbClr val="136798"/>
                </a:solidFill>
              </a:rPr>
              <a:t>7 - Seguridad</a:t>
            </a:r>
            <a:endParaRPr sz="2200">
              <a:solidFill>
                <a:srgbClr val="136798"/>
              </a:solidFil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10" name="Shape 210"/>
        <p:cNvGrpSpPr/>
        <p:nvPr/>
      </p:nvGrpSpPr>
      <p:grpSpPr>
        <a:xfrm>
          <a:off x="0" y="0"/>
          <a:ext cx="0" cy="0"/>
          <a:chOff x="0" y="0"/>
          <a:chExt cx="0" cy="0"/>
        </a:xfrm>
      </p:grpSpPr>
      <p:sp>
        <p:nvSpPr>
          <p:cNvPr id="211" name="Google Shape;211;p36"/>
          <p:cNvSpPr txBox="1"/>
          <p:nvPr/>
        </p:nvSpPr>
        <p:spPr>
          <a:xfrm>
            <a:off x="-125" y="603300"/>
            <a:ext cx="9144000" cy="6254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s" sz="2400">
                <a:solidFill>
                  <a:srgbClr val="C36900"/>
                </a:solidFill>
              </a:rPr>
              <a:t>Hashing vs Encriptación</a:t>
            </a:r>
            <a:endParaRPr sz="2400">
              <a:solidFill>
                <a:srgbClr val="C36900"/>
              </a:solidFill>
            </a:endParaRPr>
          </a:p>
          <a:p>
            <a:pPr indent="0" lvl="0" marL="0" rtl="0" algn="l">
              <a:lnSpc>
                <a:spcPct val="115000"/>
              </a:lnSpc>
              <a:spcBef>
                <a:spcPts val="900"/>
              </a:spcBef>
              <a:spcAft>
                <a:spcPts val="0"/>
              </a:spcAft>
              <a:buNone/>
            </a:pPr>
            <a:r>
              <a:rPr lang="es" sz="2400">
                <a:solidFill>
                  <a:srgbClr val="C36900"/>
                </a:solidFill>
              </a:rPr>
              <a:t>Encriptación </a:t>
            </a:r>
            <a:r>
              <a:rPr lang="es" sz="2400">
                <a:solidFill>
                  <a:srgbClr val="136798"/>
                </a:solidFill>
              </a:rPr>
              <a:t>es un mapeado entre una entrada y una salida, siempre son reversibles usando un cierto método. Una buena encriptación debería ser indistinguible de datos sin sentido, variando longitudes y formatos.</a:t>
            </a:r>
            <a:endParaRPr sz="2400">
              <a:solidFill>
                <a:srgbClr val="136798"/>
              </a:solidFill>
            </a:endParaRPr>
          </a:p>
          <a:p>
            <a:pPr indent="0" lvl="0" marL="0" rtl="0" algn="l">
              <a:lnSpc>
                <a:spcPct val="115000"/>
              </a:lnSpc>
              <a:spcBef>
                <a:spcPts val="900"/>
              </a:spcBef>
              <a:spcAft>
                <a:spcPts val="0"/>
              </a:spcAft>
              <a:buNone/>
            </a:pPr>
            <a:r>
              <a:t/>
            </a:r>
            <a:endParaRPr sz="2400">
              <a:solidFill>
                <a:srgbClr val="136798"/>
              </a:solidFill>
            </a:endParaRPr>
          </a:p>
          <a:p>
            <a:pPr indent="0" lvl="0" marL="0" rtl="0" algn="l">
              <a:lnSpc>
                <a:spcPct val="115000"/>
              </a:lnSpc>
              <a:spcBef>
                <a:spcPts val="900"/>
              </a:spcBef>
              <a:spcAft>
                <a:spcPts val="900"/>
              </a:spcAft>
              <a:buNone/>
            </a:pPr>
            <a:r>
              <a:rPr lang="es" sz="2400">
                <a:solidFill>
                  <a:srgbClr val="136798"/>
                </a:solidFill>
              </a:rPr>
              <a:t>La encriptación está pensada para almacenar datos que queremos recuperar y se tienen que almacenar en disco, como una tarjeta de crédito guardada para reusarla automáticamente. Hay que tener mucho cuidado de tener la clave de encriptación bien guardada en ese caso.</a:t>
            </a:r>
            <a:endParaRPr sz="2400">
              <a:solidFill>
                <a:srgbClr val="136798"/>
              </a:solidFill>
            </a:endParaRPr>
          </a:p>
        </p:txBody>
      </p:sp>
      <p:sp>
        <p:nvSpPr>
          <p:cNvPr id="212" name="Google Shape;212;p36"/>
          <p:cNvSpPr txBox="1"/>
          <p:nvPr/>
        </p:nvSpPr>
        <p:spPr>
          <a:xfrm>
            <a:off x="0" y="0"/>
            <a:ext cx="7302900" cy="603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s" sz="2200">
                <a:solidFill>
                  <a:srgbClr val="136798"/>
                </a:solidFill>
              </a:rPr>
              <a:t>7 - Seguridad</a:t>
            </a:r>
            <a:endParaRPr sz="2200">
              <a:solidFill>
                <a:srgbClr val="136798"/>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16" name="Shape 216"/>
        <p:cNvGrpSpPr/>
        <p:nvPr/>
      </p:nvGrpSpPr>
      <p:grpSpPr>
        <a:xfrm>
          <a:off x="0" y="0"/>
          <a:ext cx="0" cy="0"/>
          <a:chOff x="0" y="0"/>
          <a:chExt cx="0" cy="0"/>
        </a:xfrm>
      </p:grpSpPr>
      <p:sp>
        <p:nvSpPr>
          <p:cNvPr id="217" name="Google Shape;217;p37"/>
          <p:cNvSpPr txBox="1"/>
          <p:nvPr/>
        </p:nvSpPr>
        <p:spPr>
          <a:xfrm>
            <a:off x="-125" y="603300"/>
            <a:ext cx="9144000" cy="6254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s" sz="2400">
                <a:solidFill>
                  <a:srgbClr val="C36900"/>
                </a:solidFill>
              </a:rPr>
              <a:t>Qué algoritmos hay para hashing</a:t>
            </a:r>
            <a:endParaRPr sz="2400">
              <a:solidFill>
                <a:srgbClr val="C36900"/>
              </a:solidFill>
            </a:endParaRPr>
          </a:p>
          <a:p>
            <a:pPr indent="-381000" lvl="0" marL="457200" rtl="0" algn="l">
              <a:lnSpc>
                <a:spcPct val="115000"/>
              </a:lnSpc>
              <a:spcBef>
                <a:spcPts val="900"/>
              </a:spcBef>
              <a:spcAft>
                <a:spcPts val="0"/>
              </a:spcAft>
              <a:buClr>
                <a:srgbClr val="136798"/>
              </a:buClr>
              <a:buSzPts val="2400"/>
              <a:buChar char="●"/>
            </a:pPr>
            <a:r>
              <a:rPr lang="es" sz="2400">
                <a:solidFill>
                  <a:srgbClr val="136798"/>
                </a:solidFill>
              </a:rPr>
              <a:t>Message Digest 5 (md5), usa hash de 128 bits (16 bytes).</a:t>
            </a:r>
            <a:endParaRPr sz="2400">
              <a:solidFill>
                <a:srgbClr val="136798"/>
              </a:solidFill>
            </a:endParaRPr>
          </a:p>
          <a:p>
            <a:pPr indent="-381000" lvl="0" marL="457200" rtl="0" algn="l">
              <a:lnSpc>
                <a:spcPct val="115000"/>
              </a:lnSpc>
              <a:spcBef>
                <a:spcPts val="0"/>
              </a:spcBef>
              <a:spcAft>
                <a:spcPts val="0"/>
              </a:spcAft>
              <a:buClr>
                <a:srgbClr val="136798"/>
              </a:buClr>
              <a:buSzPts val="2400"/>
              <a:buChar char="●"/>
            </a:pPr>
            <a:r>
              <a:rPr lang="es" sz="2400">
                <a:solidFill>
                  <a:srgbClr val="136798"/>
                </a:solidFill>
              </a:rPr>
              <a:t>Secure Hash Algorithm (SHA), con tres variantes:</a:t>
            </a:r>
            <a:endParaRPr sz="2400">
              <a:solidFill>
                <a:srgbClr val="136798"/>
              </a:solidFill>
            </a:endParaRPr>
          </a:p>
          <a:p>
            <a:pPr indent="-381000" lvl="1" marL="914400" rtl="0" algn="l">
              <a:lnSpc>
                <a:spcPct val="115000"/>
              </a:lnSpc>
              <a:spcBef>
                <a:spcPts val="0"/>
              </a:spcBef>
              <a:spcAft>
                <a:spcPts val="0"/>
              </a:spcAft>
              <a:buClr>
                <a:srgbClr val="136798"/>
              </a:buClr>
              <a:buSzPts val="2400"/>
              <a:buChar char="○"/>
            </a:pPr>
            <a:r>
              <a:rPr lang="es" sz="2400">
                <a:solidFill>
                  <a:srgbClr val="136798"/>
                </a:solidFill>
              </a:rPr>
              <a:t>SHA-1 procesa un mensaje en otro de 160 bits, en un proceso similar a MD5.</a:t>
            </a:r>
            <a:endParaRPr sz="2400">
              <a:solidFill>
                <a:srgbClr val="136798"/>
              </a:solidFill>
            </a:endParaRPr>
          </a:p>
          <a:p>
            <a:pPr indent="-381000" lvl="1" marL="914400" rtl="0" algn="l">
              <a:lnSpc>
                <a:spcPct val="115000"/>
              </a:lnSpc>
              <a:spcBef>
                <a:spcPts val="0"/>
              </a:spcBef>
              <a:spcAft>
                <a:spcPts val="0"/>
              </a:spcAft>
              <a:buClr>
                <a:srgbClr val="136798"/>
              </a:buClr>
              <a:buSzPts val="2400"/>
              <a:buChar char="○"/>
            </a:pPr>
            <a:r>
              <a:rPr lang="es" sz="2400">
                <a:solidFill>
                  <a:srgbClr val="136798"/>
                </a:solidFill>
              </a:rPr>
              <a:t>SHA-2 tiene un conjunto de funciones criptográficas (SHA-224, SHA-256, SHA-384, SHA-512) las longitudes pueden ser 224,256,384 o 512 bits.</a:t>
            </a:r>
            <a:endParaRPr sz="2400">
              <a:solidFill>
                <a:srgbClr val="136798"/>
              </a:solidFill>
            </a:endParaRPr>
          </a:p>
          <a:p>
            <a:pPr indent="-381000" lvl="1" marL="914400" rtl="0" algn="l">
              <a:lnSpc>
                <a:spcPct val="115000"/>
              </a:lnSpc>
              <a:spcBef>
                <a:spcPts val="0"/>
              </a:spcBef>
              <a:spcAft>
                <a:spcPts val="0"/>
              </a:spcAft>
              <a:buClr>
                <a:srgbClr val="136798"/>
              </a:buClr>
              <a:buSzPts val="2400"/>
              <a:buChar char="○"/>
            </a:pPr>
            <a:r>
              <a:rPr lang="es" sz="2400">
                <a:solidFill>
                  <a:srgbClr val="136798"/>
                </a:solidFill>
              </a:rPr>
              <a:t>SHA-3 se crea en 2012, y es liberada en 2015, la longitud del resultado (digest) es arbitraria.</a:t>
            </a:r>
            <a:endParaRPr sz="2300">
              <a:solidFill>
                <a:srgbClr val="136798"/>
              </a:solidFill>
            </a:endParaRPr>
          </a:p>
          <a:p>
            <a:pPr indent="0" lvl="0" marL="0" rtl="0" algn="l">
              <a:lnSpc>
                <a:spcPct val="115000"/>
              </a:lnSpc>
              <a:spcBef>
                <a:spcPts val="900"/>
              </a:spcBef>
              <a:spcAft>
                <a:spcPts val="900"/>
              </a:spcAft>
              <a:buNone/>
            </a:pPr>
            <a:r>
              <a:t/>
            </a:r>
            <a:endParaRPr sz="2400">
              <a:solidFill>
                <a:srgbClr val="C36900"/>
              </a:solidFill>
            </a:endParaRPr>
          </a:p>
        </p:txBody>
      </p:sp>
      <p:sp>
        <p:nvSpPr>
          <p:cNvPr id="218" name="Google Shape;218;p37"/>
          <p:cNvSpPr txBox="1"/>
          <p:nvPr/>
        </p:nvSpPr>
        <p:spPr>
          <a:xfrm>
            <a:off x="0" y="0"/>
            <a:ext cx="7302900" cy="603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s" sz="2200">
                <a:solidFill>
                  <a:srgbClr val="136798"/>
                </a:solidFill>
              </a:rPr>
              <a:t>7 - Seguridad</a:t>
            </a:r>
            <a:endParaRPr sz="2200">
              <a:solidFill>
                <a:srgbClr val="136798"/>
              </a:solidFil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22" name="Shape 222"/>
        <p:cNvGrpSpPr/>
        <p:nvPr/>
      </p:nvGrpSpPr>
      <p:grpSpPr>
        <a:xfrm>
          <a:off x="0" y="0"/>
          <a:ext cx="0" cy="0"/>
          <a:chOff x="0" y="0"/>
          <a:chExt cx="0" cy="0"/>
        </a:xfrm>
      </p:grpSpPr>
      <p:sp>
        <p:nvSpPr>
          <p:cNvPr id="223" name="Google Shape;223;p38"/>
          <p:cNvSpPr txBox="1"/>
          <p:nvPr/>
        </p:nvSpPr>
        <p:spPr>
          <a:xfrm>
            <a:off x="-125" y="603300"/>
            <a:ext cx="9144000" cy="6254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s" sz="2400">
                <a:solidFill>
                  <a:srgbClr val="C36900"/>
                </a:solidFill>
              </a:rPr>
              <a:t>Qué algoritmos hay para hashing</a:t>
            </a:r>
            <a:endParaRPr sz="2400">
              <a:solidFill>
                <a:srgbClr val="C36900"/>
              </a:solidFill>
            </a:endParaRPr>
          </a:p>
          <a:p>
            <a:pPr indent="0" lvl="0" marL="0" marR="127000" rtl="0" algn="l">
              <a:lnSpc>
                <a:spcPct val="115000"/>
              </a:lnSpc>
              <a:spcBef>
                <a:spcPts val="900"/>
              </a:spcBef>
              <a:spcAft>
                <a:spcPts val="0"/>
              </a:spcAft>
              <a:buNone/>
            </a:pPr>
            <a:r>
              <a:rPr lang="es" sz="2300">
                <a:solidFill>
                  <a:srgbClr val="136798"/>
                </a:solidFill>
              </a:rPr>
              <a:t>El </a:t>
            </a:r>
            <a:r>
              <a:rPr b="1" lang="es" sz="2300">
                <a:solidFill>
                  <a:srgbClr val="136798"/>
                </a:solidFill>
              </a:rPr>
              <a:t>SHA</a:t>
            </a:r>
            <a:r>
              <a:rPr lang="es" sz="2300">
                <a:solidFill>
                  <a:srgbClr val="136798"/>
                </a:solidFill>
              </a:rPr>
              <a:t> (</a:t>
            </a:r>
            <a:r>
              <a:rPr i="1" lang="es" sz="2300">
                <a:solidFill>
                  <a:srgbClr val="136798"/>
                </a:solidFill>
              </a:rPr>
              <a:t>Secure Hash Algorithm</a:t>
            </a:r>
            <a:r>
              <a:rPr lang="es" sz="2300">
                <a:solidFill>
                  <a:srgbClr val="136798"/>
                </a:solidFill>
              </a:rPr>
              <a:t>, Algoritmo de </a:t>
            </a:r>
            <a:r>
              <a:rPr i="1" lang="es" sz="2300">
                <a:solidFill>
                  <a:srgbClr val="136798"/>
                </a:solidFill>
              </a:rPr>
              <a:t>Hash</a:t>
            </a:r>
            <a:r>
              <a:rPr lang="es" sz="2300">
                <a:solidFill>
                  <a:srgbClr val="136798"/>
                </a:solidFill>
              </a:rPr>
              <a:t> Seguro) es una familia de funciones </a:t>
            </a:r>
            <a:r>
              <a:rPr lang="es" sz="2300" u="sng">
                <a:solidFill>
                  <a:srgbClr val="136798"/>
                </a:solidFill>
                <a:hlinkClick r:id="rId4">
                  <a:extLst>
                    <a:ext uri="{A12FA001-AC4F-418D-AE19-62706E023703}">
                      <ahyp:hlinkClr val="tx"/>
                    </a:ext>
                  </a:extLst>
                </a:hlinkClick>
              </a:rPr>
              <a:t>hash</a:t>
            </a:r>
            <a:r>
              <a:rPr lang="es" sz="2300">
                <a:solidFill>
                  <a:srgbClr val="136798"/>
                </a:solidFill>
              </a:rPr>
              <a:t> de cifrado publicadas por el Instituto Nacional de Normas y Tecnología (NIST)</a:t>
            </a:r>
            <a:r>
              <a:rPr baseline="30000" lang="es" sz="2300" u="sng">
                <a:solidFill>
                  <a:srgbClr val="136798"/>
                </a:solidFill>
                <a:hlinkClick r:id="rId5">
                  <a:extLst>
                    <a:ext uri="{A12FA001-AC4F-418D-AE19-62706E023703}">
                      <ahyp:hlinkClr val="tx"/>
                    </a:ext>
                  </a:extLst>
                </a:hlinkClick>
              </a:rPr>
              <a:t>1</a:t>
            </a:r>
            <a:r>
              <a:rPr lang="es" sz="2300">
                <a:solidFill>
                  <a:srgbClr val="136798"/>
                </a:solidFill>
              </a:rPr>
              <a:t>​ de EE. UU. La primera versión del algoritmo se creó en 1993 con el nombre de SHA, aunque en la actualidad se la conoce como </a:t>
            </a:r>
            <a:r>
              <a:rPr b="1" lang="es" sz="2300">
                <a:solidFill>
                  <a:srgbClr val="136798"/>
                </a:solidFill>
              </a:rPr>
              <a:t>SHA-0</a:t>
            </a:r>
            <a:r>
              <a:rPr lang="es" sz="2300">
                <a:solidFill>
                  <a:srgbClr val="136798"/>
                </a:solidFill>
              </a:rPr>
              <a:t> para evitar confusiones con las versiones posteriores. La segunda versión del sistema, publicada con el nombre de </a:t>
            </a:r>
            <a:r>
              <a:rPr b="1" lang="es" sz="2300">
                <a:solidFill>
                  <a:srgbClr val="136798"/>
                </a:solidFill>
              </a:rPr>
              <a:t>SHA-1</a:t>
            </a:r>
            <a:r>
              <a:rPr lang="es" sz="2300">
                <a:solidFill>
                  <a:srgbClr val="136798"/>
                </a:solidFill>
              </a:rPr>
              <a:t>, fue publicada dos años más tarde. Posteriormente se han publicado SHA-2 en </a:t>
            </a:r>
            <a:r>
              <a:rPr lang="es" sz="2300" u="sng">
                <a:solidFill>
                  <a:srgbClr val="136798"/>
                </a:solidFill>
                <a:hlinkClick r:id="rId6">
                  <a:extLst>
                    <a:ext uri="{A12FA001-AC4F-418D-AE19-62706E023703}">
                      <ahyp:hlinkClr val="tx"/>
                    </a:ext>
                  </a:extLst>
                </a:hlinkClick>
              </a:rPr>
              <a:t>200</a:t>
            </a:r>
            <a:r>
              <a:rPr lang="es" sz="2300"/>
              <a:t>1</a:t>
            </a:r>
            <a:r>
              <a:rPr lang="es" sz="2300">
                <a:solidFill>
                  <a:srgbClr val="136798"/>
                </a:solidFill>
              </a:rPr>
              <a:t> (formada por diversas funciones: </a:t>
            </a:r>
            <a:r>
              <a:rPr b="1" lang="es" sz="2300">
                <a:solidFill>
                  <a:srgbClr val="136798"/>
                </a:solidFill>
              </a:rPr>
              <a:t>SHA-224</a:t>
            </a:r>
            <a:r>
              <a:rPr lang="es" sz="2300">
                <a:solidFill>
                  <a:srgbClr val="136798"/>
                </a:solidFill>
              </a:rPr>
              <a:t>, </a:t>
            </a:r>
            <a:r>
              <a:rPr b="1" lang="es" sz="2300">
                <a:solidFill>
                  <a:srgbClr val="136798"/>
                </a:solidFill>
              </a:rPr>
              <a:t>SHA-256</a:t>
            </a:r>
            <a:r>
              <a:rPr lang="es" sz="2300">
                <a:solidFill>
                  <a:srgbClr val="136798"/>
                </a:solidFill>
              </a:rPr>
              <a:t>, </a:t>
            </a:r>
            <a:r>
              <a:rPr b="1" lang="es" sz="2300">
                <a:solidFill>
                  <a:srgbClr val="136798"/>
                </a:solidFill>
              </a:rPr>
              <a:t>SHA-384</a:t>
            </a:r>
            <a:r>
              <a:rPr lang="es" sz="2300">
                <a:solidFill>
                  <a:srgbClr val="136798"/>
                </a:solidFill>
              </a:rPr>
              <a:t>, y </a:t>
            </a:r>
            <a:r>
              <a:rPr b="1" lang="es" sz="2300">
                <a:solidFill>
                  <a:srgbClr val="136798"/>
                </a:solidFill>
              </a:rPr>
              <a:t>SHA-512</a:t>
            </a:r>
            <a:r>
              <a:rPr lang="es" sz="2300">
                <a:solidFill>
                  <a:srgbClr val="136798"/>
                </a:solidFill>
              </a:rPr>
              <a:t>) y la más reciente, </a:t>
            </a:r>
            <a:r>
              <a:rPr b="1" lang="es" sz="2300">
                <a:solidFill>
                  <a:srgbClr val="136798"/>
                </a:solidFill>
              </a:rPr>
              <a:t>SHA-3</a:t>
            </a:r>
            <a:r>
              <a:rPr lang="es" sz="2300">
                <a:solidFill>
                  <a:srgbClr val="136798"/>
                </a:solidFill>
              </a:rPr>
              <a:t>, que fue seleccionada en una competición de funciones hash celebrada por el NIST en 2012. Esta última versión se caracteriza por ser la que más difiere de sus predecesoras.</a:t>
            </a:r>
            <a:endParaRPr sz="2300">
              <a:solidFill>
                <a:srgbClr val="136798"/>
              </a:solidFill>
            </a:endParaRPr>
          </a:p>
          <a:p>
            <a:pPr indent="0" lvl="0" marL="0" rtl="0" algn="l">
              <a:lnSpc>
                <a:spcPct val="115000"/>
              </a:lnSpc>
              <a:spcBef>
                <a:spcPts val="100"/>
              </a:spcBef>
              <a:spcAft>
                <a:spcPts val="900"/>
              </a:spcAft>
              <a:buNone/>
            </a:pPr>
            <a:r>
              <a:t/>
            </a:r>
            <a:endParaRPr sz="2400">
              <a:solidFill>
                <a:srgbClr val="C36900"/>
              </a:solidFill>
            </a:endParaRPr>
          </a:p>
        </p:txBody>
      </p:sp>
      <p:sp>
        <p:nvSpPr>
          <p:cNvPr id="224" name="Google Shape;224;p38"/>
          <p:cNvSpPr txBox="1"/>
          <p:nvPr/>
        </p:nvSpPr>
        <p:spPr>
          <a:xfrm>
            <a:off x="92150" y="6489425"/>
            <a:ext cx="7339800" cy="856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a:t>Fuente: Wikipedia</a:t>
            </a:r>
            <a:endParaRPr/>
          </a:p>
        </p:txBody>
      </p:sp>
      <p:sp>
        <p:nvSpPr>
          <p:cNvPr id="225" name="Google Shape;225;p38"/>
          <p:cNvSpPr txBox="1"/>
          <p:nvPr/>
        </p:nvSpPr>
        <p:spPr>
          <a:xfrm>
            <a:off x="0" y="0"/>
            <a:ext cx="7302900" cy="603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s" sz="2200">
                <a:solidFill>
                  <a:srgbClr val="136798"/>
                </a:solidFill>
              </a:rPr>
              <a:t>7 - Seguridad</a:t>
            </a:r>
            <a:endParaRPr sz="2200">
              <a:solidFill>
                <a:srgbClr val="136798"/>
              </a:solidFill>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29" name="Shape 229"/>
        <p:cNvGrpSpPr/>
        <p:nvPr/>
      </p:nvGrpSpPr>
      <p:grpSpPr>
        <a:xfrm>
          <a:off x="0" y="0"/>
          <a:ext cx="0" cy="0"/>
          <a:chOff x="0" y="0"/>
          <a:chExt cx="0" cy="0"/>
        </a:xfrm>
      </p:grpSpPr>
      <p:sp>
        <p:nvSpPr>
          <p:cNvPr id="230" name="Google Shape;230;p39"/>
          <p:cNvSpPr txBox="1"/>
          <p:nvPr/>
        </p:nvSpPr>
        <p:spPr>
          <a:xfrm>
            <a:off x="-125" y="603300"/>
            <a:ext cx="9144000" cy="6254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s" sz="2400">
                <a:solidFill>
                  <a:srgbClr val="C36900"/>
                </a:solidFill>
              </a:rPr>
              <a:t>Qué algoritmos hay para hashing</a:t>
            </a:r>
            <a:endParaRPr sz="2400">
              <a:solidFill>
                <a:srgbClr val="C36900"/>
              </a:solidFill>
            </a:endParaRPr>
          </a:p>
          <a:p>
            <a:pPr indent="-374650" lvl="0" marL="685800" rtl="0" algn="l">
              <a:lnSpc>
                <a:spcPct val="115000"/>
              </a:lnSpc>
              <a:spcBef>
                <a:spcPts val="900"/>
              </a:spcBef>
              <a:spcAft>
                <a:spcPts val="0"/>
              </a:spcAft>
              <a:buClr>
                <a:srgbClr val="136798"/>
              </a:buClr>
              <a:buSzPts val="2300"/>
              <a:buChar char="●"/>
            </a:pPr>
            <a:r>
              <a:rPr lang="es" sz="2300">
                <a:solidFill>
                  <a:srgbClr val="136798"/>
                </a:solidFill>
              </a:rPr>
              <a:t>En 1998 se encontró una vulnerabilidad en SHA-0, aunque esta no se podía hacer extensiva a </a:t>
            </a:r>
            <a:r>
              <a:rPr b="1" lang="es" sz="2300">
                <a:solidFill>
                  <a:srgbClr val="136798"/>
                </a:solidFill>
              </a:rPr>
              <a:t>SHA-1</a:t>
            </a:r>
            <a:r>
              <a:rPr lang="es" sz="2300">
                <a:solidFill>
                  <a:srgbClr val="136798"/>
                </a:solidFill>
              </a:rPr>
              <a:t>. En cualquier caso, la NSA aumentó en ese momento la seguridad del </a:t>
            </a:r>
            <a:r>
              <a:rPr b="1" lang="es" sz="2300">
                <a:solidFill>
                  <a:srgbClr val="136798"/>
                </a:solidFill>
              </a:rPr>
              <a:t>SHA-1</a:t>
            </a:r>
            <a:r>
              <a:rPr lang="es" sz="2300">
                <a:solidFill>
                  <a:srgbClr val="136798"/>
                </a:solidFill>
              </a:rPr>
              <a:t>.</a:t>
            </a:r>
            <a:endParaRPr sz="2300">
              <a:solidFill>
                <a:srgbClr val="136798"/>
              </a:solidFill>
            </a:endParaRPr>
          </a:p>
          <a:p>
            <a:pPr indent="-374650" lvl="0" marL="685800" rtl="0" algn="l">
              <a:lnSpc>
                <a:spcPct val="115000"/>
              </a:lnSpc>
              <a:spcBef>
                <a:spcPts val="0"/>
              </a:spcBef>
              <a:spcAft>
                <a:spcPts val="0"/>
              </a:spcAft>
              <a:buClr>
                <a:srgbClr val="136798"/>
              </a:buClr>
              <a:buSzPts val="2300"/>
              <a:buChar char="●"/>
            </a:pPr>
            <a:r>
              <a:rPr lang="es" sz="2300">
                <a:solidFill>
                  <a:srgbClr val="136798"/>
                </a:solidFill>
              </a:rPr>
              <a:t>En 2004 se encontró una debilidad matemática en SHA-1, que permitiría encontrar colisiones de hash más rápido. Sin embargo, este hallazgo resulta poco relevante, pues la complejidad de búsqueda de colisiones pasaría de 2</a:t>
            </a:r>
            <a:r>
              <a:rPr baseline="30000" lang="es" sz="2300">
                <a:solidFill>
                  <a:srgbClr val="136798"/>
                </a:solidFill>
              </a:rPr>
              <a:t>80</a:t>
            </a:r>
            <a:r>
              <a:rPr lang="es" sz="2300">
                <a:solidFill>
                  <a:srgbClr val="136798"/>
                </a:solidFill>
              </a:rPr>
              <a:t> a 2</a:t>
            </a:r>
            <a:r>
              <a:rPr baseline="30000" lang="es" sz="2300">
                <a:solidFill>
                  <a:srgbClr val="136798"/>
                </a:solidFill>
              </a:rPr>
              <a:t>69</a:t>
            </a:r>
            <a:r>
              <a:rPr lang="es" sz="2300">
                <a:solidFill>
                  <a:srgbClr val="136798"/>
                </a:solidFill>
              </a:rPr>
              <a:t>, algo que aún es computacionalmente inviable, requiriendo incluso más trabajo que MD5 (2</a:t>
            </a:r>
            <a:r>
              <a:rPr baseline="30000" lang="es" sz="2300">
                <a:solidFill>
                  <a:srgbClr val="136798"/>
                </a:solidFill>
              </a:rPr>
              <a:t>64</a:t>
            </a:r>
            <a:r>
              <a:rPr lang="es" sz="2300">
                <a:solidFill>
                  <a:srgbClr val="136798"/>
                </a:solidFill>
              </a:rPr>
              <a:t>).</a:t>
            </a:r>
            <a:endParaRPr sz="2300">
              <a:solidFill>
                <a:srgbClr val="136798"/>
              </a:solidFill>
            </a:endParaRPr>
          </a:p>
          <a:p>
            <a:pPr indent="-374650" lvl="0" marL="685800" marR="127000" rtl="0" algn="l">
              <a:lnSpc>
                <a:spcPct val="115000"/>
              </a:lnSpc>
              <a:spcBef>
                <a:spcPts val="0"/>
              </a:spcBef>
              <a:spcAft>
                <a:spcPts val="0"/>
              </a:spcAft>
              <a:buClr>
                <a:srgbClr val="136798"/>
              </a:buClr>
              <a:buSzPts val="2300"/>
              <a:buChar char="●"/>
            </a:pPr>
            <a:r>
              <a:rPr lang="es" sz="2300">
                <a:solidFill>
                  <a:srgbClr val="136798"/>
                </a:solidFill>
              </a:rPr>
              <a:t>El 23 de febrero de 2017, un equipo formado por Google y CWI Amsterdam anunció la primera colisión de SHA-1, la cual ha sido nombrada como SHAttered. Poniendo en duda el algoritmo.</a:t>
            </a:r>
            <a:endParaRPr sz="2300">
              <a:solidFill>
                <a:srgbClr val="136798"/>
              </a:solidFill>
            </a:endParaRPr>
          </a:p>
          <a:p>
            <a:pPr indent="0" lvl="0" marL="0" rtl="0" algn="l">
              <a:lnSpc>
                <a:spcPct val="115000"/>
              </a:lnSpc>
              <a:spcBef>
                <a:spcPts val="100"/>
              </a:spcBef>
              <a:spcAft>
                <a:spcPts val="900"/>
              </a:spcAft>
              <a:buNone/>
            </a:pPr>
            <a:r>
              <a:t/>
            </a:r>
            <a:endParaRPr sz="2400">
              <a:solidFill>
                <a:srgbClr val="C36900"/>
              </a:solidFill>
            </a:endParaRPr>
          </a:p>
        </p:txBody>
      </p:sp>
      <p:sp>
        <p:nvSpPr>
          <p:cNvPr id="231" name="Google Shape;231;p39"/>
          <p:cNvSpPr txBox="1"/>
          <p:nvPr/>
        </p:nvSpPr>
        <p:spPr>
          <a:xfrm>
            <a:off x="92150" y="6489425"/>
            <a:ext cx="7339800" cy="856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a:t>Fuente: Wikipedia</a:t>
            </a:r>
            <a:endParaRPr/>
          </a:p>
        </p:txBody>
      </p:sp>
      <p:sp>
        <p:nvSpPr>
          <p:cNvPr id="232" name="Google Shape;232;p39"/>
          <p:cNvSpPr txBox="1"/>
          <p:nvPr/>
        </p:nvSpPr>
        <p:spPr>
          <a:xfrm>
            <a:off x="0" y="0"/>
            <a:ext cx="7302900" cy="603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s" sz="2200">
                <a:solidFill>
                  <a:srgbClr val="136798"/>
                </a:solidFill>
              </a:rPr>
              <a:t>7 - Seguridad</a:t>
            </a:r>
            <a:endParaRPr sz="2200">
              <a:solidFill>
                <a:srgbClr val="136798"/>
              </a:solidFill>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36" name="Shape 236"/>
        <p:cNvGrpSpPr/>
        <p:nvPr/>
      </p:nvGrpSpPr>
      <p:grpSpPr>
        <a:xfrm>
          <a:off x="0" y="0"/>
          <a:ext cx="0" cy="0"/>
          <a:chOff x="0" y="0"/>
          <a:chExt cx="0" cy="0"/>
        </a:xfrm>
      </p:grpSpPr>
      <p:sp>
        <p:nvSpPr>
          <p:cNvPr id="237" name="Google Shape;237;p40"/>
          <p:cNvSpPr txBox="1"/>
          <p:nvPr/>
        </p:nvSpPr>
        <p:spPr>
          <a:xfrm>
            <a:off x="-125" y="603300"/>
            <a:ext cx="9144000" cy="6254700"/>
          </a:xfrm>
          <a:prstGeom prst="rect">
            <a:avLst/>
          </a:prstGeom>
          <a:noFill/>
          <a:ln>
            <a:noFill/>
          </a:ln>
        </p:spPr>
        <p:txBody>
          <a:bodyPr anchorCtr="0" anchor="t" bIns="91425" lIns="91425" spcFirstLastPara="1" rIns="91425" wrap="square" tIns="91425">
            <a:noAutofit/>
          </a:bodyPr>
          <a:lstStyle/>
          <a:p>
            <a:pPr indent="0" lvl="0" marL="0" marR="127000" rtl="0" algn="l">
              <a:lnSpc>
                <a:spcPct val="115000"/>
              </a:lnSpc>
              <a:spcBef>
                <a:spcPts val="300"/>
              </a:spcBef>
              <a:spcAft>
                <a:spcPts val="0"/>
              </a:spcAft>
              <a:buNone/>
            </a:pPr>
            <a:r>
              <a:rPr lang="es" sz="2300">
                <a:solidFill>
                  <a:srgbClr val="136798"/>
                </a:solidFill>
              </a:rPr>
              <a:t>A día de hoy, los más usados en los últimos años:  SHA-1 está roto, y se espera que SHA-256 acabe estándolo pronto.</a:t>
            </a:r>
            <a:endParaRPr sz="2300">
              <a:solidFill>
                <a:srgbClr val="136798"/>
              </a:solidFill>
            </a:endParaRPr>
          </a:p>
          <a:p>
            <a:pPr indent="0" lvl="0" marL="0" marR="127000" rtl="0" algn="l">
              <a:lnSpc>
                <a:spcPct val="115000"/>
              </a:lnSpc>
              <a:spcBef>
                <a:spcPts val="300"/>
              </a:spcBef>
              <a:spcAft>
                <a:spcPts val="0"/>
              </a:spcAft>
              <a:buNone/>
            </a:pPr>
            <a:r>
              <a:t/>
            </a:r>
            <a:endParaRPr sz="2300">
              <a:solidFill>
                <a:srgbClr val="136798"/>
              </a:solidFill>
            </a:endParaRPr>
          </a:p>
          <a:p>
            <a:pPr indent="0" lvl="0" marL="0" marR="127000" rtl="0" algn="l">
              <a:lnSpc>
                <a:spcPct val="115000"/>
              </a:lnSpc>
              <a:spcBef>
                <a:spcPts val="300"/>
              </a:spcBef>
              <a:spcAft>
                <a:spcPts val="0"/>
              </a:spcAft>
              <a:buNone/>
            </a:pPr>
            <a:r>
              <a:rPr lang="es" sz="2300">
                <a:solidFill>
                  <a:srgbClr val="136798"/>
                </a:solidFill>
              </a:rPr>
              <a:t>Sha-3 se supone seguro por ahora. También hay otros considerados seguros como Blake2 o Keccak </a:t>
            </a:r>
            <a:endParaRPr sz="2300">
              <a:solidFill>
                <a:srgbClr val="136798"/>
              </a:solidFill>
            </a:endParaRPr>
          </a:p>
          <a:p>
            <a:pPr indent="0" lvl="0" marL="0" rtl="0" algn="l">
              <a:lnSpc>
                <a:spcPct val="115000"/>
              </a:lnSpc>
              <a:spcBef>
                <a:spcPts val="100"/>
              </a:spcBef>
              <a:spcAft>
                <a:spcPts val="900"/>
              </a:spcAft>
              <a:buNone/>
            </a:pPr>
            <a:r>
              <a:t/>
            </a:r>
            <a:endParaRPr sz="2400">
              <a:solidFill>
                <a:srgbClr val="C36900"/>
              </a:solidFill>
            </a:endParaRPr>
          </a:p>
        </p:txBody>
      </p:sp>
      <p:sp>
        <p:nvSpPr>
          <p:cNvPr id="238" name="Google Shape;238;p40"/>
          <p:cNvSpPr txBox="1"/>
          <p:nvPr/>
        </p:nvSpPr>
        <p:spPr>
          <a:xfrm>
            <a:off x="0" y="0"/>
            <a:ext cx="7302900" cy="603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s" sz="2200">
                <a:solidFill>
                  <a:srgbClr val="136798"/>
                </a:solidFill>
              </a:rPr>
              <a:t>7 - Seguridad</a:t>
            </a:r>
            <a:endParaRPr sz="2200">
              <a:solidFill>
                <a:srgbClr val="136798"/>
              </a:solidFill>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42" name="Shape 242"/>
        <p:cNvGrpSpPr/>
        <p:nvPr/>
      </p:nvGrpSpPr>
      <p:grpSpPr>
        <a:xfrm>
          <a:off x="0" y="0"/>
          <a:ext cx="0" cy="0"/>
          <a:chOff x="0" y="0"/>
          <a:chExt cx="0" cy="0"/>
        </a:xfrm>
      </p:grpSpPr>
      <p:sp>
        <p:nvSpPr>
          <p:cNvPr id="243" name="Google Shape;243;p41"/>
          <p:cNvSpPr txBox="1"/>
          <p:nvPr/>
        </p:nvSpPr>
        <p:spPr>
          <a:xfrm>
            <a:off x="-125" y="603300"/>
            <a:ext cx="9144000" cy="6254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s" sz="2400">
                <a:solidFill>
                  <a:srgbClr val="C36900"/>
                </a:solidFill>
              </a:rPr>
              <a:t>¿Cómo de rápido se decodifica una contraseña?</a:t>
            </a:r>
            <a:endParaRPr sz="2400">
              <a:solidFill>
                <a:srgbClr val="C36900"/>
              </a:solidFill>
            </a:endParaRPr>
          </a:p>
          <a:p>
            <a:pPr indent="0" lvl="0" marL="0" rtl="0" algn="l">
              <a:lnSpc>
                <a:spcPct val="115000"/>
              </a:lnSpc>
              <a:spcBef>
                <a:spcPts val="900"/>
              </a:spcBef>
              <a:spcAft>
                <a:spcPts val="0"/>
              </a:spcAft>
              <a:buNone/>
            </a:pPr>
            <a:r>
              <a:rPr lang="es" sz="2300">
                <a:solidFill>
                  <a:srgbClr val="136798"/>
                </a:solidFill>
              </a:rPr>
              <a:t>Vamos a probarlo en </a:t>
            </a:r>
            <a:r>
              <a:rPr lang="es" sz="2300" u="sng">
                <a:solidFill>
                  <a:schemeClr val="hlink"/>
                </a:solidFill>
                <a:hlinkClick r:id="rId4"/>
              </a:rPr>
              <a:t>http://md5hashing.net</a:t>
            </a:r>
            <a:endParaRPr sz="2300">
              <a:solidFill>
                <a:srgbClr val="136798"/>
              </a:solidFill>
            </a:endParaRPr>
          </a:p>
          <a:p>
            <a:pPr indent="0" lvl="0" marL="0" rtl="0" algn="l">
              <a:lnSpc>
                <a:spcPct val="115000"/>
              </a:lnSpc>
              <a:spcBef>
                <a:spcPts val="100"/>
              </a:spcBef>
              <a:spcAft>
                <a:spcPts val="900"/>
              </a:spcAft>
              <a:buNone/>
            </a:pPr>
            <a:r>
              <a:t/>
            </a:r>
            <a:endParaRPr sz="2400">
              <a:solidFill>
                <a:srgbClr val="C36900"/>
              </a:solidFill>
            </a:endParaRPr>
          </a:p>
        </p:txBody>
      </p:sp>
      <p:sp>
        <p:nvSpPr>
          <p:cNvPr id="244" name="Google Shape;244;p41"/>
          <p:cNvSpPr txBox="1"/>
          <p:nvPr/>
        </p:nvSpPr>
        <p:spPr>
          <a:xfrm>
            <a:off x="0" y="0"/>
            <a:ext cx="7302900" cy="603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s" sz="2200">
                <a:solidFill>
                  <a:srgbClr val="136798"/>
                </a:solidFill>
              </a:rPr>
              <a:t>7 - Seguridad</a:t>
            </a:r>
            <a:endParaRPr sz="2200">
              <a:solidFill>
                <a:srgbClr val="136798"/>
              </a:solidFill>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48" name="Shape 248"/>
        <p:cNvGrpSpPr/>
        <p:nvPr/>
      </p:nvGrpSpPr>
      <p:grpSpPr>
        <a:xfrm>
          <a:off x="0" y="0"/>
          <a:ext cx="0" cy="0"/>
          <a:chOff x="0" y="0"/>
          <a:chExt cx="0" cy="0"/>
        </a:xfrm>
      </p:grpSpPr>
      <p:sp>
        <p:nvSpPr>
          <p:cNvPr id="249" name="Google Shape;249;p42"/>
          <p:cNvSpPr txBox="1"/>
          <p:nvPr/>
        </p:nvSpPr>
        <p:spPr>
          <a:xfrm>
            <a:off x="-125" y="603300"/>
            <a:ext cx="9144000" cy="6254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s" sz="2400">
                <a:solidFill>
                  <a:srgbClr val="C36900"/>
                </a:solidFill>
              </a:rPr>
              <a:t>Prevenir un ataque por diccionario o fuerza bruta</a:t>
            </a:r>
            <a:endParaRPr sz="2400">
              <a:solidFill>
                <a:srgbClr val="C36900"/>
              </a:solidFill>
            </a:endParaRPr>
          </a:p>
          <a:p>
            <a:pPr indent="0" lvl="0" marL="0" rtl="0" algn="l">
              <a:lnSpc>
                <a:spcPct val="115000"/>
              </a:lnSpc>
              <a:spcBef>
                <a:spcPts val="900"/>
              </a:spcBef>
              <a:spcAft>
                <a:spcPts val="0"/>
              </a:spcAft>
              <a:buNone/>
            </a:pPr>
            <a:r>
              <a:rPr lang="es" sz="2400">
                <a:solidFill>
                  <a:srgbClr val="136798"/>
                </a:solidFill>
              </a:rPr>
              <a:t>Un ataque con diccionario es un ataque en el que usando un diccionario de claves que se usan frecuentemente, un atacante intenta averiguar la contraseña de alguien, probándolo una a una.</a:t>
            </a:r>
            <a:endParaRPr sz="2400">
              <a:solidFill>
                <a:srgbClr val="136798"/>
              </a:solidFill>
            </a:endParaRPr>
          </a:p>
          <a:p>
            <a:pPr indent="0" lvl="0" marL="0" rtl="0" algn="l">
              <a:lnSpc>
                <a:spcPct val="115000"/>
              </a:lnSpc>
              <a:spcBef>
                <a:spcPts val="900"/>
              </a:spcBef>
              <a:spcAft>
                <a:spcPts val="0"/>
              </a:spcAft>
              <a:buNone/>
            </a:pPr>
            <a:r>
              <a:t/>
            </a:r>
            <a:endParaRPr sz="2400">
              <a:solidFill>
                <a:srgbClr val="136798"/>
              </a:solidFill>
            </a:endParaRPr>
          </a:p>
          <a:p>
            <a:pPr indent="0" lvl="0" marL="0" rtl="0" algn="l">
              <a:lnSpc>
                <a:spcPct val="115000"/>
              </a:lnSpc>
              <a:spcBef>
                <a:spcPts val="900"/>
              </a:spcBef>
              <a:spcAft>
                <a:spcPts val="0"/>
              </a:spcAft>
              <a:buNone/>
            </a:pPr>
            <a:r>
              <a:rPr lang="es" sz="2400">
                <a:solidFill>
                  <a:srgbClr val="136798"/>
                </a:solidFill>
              </a:rPr>
              <a:t>Un ataque por fuerza bruta intenta introducir todas las combinaciones posibles como contraseña, y realmente no es tan difícil de conseguirla para contraseñas cortas.</a:t>
            </a:r>
            <a:endParaRPr sz="2400">
              <a:solidFill>
                <a:srgbClr val="136798"/>
              </a:solidFill>
            </a:endParaRPr>
          </a:p>
          <a:p>
            <a:pPr indent="0" lvl="0" marL="0" rtl="0" algn="l">
              <a:lnSpc>
                <a:spcPct val="115000"/>
              </a:lnSpc>
              <a:spcBef>
                <a:spcPts val="900"/>
              </a:spcBef>
              <a:spcAft>
                <a:spcPts val="0"/>
              </a:spcAft>
              <a:buNone/>
            </a:pPr>
            <a:r>
              <a:t/>
            </a:r>
            <a:endParaRPr sz="2400">
              <a:solidFill>
                <a:srgbClr val="136798"/>
              </a:solidFill>
            </a:endParaRPr>
          </a:p>
          <a:p>
            <a:pPr indent="0" lvl="0" marL="0" rtl="0" algn="l">
              <a:lnSpc>
                <a:spcPct val="115000"/>
              </a:lnSpc>
              <a:spcBef>
                <a:spcPts val="900"/>
              </a:spcBef>
              <a:spcAft>
                <a:spcPts val="900"/>
              </a:spcAft>
              <a:buNone/>
            </a:pPr>
            <a:r>
              <a:rPr lang="es" sz="2400">
                <a:solidFill>
                  <a:srgbClr val="136798"/>
                </a:solidFill>
              </a:rPr>
              <a:t>Hashear esas contraseñas antes de enviarlas al servidor ayuda a que por fuerza bruta sea muy difícil averiguar la contraseña por ambos métodos.</a:t>
            </a:r>
            <a:endParaRPr sz="2400">
              <a:solidFill>
                <a:srgbClr val="136798"/>
              </a:solidFill>
            </a:endParaRPr>
          </a:p>
        </p:txBody>
      </p:sp>
      <p:sp>
        <p:nvSpPr>
          <p:cNvPr id="250" name="Google Shape;250;p42"/>
          <p:cNvSpPr txBox="1"/>
          <p:nvPr/>
        </p:nvSpPr>
        <p:spPr>
          <a:xfrm>
            <a:off x="0" y="0"/>
            <a:ext cx="7302900" cy="603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s" sz="2200">
                <a:solidFill>
                  <a:srgbClr val="136798"/>
                </a:solidFill>
              </a:rPr>
              <a:t>7 - Seguridad</a:t>
            </a:r>
            <a:endParaRPr sz="2200">
              <a:solidFill>
                <a:srgbClr val="136798"/>
              </a:solidFill>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54" name="Shape 254"/>
        <p:cNvGrpSpPr/>
        <p:nvPr/>
      </p:nvGrpSpPr>
      <p:grpSpPr>
        <a:xfrm>
          <a:off x="0" y="0"/>
          <a:ext cx="0" cy="0"/>
          <a:chOff x="0" y="0"/>
          <a:chExt cx="0" cy="0"/>
        </a:xfrm>
      </p:grpSpPr>
      <p:sp>
        <p:nvSpPr>
          <p:cNvPr id="255" name="Google Shape;255;p43"/>
          <p:cNvSpPr txBox="1"/>
          <p:nvPr/>
        </p:nvSpPr>
        <p:spPr>
          <a:xfrm>
            <a:off x="-125" y="603300"/>
            <a:ext cx="9144000" cy="6254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s" sz="2400">
                <a:solidFill>
                  <a:srgbClr val="C36900"/>
                </a:solidFill>
              </a:rPr>
              <a:t>Prevenir un ataque por diccionario o fuerza bruta</a:t>
            </a:r>
            <a:endParaRPr sz="2400">
              <a:solidFill>
                <a:srgbClr val="C36900"/>
              </a:solidFill>
            </a:endParaRPr>
          </a:p>
          <a:p>
            <a:pPr indent="0" lvl="0" marL="0" rtl="0" algn="l">
              <a:lnSpc>
                <a:spcPct val="115000"/>
              </a:lnSpc>
              <a:spcBef>
                <a:spcPts val="900"/>
              </a:spcBef>
              <a:spcAft>
                <a:spcPts val="0"/>
              </a:spcAft>
              <a:buNone/>
            </a:pPr>
            <a:r>
              <a:rPr lang="es" sz="2400">
                <a:solidFill>
                  <a:srgbClr val="136798"/>
                </a:solidFill>
              </a:rPr>
              <a:t>Pero si solo utilizas un md5(contraseña) o un sha1(contraseña), es muy fácil para un atacante hacer un ataque por fuerza bruta/diccionario: Solo tiene que probar las mismas contraseñas que prueba en plano con los algoritmos de compresión más comunes, para lograr averiguar la contraseña.</a:t>
            </a:r>
            <a:endParaRPr sz="2400">
              <a:solidFill>
                <a:srgbClr val="136798"/>
              </a:solidFill>
            </a:endParaRPr>
          </a:p>
          <a:p>
            <a:pPr indent="0" lvl="0" marL="0" rtl="0" algn="l">
              <a:lnSpc>
                <a:spcPct val="115000"/>
              </a:lnSpc>
              <a:spcBef>
                <a:spcPts val="900"/>
              </a:spcBef>
              <a:spcAft>
                <a:spcPts val="0"/>
              </a:spcAft>
              <a:buNone/>
            </a:pPr>
            <a:r>
              <a:t/>
            </a:r>
            <a:endParaRPr sz="2400">
              <a:solidFill>
                <a:srgbClr val="136798"/>
              </a:solidFill>
            </a:endParaRPr>
          </a:p>
          <a:p>
            <a:pPr indent="0" lvl="0" marL="0" rtl="0" algn="l">
              <a:lnSpc>
                <a:spcPct val="115000"/>
              </a:lnSpc>
              <a:spcBef>
                <a:spcPts val="900"/>
              </a:spcBef>
              <a:spcAft>
                <a:spcPts val="900"/>
              </a:spcAft>
              <a:buNone/>
            </a:pPr>
            <a:r>
              <a:t/>
            </a:r>
            <a:endParaRPr sz="2400">
              <a:solidFill>
                <a:srgbClr val="136798"/>
              </a:solidFill>
            </a:endParaRPr>
          </a:p>
        </p:txBody>
      </p:sp>
      <p:sp>
        <p:nvSpPr>
          <p:cNvPr id="256" name="Google Shape;256;p43"/>
          <p:cNvSpPr txBox="1"/>
          <p:nvPr/>
        </p:nvSpPr>
        <p:spPr>
          <a:xfrm>
            <a:off x="0" y="0"/>
            <a:ext cx="7302900" cy="603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s" sz="2200">
                <a:solidFill>
                  <a:srgbClr val="136798"/>
                </a:solidFill>
              </a:rPr>
              <a:t>7 - Seguridad</a:t>
            </a:r>
            <a:endParaRPr sz="2200">
              <a:solidFill>
                <a:srgbClr val="136798"/>
              </a:solidFill>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60" name="Shape 260"/>
        <p:cNvGrpSpPr/>
        <p:nvPr/>
      </p:nvGrpSpPr>
      <p:grpSpPr>
        <a:xfrm>
          <a:off x="0" y="0"/>
          <a:ext cx="0" cy="0"/>
          <a:chOff x="0" y="0"/>
          <a:chExt cx="0" cy="0"/>
        </a:xfrm>
      </p:grpSpPr>
      <p:sp>
        <p:nvSpPr>
          <p:cNvPr id="261" name="Google Shape;261;p44"/>
          <p:cNvSpPr txBox="1"/>
          <p:nvPr/>
        </p:nvSpPr>
        <p:spPr>
          <a:xfrm>
            <a:off x="-125" y="603300"/>
            <a:ext cx="9144000" cy="6254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s" sz="2400">
                <a:solidFill>
                  <a:srgbClr val="C36900"/>
                </a:solidFill>
              </a:rPr>
              <a:t>Prevenir un ataque por diccionario o fuerza bruta</a:t>
            </a:r>
            <a:endParaRPr sz="2400">
              <a:solidFill>
                <a:srgbClr val="136798"/>
              </a:solidFill>
            </a:endParaRPr>
          </a:p>
          <a:p>
            <a:pPr indent="0" lvl="0" marL="0" rtl="0" algn="l">
              <a:lnSpc>
                <a:spcPct val="115000"/>
              </a:lnSpc>
              <a:spcBef>
                <a:spcPts val="900"/>
              </a:spcBef>
              <a:spcAft>
                <a:spcPts val="0"/>
              </a:spcAft>
              <a:buNone/>
            </a:pPr>
            <a:r>
              <a:rPr lang="es" sz="2400">
                <a:solidFill>
                  <a:srgbClr val="136798"/>
                </a:solidFill>
              </a:rPr>
              <a:t>Para prevenir esto, se pueden usar varias técnicas:</a:t>
            </a:r>
            <a:endParaRPr sz="2400">
              <a:solidFill>
                <a:srgbClr val="136798"/>
              </a:solidFill>
            </a:endParaRPr>
          </a:p>
          <a:p>
            <a:pPr indent="-381000" lvl="0" marL="457200" rtl="0" algn="l">
              <a:lnSpc>
                <a:spcPct val="115000"/>
              </a:lnSpc>
              <a:spcBef>
                <a:spcPts val="900"/>
              </a:spcBef>
              <a:spcAft>
                <a:spcPts val="0"/>
              </a:spcAft>
              <a:buClr>
                <a:srgbClr val="136798"/>
              </a:buClr>
              <a:buSzPts val="2400"/>
              <a:buChar char="●"/>
            </a:pPr>
            <a:r>
              <a:rPr lang="es" sz="2400">
                <a:solidFill>
                  <a:srgbClr val="136798"/>
                </a:solidFill>
              </a:rPr>
              <a:t>Hashear varias veces la contraseña en un cierto orden:</a:t>
            </a:r>
            <a:br>
              <a:rPr lang="es" sz="2400">
                <a:solidFill>
                  <a:srgbClr val="136798"/>
                </a:solidFill>
              </a:rPr>
            </a:br>
            <a:r>
              <a:rPr lang="es" sz="2400">
                <a:solidFill>
                  <a:srgbClr val="136798"/>
                </a:solidFill>
              </a:rPr>
              <a:t>md5(sha1(sha256(md5(password))). Esto tiene el problema de que aumenta la probalilidad de colisiones en las últimas capas, haciendo incluso más probable que se averigue la contraseña.</a:t>
            </a:r>
            <a:endParaRPr sz="2400">
              <a:solidFill>
                <a:srgbClr val="136798"/>
              </a:solidFill>
            </a:endParaRPr>
          </a:p>
          <a:p>
            <a:pPr indent="-381000" lvl="0" marL="457200" rtl="0" algn="l">
              <a:lnSpc>
                <a:spcPct val="115000"/>
              </a:lnSpc>
              <a:spcBef>
                <a:spcPts val="0"/>
              </a:spcBef>
              <a:spcAft>
                <a:spcPts val="0"/>
              </a:spcAft>
              <a:buClr>
                <a:srgbClr val="136798"/>
              </a:buClr>
              <a:buSzPts val="2400"/>
              <a:buChar char="●"/>
            </a:pPr>
            <a:r>
              <a:rPr lang="es" sz="2400">
                <a:solidFill>
                  <a:srgbClr val="136798"/>
                </a:solidFill>
              </a:rPr>
              <a:t>Utilizar un valor Salt, que se envía al cliente, y con el que codificar la contraseña, combiniando ambas técnicas, se pueden hacer cosas como:</a:t>
            </a:r>
            <a:br>
              <a:rPr lang="es" sz="2400">
                <a:solidFill>
                  <a:srgbClr val="136798"/>
                </a:solidFill>
              </a:rPr>
            </a:br>
            <a:r>
              <a:rPr lang="es" sz="2400">
                <a:solidFill>
                  <a:srgbClr val="279999"/>
                </a:solidFill>
                <a:highlight>
                  <a:srgbClr val="EFF0F1"/>
                </a:highlight>
              </a:rPr>
              <a:t>hash = sha(password + salt);</a:t>
            </a:r>
            <a:br>
              <a:rPr lang="es" sz="2400">
                <a:solidFill>
                  <a:srgbClr val="279999"/>
                </a:solidFill>
                <a:highlight>
                  <a:srgbClr val="EFF0F1"/>
                </a:highlight>
              </a:rPr>
            </a:br>
            <a:r>
              <a:rPr lang="es" sz="2400">
                <a:solidFill>
                  <a:srgbClr val="279999"/>
                </a:solidFill>
                <a:highlight>
                  <a:srgbClr val="EFF0F1"/>
                </a:highlight>
              </a:rPr>
              <a:t>for (i=1 , i=5000, i++) { hash = sha(hash + salt); }</a:t>
            </a:r>
            <a:endParaRPr sz="2400">
              <a:solidFill>
                <a:srgbClr val="279999"/>
              </a:solidFill>
              <a:highlight>
                <a:srgbClr val="EFF0F1"/>
              </a:highlight>
            </a:endParaRPr>
          </a:p>
          <a:p>
            <a:pPr indent="0" lvl="0" marL="0" rtl="0" algn="l">
              <a:lnSpc>
                <a:spcPct val="115000"/>
              </a:lnSpc>
              <a:spcBef>
                <a:spcPts val="900"/>
              </a:spcBef>
              <a:spcAft>
                <a:spcPts val="0"/>
              </a:spcAft>
              <a:buNone/>
            </a:pPr>
            <a:r>
              <a:t/>
            </a:r>
            <a:endParaRPr sz="2400">
              <a:solidFill>
                <a:srgbClr val="136798"/>
              </a:solidFill>
            </a:endParaRPr>
          </a:p>
          <a:p>
            <a:pPr indent="0" lvl="0" marL="0" rtl="0" algn="l">
              <a:lnSpc>
                <a:spcPct val="115000"/>
              </a:lnSpc>
              <a:spcBef>
                <a:spcPts val="900"/>
              </a:spcBef>
              <a:spcAft>
                <a:spcPts val="0"/>
              </a:spcAft>
              <a:buNone/>
            </a:pPr>
            <a:r>
              <a:t/>
            </a:r>
            <a:endParaRPr sz="2400">
              <a:solidFill>
                <a:srgbClr val="136798"/>
              </a:solidFill>
            </a:endParaRPr>
          </a:p>
          <a:p>
            <a:pPr indent="0" lvl="0" marL="0" rtl="0" algn="l">
              <a:lnSpc>
                <a:spcPct val="115000"/>
              </a:lnSpc>
              <a:spcBef>
                <a:spcPts val="900"/>
              </a:spcBef>
              <a:spcAft>
                <a:spcPts val="900"/>
              </a:spcAft>
              <a:buNone/>
            </a:pPr>
            <a:r>
              <a:t/>
            </a:r>
            <a:endParaRPr sz="2400">
              <a:solidFill>
                <a:srgbClr val="136798"/>
              </a:solidFill>
            </a:endParaRPr>
          </a:p>
        </p:txBody>
      </p:sp>
      <p:sp>
        <p:nvSpPr>
          <p:cNvPr id="262" name="Google Shape;262;p44"/>
          <p:cNvSpPr txBox="1"/>
          <p:nvPr/>
        </p:nvSpPr>
        <p:spPr>
          <a:xfrm>
            <a:off x="0" y="0"/>
            <a:ext cx="7302900" cy="603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s" sz="2200">
                <a:solidFill>
                  <a:srgbClr val="136798"/>
                </a:solidFill>
              </a:rPr>
              <a:t>7 - Seguridad</a:t>
            </a:r>
            <a:endParaRPr sz="2200">
              <a:solidFill>
                <a:srgbClr val="136798"/>
              </a:solidFill>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66" name="Shape 266"/>
        <p:cNvGrpSpPr/>
        <p:nvPr/>
      </p:nvGrpSpPr>
      <p:grpSpPr>
        <a:xfrm>
          <a:off x="0" y="0"/>
          <a:ext cx="0" cy="0"/>
          <a:chOff x="0" y="0"/>
          <a:chExt cx="0" cy="0"/>
        </a:xfrm>
      </p:grpSpPr>
      <p:sp>
        <p:nvSpPr>
          <p:cNvPr id="267" name="Google Shape;267;p45"/>
          <p:cNvSpPr txBox="1"/>
          <p:nvPr/>
        </p:nvSpPr>
        <p:spPr>
          <a:xfrm>
            <a:off x="-125" y="603300"/>
            <a:ext cx="9144000" cy="6254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s" sz="2400">
                <a:solidFill>
                  <a:srgbClr val="C36900"/>
                </a:solidFill>
              </a:rPr>
              <a:t>Prevenir un ataque por diccionario o fuerza bruta</a:t>
            </a:r>
            <a:endParaRPr sz="2400">
              <a:solidFill>
                <a:srgbClr val="136798"/>
              </a:solidFill>
            </a:endParaRPr>
          </a:p>
          <a:p>
            <a:pPr indent="0" lvl="0" marL="0" rtl="0" algn="l">
              <a:lnSpc>
                <a:spcPct val="115000"/>
              </a:lnSpc>
              <a:spcBef>
                <a:spcPts val="900"/>
              </a:spcBef>
              <a:spcAft>
                <a:spcPts val="0"/>
              </a:spcAft>
              <a:buNone/>
            </a:pPr>
            <a:r>
              <a:rPr lang="es" sz="2400">
                <a:solidFill>
                  <a:srgbClr val="136798"/>
                </a:solidFill>
              </a:rPr>
              <a:t>Para prevenir esto, se pueden usar varias técnicas:</a:t>
            </a:r>
            <a:endParaRPr sz="2400">
              <a:solidFill>
                <a:srgbClr val="136798"/>
              </a:solidFill>
            </a:endParaRPr>
          </a:p>
          <a:p>
            <a:pPr indent="-381000" lvl="0" marL="457200" rtl="0" algn="l">
              <a:lnSpc>
                <a:spcPct val="115000"/>
              </a:lnSpc>
              <a:spcBef>
                <a:spcPts val="900"/>
              </a:spcBef>
              <a:spcAft>
                <a:spcPts val="0"/>
              </a:spcAft>
              <a:buClr>
                <a:srgbClr val="136798"/>
              </a:buClr>
              <a:buSzPts val="2400"/>
              <a:buChar char="●"/>
            </a:pPr>
            <a:r>
              <a:rPr lang="es" sz="2400">
                <a:solidFill>
                  <a:srgbClr val="136798"/>
                </a:solidFill>
              </a:rPr>
              <a:t>Hashear varias veces la contraseña en un cierto orden:</a:t>
            </a:r>
            <a:br>
              <a:rPr lang="es" sz="2400">
                <a:solidFill>
                  <a:srgbClr val="136798"/>
                </a:solidFill>
              </a:rPr>
            </a:br>
            <a:r>
              <a:rPr lang="es" sz="2400">
                <a:solidFill>
                  <a:srgbClr val="136798"/>
                </a:solidFill>
              </a:rPr>
              <a:t>md5(sha1(sha256(md5(password))). Esto tiene el problema de que aumenta la probalilidad de colisiones en las últimas capas, haciendo incluso más probable que se averigue la contraseña.</a:t>
            </a:r>
            <a:endParaRPr sz="2400">
              <a:solidFill>
                <a:srgbClr val="136798"/>
              </a:solidFill>
            </a:endParaRPr>
          </a:p>
          <a:p>
            <a:pPr indent="-381000" lvl="0" marL="457200" rtl="0" algn="l">
              <a:lnSpc>
                <a:spcPct val="115000"/>
              </a:lnSpc>
              <a:spcBef>
                <a:spcPts val="0"/>
              </a:spcBef>
              <a:spcAft>
                <a:spcPts val="0"/>
              </a:spcAft>
              <a:buClr>
                <a:srgbClr val="136798"/>
              </a:buClr>
              <a:buSzPts val="2400"/>
              <a:buChar char="●"/>
            </a:pPr>
            <a:r>
              <a:rPr lang="es" sz="2400">
                <a:solidFill>
                  <a:srgbClr val="136798"/>
                </a:solidFill>
              </a:rPr>
              <a:t>Utilizar un valor Salt, que se envía al cliente, y con el que codificar la contraseña, combiniando ambas técnicas, se pueden hacer cosas como:</a:t>
            </a:r>
            <a:br>
              <a:rPr lang="es" sz="2400">
                <a:solidFill>
                  <a:srgbClr val="136798"/>
                </a:solidFill>
              </a:rPr>
            </a:br>
            <a:r>
              <a:rPr lang="es" sz="2400">
                <a:solidFill>
                  <a:srgbClr val="279999"/>
                </a:solidFill>
                <a:highlight>
                  <a:srgbClr val="EFF0F1"/>
                </a:highlight>
              </a:rPr>
              <a:t>hash = sha(password + salt);</a:t>
            </a:r>
            <a:br>
              <a:rPr lang="es" sz="2400">
                <a:solidFill>
                  <a:srgbClr val="279999"/>
                </a:solidFill>
                <a:highlight>
                  <a:srgbClr val="EFF0F1"/>
                </a:highlight>
              </a:rPr>
            </a:br>
            <a:r>
              <a:rPr lang="es" sz="2400">
                <a:solidFill>
                  <a:srgbClr val="279999"/>
                </a:solidFill>
                <a:highlight>
                  <a:srgbClr val="EFF0F1"/>
                </a:highlight>
              </a:rPr>
              <a:t>for (i=1 , i=5000, i++) { hash = sha(hash + salt); }</a:t>
            </a:r>
            <a:br>
              <a:rPr lang="es" sz="2400">
                <a:solidFill>
                  <a:srgbClr val="279999"/>
                </a:solidFill>
                <a:highlight>
                  <a:srgbClr val="EFF0F1"/>
                </a:highlight>
              </a:rPr>
            </a:br>
            <a:r>
              <a:rPr lang="es" sz="2400">
                <a:solidFill>
                  <a:srgbClr val="136798"/>
                </a:solidFill>
              </a:rPr>
              <a:t> Tiene el problema de que si se averigua el Salt, que se envía al cliente, estamos en las mismas.</a:t>
            </a:r>
            <a:endParaRPr sz="2400">
              <a:solidFill>
                <a:srgbClr val="279999"/>
              </a:solidFill>
              <a:highlight>
                <a:srgbClr val="EFF0F1"/>
              </a:highlight>
            </a:endParaRPr>
          </a:p>
          <a:p>
            <a:pPr indent="0" lvl="0" marL="0" rtl="0" algn="l">
              <a:lnSpc>
                <a:spcPct val="115000"/>
              </a:lnSpc>
              <a:spcBef>
                <a:spcPts val="900"/>
              </a:spcBef>
              <a:spcAft>
                <a:spcPts val="0"/>
              </a:spcAft>
              <a:buNone/>
            </a:pPr>
            <a:r>
              <a:t/>
            </a:r>
            <a:endParaRPr sz="2400">
              <a:solidFill>
                <a:srgbClr val="136798"/>
              </a:solidFill>
            </a:endParaRPr>
          </a:p>
          <a:p>
            <a:pPr indent="0" lvl="0" marL="0" rtl="0" algn="l">
              <a:lnSpc>
                <a:spcPct val="115000"/>
              </a:lnSpc>
              <a:spcBef>
                <a:spcPts val="900"/>
              </a:spcBef>
              <a:spcAft>
                <a:spcPts val="0"/>
              </a:spcAft>
              <a:buNone/>
            </a:pPr>
            <a:r>
              <a:t/>
            </a:r>
            <a:endParaRPr sz="2400">
              <a:solidFill>
                <a:srgbClr val="136798"/>
              </a:solidFill>
            </a:endParaRPr>
          </a:p>
          <a:p>
            <a:pPr indent="0" lvl="0" marL="0" rtl="0" algn="l">
              <a:lnSpc>
                <a:spcPct val="115000"/>
              </a:lnSpc>
              <a:spcBef>
                <a:spcPts val="900"/>
              </a:spcBef>
              <a:spcAft>
                <a:spcPts val="900"/>
              </a:spcAft>
              <a:buNone/>
            </a:pPr>
            <a:r>
              <a:t/>
            </a:r>
            <a:endParaRPr sz="2400">
              <a:solidFill>
                <a:srgbClr val="136798"/>
              </a:solidFill>
            </a:endParaRPr>
          </a:p>
        </p:txBody>
      </p:sp>
      <p:sp>
        <p:nvSpPr>
          <p:cNvPr id="268" name="Google Shape;268;p45"/>
          <p:cNvSpPr txBox="1"/>
          <p:nvPr/>
        </p:nvSpPr>
        <p:spPr>
          <a:xfrm>
            <a:off x="0" y="0"/>
            <a:ext cx="7302900" cy="603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s" sz="2200">
                <a:solidFill>
                  <a:srgbClr val="136798"/>
                </a:solidFill>
              </a:rPr>
              <a:t>7 - Seguridad</a:t>
            </a:r>
            <a:endParaRPr sz="2200">
              <a:solidFill>
                <a:srgbClr val="136798"/>
              </a:solidFill>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72" name="Shape 272"/>
        <p:cNvGrpSpPr/>
        <p:nvPr/>
      </p:nvGrpSpPr>
      <p:grpSpPr>
        <a:xfrm>
          <a:off x="0" y="0"/>
          <a:ext cx="0" cy="0"/>
          <a:chOff x="0" y="0"/>
          <a:chExt cx="0" cy="0"/>
        </a:xfrm>
      </p:grpSpPr>
      <p:sp>
        <p:nvSpPr>
          <p:cNvPr id="273" name="Google Shape;273;p46"/>
          <p:cNvSpPr txBox="1"/>
          <p:nvPr/>
        </p:nvSpPr>
        <p:spPr>
          <a:xfrm>
            <a:off x="-125" y="603300"/>
            <a:ext cx="9144000" cy="6254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s" sz="2400">
                <a:solidFill>
                  <a:srgbClr val="C36900"/>
                </a:solidFill>
              </a:rPr>
              <a:t>Prevenir un ataque por diccionario o fuerza bruta</a:t>
            </a:r>
            <a:endParaRPr sz="2400">
              <a:solidFill>
                <a:srgbClr val="136798"/>
              </a:solidFill>
            </a:endParaRPr>
          </a:p>
          <a:p>
            <a:pPr indent="0" lvl="0" marL="0" rtl="0" algn="l">
              <a:lnSpc>
                <a:spcPct val="115000"/>
              </a:lnSpc>
              <a:spcBef>
                <a:spcPts val="900"/>
              </a:spcBef>
              <a:spcAft>
                <a:spcPts val="0"/>
              </a:spcAft>
              <a:buNone/>
            </a:pPr>
            <a:r>
              <a:rPr lang="es" sz="2400">
                <a:solidFill>
                  <a:srgbClr val="136798"/>
                </a:solidFill>
              </a:rPr>
              <a:t>Para prevenir esto, se pueden usar varias técnicas:</a:t>
            </a:r>
            <a:endParaRPr sz="2400">
              <a:solidFill>
                <a:srgbClr val="136798"/>
              </a:solidFill>
            </a:endParaRPr>
          </a:p>
          <a:p>
            <a:pPr indent="-381000" lvl="0" marL="457200" rtl="0" algn="l">
              <a:lnSpc>
                <a:spcPct val="115000"/>
              </a:lnSpc>
              <a:spcBef>
                <a:spcPts val="900"/>
              </a:spcBef>
              <a:spcAft>
                <a:spcPts val="0"/>
              </a:spcAft>
              <a:buClr>
                <a:srgbClr val="136798"/>
              </a:buClr>
              <a:buSzPts val="2400"/>
              <a:buChar char="●"/>
            </a:pPr>
            <a:r>
              <a:rPr lang="es" sz="2400">
                <a:solidFill>
                  <a:srgbClr val="136798"/>
                </a:solidFill>
              </a:rPr>
              <a:t>Utilizar un valor Salt, único por usuario, que almacenamos en la base de datos. Así, si averiguan el salt que tiene nuestro usuario, no será tan fácil averiguar el de otro usuario. Pero si pueden recuperar el salt de cada usuario y usarlo para decodificar.</a:t>
            </a:r>
            <a:endParaRPr sz="2400">
              <a:solidFill>
                <a:srgbClr val="136798"/>
              </a:solidFill>
            </a:endParaRPr>
          </a:p>
          <a:p>
            <a:pPr indent="-381000" lvl="0" marL="457200" rtl="0" algn="l">
              <a:lnSpc>
                <a:spcPct val="115000"/>
              </a:lnSpc>
              <a:spcBef>
                <a:spcPts val="0"/>
              </a:spcBef>
              <a:spcAft>
                <a:spcPts val="0"/>
              </a:spcAft>
              <a:buClr>
                <a:srgbClr val="136798"/>
              </a:buClr>
              <a:buSzPts val="2400"/>
              <a:buChar char="●"/>
            </a:pPr>
            <a:r>
              <a:rPr lang="es" sz="2400">
                <a:solidFill>
                  <a:srgbClr val="136798"/>
                </a:solidFill>
              </a:rPr>
              <a:t>Utilizar un valor Salt único por usuario y vez que se inicia sesión: Con un algoritmo desconocido para el atacante, envías un Salt único por cada usuario y password. Esto hace mucho más difíciles los ataques por fuerza bruta, y en todo caso, necesitaría realizar uno cada vez que quiera hackear tu cuenta.</a:t>
            </a:r>
            <a:endParaRPr sz="2400">
              <a:solidFill>
                <a:srgbClr val="136798"/>
              </a:solidFill>
            </a:endParaRPr>
          </a:p>
          <a:p>
            <a:pPr indent="0" lvl="0" marL="0" rtl="0" algn="l">
              <a:lnSpc>
                <a:spcPct val="115000"/>
              </a:lnSpc>
              <a:spcBef>
                <a:spcPts val="900"/>
              </a:spcBef>
              <a:spcAft>
                <a:spcPts val="0"/>
              </a:spcAft>
              <a:buNone/>
            </a:pPr>
            <a:r>
              <a:t/>
            </a:r>
            <a:endParaRPr sz="2400">
              <a:solidFill>
                <a:srgbClr val="136798"/>
              </a:solidFill>
            </a:endParaRPr>
          </a:p>
          <a:p>
            <a:pPr indent="0" lvl="0" marL="0" rtl="0" algn="l">
              <a:lnSpc>
                <a:spcPct val="115000"/>
              </a:lnSpc>
              <a:spcBef>
                <a:spcPts val="900"/>
              </a:spcBef>
              <a:spcAft>
                <a:spcPts val="0"/>
              </a:spcAft>
              <a:buNone/>
            </a:pPr>
            <a:r>
              <a:t/>
            </a:r>
            <a:endParaRPr sz="2400">
              <a:solidFill>
                <a:srgbClr val="136798"/>
              </a:solidFill>
            </a:endParaRPr>
          </a:p>
          <a:p>
            <a:pPr indent="0" lvl="0" marL="0" rtl="0" algn="l">
              <a:lnSpc>
                <a:spcPct val="115000"/>
              </a:lnSpc>
              <a:spcBef>
                <a:spcPts val="900"/>
              </a:spcBef>
              <a:spcAft>
                <a:spcPts val="900"/>
              </a:spcAft>
              <a:buNone/>
            </a:pPr>
            <a:r>
              <a:t/>
            </a:r>
            <a:endParaRPr sz="2400">
              <a:solidFill>
                <a:srgbClr val="136798"/>
              </a:solidFill>
            </a:endParaRPr>
          </a:p>
        </p:txBody>
      </p:sp>
      <p:sp>
        <p:nvSpPr>
          <p:cNvPr id="274" name="Google Shape;274;p46"/>
          <p:cNvSpPr txBox="1"/>
          <p:nvPr/>
        </p:nvSpPr>
        <p:spPr>
          <a:xfrm>
            <a:off x="0" y="0"/>
            <a:ext cx="7302900" cy="603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s" sz="2200">
                <a:solidFill>
                  <a:srgbClr val="136798"/>
                </a:solidFill>
              </a:rPr>
              <a:t>7 - Seguridad</a:t>
            </a:r>
            <a:endParaRPr sz="2200">
              <a:solidFill>
                <a:srgbClr val="136798"/>
              </a:solidFill>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78" name="Shape 278"/>
        <p:cNvGrpSpPr/>
        <p:nvPr/>
      </p:nvGrpSpPr>
      <p:grpSpPr>
        <a:xfrm>
          <a:off x="0" y="0"/>
          <a:ext cx="0" cy="0"/>
          <a:chOff x="0" y="0"/>
          <a:chExt cx="0" cy="0"/>
        </a:xfrm>
      </p:grpSpPr>
      <p:sp>
        <p:nvSpPr>
          <p:cNvPr id="279" name="Google Shape;279;p47"/>
          <p:cNvSpPr txBox="1"/>
          <p:nvPr/>
        </p:nvSpPr>
        <p:spPr>
          <a:xfrm>
            <a:off x="-125" y="603300"/>
            <a:ext cx="9144000" cy="6254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s" sz="2400">
                <a:solidFill>
                  <a:srgbClr val="C36900"/>
                </a:solidFill>
              </a:rPr>
              <a:t>Prevenir un ataque por diccionario o fuerza bruta</a:t>
            </a:r>
            <a:endParaRPr sz="2400">
              <a:solidFill>
                <a:srgbClr val="136798"/>
              </a:solidFill>
            </a:endParaRPr>
          </a:p>
          <a:p>
            <a:pPr indent="0" lvl="0" marL="0" rtl="0" algn="l">
              <a:lnSpc>
                <a:spcPct val="115000"/>
              </a:lnSpc>
              <a:spcBef>
                <a:spcPts val="900"/>
              </a:spcBef>
              <a:spcAft>
                <a:spcPts val="0"/>
              </a:spcAft>
              <a:buNone/>
            </a:pPr>
            <a:r>
              <a:rPr lang="es" sz="2400">
                <a:solidFill>
                  <a:srgbClr val="136798"/>
                </a:solidFill>
              </a:rPr>
              <a:t>Para prevenir esto, se pueden usar varias técnicas:</a:t>
            </a:r>
            <a:endParaRPr sz="2400">
              <a:solidFill>
                <a:srgbClr val="136798"/>
              </a:solidFill>
            </a:endParaRPr>
          </a:p>
          <a:p>
            <a:pPr indent="-381000" lvl="0" marL="457200" rtl="0" algn="l">
              <a:lnSpc>
                <a:spcPct val="115000"/>
              </a:lnSpc>
              <a:spcBef>
                <a:spcPts val="900"/>
              </a:spcBef>
              <a:spcAft>
                <a:spcPts val="0"/>
              </a:spcAft>
              <a:buClr>
                <a:srgbClr val="136798"/>
              </a:buClr>
              <a:buSzPts val="2400"/>
              <a:buChar char="●"/>
            </a:pPr>
            <a:r>
              <a:rPr lang="es" sz="2400">
                <a:solidFill>
                  <a:srgbClr val="136798"/>
                </a:solidFill>
              </a:rPr>
              <a:t>Utilizar un valor Salt, único por usuario, que almacenamos en la base de datos. Así, si averiguan el salt que tiene nuestro usuario, no será tan fácil averiguar el de otro usuario. Pero si pueden recuperar el salt de cada usuario y usarlo para decodificar.</a:t>
            </a:r>
            <a:endParaRPr sz="2400">
              <a:solidFill>
                <a:srgbClr val="136798"/>
              </a:solidFill>
            </a:endParaRPr>
          </a:p>
          <a:p>
            <a:pPr indent="-381000" lvl="0" marL="457200" rtl="0" algn="l">
              <a:lnSpc>
                <a:spcPct val="115000"/>
              </a:lnSpc>
              <a:spcBef>
                <a:spcPts val="0"/>
              </a:spcBef>
              <a:spcAft>
                <a:spcPts val="0"/>
              </a:spcAft>
              <a:buClr>
                <a:srgbClr val="136798"/>
              </a:buClr>
              <a:buSzPts val="2400"/>
              <a:buChar char="●"/>
            </a:pPr>
            <a:r>
              <a:rPr lang="es" sz="2400">
                <a:solidFill>
                  <a:srgbClr val="136798"/>
                </a:solidFill>
              </a:rPr>
              <a:t>Utilizar un valor Salt único por usuario y vez que se inicia sesión: Con un algoritmo desconocido para el atacante, envías un Salt único por cada usuario y password. Esto hace mucho más difíciles los ataques por fuerza bruta, y en todo caso, necesitaría realizar uno cada vez que quiera hackear tu cuenta.</a:t>
            </a:r>
            <a:endParaRPr sz="2400">
              <a:solidFill>
                <a:srgbClr val="136798"/>
              </a:solidFill>
            </a:endParaRPr>
          </a:p>
          <a:p>
            <a:pPr indent="0" lvl="0" marL="0" rtl="0" algn="l">
              <a:lnSpc>
                <a:spcPct val="115000"/>
              </a:lnSpc>
              <a:spcBef>
                <a:spcPts val="900"/>
              </a:spcBef>
              <a:spcAft>
                <a:spcPts val="0"/>
              </a:spcAft>
              <a:buNone/>
            </a:pPr>
            <a:r>
              <a:t/>
            </a:r>
            <a:endParaRPr sz="2400">
              <a:solidFill>
                <a:srgbClr val="136798"/>
              </a:solidFill>
            </a:endParaRPr>
          </a:p>
          <a:p>
            <a:pPr indent="0" lvl="0" marL="0" rtl="0" algn="l">
              <a:lnSpc>
                <a:spcPct val="115000"/>
              </a:lnSpc>
              <a:spcBef>
                <a:spcPts val="900"/>
              </a:spcBef>
              <a:spcAft>
                <a:spcPts val="0"/>
              </a:spcAft>
              <a:buNone/>
            </a:pPr>
            <a:r>
              <a:t/>
            </a:r>
            <a:endParaRPr sz="2400">
              <a:solidFill>
                <a:srgbClr val="136798"/>
              </a:solidFill>
            </a:endParaRPr>
          </a:p>
          <a:p>
            <a:pPr indent="0" lvl="0" marL="0" rtl="0" algn="l">
              <a:lnSpc>
                <a:spcPct val="115000"/>
              </a:lnSpc>
              <a:spcBef>
                <a:spcPts val="900"/>
              </a:spcBef>
              <a:spcAft>
                <a:spcPts val="900"/>
              </a:spcAft>
              <a:buNone/>
            </a:pPr>
            <a:r>
              <a:t/>
            </a:r>
            <a:endParaRPr sz="2400">
              <a:solidFill>
                <a:srgbClr val="136798"/>
              </a:solidFill>
            </a:endParaRPr>
          </a:p>
        </p:txBody>
      </p:sp>
      <p:sp>
        <p:nvSpPr>
          <p:cNvPr id="280" name="Google Shape;280;p47"/>
          <p:cNvSpPr txBox="1"/>
          <p:nvPr/>
        </p:nvSpPr>
        <p:spPr>
          <a:xfrm>
            <a:off x="0" y="0"/>
            <a:ext cx="7302900" cy="603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s" sz="2200">
                <a:solidFill>
                  <a:srgbClr val="136798"/>
                </a:solidFill>
              </a:rPr>
              <a:t>7 - Seguridad</a:t>
            </a:r>
            <a:endParaRPr sz="2200">
              <a:solidFill>
                <a:srgbClr val="136798"/>
              </a:solidFill>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84" name="Shape 284"/>
        <p:cNvGrpSpPr/>
        <p:nvPr/>
      </p:nvGrpSpPr>
      <p:grpSpPr>
        <a:xfrm>
          <a:off x="0" y="0"/>
          <a:ext cx="0" cy="0"/>
          <a:chOff x="0" y="0"/>
          <a:chExt cx="0" cy="0"/>
        </a:xfrm>
      </p:grpSpPr>
      <p:sp>
        <p:nvSpPr>
          <p:cNvPr id="285" name="Google Shape;285;p48"/>
          <p:cNvSpPr txBox="1"/>
          <p:nvPr/>
        </p:nvSpPr>
        <p:spPr>
          <a:xfrm>
            <a:off x="-125" y="603300"/>
            <a:ext cx="9144000" cy="6254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s" sz="2400">
                <a:solidFill>
                  <a:srgbClr val="C36900"/>
                </a:solidFill>
              </a:rPr>
              <a:t>Prevenir un ataque por diccionario o fuerza bruta</a:t>
            </a:r>
            <a:endParaRPr sz="2400">
              <a:solidFill>
                <a:srgbClr val="136798"/>
              </a:solidFill>
            </a:endParaRPr>
          </a:p>
          <a:p>
            <a:pPr indent="0" lvl="0" marL="0" rtl="0" algn="l">
              <a:lnSpc>
                <a:spcPct val="115000"/>
              </a:lnSpc>
              <a:spcBef>
                <a:spcPts val="900"/>
              </a:spcBef>
              <a:spcAft>
                <a:spcPts val="0"/>
              </a:spcAft>
              <a:buNone/>
            </a:pPr>
            <a:r>
              <a:rPr lang="es" sz="2400">
                <a:solidFill>
                  <a:srgbClr val="136798"/>
                </a:solidFill>
              </a:rPr>
              <a:t>Para prevenir esto, se pueden usar varias técnicas:</a:t>
            </a:r>
            <a:endParaRPr sz="2400">
              <a:solidFill>
                <a:srgbClr val="136798"/>
              </a:solidFill>
            </a:endParaRPr>
          </a:p>
          <a:p>
            <a:pPr indent="-381000" lvl="0" marL="457200" rtl="0" algn="l">
              <a:lnSpc>
                <a:spcPct val="115000"/>
              </a:lnSpc>
              <a:spcBef>
                <a:spcPts val="900"/>
              </a:spcBef>
              <a:spcAft>
                <a:spcPts val="0"/>
              </a:spcAft>
              <a:buClr>
                <a:srgbClr val="136798"/>
              </a:buClr>
              <a:buSzPts val="2400"/>
              <a:buChar char="●"/>
            </a:pPr>
            <a:r>
              <a:rPr lang="es" sz="2400">
                <a:solidFill>
                  <a:srgbClr val="136798"/>
                </a:solidFill>
              </a:rPr>
              <a:t>Utilizar bcrypt. Tarda más en procesarse que Sha, lo suficiente para que un usuario no lo note, y lo suficiente para que un ataque por fuerza bruta se complique mucho. (con 100ms, es 10.000 veces más lento que Sha1). Además tiene un salt incorporado. Combinando esto con otras técnicas, hacemos la contraseña más segura.</a:t>
            </a:r>
            <a:endParaRPr sz="2400">
              <a:solidFill>
                <a:srgbClr val="136798"/>
              </a:solidFill>
            </a:endParaRPr>
          </a:p>
          <a:p>
            <a:pPr indent="0" lvl="0" marL="0" rtl="0" algn="l">
              <a:lnSpc>
                <a:spcPct val="115000"/>
              </a:lnSpc>
              <a:spcBef>
                <a:spcPts val="900"/>
              </a:spcBef>
              <a:spcAft>
                <a:spcPts val="0"/>
              </a:spcAft>
              <a:buNone/>
            </a:pPr>
            <a:r>
              <a:t/>
            </a:r>
            <a:endParaRPr sz="2400">
              <a:solidFill>
                <a:srgbClr val="136798"/>
              </a:solidFill>
            </a:endParaRPr>
          </a:p>
          <a:p>
            <a:pPr indent="0" lvl="0" marL="0" rtl="0" algn="l">
              <a:lnSpc>
                <a:spcPct val="115000"/>
              </a:lnSpc>
              <a:spcBef>
                <a:spcPts val="900"/>
              </a:spcBef>
              <a:spcAft>
                <a:spcPts val="0"/>
              </a:spcAft>
              <a:buNone/>
            </a:pPr>
            <a:r>
              <a:t/>
            </a:r>
            <a:endParaRPr sz="2400">
              <a:solidFill>
                <a:srgbClr val="136798"/>
              </a:solidFill>
            </a:endParaRPr>
          </a:p>
          <a:p>
            <a:pPr indent="0" lvl="0" marL="0" rtl="0" algn="l">
              <a:lnSpc>
                <a:spcPct val="115000"/>
              </a:lnSpc>
              <a:spcBef>
                <a:spcPts val="900"/>
              </a:spcBef>
              <a:spcAft>
                <a:spcPts val="900"/>
              </a:spcAft>
              <a:buNone/>
            </a:pPr>
            <a:r>
              <a:t/>
            </a:r>
            <a:endParaRPr sz="2400">
              <a:solidFill>
                <a:srgbClr val="136798"/>
              </a:solidFill>
            </a:endParaRPr>
          </a:p>
        </p:txBody>
      </p:sp>
      <p:sp>
        <p:nvSpPr>
          <p:cNvPr id="286" name="Google Shape;286;p48"/>
          <p:cNvSpPr txBox="1"/>
          <p:nvPr/>
        </p:nvSpPr>
        <p:spPr>
          <a:xfrm>
            <a:off x="2198250" y="2751100"/>
            <a:ext cx="7339800" cy="856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7" name="Google Shape;287;p48"/>
          <p:cNvSpPr txBox="1"/>
          <p:nvPr/>
        </p:nvSpPr>
        <p:spPr>
          <a:xfrm>
            <a:off x="0" y="0"/>
            <a:ext cx="7302900" cy="603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s" sz="2200">
                <a:solidFill>
                  <a:srgbClr val="136798"/>
                </a:solidFill>
              </a:rPr>
              <a:t>7 - Seguridad</a:t>
            </a:r>
            <a:endParaRPr sz="2200">
              <a:solidFill>
                <a:srgbClr val="136798"/>
              </a:solidFill>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91" name="Shape 291"/>
        <p:cNvGrpSpPr/>
        <p:nvPr/>
      </p:nvGrpSpPr>
      <p:grpSpPr>
        <a:xfrm>
          <a:off x="0" y="0"/>
          <a:ext cx="0" cy="0"/>
          <a:chOff x="0" y="0"/>
          <a:chExt cx="0" cy="0"/>
        </a:xfrm>
      </p:grpSpPr>
      <p:pic>
        <p:nvPicPr>
          <p:cNvPr id="292" name="Google Shape;292;p49"/>
          <p:cNvPicPr preferRelativeResize="0"/>
          <p:nvPr/>
        </p:nvPicPr>
        <p:blipFill>
          <a:blip r:embed="rId4">
            <a:alphaModFix/>
          </a:blip>
          <a:stretch>
            <a:fillRect/>
          </a:stretch>
        </p:blipFill>
        <p:spPr>
          <a:xfrm>
            <a:off x="0" y="603300"/>
            <a:ext cx="7701295" cy="6254700"/>
          </a:xfrm>
          <a:prstGeom prst="rect">
            <a:avLst/>
          </a:prstGeom>
          <a:noFill/>
          <a:ln>
            <a:noFill/>
          </a:ln>
        </p:spPr>
      </p:pic>
      <p:sp>
        <p:nvSpPr>
          <p:cNvPr id="293" name="Google Shape;293;p49"/>
          <p:cNvSpPr txBox="1"/>
          <p:nvPr/>
        </p:nvSpPr>
        <p:spPr>
          <a:xfrm>
            <a:off x="7701300" y="603300"/>
            <a:ext cx="1442700" cy="62547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900"/>
              </a:spcAft>
              <a:buNone/>
            </a:pPr>
            <a:r>
              <a:rPr lang="es" sz="2400">
                <a:solidFill>
                  <a:srgbClr val="136798"/>
                </a:solidFill>
              </a:rPr>
              <a:t>Tira de </a:t>
            </a:r>
            <a:r>
              <a:rPr lang="es" sz="2200" u="sng">
                <a:solidFill>
                  <a:schemeClr val="hlink"/>
                </a:solidFill>
                <a:hlinkClick r:id="rId5"/>
              </a:rPr>
              <a:t>xkcd.com</a:t>
            </a:r>
            <a:endParaRPr sz="2200"/>
          </a:p>
        </p:txBody>
      </p:sp>
      <p:sp>
        <p:nvSpPr>
          <p:cNvPr id="294" name="Google Shape;294;p49"/>
          <p:cNvSpPr txBox="1"/>
          <p:nvPr/>
        </p:nvSpPr>
        <p:spPr>
          <a:xfrm>
            <a:off x="0" y="0"/>
            <a:ext cx="7302900" cy="603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s" sz="2200">
                <a:solidFill>
                  <a:srgbClr val="136798"/>
                </a:solidFill>
              </a:rPr>
              <a:t>7 - Seguridad</a:t>
            </a:r>
            <a:endParaRPr sz="2200">
              <a:solidFill>
                <a:srgbClr val="136798"/>
              </a:solidFill>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98" name="Shape 298"/>
        <p:cNvGrpSpPr/>
        <p:nvPr/>
      </p:nvGrpSpPr>
      <p:grpSpPr>
        <a:xfrm>
          <a:off x="0" y="0"/>
          <a:ext cx="0" cy="0"/>
          <a:chOff x="0" y="0"/>
          <a:chExt cx="0" cy="0"/>
        </a:xfrm>
      </p:grpSpPr>
      <p:sp>
        <p:nvSpPr>
          <p:cNvPr id="299" name="Google Shape;299;p50"/>
          <p:cNvSpPr txBox="1"/>
          <p:nvPr/>
        </p:nvSpPr>
        <p:spPr>
          <a:xfrm>
            <a:off x="-125" y="603300"/>
            <a:ext cx="9144000" cy="6254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s" sz="2400">
                <a:solidFill>
                  <a:srgbClr val="C36900"/>
                </a:solidFill>
              </a:rPr>
              <a:t>Prevenir un ataque por Sniffing</a:t>
            </a:r>
            <a:endParaRPr sz="2400">
              <a:solidFill>
                <a:srgbClr val="136798"/>
              </a:solidFill>
            </a:endParaRPr>
          </a:p>
          <a:p>
            <a:pPr indent="-381000" lvl="0" marL="457200" rtl="0" algn="l">
              <a:lnSpc>
                <a:spcPct val="115000"/>
              </a:lnSpc>
              <a:spcBef>
                <a:spcPts val="900"/>
              </a:spcBef>
              <a:spcAft>
                <a:spcPts val="0"/>
              </a:spcAft>
              <a:buClr>
                <a:srgbClr val="136798"/>
              </a:buClr>
              <a:buSzPts val="2400"/>
              <a:buChar char="●"/>
            </a:pPr>
            <a:r>
              <a:rPr lang="es" sz="2400">
                <a:solidFill>
                  <a:srgbClr val="136798"/>
                </a:solidFill>
              </a:rPr>
              <a:t>Hoy en día la solución es usar el protocolo seguro de transferencia de hipertexto (HTTPS). Para seguridad extra se puede usar una red privada virtual (VPN).</a:t>
            </a:r>
            <a:endParaRPr sz="2400">
              <a:solidFill>
                <a:srgbClr val="136798"/>
              </a:solidFill>
            </a:endParaRPr>
          </a:p>
          <a:p>
            <a:pPr indent="0" lvl="0" marL="0" rtl="0" algn="l">
              <a:lnSpc>
                <a:spcPct val="115000"/>
              </a:lnSpc>
              <a:spcBef>
                <a:spcPts val="900"/>
              </a:spcBef>
              <a:spcAft>
                <a:spcPts val="0"/>
              </a:spcAft>
              <a:buNone/>
            </a:pPr>
            <a:r>
              <a:t/>
            </a:r>
            <a:endParaRPr sz="2400">
              <a:solidFill>
                <a:srgbClr val="136798"/>
              </a:solidFill>
            </a:endParaRPr>
          </a:p>
          <a:p>
            <a:pPr indent="0" lvl="0" marL="0" rtl="0" algn="l">
              <a:lnSpc>
                <a:spcPct val="115000"/>
              </a:lnSpc>
              <a:spcBef>
                <a:spcPts val="900"/>
              </a:spcBef>
              <a:spcAft>
                <a:spcPts val="0"/>
              </a:spcAft>
              <a:buNone/>
            </a:pPr>
            <a:r>
              <a:rPr lang="es" sz="2400">
                <a:solidFill>
                  <a:srgbClr val="C36900"/>
                </a:solidFill>
              </a:rPr>
              <a:t>¿Cómo funciona HTTPS?</a:t>
            </a:r>
            <a:endParaRPr sz="2400">
              <a:solidFill>
                <a:srgbClr val="C36900"/>
              </a:solidFill>
            </a:endParaRPr>
          </a:p>
          <a:p>
            <a:pPr indent="0" lvl="0" marL="0" rtl="0" algn="l">
              <a:lnSpc>
                <a:spcPct val="115000"/>
              </a:lnSpc>
              <a:spcBef>
                <a:spcPts val="900"/>
              </a:spcBef>
              <a:spcAft>
                <a:spcPts val="0"/>
              </a:spcAft>
              <a:buNone/>
            </a:pPr>
            <a:r>
              <a:rPr lang="es" sz="2400">
                <a:solidFill>
                  <a:srgbClr val="136798"/>
                </a:solidFill>
              </a:rPr>
              <a:t>Encripta los paquetes enteros al transmitirse por la red. Antes usaba el algoritmo SSL, ahora usa TLS. Se necesitan tres cosas para encriptar datos:</a:t>
            </a:r>
            <a:endParaRPr sz="2400">
              <a:solidFill>
                <a:srgbClr val="136798"/>
              </a:solidFill>
            </a:endParaRPr>
          </a:p>
          <a:p>
            <a:pPr indent="-381000" lvl="0" marL="457200" rtl="0" algn="l">
              <a:lnSpc>
                <a:spcPct val="115000"/>
              </a:lnSpc>
              <a:spcBef>
                <a:spcPts val="900"/>
              </a:spcBef>
              <a:spcAft>
                <a:spcPts val="0"/>
              </a:spcAft>
              <a:buClr>
                <a:srgbClr val="136798"/>
              </a:buClr>
              <a:buSzPts val="2400"/>
              <a:buChar char="●"/>
            </a:pPr>
            <a:r>
              <a:rPr lang="es" sz="2400">
                <a:solidFill>
                  <a:srgbClr val="136798"/>
                </a:solidFill>
              </a:rPr>
              <a:t>Los datos</a:t>
            </a:r>
            <a:endParaRPr sz="2400">
              <a:solidFill>
                <a:srgbClr val="136798"/>
              </a:solidFill>
            </a:endParaRPr>
          </a:p>
          <a:p>
            <a:pPr indent="-381000" lvl="0" marL="457200" rtl="0" algn="l">
              <a:lnSpc>
                <a:spcPct val="115000"/>
              </a:lnSpc>
              <a:spcBef>
                <a:spcPts val="0"/>
              </a:spcBef>
              <a:spcAft>
                <a:spcPts val="0"/>
              </a:spcAft>
              <a:buClr>
                <a:srgbClr val="136798"/>
              </a:buClr>
              <a:buSzPts val="2400"/>
              <a:buChar char="●"/>
            </a:pPr>
            <a:r>
              <a:rPr lang="es" sz="2400">
                <a:solidFill>
                  <a:srgbClr val="136798"/>
                </a:solidFill>
              </a:rPr>
              <a:t>Una clave de encriptación única</a:t>
            </a:r>
            <a:endParaRPr sz="2400">
              <a:solidFill>
                <a:srgbClr val="136798"/>
              </a:solidFill>
            </a:endParaRPr>
          </a:p>
          <a:p>
            <a:pPr indent="-381000" lvl="0" marL="457200" rtl="0" algn="l">
              <a:lnSpc>
                <a:spcPct val="115000"/>
              </a:lnSpc>
              <a:spcBef>
                <a:spcPts val="0"/>
              </a:spcBef>
              <a:spcAft>
                <a:spcPts val="0"/>
              </a:spcAft>
              <a:buClr>
                <a:srgbClr val="136798"/>
              </a:buClr>
              <a:buSzPts val="2400"/>
              <a:buChar char="●"/>
            </a:pPr>
            <a:r>
              <a:rPr lang="es" sz="2400">
                <a:solidFill>
                  <a:srgbClr val="136798"/>
                </a:solidFill>
              </a:rPr>
              <a:t>Un algoritmo de encriptación</a:t>
            </a:r>
            <a:endParaRPr sz="2400">
              <a:solidFill>
                <a:srgbClr val="136798"/>
              </a:solidFill>
            </a:endParaRPr>
          </a:p>
          <a:p>
            <a:pPr indent="0" lvl="0" marL="0" rtl="0" algn="l">
              <a:lnSpc>
                <a:spcPct val="146739"/>
              </a:lnSpc>
              <a:spcBef>
                <a:spcPts val="900"/>
              </a:spcBef>
              <a:spcAft>
                <a:spcPts val="0"/>
              </a:spcAft>
              <a:buNone/>
            </a:pPr>
            <a:r>
              <a:t/>
            </a:r>
            <a:endParaRPr sz="1150">
              <a:solidFill>
                <a:srgbClr val="242424"/>
              </a:solidFill>
            </a:endParaRPr>
          </a:p>
          <a:p>
            <a:pPr indent="0" lvl="0" marL="0" rtl="0" algn="l">
              <a:lnSpc>
                <a:spcPct val="115000"/>
              </a:lnSpc>
              <a:spcBef>
                <a:spcPts val="1500"/>
              </a:spcBef>
              <a:spcAft>
                <a:spcPts val="0"/>
              </a:spcAft>
              <a:buNone/>
            </a:pPr>
            <a:r>
              <a:t/>
            </a:r>
            <a:endParaRPr sz="2400">
              <a:solidFill>
                <a:srgbClr val="136798"/>
              </a:solidFill>
            </a:endParaRPr>
          </a:p>
          <a:p>
            <a:pPr indent="0" lvl="0" marL="0" rtl="0" algn="l">
              <a:lnSpc>
                <a:spcPct val="115000"/>
              </a:lnSpc>
              <a:spcBef>
                <a:spcPts val="900"/>
              </a:spcBef>
              <a:spcAft>
                <a:spcPts val="0"/>
              </a:spcAft>
              <a:buNone/>
            </a:pPr>
            <a:r>
              <a:t/>
            </a:r>
            <a:endParaRPr sz="2400">
              <a:solidFill>
                <a:srgbClr val="136798"/>
              </a:solidFill>
            </a:endParaRPr>
          </a:p>
          <a:p>
            <a:pPr indent="0" lvl="0" marL="0" rtl="0" algn="l">
              <a:lnSpc>
                <a:spcPct val="115000"/>
              </a:lnSpc>
              <a:spcBef>
                <a:spcPts val="900"/>
              </a:spcBef>
              <a:spcAft>
                <a:spcPts val="0"/>
              </a:spcAft>
              <a:buNone/>
            </a:pPr>
            <a:r>
              <a:t/>
            </a:r>
            <a:endParaRPr sz="2400">
              <a:solidFill>
                <a:srgbClr val="136798"/>
              </a:solidFill>
            </a:endParaRPr>
          </a:p>
          <a:p>
            <a:pPr indent="0" lvl="0" marL="0" rtl="0" algn="l">
              <a:lnSpc>
                <a:spcPct val="115000"/>
              </a:lnSpc>
              <a:spcBef>
                <a:spcPts val="900"/>
              </a:spcBef>
              <a:spcAft>
                <a:spcPts val="900"/>
              </a:spcAft>
              <a:buNone/>
            </a:pPr>
            <a:r>
              <a:t/>
            </a:r>
            <a:endParaRPr sz="2400">
              <a:solidFill>
                <a:srgbClr val="136798"/>
              </a:solidFill>
            </a:endParaRPr>
          </a:p>
        </p:txBody>
      </p:sp>
      <p:sp>
        <p:nvSpPr>
          <p:cNvPr id="300" name="Google Shape;300;p50"/>
          <p:cNvSpPr txBox="1"/>
          <p:nvPr/>
        </p:nvSpPr>
        <p:spPr>
          <a:xfrm>
            <a:off x="0" y="0"/>
            <a:ext cx="7302900" cy="603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s" sz="2200">
                <a:solidFill>
                  <a:srgbClr val="136798"/>
                </a:solidFill>
              </a:rPr>
              <a:t>7 - Seguridad</a:t>
            </a:r>
            <a:endParaRPr sz="2200">
              <a:solidFill>
                <a:srgbClr val="136798"/>
              </a:solidFill>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04" name="Shape 304"/>
        <p:cNvGrpSpPr/>
        <p:nvPr/>
      </p:nvGrpSpPr>
      <p:grpSpPr>
        <a:xfrm>
          <a:off x="0" y="0"/>
          <a:ext cx="0" cy="0"/>
          <a:chOff x="0" y="0"/>
          <a:chExt cx="0" cy="0"/>
        </a:xfrm>
      </p:grpSpPr>
      <p:sp>
        <p:nvSpPr>
          <p:cNvPr id="305" name="Google Shape;305;p51"/>
          <p:cNvSpPr txBox="1"/>
          <p:nvPr/>
        </p:nvSpPr>
        <p:spPr>
          <a:xfrm>
            <a:off x="-125" y="603300"/>
            <a:ext cx="9144000" cy="6254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s" sz="2400">
                <a:solidFill>
                  <a:srgbClr val="C36900"/>
                </a:solidFill>
              </a:rPr>
              <a:t>Encriptación simétrica y asimétrica</a:t>
            </a:r>
            <a:endParaRPr sz="2400">
              <a:solidFill>
                <a:srgbClr val="C36900"/>
              </a:solidFill>
            </a:endParaRPr>
          </a:p>
          <a:p>
            <a:pPr indent="-381000" lvl="0" marL="457200" rtl="0" algn="l">
              <a:lnSpc>
                <a:spcPct val="115000"/>
              </a:lnSpc>
              <a:spcBef>
                <a:spcPts val="900"/>
              </a:spcBef>
              <a:spcAft>
                <a:spcPts val="0"/>
              </a:spcAft>
              <a:buClr>
                <a:srgbClr val="136798"/>
              </a:buClr>
              <a:buSzPts val="2400"/>
              <a:buChar char="●"/>
            </a:pPr>
            <a:r>
              <a:rPr lang="es" sz="2400">
                <a:solidFill>
                  <a:srgbClr val="136798"/>
                </a:solidFill>
              </a:rPr>
              <a:t>En una encriptación simétrica, la misma clave se usa para encriptar y desencriptar. Es lo que utiliza una Wifi, que es menos probable que escuchen directamente.</a:t>
            </a:r>
            <a:endParaRPr sz="2400">
              <a:solidFill>
                <a:srgbClr val="136798"/>
              </a:solidFill>
            </a:endParaRPr>
          </a:p>
          <a:p>
            <a:pPr indent="-381000" lvl="0" marL="457200" rtl="0" algn="l">
              <a:lnSpc>
                <a:spcPct val="115000"/>
              </a:lnSpc>
              <a:spcBef>
                <a:spcPts val="0"/>
              </a:spcBef>
              <a:spcAft>
                <a:spcPts val="0"/>
              </a:spcAft>
              <a:buClr>
                <a:srgbClr val="136798"/>
              </a:buClr>
              <a:buSzPts val="2400"/>
              <a:buChar char="●"/>
            </a:pPr>
            <a:r>
              <a:rPr lang="es" sz="2400">
                <a:solidFill>
                  <a:srgbClr val="136798"/>
                </a:solidFill>
              </a:rPr>
              <a:t>En una encriptación asimétrica, se utiliza una clave distinta para el encriptado y el desencriptado, con claves matemáticas muy relacionadas entre sí. Las claves públicas se dan en los certificados SSL/TLS. No importa quién las tenga, porque solo sirven para encriptar, nadie puede desencriptar con ellas.</a:t>
            </a:r>
            <a:endParaRPr sz="2400">
              <a:solidFill>
                <a:srgbClr val="136798"/>
              </a:solidFill>
            </a:endParaRPr>
          </a:p>
          <a:p>
            <a:pPr indent="0" lvl="0" marL="0" rtl="0" algn="l">
              <a:lnSpc>
                <a:spcPct val="146739"/>
              </a:lnSpc>
              <a:spcBef>
                <a:spcPts val="900"/>
              </a:spcBef>
              <a:spcAft>
                <a:spcPts val="0"/>
              </a:spcAft>
              <a:buNone/>
            </a:pPr>
            <a:r>
              <a:t/>
            </a:r>
            <a:endParaRPr sz="1150">
              <a:solidFill>
                <a:srgbClr val="242424"/>
              </a:solidFill>
            </a:endParaRPr>
          </a:p>
          <a:p>
            <a:pPr indent="0" lvl="0" marL="0" rtl="0" algn="l">
              <a:lnSpc>
                <a:spcPct val="115000"/>
              </a:lnSpc>
              <a:spcBef>
                <a:spcPts val="1500"/>
              </a:spcBef>
              <a:spcAft>
                <a:spcPts val="0"/>
              </a:spcAft>
              <a:buNone/>
            </a:pPr>
            <a:r>
              <a:t/>
            </a:r>
            <a:endParaRPr sz="2400">
              <a:solidFill>
                <a:srgbClr val="136798"/>
              </a:solidFill>
            </a:endParaRPr>
          </a:p>
          <a:p>
            <a:pPr indent="0" lvl="0" marL="0" rtl="0" algn="l">
              <a:lnSpc>
                <a:spcPct val="115000"/>
              </a:lnSpc>
              <a:spcBef>
                <a:spcPts val="900"/>
              </a:spcBef>
              <a:spcAft>
                <a:spcPts val="0"/>
              </a:spcAft>
              <a:buNone/>
            </a:pPr>
            <a:r>
              <a:t/>
            </a:r>
            <a:endParaRPr sz="2400">
              <a:solidFill>
                <a:srgbClr val="136798"/>
              </a:solidFill>
            </a:endParaRPr>
          </a:p>
          <a:p>
            <a:pPr indent="0" lvl="0" marL="0" rtl="0" algn="l">
              <a:lnSpc>
                <a:spcPct val="115000"/>
              </a:lnSpc>
              <a:spcBef>
                <a:spcPts val="900"/>
              </a:spcBef>
              <a:spcAft>
                <a:spcPts val="0"/>
              </a:spcAft>
              <a:buNone/>
            </a:pPr>
            <a:r>
              <a:t/>
            </a:r>
            <a:endParaRPr sz="2400">
              <a:solidFill>
                <a:srgbClr val="136798"/>
              </a:solidFill>
            </a:endParaRPr>
          </a:p>
          <a:p>
            <a:pPr indent="0" lvl="0" marL="0" rtl="0" algn="l">
              <a:lnSpc>
                <a:spcPct val="115000"/>
              </a:lnSpc>
              <a:spcBef>
                <a:spcPts val="900"/>
              </a:spcBef>
              <a:spcAft>
                <a:spcPts val="900"/>
              </a:spcAft>
              <a:buNone/>
            </a:pPr>
            <a:r>
              <a:t/>
            </a:r>
            <a:endParaRPr sz="2400">
              <a:solidFill>
                <a:srgbClr val="136798"/>
              </a:solidFill>
            </a:endParaRPr>
          </a:p>
        </p:txBody>
      </p:sp>
      <p:sp>
        <p:nvSpPr>
          <p:cNvPr id="306" name="Google Shape;306;p51"/>
          <p:cNvSpPr txBox="1"/>
          <p:nvPr/>
        </p:nvSpPr>
        <p:spPr>
          <a:xfrm>
            <a:off x="0" y="0"/>
            <a:ext cx="7302900" cy="603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s" sz="2200">
                <a:solidFill>
                  <a:srgbClr val="136798"/>
                </a:solidFill>
              </a:rPr>
              <a:t>7 - Seguridad</a:t>
            </a:r>
            <a:endParaRPr sz="2200">
              <a:solidFill>
                <a:srgbClr val="136798"/>
              </a:solidFill>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10" name="Shape 310"/>
        <p:cNvGrpSpPr/>
        <p:nvPr/>
      </p:nvGrpSpPr>
      <p:grpSpPr>
        <a:xfrm>
          <a:off x="0" y="0"/>
          <a:ext cx="0" cy="0"/>
          <a:chOff x="0" y="0"/>
          <a:chExt cx="0" cy="0"/>
        </a:xfrm>
      </p:grpSpPr>
      <p:sp>
        <p:nvSpPr>
          <p:cNvPr id="311" name="Google Shape;311;p52"/>
          <p:cNvSpPr txBox="1"/>
          <p:nvPr/>
        </p:nvSpPr>
        <p:spPr>
          <a:xfrm>
            <a:off x="-125" y="603300"/>
            <a:ext cx="9144000" cy="6254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s" sz="2400">
                <a:solidFill>
                  <a:srgbClr val="C36900"/>
                </a:solidFill>
              </a:rPr>
              <a:t>Funcionamiento de HTTPS</a:t>
            </a:r>
            <a:endParaRPr sz="2400">
              <a:solidFill>
                <a:srgbClr val="C36900"/>
              </a:solidFill>
            </a:endParaRPr>
          </a:p>
          <a:p>
            <a:pPr indent="-381000" lvl="0" marL="457200" rtl="0" algn="l">
              <a:lnSpc>
                <a:spcPct val="115000"/>
              </a:lnSpc>
              <a:spcBef>
                <a:spcPts val="900"/>
              </a:spcBef>
              <a:spcAft>
                <a:spcPts val="0"/>
              </a:spcAft>
              <a:buClr>
                <a:srgbClr val="136798"/>
              </a:buClr>
              <a:buSzPts val="2400"/>
              <a:buChar char="●"/>
            </a:pPr>
            <a:r>
              <a:rPr lang="es" sz="2400">
                <a:solidFill>
                  <a:srgbClr val="136798"/>
                </a:solidFill>
              </a:rPr>
              <a:t>El navegador del cliente pide una conexión</a:t>
            </a:r>
            <a:endParaRPr sz="2400">
              <a:solidFill>
                <a:srgbClr val="136798"/>
              </a:solidFill>
            </a:endParaRPr>
          </a:p>
          <a:p>
            <a:pPr indent="-381000" lvl="0" marL="457200" rtl="0" algn="l">
              <a:lnSpc>
                <a:spcPct val="115000"/>
              </a:lnSpc>
              <a:spcBef>
                <a:spcPts val="0"/>
              </a:spcBef>
              <a:spcAft>
                <a:spcPts val="0"/>
              </a:spcAft>
              <a:buClr>
                <a:srgbClr val="136798"/>
              </a:buClr>
              <a:buSzPts val="2400"/>
              <a:buChar char="●"/>
            </a:pPr>
            <a:r>
              <a:rPr lang="es" sz="2400">
                <a:solidFill>
                  <a:srgbClr val="136798"/>
                </a:solidFill>
              </a:rPr>
              <a:t>El servidor envía el certificado con la clave pública, la privada nunca sale del servidor.</a:t>
            </a:r>
            <a:endParaRPr sz="2400">
              <a:solidFill>
                <a:srgbClr val="136798"/>
              </a:solidFill>
            </a:endParaRPr>
          </a:p>
          <a:p>
            <a:pPr indent="-381000" lvl="0" marL="457200" rtl="0" algn="l">
              <a:lnSpc>
                <a:spcPct val="115000"/>
              </a:lnSpc>
              <a:spcBef>
                <a:spcPts val="0"/>
              </a:spcBef>
              <a:spcAft>
                <a:spcPts val="0"/>
              </a:spcAft>
              <a:buClr>
                <a:srgbClr val="136798"/>
              </a:buClr>
              <a:buSzPts val="2400"/>
              <a:buChar char="●"/>
            </a:pPr>
            <a:r>
              <a:rPr lang="es" sz="2400">
                <a:solidFill>
                  <a:srgbClr val="136798"/>
                </a:solidFill>
              </a:rPr>
              <a:t>Con la clave pública, el cliente genera una tercera clave llamada clave de sesión.</a:t>
            </a:r>
            <a:endParaRPr sz="2400">
              <a:solidFill>
                <a:srgbClr val="136798"/>
              </a:solidFill>
            </a:endParaRPr>
          </a:p>
          <a:p>
            <a:pPr indent="-381000" lvl="0" marL="457200" rtl="0" algn="l">
              <a:lnSpc>
                <a:spcPct val="115000"/>
              </a:lnSpc>
              <a:spcBef>
                <a:spcPts val="0"/>
              </a:spcBef>
              <a:spcAft>
                <a:spcPts val="0"/>
              </a:spcAft>
              <a:buClr>
                <a:srgbClr val="136798"/>
              </a:buClr>
              <a:buSzPts val="2400"/>
              <a:buChar char="●"/>
            </a:pPr>
            <a:r>
              <a:rPr lang="es" sz="2400">
                <a:solidFill>
                  <a:srgbClr val="136798"/>
                </a:solidFill>
              </a:rPr>
              <a:t>La clave de sesión se envía al servidor.</a:t>
            </a:r>
            <a:endParaRPr sz="2400">
              <a:solidFill>
                <a:srgbClr val="136798"/>
              </a:solidFill>
            </a:endParaRPr>
          </a:p>
          <a:p>
            <a:pPr indent="-381000" lvl="0" marL="457200" rtl="0" algn="l">
              <a:lnSpc>
                <a:spcPct val="115000"/>
              </a:lnSpc>
              <a:spcBef>
                <a:spcPts val="0"/>
              </a:spcBef>
              <a:spcAft>
                <a:spcPts val="0"/>
              </a:spcAft>
              <a:buClr>
                <a:srgbClr val="136798"/>
              </a:buClr>
              <a:buSzPts val="2400"/>
              <a:buChar char="●"/>
            </a:pPr>
            <a:r>
              <a:rPr lang="es" sz="2400">
                <a:solidFill>
                  <a:srgbClr val="136798"/>
                </a:solidFill>
              </a:rPr>
              <a:t>El servidor desencripta la clave de sesión usando la clave privada. Ahora ambos tienen la clave de sesión</a:t>
            </a:r>
            <a:endParaRPr sz="2400">
              <a:solidFill>
                <a:srgbClr val="136798"/>
              </a:solidFill>
            </a:endParaRPr>
          </a:p>
          <a:p>
            <a:pPr indent="-381000" lvl="0" marL="457200" rtl="0" algn="l">
              <a:lnSpc>
                <a:spcPct val="115000"/>
              </a:lnSpc>
              <a:spcBef>
                <a:spcPts val="0"/>
              </a:spcBef>
              <a:spcAft>
                <a:spcPts val="0"/>
              </a:spcAft>
              <a:buClr>
                <a:srgbClr val="136798"/>
              </a:buClr>
              <a:buSzPts val="2400"/>
              <a:buChar char="●"/>
            </a:pPr>
            <a:r>
              <a:rPr lang="es" sz="2400">
                <a:solidFill>
                  <a:srgbClr val="136798"/>
                </a:solidFill>
              </a:rPr>
              <a:t>La encriptación se hacer ahora simétrica con esa clave de sesión, hasta que abandonas el sitio web.</a:t>
            </a:r>
            <a:endParaRPr sz="2400">
              <a:solidFill>
                <a:srgbClr val="136798"/>
              </a:solidFill>
            </a:endParaRPr>
          </a:p>
          <a:p>
            <a:pPr indent="0" lvl="0" marL="0" rtl="0" algn="l">
              <a:lnSpc>
                <a:spcPct val="146739"/>
              </a:lnSpc>
              <a:spcBef>
                <a:spcPts val="900"/>
              </a:spcBef>
              <a:spcAft>
                <a:spcPts val="0"/>
              </a:spcAft>
              <a:buNone/>
            </a:pPr>
            <a:r>
              <a:t/>
            </a:r>
            <a:endParaRPr sz="1150">
              <a:solidFill>
                <a:srgbClr val="242424"/>
              </a:solidFill>
            </a:endParaRPr>
          </a:p>
          <a:p>
            <a:pPr indent="0" lvl="0" marL="0" rtl="0" algn="l">
              <a:lnSpc>
                <a:spcPct val="115000"/>
              </a:lnSpc>
              <a:spcBef>
                <a:spcPts val="1500"/>
              </a:spcBef>
              <a:spcAft>
                <a:spcPts val="0"/>
              </a:spcAft>
              <a:buNone/>
            </a:pPr>
            <a:r>
              <a:t/>
            </a:r>
            <a:endParaRPr sz="2400">
              <a:solidFill>
                <a:srgbClr val="136798"/>
              </a:solidFill>
            </a:endParaRPr>
          </a:p>
          <a:p>
            <a:pPr indent="0" lvl="0" marL="0" rtl="0" algn="l">
              <a:lnSpc>
                <a:spcPct val="115000"/>
              </a:lnSpc>
              <a:spcBef>
                <a:spcPts val="900"/>
              </a:spcBef>
              <a:spcAft>
                <a:spcPts val="0"/>
              </a:spcAft>
              <a:buNone/>
            </a:pPr>
            <a:r>
              <a:t/>
            </a:r>
            <a:endParaRPr sz="2400">
              <a:solidFill>
                <a:srgbClr val="136798"/>
              </a:solidFill>
            </a:endParaRPr>
          </a:p>
          <a:p>
            <a:pPr indent="0" lvl="0" marL="0" rtl="0" algn="l">
              <a:lnSpc>
                <a:spcPct val="115000"/>
              </a:lnSpc>
              <a:spcBef>
                <a:spcPts val="900"/>
              </a:spcBef>
              <a:spcAft>
                <a:spcPts val="0"/>
              </a:spcAft>
              <a:buNone/>
            </a:pPr>
            <a:r>
              <a:t/>
            </a:r>
            <a:endParaRPr sz="2400">
              <a:solidFill>
                <a:srgbClr val="136798"/>
              </a:solidFill>
            </a:endParaRPr>
          </a:p>
          <a:p>
            <a:pPr indent="0" lvl="0" marL="0" rtl="0" algn="l">
              <a:lnSpc>
                <a:spcPct val="115000"/>
              </a:lnSpc>
              <a:spcBef>
                <a:spcPts val="900"/>
              </a:spcBef>
              <a:spcAft>
                <a:spcPts val="900"/>
              </a:spcAft>
              <a:buNone/>
            </a:pPr>
            <a:r>
              <a:t/>
            </a:r>
            <a:endParaRPr sz="2400">
              <a:solidFill>
                <a:srgbClr val="136798"/>
              </a:solidFill>
            </a:endParaRPr>
          </a:p>
        </p:txBody>
      </p:sp>
      <p:sp>
        <p:nvSpPr>
          <p:cNvPr id="312" name="Google Shape;312;p52"/>
          <p:cNvSpPr txBox="1"/>
          <p:nvPr/>
        </p:nvSpPr>
        <p:spPr>
          <a:xfrm>
            <a:off x="0" y="0"/>
            <a:ext cx="7302900" cy="603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s" sz="2200">
                <a:solidFill>
                  <a:srgbClr val="136798"/>
                </a:solidFill>
              </a:rPr>
              <a:t>7 - Seguridad</a:t>
            </a:r>
            <a:endParaRPr sz="2200">
              <a:solidFill>
                <a:srgbClr val="136798"/>
              </a:solidFill>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16" name="Shape 316"/>
        <p:cNvGrpSpPr/>
        <p:nvPr/>
      </p:nvGrpSpPr>
      <p:grpSpPr>
        <a:xfrm>
          <a:off x="0" y="0"/>
          <a:ext cx="0" cy="0"/>
          <a:chOff x="0" y="0"/>
          <a:chExt cx="0" cy="0"/>
        </a:xfrm>
      </p:grpSpPr>
      <p:sp>
        <p:nvSpPr>
          <p:cNvPr id="317" name="Google Shape;317;p53"/>
          <p:cNvSpPr txBox="1"/>
          <p:nvPr/>
        </p:nvSpPr>
        <p:spPr>
          <a:xfrm>
            <a:off x="-125" y="603300"/>
            <a:ext cx="9144000" cy="6254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s" sz="2400">
                <a:solidFill>
                  <a:srgbClr val="C36900"/>
                </a:solidFill>
              </a:rPr>
              <a:t>¿Es todo esto 100% seguro?</a:t>
            </a:r>
            <a:endParaRPr sz="2400">
              <a:solidFill>
                <a:srgbClr val="C36900"/>
              </a:solidFill>
            </a:endParaRPr>
          </a:p>
          <a:p>
            <a:pPr indent="0" lvl="0" marL="0" rtl="0" algn="l">
              <a:lnSpc>
                <a:spcPct val="115000"/>
              </a:lnSpc>
              <a:spcBef>
                <a:spcPts val="900"/>
              </a:spcBef>
              <a:spcAft>
                <a:spcPts val="0"/>
              </a:spcAft>
              <a:buNone/>
            </a:pPr>
            <a:r>
              <a:rPr lang="es" sz="2400">
                <a:solidFill>
                  <a:srgbClr val="136798"/>
                </a:solidFill>
              </a:rPr>
              <a:t>No, nada es 100% seguro. Me jugaría todo mi oro a que nada va a ser nunca 100% seguro. Pero cuanto más compleja es la protección frente a ataques, más tiempo de computación se necesita para romperla. Y más tiempo de computación significa que es más caro. Romper una sola contraseña para un sitio que cuida muy bien su seguridad puede costar decenas o centenas de miles de dólares.</a:t>
            </a:r>
            <a:endParaRPr sz="2400">
              <a:solidFill>
                <a:srgbClr val="136798"/>
              </a:solidFill>
            </a:endParaRPr>
          </a:p>
          <a:p>
            <a:pPr indent="0" lvl="0" marL="0" rtl="0" algn="l">
              <a:lnSpc>
                <a:spcPct val="115000"/>
              </a:lnSpc>
              <a:spcBef>
                <a:spcPts val="900"/>
              </a:spcBef>
              <a:spcAft>
                <a:spcPts val="0"/>
              </a:spcAft>
              <a:buNone/>
            </a:pPr>
            <a:r>
              <a:t/>
            </a:r>
            <a:endParaRPr sz="2400">
              <a:solidFill>
                <a:srgbClr val="136798"/>
              </a:solidFill>
            </a:endParaRPr>
          </a:p>
          <a:p>
            <a:pPr indent="0" lvl="0" marL="0" rtl="0" algn="l">
              <a:lnSpc>
                <a:spcPct val="115000"/>
              </a:lnSpc>
              <a:spcBef>
                <a:spcPts val="900"/>
              </a:spcBef>
              <a:spcAft>
                <a:spcPts val="0"/>
              </a:spcAft>
              <a:buNone/>
            </a:pPr>
            <a:r>
              <a:rPr lang="es" sz="2400">
                <a:solidFill>
                  <a:srgbClr val="136798"/>
                </a:solidFill>
              </a:rPr>
              <a:t>La NSA se lo puede permitir...</a:t>
            </a:r>
            <a:endParaRPr sz="2400">
              <a:solidFill>
                <a:srgbClr val="136798"/>
              </a:solidFill>
            </a:endParaRPr>
          </a:p>
          <a:p>
            <a:pPr indent="0" lvl="0" marL="0" rtl="0" algn="l">
              <a:lnSpc>
                <a:spcPct val="146739"/>
              </a:lnSpc>
              <a:spcBef>
                <a:spcPts val="900"/>
              </a:spcBef>
              <a:spcAft>
                <a:spcPts val="0"/>
              </a:spcAft>
              <a:buNone/>
            </a:pPr>
            <a:r>
              <a:t/>
            </a:r>
            <a:endParaRPr sz="1150">
              <a:solidFill>
                <a:srgbClr val="242424"/>
              </a:solidFill>
            </a:endParaRPr>
          </a:p>
          <a:p>
            <a:pPr indent="0" lvl="0" marL="0" rtl="0" algn="l">
              <a:lnSpc>
                <a:spcPct val="115000"/>
              </a:lnSpc>
              <a:spcBef>
                <a:spcPts val="1500"/>
              </a:spcBef>
              <a:spcAft>
                <a:spcPts val="0"/>
              </a:spcAft>
              <a:buNone/>
            </a:pPr>
            <a:r>
              <a:t/>
            </a:r>
            <a:endParaRPr sz="2400">
              <a:solidFill>
                <a:srgbClr val="136798"/>
              </a:solidFill>
            </a:endParaRPr>
          </a:p>
          <a:p>
            <a:pPr indent="0" lvl="0" marL="0" rtl="0" algn="l">
              <a:lnSpc>
                <a:spcPct val="115000"/>
              </a:lnSpc>
              <a:spcBef>
                <a:spcPts val="900"/>
              </a:spcBef>
              <a:spcAft>
                <a:spcPts val="0"/>
              </a:spcAft>
              <a:buNone/>
            </a:pPr>
            <a:r>
              <a:t/>
            </a:r>
            <a:endParaRPr sz="2400">
              <a:solidFill>
                <a:srgbClr val="136798"/>
              </a:solidFill>
            </a:endParaRPr>
          </a:p>
          <a:p>
            <a:pPr indent="0" lvl="0" marL="0" rtl="0" algn="l">
              <a:lnSpc>
                <a:spcPct val="115000"/>
              </a:lnSpc>
              <a:spcBef>
                <a:spcPts val="900"/>
              </a:spcBef>
              <a:spcAft>
                <a:spcPts val="0"/>
              </a:spcAft>
              <a:buNone/>
            </a:pPr>
            <a:r>
              <a:t/>
            </a:r>
            <a:endParaRPr sz="2400">
              <a:solidFill>
                <a:srgbClr val="136798"/>
              </a:solidFill>
            </a:endParaRPr>
          </a:p>
          <a:p>
            <a:pPr indent="0" lvl="0" marL="0" rtl="0" algn="l">
              <a:lnSpc>
                <a:spcPct val="115000"/>
              </a:lnSpc>
              <a:spcBef>
                <a:spcPts val="900"/>
              </a:spcBef>
              <a:spcAft>
                <a:spcPts val="900"/>
              </a:spcAft>
              <a:buNone/>
            </a:pPr>
            <a:r>
              <a:t/>
            </a:r>
            <a:endParaRPr sz="2400">
              <a:solidFill>
                <a:srgbClr val="136798"/>
              </a:solidFill>
            </a:endParaRPr>
          </a:p>
        </p:txBody>
      </p:sp>
      <p:sp>
        <p:nvSpPr>
          <p:cNvPr id="318" name="Google Shape;318;p53"/>
          <p:cNvSpPr txBox="1"/>
          <p:nvPr/>
        </p:nvSpPr>
        <p:spPr>
          <a:xfrm>
            <a:off x="2382525" y="1750700"/>
            <a:ext cx="7339800" cy="856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9" name="Google Shape;319;p53"/>
          <p:cNvSpPr txBox="1"/>
          <p:nvPr/>
        </p:nvSpPr>
        <p:spPr>
          <a:xfrm>
            <a:off x="0" y="0"/>
            <a:ext cx="7302900" cy="603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s" sz="2200">
                <a:solidFill>
                  <a:srgbClr val="136798"/>
                </a:solidFill>
              </a:rPr>
              <a:t>7 - Seguridad</a:t>
            </a:r>
            <a:endParaRPr sz="2200">
              <a:solidFill>
                <a:srgbClr val="136798"/>
              </a:solidFill>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23" name="Shape 323"/>
        <p:cNvGrpSpPr/>
        <p:nvPr/>
      </p:nvGrpSpPr>
      <p:grpSpPr>
        <a:xfrm>
          <a:off x="0" y="0"/>
          <a:ext cx="0" cy="0"/>
          <a:chOff x="0" y="0"/>
          <a:chExt cx="0" cy="0"/>
        </a:xfrm>
      </p:grpSpPr>
      <p:pic>
        <p:nvPicPr>
          <p:cNvPr id="324" name="Google Shape;324;p54"/>
          <p:cNvPicPr preferRelativeResize="0"/>
          <p:nvPr/>
        </p:nvPicPr>
        <p:blipFill>
          <a:blip r:embed="rId4">
            <a:alphaModFix/>
          </a:blip>
          <a:stretch>
            <a:fillRect/>
          </a:stretch>
        </p:blipFill>
        <p:spPr>
          <a:xfrm>
            <a:off x="4387575" y="603300"/>
            <a:ext cx="4756426" cy="6254700"/>
          </a:xfrm>
          <a:prstGeom prst="rect">
            <a:avLst/>
          </a:prstGeom>
          <a:noFill/>
          <a:ln>
            <a:noFill/>
          </a:ln>
        </p:spPr>
      </p:pic>
      <p:sp>
        <p:nvSpPr>
          <p:cNvPr id="325" name="Google Shape;325;p54"/>
          <p:cNvSpPr txBox="1"/>
          <p:nvPr/>
        </p:nvSpPr>
        <p:spPr>
          <a:xfrm>
            <a:off x="-125" y="603300"/>
            <a:ext cx="4387800" cy="6254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s" sz="2400">
                <a:solidFill>
                  <a:srgbClr val="136798"/>
                </a:solidFill>
              </a:rPr>
              <a:t>… Un Juanker no. No seas un Juanker.</a:t>
            </a:r>
            <a:endParaRPr sz="2400">
              <a:solidFill>
                <a:srgbClr val="136798"/>
              </a:solidFill>
            </a:endParaRPr>
          </a:p>
          <a:p>
            <a:pPr indent="0" lvl="0" marL="0" rtl="0" algn="l">
              <a:lnSpc>
                <a:spcPct val="146739"/>
              </a:lnSpc>
              <a:spcBef>
                <a:spcPts val="900"/>
              </a:spcBef>
              <a:spcAft>
                <a:spcPts val="0"/>
              </a:spcAft>
              <a:buNone/>
            </a:pPr>
            <a:r>
              <a:t/>
            </a:r>
            <a:endParaRPr sz="1150">
              <a:solidFill>
                <a:srgbClr val="242424"/>
              </a:solidFill>
            </a:endParaRPr>
          </a:p>
          <a:p>
            <a:pPr indent="0" lvl="0" marL="0" rtl="0" algn="l">
              <a:lnSpc>
                <a:spcPct val="115000"/>
              </a:lnSpc>
              <a:spcBef>
                <a:spcPts val="1500"/>
              </a:spcBef>
              <a:spcAft>
                <a:spcPts val="0"/>
              </a:spcAft>
              <a:buNone/>
            </a:pPr>
            <a:r>
              <a:t/>
            </a:r>
            <a:endParaRPr sz="2400">
              <a:solidFill>
                <a:srgbClr val="136798"/>
              </a:solidFill>
            </a:endParaRPr>
          </a:p>
          <a:p>
            <a:pPr indent="0" lvl="0" marL="0" rtl="0" algn="l">
              <a:lnSpc>
                <a:spcPct val="115000"/>
              </a:lnSpc>
              <a:spcBef>
                <a:spcPts val="900"/>
              </a:spcBef>
              <a:spcAft>
                <a:spcPts val="0"/>
              </a:spcAft>
              <a:buNone/>
            </a:pPr>
            <a:r>
              <a:t/>
            </a:r>
            <a:endParaRPr sz="2400">
              <a:solidFill>
                <a:srgbClr val="136798"/>
              </a:solidFill>
            </a:endParaRPr>
          </a:p>
          <a:p>
            <a:pPr indent="0" lvl="0" marL="0" rtl="0" algn="l">
              <a:lnSpc>
                <a:spcPct val="115000"/>
              </a:lnSpc>
              <a:spcBef>
                <a:spcPts val="900"/>
              </a:spcBef>
              <a:spcAft>
                <a:spcPts val="0"/>
              </a:spcAft>
              <a:buNone/>
            </a:pPr>
            <a:r>
              <a:t/>
            </a:r>
            <a:endParaRPr sz="2400">
              <a:solidFill>
                <a:srgbClr val="136798"/>
              </a:solidFill>
            </a:endParaRPr>
          </a:p>
          <a:p>
            <a:pPr indent="0" lvl="0" marL="0" rtl="0" algn="l">
              <a:lnSpc>
                <a:spcPct val="115000"/>
              </a:lnSpc>
              <a:spcBef>
                <a:spcPts val="900"/>
              </a:spcBef>
              <a:spcAft>
                <a:spcPts val="900"/>
              </a:spcAft>
              <a:buNone/>
            </a:pPr>
            <a:r>
              <a:t/>
            </a:r>
            <a:endParaRPr sz="2400">
              <a:solidFill>
                <a:srgbClr val="136798"/>
              </a:solidFill>
            </a:endParaRPr>
          </a:p>
        </p:txBody>
      </p:sp>
      <p:sp>
        <p:nvSpPr>
          <p:cNvPr id="326" name="Google Shape;326;p54"/>
          <p:cNvSpPr txBox="1"/>
          <p:nvPr/>
        </p:nvSpPr>
        <p:spPr>
          <a:xfrm>
            <a:off x="0" y="0"/>
            <a:ext cx="7302900" cy="603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s" sz="2200">
                <a:solidFill>
                  <a:srgbClr val="136798"/>
                </a:solidFill>
              </a:rPr>
              <a:t>7 - Seguridad</a:t>
            </a:r>
            <a:endParaRPr sz="2200">
              <a:solidFill>
                <a:srgbClr val="136798"/>
              </a:solidFill>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30" name="Shape 330"/>
        <p:cNvGrpSpPr/>
        <p:nvPr/>
      </p:nvGrpSpPr>
      <p:grpSpPr>
        <a:xfrm>
          <a:off x="0" y="0"/>
          <a:ext cx="0" cy="0"/>
          <a:chOff x="0" y="0"/>
          <a:chExt cx="0" cy="0"/>
        </a:xfrm>
      </p:grpSpPr>
      <p:sp>
        <p:nvSpPr>
          <p:cNvPr id="331" name="Google Shape;331;p55"/>
          <p:cNvSpPr txBox="1"/>
          <p:nvPr/>
        </p:nvSpPr>
        <p:spPr>
          <a:xfrm>
            <a:off x="-125" y="603300"/>
            <a:ext cx="9144000" cy="6254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s" sz="2400">
                <a:solidFill>
                  <a:srgbClr val="C36900"/>
                </a:solidFill>
              </a:rPr>
              <a:t>¿Vale la pena hacer encriptación/Hashing?</a:t>
            </a:r>
            <a:endParaRPr sz="2400">
              <a:solidFill>
                <a:srgbClr val="C36900"/>
              </a:solidFill>
            </a:endParaRPr>
          </a:p>
          <a:p>
            <a:pPr indent="0" lvl="0" marL="0" rtl="0" algn="l">
              <a:lnSpc>
                <a:spcPct val="115000"/>
              </a:lnSpc>
              <a:spcBef>
                <a:spcPts val="900"/>
              </a:spcBef>
              <a:spcAft>
                <a:spcPts val="0"/>
              </a:spcAft>
              <a:buNone/>
            </a:pPr>
            <a:r>
              <a:rPr lang="es" sz="2400">
                <a:solidFill>
                  <a:srgbClr val="136798"/>
                </a:solidFill>
              </a:rPr>
              <a:t>Hay una cierta discursión en si merece la pena hacer el encriptado/hashing nosotros mismos, si usamos conexiones SSL con HTTPS. En ese caso, las contraseñas ya están encriptadas. ¿Por qué tomar el trabajo de encriptarlas nosotros?</a:t>
            </a:r>
            <a:endParaRPr sz="2400">
              <a:solidFill>
                <a:srgbClr val="136798"/>
              </a:solidFill>
            </a:endParaRPr>
          </a:p>
          <a:p>
            <a:pPr indent="0" lvl="0" marL="0" rtl="0" algn="l">
              <a:lnSpc>
                <a:spcPct val="115000"/>
              </a:lnSpc>
              <a:spcBef>
                <a:spcPts val="900"/>
              </a:spcBef>
              <a:spcAft>
                <a:spcPts val="0"/>
              </a:spcAft>
              <a:buNone/>
            </a:pPr>
            <a:r>
              <a:t/>
            </a:r>
            <a:endParaRPr sz="600">
              <a:solidFill>
                <a:srgbClr val="136798"/>
              </a:solidFill>
            </a:endParaRPr>
          </a:p>
          <a:p>
            <a:pPr indent="0" lvl="0" marL="0" rtl="0" algn="l">
              <a:lnSpc>
                <a:spcPct val="115000"/>
              </a:lnSpc>
              <a:spcBef>
                <a:spcPts val="900"/>
              </a:spcBef>
              <a:spcAft>
                <a:spcPts val="0"/>
              </a:spcAft>
              <a:buNone/>
            </a:pPr>
            <a:r>
              <a:rPr lang="es" sz="2400">
                <a:solidFill>
                  <a:srgbClr val="136798"/>
                </a:solidFill>
              </a:rPr>
              <a:t>Bueno, es cierto que están protegidas en el camino del cliente al servidor, pero … ¿Y si el servidor se ve comprometido y se filtra la base de datos?</a:t>
            </a:r>
            <a:endParaRPr sz="2400">
              <a:solidFill>
                <a:srgbClr val="136798"/>
              </a:solidFill>
            </a:endParaRPr>
          </a:p>
          <a:p>
            <a:pPr indent="0" lvl="0" marL="0" rtl="0" algn="l">
              <a:lnSpc>
                <a:spcPct val="115000"/>
              </a:lnSpc>
              <a:spcBef>
                <a:spcPts val="900"/>
              </a:spcBef>
              <a:spcAft>
                <a:spcPts val="0"/>
              </a:spcAft>
              <a:buNone/>
            </a:pPr>
            <a:r>
              <a:t/>
            </a:r>
            <a:endParaRPr sz="600">
              <a:solidFill>
                <a:srgbClr val="136798"/>
              </a:solidFill>
            </a:endParaRPr>
          </a:p>
          <a:p>
            <a:pPr indent="0" lvl="0" marL="0" rtl="0" algn="l">
              <a:lnSpc>
                <a:spcPct val="115000"/>
              </a:lnSpc>
              <a:spcBef>
                <a:spcPts val="900"/>
              </a:spcBef>
              <a:spcAft>
                <a:spcPts val="0"/>
              </a:spcAft>
              <a:buClr>
                <a:schemeClr val="dk1"/>
              </a:buClr>
              <a:buSzPts val="1100"/>
              <a:buFont typeface="Arial"/>
              <a:buNone/>
            </a:pPr>
            <a:r>
              <a:rPr lang="es" sz="2400">
                <a:solidFill>
                  <a:srgbClr val="136798"/>
                </a:solidFill>
              </a:rPr>
              <a:t>Si esto ocurre, y no encriptamos las contraseñas, las dejamos todas claramente al descubierto. No solo esto, ¿Podrías fiarte de todos tus empleados que trabajan con el servidor?¿Nunca ninguno jamás usará una contraseña en su beneficio si la tiene ahí, disponible en texto plano?</a:t>
            </a:r>
            <a:endParaRPr sz="2400">
              <a:solidFill>
                <a:srgbClr val="C36900"/>
              </a:solidFill>
            </a:endParaRPr>
          </a:p>
          <a:p>
            <a:pPr indent="0" lvl="0" marL="0" rtl="0" algn="l">
              <a:lnSpc>
                <a:spcPct val="115000"/>
              </a:lnSpc>
              <a:spcBef>
                <a:spcPts val="900"/>
              </a:spcBef>
              <a:spcAft>
                <a:spcPts val="0"/>
              </a:spcAft>
              <a:buNone/>
            </a:pPr>
            <a:r>
              <a:t/>
            </a:r>
            <a:endParaRPr sz="2400">
              <a:solidFill>
                <a:srgbClr val="136798"/>
              </a:solidFill>
            </a:endParaRPr>
          </a:p>
          <a:p>
            <a:pPr indent="0" lvl="0" marL="0" rtl="0" algn="l">
              <a:lnSpc>
                <a:spcPct val="146739"/>
              </a:lnSpc>
              <a:spcBef>
                <a:spcPts val="900"/>
              </a:spcBef>
              <a:spcAft>
                <a:spcPts val="0"/>
              </a:spcAft>
              <a:buNone/>
            </a:pPr>
            <a:r>
              <a:t/>
            </a:r>
            <a:endParaRPr sz="1150">
              <a:solidFill>
                <a:srgbClr val="242424"/>
              </a:solidFill>
            </a:endParaRPr>
          </a:p>
          <a:p>
            <a:pPr indent="0" lvl="0" marL="0" rtl="0" algn="l">
              <a:lnSpc>
                <a:spcPct val="115000"/>
              </a:lnSpc>
              <a:spcBef>
                <a:spcPts val="1500"/>
              </a:spcBef>
              <a:spcAft>
                <a:spcPts val="0"/>
              </a:spcAft>
              <a:buNone/>
            </a:pPr>
            <a:r>
              <a:t/>
            </a:r>
            <a:endParaRPr sz="2400">
              <a:solidFill>
                <a:srgbClr val="136798"/>
              </a:solidFill>
            </a:endParaRPr>
          </a:p>
          <a:p>
            <a:pPr indent="0" lvl="0" marL="0" rtl="0" algn="l">
              <a:lnSpc>
                <a:spcPct val="115000"/>
              </a:lnSpc>
              <a:spcBef>
                <a:spcPts val="900"/>
              </a:spcBef>
              <a:spcAft>
                <a:spcPts val="0"/>
              </a:spcAft>
              <a:buNone/>
            </a:pPr>
            <a:r>
              <a:t/>
            </a:r>
            <a:endParaRPr sz="2400">
              <a:solidFill>
                <a:srgbClr val="136798"/>
              </a:solidFill>
            </a:endParaRPr>
          </a:p>
          <a:p>
            <a:pPr indent="0" lvl="0" marL="0" rtl="0" algn="l">
              <a:lnSpc>
                <a:spcPct val="115000"/>
              </a:lnSpc>
              <a:spcBef>
                <a:spcPts val="900"/>
              </a:spcBef>
              <a:spcAft>
                <a:spcPts val="0"/>
              </a:spcAft>
              <a:buNone/>
            </a:pPr>
            <a:r>
              <a:t/>
            </a:r>
            <a:endParaRPr sz="2400">
              <a:solidFill>
                <a:srgbClr val="136798"/>
              </a:solidFill>
            </a:endParaRPr>
          </a:p>
          <a:p>
            <a:pPr indent="0" lvl="0" marL="0" rtl="0" algn="l">
              <a:lnSpc>
                <a:spcPct val="115000"/>
              </a:lnSpc>
              <a:spcBef>
                <a:spcPts val="900"/>
              </a:spcBef>
              <a:spcAft>
                <a:spcPts val="900"/>
              </a:spcAft>
              <a:buNone/>
            </a:pPr>
            <a:r>
              <a:t/>
            </a:r>
            <a:endParaRPr sz="2400">
              <a:solidFill>
                <a:srgbClr val="136798"/>
              </a:solidFill>
            </a:endParaRPr>
          </a:p>
        </p:txBody>
      </p:sp>
      <p:sp>
        <p:nvSpPr>
          <p:cNvPr id="332" name="Google Shape;332;p55"/>
          <p:cNvSpPr txBox="1"/>
          <p:nvPr/>
        </p:nvSpPr>
        <p:spPr>
          <a:xfrm>
            <a:off x="0" y="0"/>
            <a:ext cx="7302900" cy="603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s" sz="2200">
                <a:solidFill>
                  <a:srgbClr val="136798"/>
                </a:solidFill>
              </a:rPr>
              <a:t>7 - Seguridad</a:t>
            </a:r>
            <a:endParaRPr sz="2200">
              <a:solidFill>
                <a:srgbClr val="136798"/>
              </a:solidFill>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36" name="Shape 336"/>
        <p:cNvGrpSpPr/>
        <p:nvPr/>
      </p:nvGrpSpPr>
      <p:grpSpPr>
        <a:xfrm>
          <a:off x="0" y="0"/>
          <a:ext cx="0" cy="0"/>
          <a:chOff x="0" y="0"/>
          <a:chExt cx="0" cy="0"/>
        </a:xfrm>
      </p:grpSpPr>
      <p:sp>
        <p:nvSpPr>
          <p:cNvPr id="337" name="Google Shape;337;p56"/>
          <p:cNvSpPr txBox="1"/>
          <p:nvPr/>
        </p:nvSpPr>
        <p:spPr>
          <a:xfrm>
            <a:off x="-125" y="603300"/>
            <a:ext cx="9144000" cy="6254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s" sz="2400">
                <a:solidFill>
                  <a:srgbClr val="136798"/>
                </a:solidFill>
              </a:rPr>
              <a:t>Se plantean otros problemas: </a:t>
            </a:r>
            <a:endParaRPr sz="2400">
              <a:solidFill>
                <a:srgbClr val="136798"/>
              </a:solidFill>
            </a:endParaRPr>
          </a:p>
          <a:p>
            <a:pPr indent="-381000" lvl="0" marL="457200" rtl="0" algn="l">
              <a:lnSpc>
                <a:spcPct val="115000"/>
              </a:lnSpc>
              <a:spcBef>
                <a:spcPts val="900"/>
              </a:spcBef>
              <a:spcAft>
                <a:spcPts val="0"/>
              </a:spcAft>
              <a:buClr>
                <a:srgbClr val="136798"/>
              </a:buClr>
              <a:buSzPts val="2400"/>
              <a:buChar char="●"/>
            </a:pPr>
            <a:r>
              <a:rPr lang="es" sz="2400">
                <a:solidFill>
                  <a:srgbClr val="136798"/>
                </a:solidFill>
              </a:rPr>
              <a:t>Alguien que sepa leer Javascript, puede averiguar el hashing solo con el código del lado cliente, aunque el JS se pueda ofuscar.</a:t>
            </a:r>
            <a:br>
              <a:rPr lang="es" sz="2400">
                <a:solidFill>
                  <a:srgbClr val="136798"/>
                </a:solidFill>
              </a:rPr>
            </a:br>
            <a:endParaRPr sz="2400">
              <a:solidFill>
                <a:srgbClr val="136798"/>
              </a:solidFill>
            </a:endParaRPr>
          </a:p>
          <a:p>
            <a:pPr indent="-381000" lvl="0" marL="457200" rtl="0" algn="l">
              <a:lnSpc>
                <a:spcPct val="115000"/>
              </a:lnSpc>
              <a:spcBef>
                <a:spcPts val="0"/>
              </a:spcBef>
              <a:spcAft>
                <a:spcPts val="0"/>
              </a:spcAft>
              <a:buClr>
                <a:srgbClr val="136798"/>
              </a:buClr>
              <a:buSzPts val="2400"/>
              <a:buChar char="●"/>
            </a:pPr>
            <a:r>
              <a:rPr lang="es" sz="2400">
                <a:solidFill>
                  <a:srgbClr val="136798"/>
                </a:solidFill>
              </a:rPr>
              <a:t>Si un atacante consigue las contraseñas de la base de datos, y se guardan hasheadas, el hash en realidad equivale a la contraseña. Solo tiene que mandar un paquete donde el campo password sea directamente el hash, y ya ha burlado la seguridad sin saber la contraseña.</a:t>
            </a:r>
            <a:endParaRPr sz="2400">
              <a:solidFill>
                <a:srgbClr val="136798"/>
              </a:solidFill>
            </a:endParaRPr>
          </a:p>
          <a:p>
            <a:pPr indent="0" lvl="0" marL="0" rtl="0" algn="l">
              <a:lnSpc>
                <a:spcPct val="115000"/>
              </a:lnSpc>
              <a:spcBef>
                <a:spcPts val="900"/>
              </a:spcBef>
              <a:spcAft>
                <a:spcPts val="0"/>
              </a:spcAft>
              <a:buNone/>
            </a:pPr>
            <a:r>
              <a:t/>
            </a:r>
            <a:endParaRPr sz="2400">
              <a:solidFill>
                <a:srgbClr val="136798"/>
              </a:solidFill>
            </a:endParaRPr>
          </a:p>
          <a:p>
            <a:pPr indent="0" lvl="0" marL="0" rtl="0" algn="l">
              <a:lnSpc>
                <a:spcPct val="115000"/>
              </a:lnSpc>
              <a:spcBef>
                <a:spcPts val="900"/>
              </a:spcBef>
              <a:spcAft>
                <a:spcPts val="0"/>
              </a:spcAft>
              <a:buNone/>
            </a:pPr>
            <a:r>
              <a:t/>
            </a:r>
            <a:endParaRPr sz="2400">
              <a:solidFill>
                <a:srgbClr val="136798"/>
              </a:solidFill>
            </a:endParaRPr>
          </a:p>
          <a:p>
            <a:pPr indent="0" lvl="0" marL="0" rtl="0" algn="l">
              <a:lnSpc>
                <a:spcPct val="146739"/>
              </a:lnSpc>
              <a:spcBef>
                <a:spcPts val="900"/>
              </a:spcBef>
              <a:spcAft>
                <a:spcPts val="0"/>
              </a:spcAft>
              <a:buNone/>
            </a:pPr>
            <a:r>
              <a:t/>
            </a:r>
            <a:endParaRPr sz="1150">
              <a:solidFill>
                <a:srgbClr val="242424"/>
              </a:solidFill>
            </a:endParaRPr>
          </a:p>
          <a:p>
            <a:pPr indent="0" lvl="0" marL="0" rtl="0" algn="l">
              <a:lnSpc>
                <a:spcPct val="115000"/>
              </a:lnSpc>
              <a:spcBef>
                <a:spcPts val="1500"/>
              </a:spcBef>
              <a:spcAft>
                <a:spcPts val="0"/>
              </a:spcAft>
              <a:buNone/>
            </a:pPr>
            <a:r>
              <a:t/>
            </a:r>
            <a:endParaRPr sz="2400">
              <a:solidFill>
                <a:srgbClr val="136798"/>
              </a:solidFill>
            </a:endParaRPr>
          </a:p>
          <a:p>
            <a:pPr indent="0" lvl="0" marL="0" rtl="0" algn="l">
              <a:lnSpc>
                <a:spcPct val="115000"/>
              </a:lnSpc>
              <a:spcBef>
                <a:spcPts val="900"/>
              </a:spcBef>
              <a:spcAft>
                <a:spcPts val="0"/>
              </a:spcAft>
              <a:buNone/>
            </a:pPr>
            <a:r>
              <a:t/>
            </a:r>
            <a:endParaRPr sz="2400">
              <a:solidFill>
                <a:srgbClr val="136798"/>
              </a:solidFill>
            </a:endParaRPr>
          </a:p>
          <a:p>
            <a:pPr indent="0" lvl="0" marL="0" rtl="0" algn="l">
              <a:lnSpc>
                <a:spcPct val="115000"/>
              </a:lnSpc>
              <a:spcBef>
                <a:spcPts val="900"/>
              </a:spcBef>
              <a:spcAft>
                <a:spcPts val="0"/>
              </a:spcAft>
              <a:buNone/>
            </a:pPr>
            <a:r>
              <a:t/>
            </a:r>
            <a:endParaRPr sz="2400">
              <a:solidFill>
                <a:srgbClr val="136798"/>
              </a:solidFill>
            </a:endParaRPr>
          </a:p>
          <a:p>
            <a:pPr indent="0" lvl="0" marL="0" rtl="0" algn="l">
              <a:lnSpc>
                <a:spcPct val="115000"/>
              </a:lnSpc>
              <a:spcBef>
                <a:spcPts val="900"/>
              </a:spcBef>
              <a:spcAft>
                <a:spcPts val="900"/>
              </a:spcAft>
              <a:buNone/>
            </a:pPr>
            <a:r>
              <a:t/>
            </a:r>
            <a:endParaRPr sz="2400">
              <a:solidFill>
                <a:srgbClr val="136798"/>
              </a:solidFill>
            </a:endParaRPr>
          </a:p>
        </p:txBody>
      </p:sp>
      <p:sp>
        <p:nvSpPr>
          <p:cNvPr id="338" name="Google Shape;338;p56"/>
          <p:cNvSpPr txBox="1"/>
          <p:nvPr/>
        </p:nvSpPr>
        <p:spPr>
          <a:xfrm>
            <a:off x="0" y="0"/>
            <a:ext cx="7302900" cy="603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s" sz="2200">
                <a:solidFill>
                  <a:srgbClr val="136798"/>
                </a:solidFill>
              </a:rPr>
              <a:t>7 - Seguridad</a:t>
            </a:r>
            <a:endParaRPr sz="2200">
              <a:solidFill>
                <a:srgbClr val="136798"/>
              </a:solidFill>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42" name="Shape 342"/>
        <p:cNvGrpSpPr/>
        <p:nvPr/>
      </p:nvGrpSpPr>
      <p:grpSpPr>
        <a:xfrm>
          <a:off x="0" y="0"/>
          <a:ext cx="0" cy="0"/>
          <a:chOff x="0" y="0"/>
          <a:chExt cx="0" cy="0"/>
        </a:xfrm>
      </p:grpSpPr>
      <p:sp>
        <p:nvSpPr>
          <p:cNvPr id="343" name="Google Shape;343;p57"/>
          <p:cNvSpPr txBox="1"/>
          <p:nvPr/>
        </p:nvSpPr>
        <p:spPr>
          <a:xfrm>
            <a:off x="-125" y="603300"/>
            <a:ext cx="9144000" cy="6254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s" sz="2400">
                <a:solidFill>
                  <a:srgbClr val="136798"/>
                </a:solidFill>
              </a:rPr>
              <a:t>Pero también para esto existen contramedidas. Imagina esta situación, sobresimplificando los algoritmos hashing que se usan:</a:t>
            </a:r>
            <a:endParaRPr sz="2400">
              <a:solidFill>
                <a:srgbClr val="136798"/>
              </a:solidFill>
            </a:endParaRPr>
          </a:p>
          <a:p>
            <a:pPr indent="0" lvl="0" marL="0" rtl="0" algn="l">
              <a:lnSpc>
                <a:spcPct val="115000"/>
              </a:lnSpc>
              <a:spcBef>
                <a:spcPts val="900"/>
              </a:spcBef>
              <a:spcAft>
                <a:spcPts val="0"/>
              </a:spcAft>
              <a:buNone/>
            </a:pPr>
            <a:r>
              <a:t/>
            </a:r>
            <a:endParaRPr sz="2400">
              <a:solidFill>
                <a:srgbClr val="136798"/>
              </a:solidFill>
            </a:endParaRPr>
          </a:p>
          <a:p>
            <a:pPr indent="-381000" lvl="0" marL="457200" rtl="0" algn="l">
              <a:lnSpc>
                <a:spcPct val="115000"/>
              </a:lnSpc>
              <a:spcBef>
                <a:spcPts val="900"/>
              </a:spcBef>
              <a:spcAft>
                <a:spcPts val="0"/>
              </a:spcAft>
              <a:buClr>
                <a:srgbClr val="136798"/>
              </a:buClr>
              <a:buSzPts val="2400"/>
              <a:buChar char="●"/>
            </a:pPr>
            <a:r>
              <a:rPr lang="es" sz="2400">
                <a:solidFill>
                  <a:srgbClr val="136798"/>
                </a:solidFill>
              </a:rPr>
              <a:t>En el cliente, la contraseña se cifra en SHA256 con JavaScript, antes de mandarla.</a:t>
            </a:r>
            <a:br>
              <a:rPr lang="es" sz="2400">
                <a:solidFill>
                  <a:srgbClr val="136798"/>
                </a:solidFill>
              </a:rPr>
            </a:br>
            <a:endParaRPr sz="2400">
              <a:solidFill>
                <a:srgbClr val="136798"/>
              </a:solidFill>
            </a:endParaRPr>
          </a:p>
          <a:p>
            <a:pPr indent="-381000" lvl="0" marL="457200" rtl="0" algn="l">
              <a:lnSpc>
                <a:spcPct val="115000"/>
              </a:lnSpc>
              <a:spcBef>
                <a:spcPts val="0"/>
              </a:spcBef>
              <a:spcAft>
                <a:spcPts val="0"/>
              </a:spcAft>
              <a:buClr>
                <a:srgbClr val="136798"/>
              </a:buClr>
              <a:buSzPts val="2400"/>
              <a:buChar char="●"/>
            </a:pPr>
            <a:r>
              <a:rPr lang="es" sz="2400">
                <a:solidFill>
                  <a:srgbClr val="136798"/>
                </a:solidFill>
              </a:rPr>
              <a:t>En el lado servidor, cuando se registra el usuario, se almacena el SHA1(SHA256(Contraseña)).</a:t>
            </a:r>
            <a:br>
              <a:rPr lang="es" sz="2400">
                <a:solidFill>
                  <a:srgbClr val="136798"/>
                </a:solidFill>
              </a:rPr>
            </a:br>
            <a:endParaRPr sz="2400">
              <a:solidFill>
                <a:srgbClr val="136798"/>
              </a:solidFill>
            </a:endParaRPr>
          </a:p>
          <a:p>
            <a:pPr indent="-381000" lvl="0" marL="457200" rtl="0" algn="l">
              <a:lnSpc>
                <a:spcPct val="115000"/>
              </a:lnSpc>
              <a:spcBef>
                <a:spcPts val="0"/>
              </a:spcBef>
              <a:spcAft>
                <a:spcPts val="0"/>
              </a:spcAft>
              <a:buClr>
                <a:srgbClr val="136798"/>
              </a:buClr>
              <a:buSzPts val="2400"/>
              <a:buChar char="●"/>
            </a:pPr>
            <a:r>
              <a:rPr lang="es" sz="2400">
                <a:solidFill>
                  <a:srgbClr val="136798"/>
                </a:solidFill>
              </a:rPr>
              <a:t>Al hacer login, el servidor recibe SHA256(Contraseña). En el mismo lado servidor podemos hacerle SHA1, con lo que obtenemos SHA1(SHA256(Contraseña)).</a:t>
            </a:r>
            <a:endParaRPr sz="2400">
              <a:solidFill>
                <a:srgbClr val="136798"/>
              </a:solidFill>
            </a:endParaRPr>
          </a:p>
          <a:p>
            <a:pPr indent="0" lvl="0" marL="0" rtl="0" algn="l">
              <a:lnSpc>
                <a:spcPct val="115000"/>
              </a:lnSpc>
              <a:spcBef>
                <a:spcPts val="900"/>
              </a:spcBef>
              <a:spcAft>
                <a:spcPts val="0"/>
              </a:spcAft>
              <a:buNone/>
            </a:pPr>
            <a:r>
              <a:t/>
            </a:r>
            <a:endParaRPr sz="2400">
              <a:solidFill>
                <a:srgbClr val="136798"/>
              </a:solidFill>
            </a:endParaRPr>
          </a:p>
          <a:p>
            <a:pPr indent="0" lvl="0" marL="0" rtl="0" algn="l">
              <a:lnSpc>
                <a:spcPct val="146739"/>
              </a:lnSpc>
              <a:spcBef>
                <a:spcPts val="900"/>
              </a:spcBef>
              <a:spcAft>
                <a:spcPts val="0"/>
              </a:spcAft>
              <a:buNone/>
            </a:pPr>
            <a:r>
              <a:t/>
            </a:r>
            <a:endParaRPr sz="1150">
              <a:solidFill>
                <a:srgbClr val="242424"/>
              </a:solidFill>
            </a:endParaRPr>
          </a:p>
          <a:p>
            <a:pPr indent="0" lvl="0" marL="0" rtl="0" algn="l">
              <a:lnSpc>
                <a:spcPct val="115000"/>
              </a:lnSpc>
              <a:spcBef>
                <a:spcPts val="1500"/>
              </a:spcBef>
              <a:spcAft>
                <a:spcPts val="0"/>
              </a:spcAft>
              <a:buNone/>
            </a:pPr>
            <a:r>
              <a:t/>
            </a:r>
            <a:endParaRPr sz="2400">
              <a:solidFill>
                <a:srgbClr val="136798"/>
              </a:solidFill>
            </a:endParaRPr>
          </a:p>
          <a:p>
            <a:pPr indent="0" lvl="0" marL="0" rtl="0" algn="l">
              <a:lnSpc>
                <a:spcPct val="115000"/>
              </a:lnSpc>
              <a:spcBef>
                <a:spcPts val="900"/>
              </a:spcBef>
              <a:spcAft>
                <a:spcPts val="0"/>
              </a:spcAft>
              <a:buNone/>
            </a:pPr>
            <a:r>
              <a:t/>
            </a:r>
            <a:endParaRPr sz="2400">
              <a:solidFill>
                <a:srgbClr val="136798"/>
              </a:solidFill>
            </a:endParaRPr>
          </a:p>
          <a:p>
            <a:pPr indent="0" lvl="0" marL="0" rtl="0" algn="l">
              <a:lnSpc>
                <a:spcPct val="115000"/>
              </a:lnSpc>
              <a:spcBef>
                <a:spcPts val="900"/>
              </a:spcBef>
              <a:spcAft>
                <a:spcPts val="0"/>
              </a:spcAft>
              <a:buNone/>
            </a:pPr>
            <a:r>
              <a:t/>
            </a:r>
            <a:endParaRPr sz="2400">
              <a:solidFill>
                <a:srgbClr val="136798"/>
              </a:solidFill>
            </a:endParaRPr>
          </a:p>
          <a:p>
            <a:pPr indent="0" lvl="0" marL="0" rtl="0" algn="l">
              <a:lnSpc>
                <a:spcPct val="115000"/>
              </a:lnSpc>
              <a:spcBef>
                <a:spcPts val="900"/>
              </a:spcBef>
              <a:spcAft>
                <a:spcPts val="900"/>
              </a:spcAft>
              <a:buNone/>
            </a:pPr>
            <a:r>
              <a:t/>
            </a:r>
            <a:endParaRPr sz="2400">
              <a:solidFill>
                <a:srgbClr val="136798"/>
              </a:solidFill>
            </a:endParaRPr>
          </a:p>
        </p:txBody>
      </p:sp>
      <p:sp>
        <p:nvSpPr>
          <p:cNvPr id="344" name="Google Shape;344;p57"/>
          <p:cNvSpPr txBox="1"/>
          <p:nvPr/>
        </p:nvSpPr>
        <p:spPr>
          <a:xfrm>
            <a:off x="0" y="0"/>
            <a:ext cx="7302900" cy="603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s" sz="2200">
                <a:solidFill>
                  <a:srgbClr val="136798"/>
                </a:solidFill>
              </a:rPr>
              <a:t>7 - Seguridad</a:t>
            </a:r>
            <a:endParaRPr sz="2200">
              <a:solidFill>
                <a:srgbClr val="136798"/>
              </a:solidFill>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48" name="Shape 348"/>
        <p:cNvGrpSpPr/>
        <p:nvPr/>
      </p:nvGrpSpPr>
      <p:grpSpPr>
        <a:xfrm>
          <a:off x="0" y="0"/>
          <a:ext cx="0" cy="0"/>
          <a:chOff x="0" y="0"/>
          <a:chExt cx="0" cy="0"/>
        </a:xfrm>
      </p:grpSpPr>
      <p:sp>
        <p:nvSpPr>
          <p:cNvPr id="349" name="Google Shape;349;p58"/>
          <p:cNvSpPr txBox="1"/>
          <p:nvPr/>
        </p:nvSpPr>
        <p:spPr>
          <a:xfrm>
            <a:off x="-125" y="603300"/>
            <a:ext cx="9144000" cy="6254700"/>
          </a:xfrm>
          <a:prstGeom prst="rect">
            <a:avLst/>
          </a:prstGeom>
          <a:noFill/>
          <a:ln>
            <a:noFill/>
          </a:ln>
        </p:spPr>
        <p:txBody>
          <a:bodyPr anchorCtr="0" anchor="t" bIns="91425" lIns="91425" spcFirstLastPara="1" rIns="91425" wrap="square" tIns="91425">
            <a:noAutofit/>
          </a:bodyPr>
          <a:lstStyle/>
          <a:p>
            <a:pPr indent="-381000" lvl="0" marL="457200" rtl="0" algn="l">
              <a:lnSpc>
                <a:spcPct val="115000"/>
              </a:lnSpc>
              <a:spcBef>
                <a:spcPts val="0"/>
              </a:spcBef>
              <a:spcAft>
                <a:spcPts val="0"/>
              </a:spcAft>
              <a:buClr>
                <a:srgbClr val="136798"/>
              </a:buClr>
              <a:buSzPts val="2400"/>
              <a:buChar char="●"/>
            </a:pPr>
            <a:r>
              <a:rPr lang="es" sz="2400">
                <a:solidFill>
                  <a:srgbClr val="136798"/>
                </a:solidFill>
              </a:rPr>
              <a:t>A la clave almacenada en el servidor, mientras hacemos el login, en el código del servidor, le hacemos MD5, con lo que tenemos MD5(SHA1(SHA256(Contraseña))).</a:t>
            </a:r>
            <a:br>
              <a:rPr lang="es" sz="2400">
                <a:solidFill>
                  <a:srgbClr val="136798"/>
                </a:solidFill>
              </a:rPr>
            </a:br>
            <a:endParaRPr sz="2400">
              <a:solidFill>
                <a:srgbClr val="136798"/>
              </a:solidFill>
            </a:endParaRPr>
          </a:p>
          <a:p>
            <a:pPr indent="-381000" lvl="0" marL="457200" rtl="0" algn="l">
              <a:lnSpc>
                <a:spcPct val="115000"/>
              </a:lnSpc>
              <a:spcBef>
                <a:spcPts val="0"/>
              </a:spcBef>
              <a:spcAft>
                <a:spcPts val="0"/>
              </a:spcAft>
              <a:buClr>
                <a:srgbClr val="136798"/>
              </a:buClr>
              <a:buSzPts val="2400"/>
              <a:buChar char="●"/>
            </a:pPr>
            <a:r>
              <a:rPr lang="es" sz="2400">
                <a:solidFill>
                  <a:srgbClr val="136798"/>
                </a:solidFill>
              </a:rPr>
              <a:t>A la clave SHA1(SHA256(Contraseña)) que nos venía del cliente, también le hacemos el MD5, para obtener MD5(SHA1(SHA256(Contraseña))). </a:t>
            </a:r>
            <a:br>
              <a:rPr lang="es" sz="2400">
                <a:solidFill>
                  <a:srgbClr val="136798"/>
                </a:solidFill>
              </a:rPr>
            </a:br>
            <a:endParaRPr sz="2400">
              <a:solidFill>
                <a:srgbClr val="136798"/>
              </a:solidFill>
            </a:endParaRPr>
          </a:p>
          <a:p>
            <a:pPr indent="-381000" lvl="0" marL="457200" rtl="0" algn="l">
              <a:lnSpc>
                <a:spcPct val="115000"/>
              </a:lnSpc>
              <a:spcBef>
                <a:spcPts val="0"/>
              </a:spcBef>
              <a:spcAft>
                <a:spcPts val="0"/>
              </a:spcAft>
              <a:buClr>
                <a:srgbClr val="136798"/>
              </a:buClr>
              <a:buSzPts val="2400"/>
              <a:buChar char="●"/>
            </a:pPr>
            <a:r>
              <a:rPr lang="es" sz="2400">
                <a:solidFill>
                  <a:srgbClr val="136798"/>
                </a:solidFill>
              </a:rPr>
              <a:t>Comparamos las dos contraseñas procesadas. Si coinciden, el login es correcto. De esta forma, si alguien obtiene la contraseña del servidor, e intenta mandarla, o intenta rehashearla con el algoritmo del lado cliente, en ningún caso se va a poder autentificar.</a:t>
            </a:r>
            <a:endParaRPr sz="2400">
              <a:solidFill>
                <a:srgbClr val="136798"/>
              </a:solidFill>
            </a:endParaRPr>
          </a:p>
          <a:p>
            <a:pPr indent="0" lvl="0" marL="0" rtl="0" algn="l">
              <a:lnSpc>
                <a:spcPct val="115000"/>
              </a:lnSpc>
              <a:spcBef>
                <a:spcPts val="900"/>
              </a:spcBef>
              <a:spcAft>
                <a:spcPts val="0"/>
              </a:spcAft>
              <a:buNone/>
            </a:pPr>
            <a:r>
              <a:t/>
            </a:r>
            <a:endParaRPr sz="2400">
              <a:solidFill>
                <a:srgbClr val="136798"/>
              </a:solidFill>
            </a:endParaRPr>
          </a:p>
          <a:p>
            <a:pPr indent="0" lvl="0" marL="0" rtl="0" algn="l">
              <a:lnSpc>
                <a:spcPct val="146739"/>
              </a:lnSpc>
              <a:spcBef>
                <a:spcPts val="900"/>
              </a:spcBef>
              <a:spcAft>
                <a:spcPts val="0"/>
              </a:spcAft>
              <a:buNone/>
            </a:pPr>
            <a:r>
              <a:t/>
            </a:r>
            <a:endParaRPr sz="1150">
              <a:solidFill>
                <a:srgbClr val="242424"/>
              </a:solidFill>
            </a:endParaRPr>
          </a:p>
          <a:p>
            <a:pPr indent="0" lvl="0" marL="0" rtl="0" algn="l">
              <a:lnSpc>
                <a:spcPct val="115000"/>
              </a:lnSpc>
              <a:spcBef>
                <a:spcPts val="1500"/>
              </a:spcBef>
              <a:spcAft>
                <a:spcPts val="0"/>
              </a:spcAft>
              <a:buNone/>
            </a:pPr>
            <a:r>
              <a:t/>
            </a:r>
            <a:endParaRPr sz="2400">
              <a:solidFill>
                <a:srgbClr val="136798"/>
              </a:solidFill>
            </a:endParaRPr>
          </a:p>
          <a:p>
            <a:pPr indent="0" lvl="0" marL="0" rtl="0" algn="l">
              <a:lnSpc>
                <a:spcPct val="115000"/>
              </a:lnSpc>
              <a:spcBef>
                <a:spcPts val="900"/>
              </a:spcBef>
              <a:spcAft>
                <a:spcPts val="0"/>
              </a:spcAft>
              <a:buNone/>
            </a:pPr>
            <a:r>
              <a:t/>
            </a:r>
            <a:endParaRPr sz="2400">
              <a:solidFill>
                <a:srgbClr val="136798"/>
              </a:solidFill>
            </a:endParaRPr>
          </a:p>
          <a:p>
            <a:pPr indent="0" lvl="0" marL="0" rtl="0" algn="l">
              <a:lnSpc>
                <a:spcPct val="115000"/>
              </a:lnSpc>
              <a:spcBef>
                <a:spcPts val="900"/>
              </a:spcBef>
              <a:spcAft>
                <a:spcPts val="0"/>
              </a:spcAft>
              <a:buNone/>
            </a:pPr>
            <a:r>
              <a:t/>
            </a:r>
            <a:endParaRPr sz="2400">
              <a:solidFill>
                <a:srgbClr val="136798"/>
              </a:solidFill>
            </a:endParaRPr>
          </a:p>
          <a:p>
            <a:pPr indent="0" lvl="0" marL="0" rtl="0" algn="l">
              <a:lnSpc>
                <a:spcPct val="115000"/>
              </a:lnSpc>
              <a:spcBef>
                <a:spcPts val="900"/>
              </a:spcBef>
              <a:spcAft>
                <a:spcPts val="900"/>
              </a:spcAft>
              <a:buNone/>
            </a:pPr>
            <a:r>
              <a:t/>
            </a:r>
            <a:endParaRPr sz="2400">
              <a:solidFill>
                <a:srgbClr val="136798"/>
              </a:solidFill>
            </a:endParaRPr>
          </a:p>
        </p:txBody>
      </p:sp>
      <p:sp>
        <p:nvSpPr>
          <p:cNvPr id="350" name="Google Shape;350;p58"/>
          <p:cNvSpPr txBox="1"/>
          <p:nvPr/>
        </p:nvSpPr>
        <p:spPr>
          <a:xfrm>
            <a:off x="0" y="0"/>
            <a:ext cx="7302900" cy="603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s" sz="2200">
                <a:solidFill>
                  <a:srgbClr val="136798"/>
                </a:solidFill>
              </a:rPr>
              <a:t>7 - Seguridad</a:t>
            </a:r>
            <a:endParaRPr sz="2200">
              <a:solidFill>
                <a:srgbClr val="136798"/>
              </a:solidFill>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54" name="Shape 354"/>
        <p:cNvGrpSpPr/>
        <p:nvPr/>
      </p:nvGrpSpPr>
      <p:grpSpPr>
        <a:xfrm>
          <a:off x="0" y="0"/>
          <a:ext cx="0" cy="0"/>
          <a:chOff x="0" y="0"/>
          <a:chExt cx="0" cy="0"/>
        </a:xfrm>
      </p:grpSpPr>
      <p:sp>
        <p:nvSpPr>
          <p:cNvPr id="355" name="Google Shape;355;p59"/>
          <p:cNvSpPr txBox="1"/>
          <p:nvPr/>
        </p:nvSpPr>
        <p:spPr>
          <a:xfrm>
            <a:off x="-125" y="603300"/>
            <a:ext cx="9144000" cy="6254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s" sz="2400">
                <a:solidFill>
                  <a:srgbClr val="136798"/>
                </a:solidFill>
              </a:rPr>
              <a:t>En este caso, tendrían que robarte el código fuente del lado servidor además de la base de datos. En ese caso, romperían tu seguridad totalmente, pero eso pasa hasta en las mejores familias.</a:t>
            </a:r>
            <a:endParaRPr sz="2400">
              <a:solidFill>
                <a:srgbClr val="136798"/>
              </a:solidFill>
            </a:endParaRPr>
          </a:p>
          <a:p>
            <a:pPr indent="0" lvl="0" marL="0" rtl="0" algn="l">
              <a:lnSpc>
                <a:spcPct val="115000"/>
              </a:lnSpc>
              <a:spcBef>
                <a:spcPts val="900"/>
              </a:spcBef>
              <a:spcAft>
                <a:spcPts val="0"/>
              </a:spcAft>
              <a:buNone/>
            </a:pPr>
            <a:r>
              <a:t/>
            </a:r>
            <a:endParaRPr sz="2400">
              <a:solidFill>
                <a:srgbClr val="136798"/>
              </a:solidFill>
            </a:endParaRPr>
          </a:p>
          <a:p>
            <a:pPr indent="0" lvl="0" marL="0" rtl="0" algn="l">
              <a:lnSpc>
                <a:spcPct val="115000"/>
              </a:lnSpc>
              <a:spcBef>
                <a:spcPts val="900"/>
              </a:spcBef>
              <a:spcAft>
                <a:spcPts val="0"/>
              </a:spcAft>
              <a:buNone/>
            </a:pPr>
            <a:r>
              <a:rPr lang="es" sz="2400">
                <a:solidFill>
                  <a:srgbClr val="136798"/>
                </a:solidFill>
              </a:rPr>
              <a:t>Las protecciones con una buena gestión de usuarios y permisos, además de separar el servidor de base de datos del servidor de código, ayudan a prevenir y minimizar el riesgo de ataques, pero como ya hemos dicho… </a:t>
            </a:r>
            <a:r>
              <a:rPr lang="es" sz="2400">
                <a:solidFill>
                  <a:srgbClr val="279999"/>
                </a:solidFill>
              </a:rPr>
              <a:t>Nada es 100% seguro. Ni siquiera HTTPS. Es otra razón por la que no es innecesario hashear contraseñas:</a:t>
            </a:r>
            <a:endParaRPr sz="2400">
              <a:solidFill>
                <a:srgbClr val="279999"/>
              </a:solidFill>
            </a:endParaRPr>
          </a:p>
          <a:p>
            <a:pPr indent="0" lvl="0" marL="0" rtl="0" algn="l">
              <a:lnSpc>
                <a:spcPct val="115000"/>
              </a:lnSpc>
              <a:spcBef>
                <a:spcPts val="900"/>
              </a:spcBef>
              <a:spcAft>
                <a:spcPts val="0"/>
              </a:spcAft>
              <a:buNone/>
            </a:pPr>
            <a:r>
              <a:t/>
            </a:r>
            <a:endParaRPr sz="2400">
              <a:solidFill>
                <a:srgbClr val="279999"/>
              </a:solidFill>
            </a:endParaRPr>
          </a:p>
          <a:p>
            <a:pPr indent="0" lvl="0" marL="0" rtl="0" algn="l">
              <a:lnSpc>
                <a:spcPct val="146739"/>
              </a:lnSpc>
              <a:spcBef>
                <a:spcPts val="900"/>
              </a:spcBef>
              <a:spcAft>
                <a:spcPts val="0"/>
              </a:spcAft>
              <a:buNone/>
            </a:pPr>
            <a:r>
              <a:t/>
            </a:r>
            <a:endParaRPr sz="1150">
              <a:solidFill>
                <a:srgbClr val="242424"/>
              </a:solidFill>
            </a:endParaRPr>
          </a:p>
          <a:p>
            <a:pPr indent="0" lvl="0" marL="0" rtl="0" algn="l">
              <a:lnSpc>
                <a:spcPct val="115000"/>
              </a:lnSpc>
              <a:spcBef>
                <a:spcPts val="1500"/>
              </a:spcBef>
              <a:spcAft>
                <a:spcPts val="0"/>
              </a:spcAft>
              <a:buNone/>
            </a:pPr>
            <a:r>
              <a:t/>
            </a:r>
            <a:endParaRPr sz="2400">
              <a:solidFill>
                <a:srgbClr val="136798"/>
              </a:solidFill>
            </a:endParaRPr>
          </a:p>
          <a:p>
            <a:pPr indent="0" lvl="0" marL="0" rtl="0" algn="l">
              <a:lnSpc>
                <a:spcPct val="115000"/>
              </a:lnSpc>
              <a:spcBef>
                <a:spcPts val="900"/>
              </a:spcBef>
              <a:spcAft>
                <a:spcPts val="0"/>
              </a:spcAft>
              <a:buNone/>
            </a:pPr>
            <a:r>
              <a:t/>
            </a:r>
            <a:endParaRPr sz="2400">
              <a:solidFill>
                <a:srgbClr val="136798"/>
              </a:solidFill>
            </a:endParaRPr>
          </a:p>
          <a:p>
            <a:pPr indent="0" lvl="0" marL="0" rtl="0" algn="l">
              <a:lnSpc>
                <a:spcPct val="115000"/>
              </a:lnSpc>
              <a:spcBef>
                <a:spcPts val="900"/>
              </a:spcBef>
              <a:spcAft>
                <a:spcPts val="0"/>
              </a:spcAft>
              <a:buNone/>
            </a:pPr>
            <a:r>
              <a:t/>
            </a:r>
            <a:endParaRPr sz="2400">
              <a:solidFill>
                <a:srgbClr val="136798"/>
              </a:solidFill>
            </a:endParaRPr>
          </a:p>
          <a:p>
            <a:pPr indent="0" lvl="0" marL="0" rtl="0" algn="l">
              <a:lnSpc>
                <a:spcPct val="115000"/>
              </a:lnSpc>
              <a:spcBef>
                <a:spcPts val="900"/>
              </a:spcBef>
              <a:spcAft>
                <a:spcPts val="900"/>
              </a:spcAft>
              <a:buNone/>
            </a:pPr>
            <a:r>
              <a:t/>
            </a:r>
            <a:endParaRPr sz="2400">
              <a:solidFill>
                <a:srgbClr val="136798"/>
              </a:solidFill>
            </a:endParaRPr>
          </a:p>
        </p:txBody>
      </p:sp>
      <p:sp>
        <p:nvSpPr>
          <p:cNvPr id="356" name="Google Shape;356;p59"/>
          <p:cNvSpPr txBox="1"/>
          <p:nvPr/>
        </p:nvSpPr>
        <p:spPr>
          <a:xfrm>
            <a:off x="0" y="0"/>
            <a:ext cx="7302900" cy="603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s" sz="2200">
                <a:solidFill>
                  <a:srgbClr val="136798"/>
                </a:solidFill>
              </a:rPr>
              <a:t>7 - Seguridad</a:t>
            </a:r>
            <a:endParaRPr sz="2200">
              <a:solidFill>
                <a:srgbClr val="136798"/>
              </a:solidFill>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60" name="Shape 360"/>
        <p:cNvGrpSpPr/>
        <p:nvPr/>
      </p:nvGrpSpPr>
      <p:grpSpPr>
        <a:xfrm>
          <a:off x="0" y="0"/>
          <a:ext cx="0" cy="0"/>
          <a:chOff x="0" y="0"/>
          <a:chExt cx="0" cy="0"/>
        </a:xfrm>
      </p:grpSpPr>
      <p:sp>
        <p:nvSpPr>
          <p:cNvPr id="361" name="Google Shape;361;p60"/>
          <p:cNvSpPr txBox="1"/>
          <p:nvPr/>
        </p:nvSpPr>
        <p:spPr>
          <a:xfrm>
            <a:off x="0" y="603300"/>
            <a:ext cx="9144000" cy="24375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s" sz="2400">
                <a:solidFill>
                  <a:srgbClr val="C36900"/>
                </a:solidFill>
              </a:rPr>
              <a:t>¿Se ha roto alguna vez HTTPS?</a:t>
            </a:r>
            <a:endParaRPr sz="2400">
              <a:solidFill>
                <a:srgbClr val="136798"/>
              </a:solidFill>
            </a:endParaRPr>
          </a:p>
          <a:p>
            <a:pPr indent="0" lvl="0" marL="0" rtl="0" algn="l">
              <a:lnSpc>
                <a:spcPct val="115000"/>
              </a:lnSpc>
              <a:spcBef>
                <a:spcPts val="900"/>
              </a:spcBef>
              <a:spcAft>
                <a:spcPts val="0"/>
              </a:spcAft>
              <a:buClr>
                <a:schemeClr val="dk1"/>
              </a:buClr>
              <a:buSzPts val="1100"/>
              <a:buFont typeface="Arial"/>
              <a:buNone/>
            </a:pPr>
            <a:r>
              <a:rPr lang="es" sz="2400">
                <a:solidFill>
                  <a:srgbClr val="136798"/>
                </a:solidFill>
              </a:rPr>
              <a:t>Una cosa distinta es tener la potencia de procesamiento necesaria para romper una clave, y otra utilizar un agujero de seguridad que te la dá directamente… y hay un ejemplo de 2014 de esto.</a:t>
            </a:r>
            <a:endParaRPr sz="1150">
              <a:solidFill>
                <a:srgbClr val="242424"/>
              </a:solidFill>
            </a:endParaRPr>
          </a:p>
          <a:p>
            <a:pPr indent="0" lvl="0" marL="0" rtl="0" algn="l">
              <a:lnSpc>
                <a:spcPct val="115000"/>
              </a:lnSpc>
              <a:spcBef>
                <a:spcPts val="900"/>
              </a:spcBef>
              <a:spcAft>
                <a:spcPts val="0"/>
              </a:spcAft>
              <a:buNone/>
            </a:pPr>
            <a:r>
              <a:t/>
            </a:r>
            <a:endParaRPr sz="2400">
              <a:solidFill>
                <a:srgbClr val="136798"/>
              </a:solidFill>
            </a:endParaRPr>
          </a:p>
          <a:p>
            <a:pPr indent="0" lvl="0" marL="0" rtl="0" algn="l">
              <a:lnSpc>
                <a:spcPct val="115000"/>
              </a:lnSpc>
              <a:spcBef>
                <a:spcPts val="900"/>
              </a:spcBef>
              <a:spcAft>
                <a:spcPts val="0"/>
              </a:spcAft>
              <a:buNone/>
            </a:pPr>
            <a:r>
              <a:t/>
            </a:r>
            <a:endParaRPr sz="2400">
              <a:solidFill>
                <a:srgbClr val="136798"/>
              </a:solidFill>
            </a:endParaRPr>
          </a:p>
          <a:p>
            <a:pPr indent="0" lvl="0" marL="0" rtl="0" algn="l">
              <a:lnSpc>
                <a:spcPct val="115000"/>
              </a:lnSpc>
              <a:spcBef>
                <a:spcPts val="900"/>
              </a:spcBef>
              <a:spcAft>
                <a:spcPts val="0"/>
              </a:spcAft>
              <a:buNone/>
            </a:pPr>
            <a:r>
              <a:t/>
            </a:r>
            <a:endParaRPr sz="2400">
              <a:solidFill>
                <a:srgbClr val="136798"/>
              </a:solidFill>
            </a:endParaRPr>
          </a:p>
          <a:p>
            <a:pPr indent="0" lvl="0" marL="0" rtl="0" algn="l">
              <a:lnSpc>
                <a:spcPct val="115000"/>
              </a:lnSpc>
              <a:spcBef>
                <a:spcPts val="900"/>
              </a:spcBef>
              <a:spcAft>
                <a:spcPts val="900"/>
              </a:spcAft>
              <a:buNone/>
            </a:pPr>
            <a:r>
              <a:t/>
            </a:r>
            <a:endParaRPr sz="2400">
              <a:solidFill>
                <a:srgbClr val="136798"/>
              </a:solidFill>
            </a:endParaRPr>
          </a:p>
        </p:txBody>
      </p:sp>
      <p:pic>
        <p:nvPicPr>
          <p:cNvPr id="362" name="Google Shape;362;p60"/>
          <p:cNvPicPr preferRelativeResize="0"/>
          <p:nvPr/>
        </p:nvPicPr>
        <p:blipFill>
          <a:blip r:embed="rId4">
            <a:alphaModFix/>
          </a:blip>
          <a:stretch>
            <a:fillRect/>
          </a:stretch>
        </p:blipFill>
        <p:spPr>
          <a:xfrm>
            <a:off x="5949750" y="3040858"/>
            <a:ext cx="3194250" cy="3817150"/>
          </a:xfrm>
          <a:prstGeom prst="rect">
            <a:avLst/>
          </a:prstGeom>
          <a:noFill/>
          <a:ln>
            <a:noFill/>
          </a:ln>
        </p:spPr>
      </p:pic>
      <p:sp>
        <p:nvSpPr>
          <p:cNvPr id="363" name="Google Shape;363;p60"/>
          <p:cNvSpPr txBox="1"/>
          <p:nvPr/>
        </p:nvSpPr>
        <p:spPr>
          <a:xfrm>
            <a:off x="0" y="3040850"/>
            <a:ext cx="5949600" cy="38172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s" sz="2400">
                <a:solidFill>
                  <a:srgbClr val="136798"/>
                </a:solidFill>
              </a:rPr>
              <a:t>HeartBleed se introdujo por error en 2012, y se reportó y solucionó en Marzo-Abril de 2014.</a:t>
            </a:r>
            <a:endParaRPr sz="1150">
              <a:solidFill>
                <a:srgbClr val="242424"/>
              </a:solidFill>
            </a:endParaRPr>
          </a:p>
          <a:p>
            <a:pPr indent="0" lvl="0" marL="0" rtl="0" algn="l">
              <a:lnSpc>
                <a:spcPct val="115000"/>
              </a:lnSpc>
              <a:spcBef>
                <a:spcPts val="900"/>
              </a:spcBef>
              <a:spcAft>
                <a:spcPts val="0"/>
              </a:spcAft>
              <a:buNone/>
            </a:pPr>
            <a:r>
              <a:t/>
            </a:r>
            <a:endParaRPr sz="2400">
              <a:solidFill>
                <a:srgbClr val="136798"/>
              </a:solidFill>
            </a:endParaRPr>
          </a:p>
          <a:p>
            <a:pPr indent="0" lvl="0" marL="0" rtl="0" algn="l">
              <a:lnSpc>
                <a:spcPct val="115000"/>
              </a:lnSpc>
              <a:spcBef>
                <a:spcPts val="900"/>
              </a:spcBef>
              <a:spcAft>
                <a:spcPts val="0"/>
              </a:spcAft>
              <a:buNone/>
            </a:pPr>
            <a:r>
              <a:t/>
            </a:r>
            <a:endParaRPr sz="2400">
              <a:solidFill>
                <a:srgbClr val="136798"/>
              </a:solidFill>
            </a:endParaRPr>
          </a:p>
          <a:p>
            <a:pPr indent="0" lvl="0" marL="0" rtl="0" algn="l">
              <a:lnSpc>
                <a:spcPct val="115000"/>
              </a:lnSpc>
              <a:spcBef>
                <a:spcPts val="900"/>
              </a:spcBef>
              <a:spcAft>
                <a:spcPts val="0"/>
              </a:spcAft>
              <a:buNone/>
            </a:pPr>
            <a:r>
              <a:t/>
            </a:r>
            <a:endParaRPr sz="2400">
              <a:solidFill>
                <a:srgbClr val="136798"/>
              </a:solidFill>
            </a:endParaRPr>
          </a:p>
          <a:p>
            <a:pPr indent="0" lvl="0" marL="0" rtl="0" algn="l">
              <a:lnSpc>
                <a:spcPct val="115000"/>
              </a:lnSpc>
              <a:spcBef>
                <a:spcPts val="900"/>
              </a:spcBef>
              <a:spcAft>
                <a:spcPts val="900"/>
              </a:spcAft>
              <a:buNone/>
            </a:pPr>
            <a:r>
              <a:t/>
            </a:r>
            <a:endParaRPr sz="2400">
              <a:solidFill>
                <a:srgbClr val="136798"/>
              </a:solidFill>
            </a:endParaRPr>
          </a:p>
        </p:txBody>
      </p:sp>
      <p:sp>
        <p:nvSpPr>
          <p:cNvPr id="364" name="Google Shape;364;p60"/>
          <p:cNvSpPr txBox="1"/>
          <p:nvPr/>
        </p:nvSpPr>
        <p:spPr>
          <a:xfrm>
            <a:off x="0" y="0"/>
            <a:ext cx="7302900" cy="603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s" sz="2200">
                <a:solidFill>
                  <a:srgbClr val="136798"/>
                </a:solidFill>
              </a:rPr>
              <a:t>7 - Seguridad</a:t>
            </a:r>
            <a:endParaRPr sz="2200">
              <a:solidFill>
                <a:srgbClr val="136798"/>
              </a:solidFill>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68" name="Shape 368"/>
        <p:cNvGrpSpPr/>
        <p:nvPr/>
      </p:nvGrpSpPr>
      <p:grpSpPr>
        <a:xfrm>
          <a:off x="0" y="0"/>
          <a:ext cx="0" cy="0"/>
          <a:chOff x="0" y="0"/>
          <a:chExt cx="0" cy="0"/>
        </a:xfrm>
      </p:grpSpPr>
      <p:sp>
        <p:nvSpPr>
          <p:cNvPr id="369" name="Google Shape;369;p61"/>
          <p:cNvSpPr txBox="1"/>
          <p:nvPr/>
        </p:nvSpPr>
        <p:spPr>
          <a:xfrm>
            <a:off x="0" y="603300"/>
            <a:ext cx="9144000" cy="6254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150">
              <a:solidFill>
                <a:srgbClr val="242424"/>
              </a:solidFill>
            </a:endParaRPr>
          </a:p>
          <a:p>
            <a:pPr indent="0" lvl="0" marL="0" rtl="0" algn="l">
              <a:lnSpc>
                <a:spcPct val="115000"/>
              </a:lnSpc>
              <a:spcBef>
                <a:spcPts val="900"/>
              </a:spcBef>
              <a:spcAft>
                <a:spcPts val="0"/>
              </a:spcAft>
              <a:buNone/>
            </a:pPr>
            <a:r>
              <a:t/>
            </a:r>
            <a:endParaRPr sz="2400">
              <a:solidFill>
                <a:srgbClr val="136798"/>
              </a:solidFill>
            </a:endParaRPr>
          </a:p>
          <a:p>
            <a:pPr indent="0" lvl="0" marL="0" rtl="0" algn="l">
              <a:lnSpc>
                <a:spcPct val="115000"/>
              </a:lnSpc>
              <a:spcBef>
                <a:spcPts val="900"/>
              </a:spcBef>
              <a:spcAft>
                <a:spcPts val="0"/>
              </a:spcAft>
              <a:buNone/>
            </a:pPr>
            <a:r>
              <a:t/>
            </a:r>
            <a:endParaRPr sz="2400">
              <a:solidFill>
                <a:srgbClr val="136798"/>
              </a:solidFill>
            </a:endParaRPr>
          </a:p>
          <a:p>
            <a:pPr indent="0" lvl="0" marL="0" rtl="0" algn="l">
              <a:lnSpc>
                <a:spcPct val="115000"/>
              </a:lnSpc>
              <a:spcBef>
                <a:spcPts val="900"/>
              </a:spcBef>
              <a:spcAft>
                <a:spcPts val="0"/>
              </a:spcAft>
              <a:buNone/>
            </a:pPr>
            <a:r>
              <a:t/>
            </a:r>
            <a:endParaRPr sz="2400">
              <a:solidFill>
                <a:srgbClr val="136798"/>
              </a:solidFill>
            </a:endParaRPr>
          </a:p>
          <a:p>
            <a:pPr indent="0" lvl="0" marL="0" rtl="0" algn="l">
              <a:lnSpc>
                <a:spcPct val="115000"/>
              </a:lnSpc>
              <a:spcBef>
                <a:spcPts val="900"/>
              </a:spcBef>
              <a:spcAft>
                <a:spcPts val="900"/>
              </a:spcAft>
              <a:buNone/>
            </a:pPr>
            <a:r>
              <a:t/>
            </a:r>
            <a:endParaRPr sz="2400">
              <a:solidFill>
                <a:srgbClr val="136798"/>
              </a:solidFill>
            </a:endParaRPr>
          </a:p>
        </p:txBody>
      </p:sp>
      <p:pic>
        <p:nvPicPr>
          <p:cNvPr id="370" name="Google Shape;370;p61"/>
          <p:cNvPicPr preferRelativeResize="0"/>
          <p:nvPr/>
        </p:nvPicPr>
        <p:blipFill>
          <a:blip r:embed="rId4">
            <a:alphaModFix/>
          </a:blip>
          <a:stretch>
            <a:fillRect/>
          </a:stretch>
        </p:blipFill>
        <p:spPr>
          <a:xfrm>
            <a:off x="1444650" y="603300"/>
            <a:ext cx="6254700" cy="6254700"/>
          </a:xfrm>
          <a:prstGeom prst="rect">
            <a:avLst/>
          </a:prstGeom>
          <a:noFill/>
          <a:ln>
            <a:noFill/>
          </a:ln>
        </p:spPr>
      </p:pic>
      <p:sp>
        <p:nvSpPr>
          <p:cNvPr id="371" name="Google Shape;371;p61"/>
          <p:cNvSpPr txBox="1"/>
          <p:nvPr/>
        </p:nvSpPr>
        <p:spPr>
          <a:xfrm>
            <a:off x="0" y="0"/>
            <a:ext cx="7302900" cy="603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s" sz="2200">
                <a:solidFill>
                  <a:srgbClr val="136798"/>
                </a:solidFill>
              </a:rPr>
              <a:t>7 - Seguridad</a:t>
            </a:r>
            <a:endParaRPr sz="2200">
              <a:solidFill>
                <a:srgbClr val="136798"/>
              </a:solidFill>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75" name="Shape 375"/>
        <p:cNvGrpSpPr/>
        <p:nvPr/>
      </p:nvGrpSpPr>
      <p:grpSpPr>
        <a:xfrm>
          <a:off x="0" y="0"/>
          <a:ext cx="0" cy="0"/>
          <a:chOff x="0" y="0"/>
          <a:chExt cx="0" cy="0"/>
        </a:xfrm>
      </p:grpSpPr>
      <p:sp>
        <p:nvSpPr>
          <p:cNvPr id="376" name="Google Shape;376;p62"/>
          <p:cNvSpPr txBox="1"/>
          <p:nvPr/>
        </p:nvSpPr>
        <p:spPr>
          <a:xfrm>
            <a:off x="-125" y="603300"/>
            <a:ext cx="9144000" cy="6254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s" sz="2400">
                <a:solidFill>
                  <a:srgbClr val="136798"/>
                </a:solidFill>
              </a:rPr>
              <a:t>String sha256hex = DigestUtils.sha256Hex("Hola");</a:t>
            </a:r>
            <a:endParaRPr sz="2400">
              <a:solidFill>
                <a:srgbClr val="136798"/>
              </a:solidFill>
            </a:endParaRPr>
          </a:p>
          <a:p>
            <a:pPr indent="0" lvl="0" marL="0" rtl="0" algn="l">
              <a:lnSpc>
                <a:spcPct val="115000"/>
              </a:lnSpc>
              <a:spcBef>
                <a:spcPts val="900"/>
              </a:spcBef>
              <a:spcAft>
                <a:spcPts val="0"/>
              </a:spcAft>
              <a:buNone/>
            </a:pPr>
            <a:r>
              <a:rPr lang="es" sz="2400">
                <a:solidFill>
                  <a:srgbClr val="136798"/>
                </a:solidFill>
              </a:rPr>
              <a:t>                System.out.println(sha256hex);</a:t>
            </a:r>
            <a:endParaRPr sz="2400">
              <a:solidFill>
                <a:srgbClr val="136798"/>
              </a:solidFill>
            </a:endParaRPr>
          </a:p>
          <a:p>
            <a:pPr indent="0" lvl="0" marL="0" rtl="0" algn="l">
              <a:lnSpc>
                <a:spcPct val="115000"/>
              </a:lnSpc>
              <a:spcBef>
                <a:spcPts val="900"/>
              </a:spcBef>
              <a:spcAft>
                <a:spcPts val="0"/>
              </a:spcAft>
              <a:buClr>
                <a:schemeClr val="dk1"/>
              </a:buClr>
              <a:buSzPts val="1100"/>
              <a:buFont typeface="Arial"/>
              <a:buNone/>
            </a:pPr>
            <a:r>
              <a:t/>
            </a:r>
            <a:endParaRPr sz="2400">
              <a:solidFill>
                <a:srgbClr val="136798"/>
              </a:solidFill>
            </a:endParaRPr>
          </a:p>
          <a:p>
            <a:pPr indent="0" lvl="0" marL="0" rtl="0" algn="l">
              <a:lnSpc>
                <a:spcPct val="115000"/>
              </a:lnSpc>
              <a:spcBef>
                <a:spcPts val="900"/>
              </a:spcBef>
              <a:spcAft>
                <a:spcPts val="0"/>
              </a:spcAft>
              <a:buNone/>
            </a:pPr>
            <a:r>
              <a:rPr lang="es" sz="1100" u="sng">
                <a:solidFill>
                  <a:schemeClr val="hlink"/>
                </a:solidFill>
                <a:hlinkClick r:id="rId4"/>
              </a:rPr>
              <a:t>https://mvnrepository.com/artifact/commons-codec/commons-codec</a:t>
            </a:r>
            <a:endParaRPr sz="2400">
              <a:solidFill>
                <a:srgbClr val="136798"/>
              </a:solidFill>
            </a:endParaRPr>
          </a:p>
          <a:p>
            <a:pPr indent="0" lvl="0" marL="0" rtl="0" algn="l">
              <a:lnSpc>
                <a:spcPct val="115000"/>
              </a:lnSpc>
              <a:spcBef>
                <a:spcPts val="900"/>
              </a:spcBef>
              <a:spcAft>
                <a:spcPts val="0"/>
              </a:spcAft>
              <a:buNone/>
            </a:pPr>
            <a:r>
              <a:t/>
            </a:r>
            <a:endParaRPr sz="2400">
              <a:solidFill>
                <a:srgbClr val="279999"/>
              </a:solidFill>
            </a:endParaRPr>
          </a:p>
          <a:p>
            <a:pPr indent="0" lvl="0" marL="0" rtl="0" algn="l">
              <a:lnSpc>
                <a:spcPct val="146739"/>
              </a:lnSpc>
              <a:spcBef>
                <a:spcPts val="900"/>
              </a:spcBef>
              <a:spcAft>
                <a:spcPts val="0"/>
              </a:spcAft>
              <a:buNone/>
            </a:pPr>
            <a:r>
              <a:t/>
            </a:r>
            <a:endParaRPr sz="1150">
              <a:solidFill>
                <a:srgbClr val="242424"/>
              </a:solidFill>
            </a:endParaRPr>
          </a:p>
          <a:p>
            <a:pPr indent="0" lvl="0" marL="0" rtl="0" algn="l">
              <a:lnSpc>
                <a:spcPct val="115000"/>
              </a:lnSpc>
              <a:spcBef>
                <a:spcPts val="1500"/>
              </a:spcBef>
              <a:spcAft>
                <a:spcPts val="0"/>
              </a:spcAft>
              <a:buNone/>
            </a:pPr>
            <a:r>
              <a:t/>
            </a:r>
            <a:endParaRPr sz="2400">
              <a:solidFill>
                <a:srgbClr val="136798"/>
              </a:solidFill>
            </a:endParaRPr>
          </a:p>
          <a:p>
            <a:pPr indent="0" lvl="0" marL="0" rtl="0" algn="l">
              <a:lnSpc>
                <a:spcPct val="115000"/>
              </a:lnSpc>
              <a:spcBef>
                <a:spcPts val="900"/>
              </a:spcBef>
              <a:spcAft>
                <a:spcPts val="0"/>
              </a:spcAft>
              <a:buNone/>
            </a:pPr>
            <a:r>
              <a:t/>
            </a:r>
            <a:endParaRPr sz="2400">
              <a:solidFill>
                <a:srgbClr val="136798"/>
              </a:solidFill>
            </a:endParaRPr>
          </a:p>
          <a:p>
            <a:pPr indent="0" lvl="0" marL="0" rtl="0" algn="l">
              <a:lnSpc>
                <a:spcPct val="115000"/>
              </a:lnSpc>
              <a:spcBef>
                <a:spcPts val="900"/>
              </a:spcBef>
              <a:spcAft>
                <a:spcPts val="0"/>
              </a:spcAft>
              <a:buNone/>
            </a:pPr>
            <a:r>
              <a:t/>
            </a:r>
            <a:endParaRPr sz="2400">
              <a:solidFill>
                <a:srgbClr val="136798"/>
              </a:solidFill>
            </a:endParaRPr>
          </a:p>
          <a:p>
            <a:pPr indent="0" lvl="0" marL="0" rtl="0" algn="l">
              <a:lnSpc>
                <a:spcPct val="115000"/>
              </a:lnSpc>
              <a:spcBef>
                <a:spcPts val="900"/>
              </a:spcBef>
              <a:spcAft>
                <a:spcPts val="900"/>
              </a:spcAft>
              <a:buNone/>
            </a:pPr>
            <a:r>
              <a:t/>
            </a:r>
            <a:endParaRPr sz="2400">
              <a:solidFill>
                <a:srgbClr val="136798"/>
              </a:solidFill>
            </a:endParaRPr>
          </a:p>
        </p:txBody>
      </p:sp>
      <p:sp>
        <p:nvSpPr>
          <p:cNvPr id="377" name="Google Shape;377;p62"/>
          <p:cNvSpPr txBox="1"/>
          <p:nvPr/>
        </p:nvSpPr>
        <p:spPr>
          <a:xfrm>
            <a:off x="0" y="0"/>
            <a:ext cx="7302900" cy="603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s" sz="2200">
                <a:solidFill>
                  <a:srgbClr val="136798"/>
                </a:solidFill>
              </a:rPr>
              <a:t>7 - Seguridad</a:t>
            </a:r>
            <a:endParaRPr sz="2200">
              <a:solidFill>
                <a:srgbClr val="136798"/>
              </a:solidFill>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81" name="Shape 381"/>
        <p:cNvGrpSpPr/>
        <p:nvPr/>
      </p:nvGrpSpPr>
      <p:grpSpPr>
        <a:xfrm>
          <a:off x="0" y="0"/>
          <a:ext cx="0" cy="0"/>
          <a:chOff x="0" y="0"/>
          <a:chExt cx="0" cy="0"/>
        </a:xfrm>
      </p:grpSpPr>
      <p:sp>
        <p:nvSpPr>
          <p:cNvPr id="382" name="Google Shape;382;p63"/>
          <p:cNvSpPr txBox="1"/>
          <p:nvPr/>
        </p:nvSpPr>
        <p:spPr>
          <a:xfrm>
            <a:off x="-125" y="603300"/>
            <a:ext cx="9144000" cy="6254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s" sz="2400">
                <a:solidFill>
                  <a:srgbClr val="136798"/>
                </a:solidFill>
              </a:rPr>
              <a:t>Burp Suite -  </a:t>
            </a:r>
            <a:r>
              <a:rPr lang="es" sz="2400" u="sng">
                <a:solidFill>
                  <a:schemeClr val="hlink"/>
                </a:solidFill>
                <a:hlinkClick r:id="rId4"/>
              </a:rPr>
              <a:t>https://portswigger.net/burp</a:t>
            </a:r>
            <a:r>
              <a:rPr lang="es" sz="2400">
                <a:solidFill>
                  <a:srgbClr val="136798"/>
                </a:solidFill>
              </a:rPr>
              <a:t> - Herramienta monitoreo</a:t>
            </a:r>
            <a:endParaRPr sz="2400">
              <a:solidFill>
                <a:srgbClr val="136798"/>
              </a:solidFill>
            </a:endParaRPr>
          </a:p>
          <a:p>
            <a:pPr indent="0" lvl="0" marL="0" rtl="0" algn="l">
              <a:lnSpc>
                <a:spcPct val="115000"/>
              </a:lnSpc>
              <a:spcBef>
                <a:spcPts val="900"/>
              </a:spcBef>
              <a:spcAft>
                <a:spcPts val="0"/>
              </a:spcAft>
              <a:buNone/>
            </a:pPr>
            <a:r>
              <a:rPr lang="es" sz="2400">
                <a:solidFill>
                  <a:srgbClr val="136798"/>
                </a:solidFill>
              </a:rPr>
              <a:t>DVWA - </a:t>
            </a:r>
            <a:r>
              <a:rPr lang="es" sz="2400" u="sng">
                <a:solidFill>
                  <a:schemeClr val="hlink"/>
                </a:solidFill>
                <a:hlinkClick r:id="rId5"/>
              </a:rPr>
              <a:t>https://dvwa.co.uk</a:t>
            </a:r>
            <a:r>
              <a:rPr lang="es" sz="2400">
                <a:solidFill>
                  <a:srgbClr val="136798"/>
                </a:solidFill>
              </a:rPr>
              <a:t> - Página web jodidamente vulnerable</a:t>
            </a:r>
            <a:endParaRPr sz="2400">
              <a:solidFill>
                <a:srgbClr val="136798"/>
              </a:solidFill>
            </a:endParaRPr>
          </a:p>
          <a:p>
            <a:pPr indent="0" lvl="0" marL="0" rtl="0" algn="l">
              <a:lnSpc>
                <a:spcPct val="115000"/>
              </a:lnSpc>
              <a:spcBef>
                <a:spcPts val="900"/>
              </a:spcBef>
              <a:spcAft>
                <a:spcPts val="0"/>
              </a:spcAft>
              <a:buNone/>
            </a:pPr>
            <a:r>
              <a:rPr lang="es" sz="2400">
                <a:solidFill>
                  <a:srgbClr val="136798"/>
                </a:solidFill>
              </a:rPr>
              <a:t>Rockyou.txt -  </a:t>
            </a:r>
            <a:r>
              <a:rPr lang="es" sz="2400" u="sng">
                <a:solidFill>
                  <a:schemeClr val="hlink"/>
                </a:solidFill>
                <a:hlinkClick r:id="rId6"/>
              </a:rPr>
              <a:t>https://github.com/redfiles/rockyou.txt</a:t>
            </a:r>
            <a:r>
              <a:rPr lang="es" sz="2400">
                <a:solidFill>
                  <a:srgbClr val="136798"/>
                </a:solidFill>
              </a:rPr>
              <a:t> - Diccionario de contraseñas comunes para hacer ataques de fuerza bruta</a:t>
            </a:r>
            <a:endParaRPr sz="2400">
              <a:solidFill>
                <a:srgbClr val="136798"/>
              </a:solidFill>
            </a:endParaRPr>
          </a:p>
          <a:p>
            <a:pPr indent="0" lvl="0" marL="0" rtl="0" algn="l">
              <a:lnSpc>
                <a:spcPct val="115000"/>
              </a:lnSpc>
              <a:spcBef>
                <a:spcPts val="900"/>
              </a:spcBef>
              <a:spcAft>
                <a:spcPts val="0"/>
              </a:spcAft>
              <a:buNone/>
            </a:pPr>
            <a:r>
              <a:rPr lang="es" sz="2400">
                <a:solidFill>
                  <a:srgbClr val="136798"/>
                </a:solidFill>
              </a:rPr>
              <a:t>Kali Linux - </a:t>
            </a:r>
            <a:r>
              <a:rPr lang="es" sz="2400" u="sng">
                <a:solidFill>
                  <a:schemeClr val="hlink"/>
                </a:solidFill>
                <a:hlinkClick r:id="rId7"/>
              </a:rPr>
              <a:t>https://www.kali.org</a:t>
            </a:r>
            <a:r>
              <a:rPr lang="es" sz="2400">
                <a:solidFill>
                  <a:srgbClr val="136798"/>
                </a:solidFill>
              </a:rPr>
              <a:t> - Distro centrada en la seguridad… y en cómo romperla.</a:t>
            </a:r>
            <a:endParaRPr sz="2400">
              <a:solidFill>
                <a:srgbClr val="136798"/>
              </a:solidFill>
            </a:endParaRPr>
          </a:p>
          <a:p>
            <a:pPr indent="0" lvl="0" marL="0" rtl="0" algn="l">
              <a:lnSpc>
                <a:spcPct val="115000"/>
              </a:lnSpc>
              <a:spcBef>
                <a:spcPts val="900"/>
              </a:spcBef>
              <a:spcAft>
                <a:spcPts val="0"/>
              </a:spcAft>
              <a:buNone/>
            </a:pPr>
            <a:r>
              <a:rPr lang="es" sz="2400">
                <a:solidFill>
                  <a:srgbClr val="136798"/>
                </a:solidFill>
              </a:rPr>
              <a:t>NMap - </a:t>
            </a:r>
            <a:r>
              <a:rPr lang="es" sz="2400" u="sng">
                <a:solidFill>
                  <a:schemeClr val="hlink"/>
                </a:solidFill>
                <a:hlinkClick r:id="rId8"/>
              </a:rPr>
              <a:t>https://nmap.org</a:t>
            </a:r>
            <a:r>
              <a:rPr lang="es" sz="2400">
                <a:solidFill>
                  <a:srgbClr val="136798"/>
                </a:solidFill>
              </a:rPr>
              <a:t> - Mapeo de puertos, a ver que hay abierto</a:t>
            </a:r>
            <a:endParaRPr sz="2400">
              <a:solidFill>
                <a:srgbClr val="136798"/>
              </a:solidFill>
            </a:endParaRPr>
          </a:p>
          <a:p>
            <a:pPr indent="0" lvl="0" marL="0" rtl="0" algn="l">
              <a:lnSpc>
                <a:spcPct val="115000"/>
              </a:lnSpc>
              <a:spcBef>
                <a:spcPts val="900"/>
              </a:spcBef>
              <a:spcAft>
                <a:spcPts val="0"/>
              </a:spcAft>
              <a:buNone/>
            </a:pPr>
            <a:r>
              <a:rPr lang="es" sz="2400">
                <a:solidFill>
                  <a:srgbClr val="136798"/>
                </a:solidFill>
              </a:rPr>
              <a:t>Hydra - </a:t>
            </a:r>
            <a:r>
              <a:rPr lang="es" sz="2400" u="sng">
                <a:solidFill>
                  <a:schemeClr val="hlink"/>
                </a:solidFill>
                <a:hlinkClick r:id="rId9"/>
              </a:rPr>
              <a:t>https://github.com/vanhauser-thc/thc-hydra</a:t>
            </a:r>
            <a:r>
              <a:rPr lang="es" sz="2400">
                <a:solidFill>
                  <a:srgbClr val="136798"/>
                </a:solidFill>
              </a:rPr>
              <a:t> - Herramienta para intentar hacer ataques informáticos, para probar seguridad</a:t>
            </a:r>
            <a:endParaRPr sz="2400">
              <a:solidFill>
                <a:srgbClr val="136798"/>
              </a:solidFill>
            </a:endParaRPr>
          </a:p>
          <a:p>
            <a:pPr indent="0" lvl="0" marL="0" rtl="0" algn="l">
              <a:lnSpc>
                <a:spcPct val="115000"/>
              </a:lnSpc>
              <a:spcBef>
                <a:spcPts val="900"/>
              </a:spcBef>
              <a:spcAft>
                <a:spcPts val="0"/>
              </a:spcAft>
              <a:buNone/>
            </a:pPr>
            <a:r>
              <a:rPr lang="es" sz="2400">
                <a:solidFill>
                  <a:srgbClr val="136798"/>
                </a:solidFill>
              </a:rPr>
              <a:t>Pentesmonkey - </a:t>
            </a:r>
            <a:r>
              <a:rPr lang="es" sz="2400" u="sng">
                <a:solidFill>
                  <a:schemeClr val="hlink"/>
                </a:solidFill>
                <a:hlinkClick r:id="rId10"/>
              </a:rPr>
              <a:t>https://pentestmonkey.net</a:t>
            </a:r>
            <a:r>
              <a:rPr lang="es" sz="2400">
                <a:solidFill>
                  <a:srgbClr val="136798"/>
                </a:solidFill>
              </a:rPr>
              <a:t> - </a:t>
            </a:r>
            <a:endParaRPr sz="2400">
              <a:solidFill>
                <a:srgbClr val="136798"/>
              </a:solidFill>
            </a:endParaRPr>
          </a:p>
          <a:p>
            <a:pPr indent="0" lvl="0" marL="0" rtl="0" algn="l">
              <a:lnSpc>
                <a:spcPct val="115000"/>
              </a:lnSpc>
              <a:spcBef>
                <a:spcPts val="900"/>
              </a:spcBef>
              <a:spcAft>
                <a:spcPts val="0"/>
              </a:spcAft>
              <a:buNone/>
            </a:pPr>
            <a:r>
              <a:t/>
            </a:r>
            <a:endParaRPr sz="2400">
              <a:solidFill>
                <a:srgbClr val="136798"/>
              </a:solidFill>
            </a:endParaRPr>
          </a:p>
          <a:p>
            <a:pPr indent="0" lvl="0" marL="0" rtl="0" algn="l">
              <a:lnSpc>
                <a:spcPct val="115000"/>
              </a:lnSpc>
              <a:spcBef>
                <a:spcPts val="900"/>
              </a:spcBef>
              <a:spcAft>
                <a:spcPts val="0"/>
              </a:spcAft>
              <a:buNone/>
            </a:pPr>
            <a:r>
              <a:t/>
            </a:r>
            <a:endParaRPr sz="2400">
              <a:solidFill>
                <a:srgbClr val="136798"/>
              </a:solidFill>
            </a:endParaRPr>
          </a:p>
          <a:p>
            <a:pPr indent="0" lvl="0" marL="0" rtl="0" algn="l">
              <a:lnSpc>
                <a:spcPct val="115000"/>
              </a:lnSpc>
              <a:spcBef>
                <a:spcPts val="900"/>
              </a:spcBef>
              <a:spcAft>
                <a:spcPts val="0"/>
              </a:spcAft>
              <a:buNone/>
            </a:pPr>
            <a:r>
              <a:t/>
            </a:r>
            <a:endParaRPr sz="2400">
              <a:solidFill>
                <a:srgbClr val="136798"/>
              </a:solidFill>
            </a:endParaRPr>
          </a:p>
          <a:p>
            <a:pPr indent="0" lvl="0" marL="0" rtl="0" algn="l">
              <a:lnSpc>
                <a:spcPct val="115000"/>
              </a:lnSpc>
              <a:spcBef>
                <a:spcPts val="900"/>
              </a:spcBef>
              <a:spcAft>
                <a:spcPts val="0"/>
              </a:spcAft>
              <a:buNone/>
            </a:pPr>
            <a:r>
              <a:t/>
            </a:r>
            <a:endParaRPr sz="2400">
              <a:solidFill>
                <a:srgbClr val="279999"/>
              </a:solidFill>
            </a:endParaRPr>
          </a:p>
          <a:p>
            <a:pPr indent="0" lvl="0" marL="0" rtl="0" algn="l">
              <a:lnSpc>
                <a:spcPct val="146739"/>
              </a:lnSpc>
              <a:spcBef>
                <a:spcPts val="900"/>
              </a:spcBef>
              <a:spcAft>
                <a:spcPts val="0"/>
              </a:spcAft>
              <a:buNone/>
            </a:pPr>
            <a:r>
              <a:t/>
            </a:r>
            <a:endParaRPr sz="1150">
              <a:solidFill>
                <a:srgbClr val="242424"/>
              </a:solidFill>
            </a:endParaRPr>
          </a:p>
          <a:p>
            <a:pPr indent="0" lvl="0" marL="0" rtl="0" algn="l">
              <a:lnSpc>
                <a:spcPct val="115000"/>
              </a:lnSpc>
              <a:spcBef>
                <a:spcPts val="1500"/>
              </a:spcBef>
              <a:spcAft>
                <a:spcPts val="0"/>
              </a:spcAft>
              <a:buNone/>
            </a:pPr>
            <a:r>
              <a:t/>
            </a:r>
            <a:endParaRPr sz="2400">
              <a:solidFill>
                <a:srgbClr val="136798"/>
              </a:solidFill>
            </a:endParaRPr>
          </a:p>
          <a:p>
            <a:pPr indent="0" lvl="0" marL="0" rtl="0" algn="l">
              <a:lnSpc>
                <a:spcPct val="115000"/>
              </a:lnSpc>
              <a:spcBef>
                <a:spcPts val="900"/>
              </a:spcBef>
              <a:spcAft>
                <a:spcPts val="0"/>
              </a:spcAft>
              <a:buNone/>
            </a:pPr>
            <a:r>
              <a:t/>
            </a:r>
            <a:endParaRPr sz="2400">
              <a:solidFill>
                <a:srgbClr val="136798"/>
              </a:solidFill>
            </a:endParaRPr>
          </a:p>
          <a:p>
            <a:pPr indent="0" lvl="0" marL="0" rtl="0" algn="l">
              <a:lnSpc>
                <a:spcPct val="115000"/>
              </a:lnSpc>
              <a:spcBef>
                <a:spcPts val="900"/>
              </a:spcBef>
              <a:spcAft>
                <a:spcPts val="0"/>
              </a:spcAft>
              <a:buNone/>
            </a:pPr>
            <a:r>
              <a:t/>
            </a:r>
            <a:endParaRPr sz="2400">
              <a:solidFill>
                <a:srgbClr val="136798"/>
              </a:solidFill>
            </a:endParaRPr>
          </a:p>
          <a:p>
            <a:pPr indent="0" lvl="0" marL="0" rtl="0" algn="l">
              <a:lnSpc>
                <a:spcPct val="115000"/>
              </a:lnSpc>
              <a:spcBef>
                <a:spcPts val="900"/>
              </a:spcBef>
              <a:spcAft>
                <a:spcPts val="900"/>
              </a:spcAft>
              <a:buNone/>
            </a:pPr>
            <a:r>
              <a:t/>
            </a:r>
            <a:endParaRPr sz="2400">
              <a:solidFill>
                <a:srgbClr val="136798"/>
              </a:solidFill>
            </a:endParaRPr>
          </a:p>
        </p:txBody>
      </p:sp>
      <p:sp>
        <p:nvSpPr>
          <p:cNvPr id="383" name="Google Shape;383;p63"/>
          <p:cNvSpPr txBox="1"/>
          <p:nvPr/>
        </p:nvSpPr>
        <p:spPr>
          <a:xfrm>
            <a:off x="0" y="0"/>
            <a:ext cx="7302900" cy="603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s" sz="2200">
                <a:solidFill>
                  <a:srgbClr val="136798"/>
                </a:solidFill>
              </a:rPr>
              <a:t>7 - Seguridad</a:t>
            </a:r>
            <a:endParaRPr sz="2200">
              <a:solidFill>
                <a:srgbClr val="136798"/>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