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84"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Lst>
  <p:sldSz cx="12192000" cy="6858000"/>
  <p:notesSz cx="6858000" cy="9144000"/>
  <p:embeddedFontLst>
    <p:embeddedFont>
      <p:font typeface="Montserrat" panose="00000500000000000000" pitchFamily="2" charset="0"/>
      <p:regular r:id="rId132"/>
      <p:bold r:id="rId133"/>
      <p:italic r:id="rId134"/>
      <p:boldItalic r:id="rId135"/>
    </p:embeddedFont>
    <p:embeddedFont>
      <p:font typeface="Nunito Sans" pitchFamily="2" charset="0"/>
      <p:regular r:id="rId136"/>
      <p:bold r:id="rId137"/>
      <p:italic r:id="rId138"/>
      <p:boldItalic r:id="rId139"/>
    </p:embeddedFont>
    <p:embeddedFont>
      <p:font typeface="Nunito Sans Black" pitchFamily="2" charset="0"/>
      <p:bold r:id="rId140"/>
      <p:boldItalic r:id="rId141"/>
    </p:embeddedFont>
    <p:embeddedFont>
      <p:font typeface="Nunito Sans ExtraBold" pitchFamily="2" charset="0"/>
      <p:bold r:id="rId142"/>
      <p:boldItalic r:id="rId143"/>
    </p:embeddedFont>
    <p:embeddedFont>
      <p:font typeface="Open Sans" panose="020B0606030504020204" pitchFamily="34" charset="0"/>
      <p:regular r:id="rId144"/>
      <p:bold r:id="rId145"/>
      <p:italic r:id="rId146"/>
      <p:boldItalic r:id="rId147"/>
    </p:embeddedFont>
    <p:embeddedFont>
      <p:font typeface="Roboto" panose="02000000000000000000" pitchFamily="2" charset="0"/>
      <p:regular r:id="rId148"/>
      <p:bold r:id="rId149"/>
      <p:italic r:id="rId150"/>
      <p:boldItalic r:id="rId151"/>
    </p:embeddedFont>
    <p:embeddedFont>
      <p:font typeface="Source Sans Pro" panose="020B0503030403020204" pitchFamily="34" charset="0"/>
      <p:regular r:id="rId152"/>
      <p:bold r:id="rId153"/>
      <p:italic r:id="rId154"/>
      <p:boldItalic r:id="rId1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37">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9" roundtripDataSignature="AMtx7mhIsX9pKDL/fJr4WyS0Qx+9UHZvE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FB0C6F-B483-4288-9F6F-C312BFB2C3E0}" v="36" dt="2025-09-19T06:06:36.975"/>
  </p1510:revLst>
</p1510:revInfo>
</file>

<file path=ppt/tableStyles.xml><?xml version="1.0" encoding="utf-8"?>
<a:tblStyleLst xmlns:a="http://schemas.openxmlformats.org/drawingml/2006/main" def="{43D96A67-930E-4795-971D-6FC2E729DFA4}">
  <a:tblStyle styleId="{43D96A67-930E-4795-971D-6FC2E729DFA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396" y="264"/>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7.fntdata"/><Relationship Id="rId159" Type="http://customschemas.google.com/relationships/presentationmetadata" Target="meta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8.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font" Target="fonts/font8.fntdata"/><Relationship Id="rId85" Type="http://schemas.openxmlformats.org/officeDocument/2006/relationships/slide" Target="slides/slide84.xml"/><Relationship Id="rId150" Type="http://schemas.openxmlformats.org/officeDocument/2006/relationships/font" Target="fonts/font19.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9.fntdata"/><Relationship Id="rId145" Type="http://schemas.openxmlformats.org/officeDocument/2006/relationships/font" Target="fonts/font14.fntdata"/><Relationship Id="rId16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font" Target="fonts/font4.fntdata"/><Relationship Id="rId151" Type="http://schemas.openxmlformats.org/officeDocument/2006/relationships/font" Target="fonts/font20.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0.fntdata"/><Relationship Id="rId14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136"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2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1.fntdata"/><Relationship Id="rId163"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fntdata"/><Relationship Id="rId153" Type="http://schemas.openxmlformats.org/officeDocument/2006/relationships/font" Target="fonts/font2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2.fntdata"/><Relationship Id="rId148" Type="http://schemas.openxmlformats.org/officeDocument/2006/relationships/font" Target="fonts/font17.fntdata"/><Relationship Id="rId16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2.fntdata"/><Relationship Id="rId154" Type="http://schemas.openxmlformats.org/officeDocument/2006/relationships/font" Target="fonts/font23.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3.fntdata"/><Relationship Id="rId90" Type="http://schemas.openxmlformats.org/officeDocument/2006/relationships/slide" Target="slides/slide89.xml"/><Relationship Id="rId165" Type="http://schemas.microsoft.com/office/2015/10/relationships/revisionInfo" Target="revisionInfo.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font" Target="fonts/font3.fntdata"/><Relationship Id="rId80" Type="http://schemas.openxmlformats.org/officeDocument/2006/relationships/slide" Target="slides/slide79.xml"/><Relationship Id="rId155" Type="http://schemas.openxmlformats.org/officeDocument/2006/relationships/font" Target="fonts/font2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o Ruiz" userId="47fa91d207cfb014" providerId="LiveId" clId="{9743E567-337F-4C21-A62A-0C7FCC4B4E77}"/>
    <pc:docChg chg="custSel addSld modSld">
      <pc:chgData name="Alberto Ruiz" userId="47fa91d207cfb014" providerId="LiveId" clId="{9743E567-337F-4C21-A62A-0C7FCC4B4E77}" dt="2025-09-19T06:07:56.277" v="191" actId="27636"/>
      <pc:docMkLst>
        <pc:docMk/>
      </pc:docMkLst>
      <pc:sldChg chg="modSp mod">
        <pc:chgData name="Alberto Ruiz" userId="47fa91d207cfb014" providerId="LiveId" clId="{9743E567-337F-4C21-A62A-0C7FCC4B4E77}" dt="2025-09-19T06:06:34.659" v="62" actId="27636"/>
        <pc:sldMkLst>
          <pc:docMk/>
          <pc:sldMk cId="0" sldId="256"/>
        </pc:sldMkLst>
        <pc:spChg chg="mod">
          <ac:chgData name="Alberto Ruiz" userId="47fa91d207cfb014" providerId="LiveId" clId="{9743E567-337F-4C21-A62A-0C7FCC4B4E77}" dt="2025-09-19T06:06:34.659" v="62" actId="27636"/>
          <ac:spMkLst>
            <pc:docMk/>
            <pc:sldMk cId="0" sldId="256"/>
            <ac:spMk id="89" creationId="{00000000-0000-0000-0000-000000000000}"/>
          </ac:spMkLst>
        </pc:spChg>
      </pc:sldChg>
      <pc:sldChg chg="modSp mod">
        <pc:chgData name="Alberto Ruiz" userId="47fa91d207cfb014" providerId="LiveId" clId="{9743E567-337F-4C21-A62A-0C7FCC4B4E77}" dt="2025-09-19T06:06:34.663" v="63" actId="27636"/>
        <pc:sldMkLst>
          <pc:docMk/>
          <pc:sldMk cId="0" sldId="259"/>
        </pc:sldMkLst>
        <pc:spChg chg="mod">
          <ac:chgData name="Alberto Ruiz" userId="47fa91d207cfb014" providerId="LiveId" clId="{9743E567-337F-4C21-A62A-0C7FCC4B4E77}" dt="2025-09-19T06:06:34.663" v="63" actId="27636"/>
          <ac:spMkLst>
            <pc:docMk/>
            <pc:sldMk cId="0" sldId="259"/>
            <ac:spMk id="106" creationId="{00000000-0000-0000-0000-000000000000}"/>
          </ac:spMkLst>
        </pc:spChg>
      </pc:sldChg>
      <pc:sldChg chg="modSp mod">
        <pc:chgData name="Alberto Ruiz" userId="47fa91d207cfb014" providerId="LiveId" clId="{9743E567-337F-4C21-A62A-0C7FCC4B4E77}" dt="2025-09-19T06:06:34.667" v="64" actId="27636"/>
        <pc:sldMkLst>
          <pc:docMk/>
          <pc:sldMk cId="0" sldId="260"/>
        </pc:sldMkLst>
        <pc:spChg chg="mod">
          <ac:chgData name="Alberto Ruiz" userId="47fa91d207cfb014" providerId="LiveId" clId="{9743E567-337F-4C21-A62A-0C7FCC4B4E77}" dt="2025-09-19T06:06:34.667" v="64" actId="27636"/>
          <ac:spMkLst>
            <pc:docMk/>
            <pc:sldMk cId="0" sldId="260"/>
            <ac:spMk id="114" creationId="{00000000-0000-0000-0000-000000000000}"/>
          </ac:spMkLst>
        </pc:spChg>
      </pc:sldChg>
      <pc:sldChg chg="modSp mod">
        <pc:chgData name="Alberto Ruiz" userId="47fa91d207cfb014" providerId="LiveId" clId="{9743E567-337F-4C21-A62A-0C7FCC4B4E77}" dt="2025-09-19T06:06:34.675" v="65" actId="27636"/>
        <pc:sldMkLst>
          <pc:docMk/>
          <pc:sldMk cId="0" sldId="263"/>
        </pc:sldMkLst>
        <pc:spChg chg="mod">
          <ac:chgData name="Alberto Ruiz" userId="47fa91d207cfb014" providerId="LiveId" clId="{9743E567-337F-4C21-A62A-0C7FCC4B4E77}" dt="2025-09-19T06:06:34.675" v="65" actId="27636"/>
          <ac:spMkLst>
            <pc:docMk/>
            <pc:sldMk cId="0" sldId="263"/>
            <ac:spMk id="133" creationId="{00000000-0000-0000-0000-000000000000}"/>
          </ac:spMkLst>
        </pc:spChg>
      </pc:sldChg>
      <pc:sldChg chg="modSp mod">
        <pc:chgData name="Alberto Ruiz" userId="47fa91d207cfb014" providerId="LiveId" clId="{9743E567-337F-4C21-A62A-0C7FCC4B4E77}" dt="2025-09-19T06:06:34.679" v="66" actId="27636"/>
        <pc:sldMkLst>
          <pc:docMk/>
          <pc:sldMk cId="0" sldId="265"/>
        </pc:sldMkLst>
        <pc:spChg chg="mod">
          <ac:chgData name="Alberto Ruiz" userId="47fa91d207cfb014" providerId="LiveId" clId="{9743E567-337F-4C21-A62A-0C7FCC4B4E77}" dt="2025-09-19T06:06:34.679" v="66" actId="27636"/>
          <ac:spMkLst>
            <pc:docMk/>
            <pc:sldMk cId="0" sldId="265"/>
            <ac:spMk id="148" creationId="{00000000-0000-0000-0000-000000000000}"/>
          </ac:spMkLst>
        </pc:spChg>
      </pc:sldChg>
      <pc:sldChg chg="modSp mod">
        <pc:chgData name="Alberto Ruiz" userId="47fa91d207cfb014" providerId="LiveId" clId="{9743E567-337F-4C21-A62A-0C7FCC4B4E77}" dt="2025-09-19T06:06:34.684" v="67" actId="27636"/>
        <pc:sldMkLst>
          <pc:docMk/>
          <pc:sldMk cId="0" sldId="267"/>
        </pc:sldMkLst>
        <pc:spChg chg="mod">
          <ac:chgData name="Alberto Ruiz" userId="47fa91d207cfb014" providerId="LiveId" clId="{9743E567-337F-4C21-A62A-0C7FCC4B4E77}" dt="2025-09-19T06:06:34.684" v="67" actId="27636"/>
          <ac:spMkLst>
            <pc:docMk/>
            <pc:sldMk cId="0" sldId="267"/>
            <ac:spMk id="162" creationId="{00000000-0000-0000-0000-000000000000}"/>
          </ac:spMkLst>
        </pc:spChg>
      </pc:sldChg>
      <pc:sldChg chg="modSp mod">
        <pc:chgData name="Alberto Ruiz" userId="47fa91d207cfb014" providerId="LiveId" clId="{9743E567-337F-4C21-A62A-0C7FCC4B4E77}" dt="2025-09-19T06:06:34.688" v="68" actId="27636"/>
        <pc:sldMkLst>
          <pc:docMk/>
          <pc:sldMk cId="0" sldId="269"/>
        </pc:sldMkLst>
        <pc:spChg chg="mod">
          <ac:chgData name="Alberto Ruiz" userId="47fa91d207cfb014" providerId="LiveId" clId="{9743E567-337F-4C21-A62A-0C7FCC4B4E77}" dt="2025-09-19T06:06:34.688" v="68" actId="27636"/>
          <ac:spMkLst>
            <pc:docMk/>
            <pc:sldMk cId="0" sldId="269"/>
            <ac:spMk id="187" creationId="{00000000-0000-0000-0000-000000000000}"/>
          </ac:spMkLst>
        </pc:spChg>
      </pc:sldChg>
      <pc:sldChg chg="modSp mod">
        <pc:chgData name="Alberto Ruiz" userId="47fa91d207cfb014" providerId="LiveId" clId="{9743E567-337F-4C21-A62A-0C7FCC4B4E77}" dt="2025-09-19T06:06:34.692" v="69" actId="27636"/>
        <pc:sldMkLst>
          <pc:docMk/>
          <pc:sldMk cId="0" sldId="272"/>
        </pc:sldMkLst>
        <pc:spChg chg="mod">
          <ac:chgData name="Alberto Ruiz" userId="47fa91d207cfb014" providerId="LiveId" clId="{9743E567-337F-4C21-A62A-0C7FCC4B4E77}" dt="2025-09-19T06:06:34.692" v="69" actId="27636"/>
          <ac:spMkLst>
            <pc:docMk/>
            <pc:sldMk cId="0" sldId="272"/>
            <ac:spMk id="217" creationId="{00000000-0000-0000-0000-000000000000}"/>
          </ac:spMkLst>
        </pc:spChg>
      </pc:sldChg>
      <pc:sldChg chg="modSp mod">
        <pc:chgData name="Alberto Ruiz" userId="47fa91d207cfb014" providerId="LiveId" clId="{9743E567-337F-4C21-A62A-0C7FCC4B4E77}" dt="2025-09-19T06:06:34.698" v="70" actId="27636"/>
        <pc:sldMkLst>
          <pc:docMk/>
          <pc:sldMk cId="0" sldId="273"/>
        </pc:sldMkLst>
        <pc:spChg chg="mod">
          <ac:chgData name="Alberto Ruiz" userId="47fa91d207cfb014" providerId="LiveId" clId="{9743E567-337F-4C21-A62A-0C7FCC4B4E77}" dt="2025-09-19T06:06:34.698" v="70" actId="27636"/>
          <ac:spMkLst>
            <pc:docMk/>
            <pc:sldMk cId="0" sldId="273"/>
            <ac:spMk id="241" creationId="{00000000-0000-0000-0000-000000000000}"/>
          </ac:spMkLst>
        </pc:spChg>
      </pc:sldChg>
      <pc:sldChg chg="modSp mod">
        <pc:chgData name="Alberto Ruiz" userId="47fa91d207cfb014" providerId="LiveId" clId="{9743E567-337F-4C21-A62A-0C7FCC4B4E77}" dt="2025-09-19T06:06:34.704" v="71" actId="27636"/>
        <pc:sldMkLst>
          <pc:docMk/>
          <pc:sldMk cId="0" sldId="274"/>
        </pc:sldMkLst>
        <pc:spChg chg="mod">
          <ac:chgData name="Alberto Ruiz" userId="47fa91d207cfb014" providerId="LiveId" clId="{9743E567-337F-4C21-A62A-0C7FCC4B4E77}" dt="2025-09-19T06:06:34.704" v="71" actId="27636"/>
          <ac:spMkLst>
            <pc:docMk/>
            <pc:sldMk cId="0" sldId="274"/>
            <ac:spMk id="249" creationId="{00000000-0000-0000-0000-000000000000}"/>
          </ac:spMkLst>
        </pc:spChg>
      </pc:sldChg>
      <pc:sldChg chg="modSp mod">
        <pc:chgData name="Alberto Ruiz" userId="47fa91d207cfb014" providerId="LiveId" clId="{9743E567-337F-4C21-A62A-0C7FCC4B4E77}" dt="2025-09-19T06:06:34.708" v="72" actId="27636"/>
        <pc:sldMkLst>
          <pc:docMk/>
          <pc:sldMk cId="0" sldId="275"/>
        </pc:sldMkLst>
        <pc:spChg chg="mod">
          <ac:chgData name="Alberto Ruiz" userId="47fa91d207cfb014" providerId="LiveId" clId="{9743E567-337F-4C21-A62A-0C7FCC4B4E77}" dt="2025-09-19T06:06:34.708" v="72" actId="27636"/>
          <ac:spMkLst>
            <pc:docMk/>
            <pc:sldMk cId="0" sldId="275"/>
            <ac:spMk id="255" creationId="{00000000-0000-0000-0000-000000000000}"/>
          </ac:spMkLst>
        </pc:spChg>
      </pc:sldChg>
      <pc:sldChg chg="modSp mod">
        <pc:chgData name="Alberto Ruiz" userId="47fa91d207cfb014" providerId="LiveId" clId="{9743E567-337F-4C21-A62A-0C7FCC4B4E77}" dt="2025-09-19T06:06:34.712" v="73" actId="27636"/>
        <pc:sldMkLst>
          <pc:docMk/>
          <pc:sldMk cId="0" sldId="284"/>
        </pc:sldMkLst>
        <pc:spChg chg="mod">
          <ac:chgData name="Alberto Ruiz" userId="47fa91d207cfb014" providerId="LiveId" clId="{9743E567-337F-4C21-A62A-0C7FCC4B4E77}" dt="2025-09-19T06:06:34.712" v="73" actId="27636"/>
          <ac:spMkLst>
            <pc:docMk/>
            <pc:sldMk cId="0" sldId="284"/>
            <ac:spMk id="338" creationId="{00000000-0000-0000-0000-000000000000}"/>
          </ac:spMkLst>
        </pc:spChg>
      </pc:sldChg>
      <pc:sldChg chg="modSp mod">
        <pc:chgData name="Alberto Ruiz" userId="47fa91d207cfb014" providerId="LiveId" clId="{9743E567-337F-4C21-A62A-0C7FCC4B4E77}" dt="2025-09-19T06:06:34.718" v="74" actId="27636"/>
        <pc:sldMkLst>
          <pc:docMk/>
          <pc:sldMk cId="0" sldId="286"/>
        </pc:sldMkLst>
        <pc:spChg chg="mod">
          <ac:chgData name="Alberto Ruiz" userId="47fa91d207cfb014" providerId="LiveId" clId="{9743E567-337F-4C21-A62A-0C7FCC4B4E77}" dt="2025-09-19T06:06:34.718" v="74" actId="27636"/>
          <ac:spMkLst>
            <pc:docMk/>
            <pc:sldMk cId="0" sldId="286"/>
            <ac:spMk id="365" creationId="{00000000-0000-0000-0000-000000000000}"/>
          </ac:spMkLst>
        </pc:spChg>
      </pc:sldChg>
      <pc:sldChg chg="modSp mod">
        <pc:chgData name="Alberto Ruiz" userId="47fa91d207cfb014" providerId="LiveId" clId="{9743E567-337F-4C21-A62A-0C7FCC4B4E77}" dt="2025-09-19T06:06:34.722" v="75" actId="27636"/>
        <pc:sldMkLst>
          <pc:docMk/>
          <pc:sldMk cId="0" sldId="289"/>
        </pc:sldMkLst>
        <pc:spChg chg="mod">
          <ac:chgData name="Alberto Ruiz" userId="47fa91d207cfb014" providerId="LiveId" clId="{9743E567-337F-4C21-A62A-0C7FCC4B4E77}" dt="2025-09-19T06:06:34.722" v="75" actId="27636"/>
          <ac:spMkLst>
            <pc:docMk/>
            <pc:sldMk cId="0" sldId="289"/>
            <ac:spMk id="396" creationId="{00000000-0000-0000-0000-000000000000}"/>
          </ac:spMkLst>
        </pc:spChg>
      </pc:sldChg>
      <pc:sldChg chg="modSp mod">
        <pc:chgData name="Alberto Ruiz" userId="47fa91d207cfb014" providerId="LiveId" clId="{9743E567-337F-4C21-A62A-0C7FCC4B4E77}" dt="2025-09-19T06:06:34.729" v="76" actId="27636"/>
        <pc:sldMkLst>
          <pc:docMk/>
          <pc:sldMk cId="0" sldId="294"/>
        </pc:sldMkLst>
        <pc:spChg chg="mod">
          <ac:chgData name="Alberto Ruiz" userId="47fa91d207cfb014" providerId="LiveId" clId="{9743E567-337F-4C21-A62A-0C7FCC4B4E77}" dt="2025-09-19T06:06:34.729" v="76" actId="27636"/>
          <ac:spMkLst>
            <pc:docMk/>
            <pc:sldMk cId="0" sldId="294"/>
            <ac:spMk id="435" creationId="{00000000-0000-0000-0000-000000000000}"/>
          </ac:spMkLst>
        </pc:spChg>
      </pc:sldChg>
      <pc:sldChg chg="modSp mod">
        <pc:chgData name="Alberto Ruiz" userId="47fa91d207cfb014" providerId="LiveId" clId="{9743E567-337F-4C21-A62A-0C7FCC4B4E77}" dt="2025-09-19T06:06:34.735" v="77" actId="27636"/>
        <pc:sldMkLst>
          <pc:docMk/>
          <pc:sldMk cId="0" sldId="299"/>
        </pc:sldMkLst>
        <pc:spChg chg="mod">
          <ac:chgData name="Alberto Ruiz" userId="47fa91d207cfb014" providerId="LiveId" clId="{9743E567-337F-4C21-A62A-0C7FCC4B4E77}" dt="2025-09-19T06:06:34.735" v="77" actId="27636"/>
          <ac:spMkLst>
            <pc:docMk/>
            <pc:sldMk cId="0" sldId="299"/>
            <ac:spMk id="468" creationId="{00000000-0000-0000-0000-000000000000}"/>
          </ac:spMkLst>
        </pc:spChg>
      </pc:sldChg>
      <pc:sldChg chg="modSp mod">
        <pc:chgData name="Alberto Ruiz" userId="47fa91d207cfb014" providerId="LiveId" clId="{9743E567-337F-4C21-A62A-0C7FCC4B4E77}" dt="2025-09-19T06:06:34.741" v="78" actId="27636"/>
        <pc:sldMkLst>
          <pc:docMk/>
          <pc:sldMk cId="0" sldId="300"/>
        </pc:sldMkLst>
        <pc:spChg chg="mod">
          <ac:chgData name="Alberto Ruiz" userId="47fa91d207cfb014" providerId="LiveId" clId="{9743E567-337F-4C21-A62A-0C7FCC4B4E77}" dt="2025-09-19T06:06:34.741" v="78" actId="27636"/>
          <ac:spMkLst>
            <pc:docMk/>
            <pc:sldMk cId="0" sldId="300"/>
            <ac:spMk id="474" creationId="{00000000-0000-0000-0000-000000000000}"/>
          </ac:spMkLst>
        </pc:spChg>
      </pc:sldChg>
      <pc:sldChg chg="modSp mod">
        <pc:chgData name="Alberto Ruiz" userId="47fa91d207cfb014" providerId="LiveId" clId="{9743E567-337F-4C21-A62A-0C7FCC4B4E77}" dt="2025-09-19T06:06:34.746" v="79" actId="27636"/>
        <pc:sldMkLst>
          <pc:docMk/>
          <pc:sldMk cId="0" sldId="301"/>
        </pc:sldMkLst>
        <pc:spChg chg="mod">
          <ac:chgData name="Alberto Ruiz" userId="47fa91d207cfb014" providerId="LiveId" clId="{9743E567-337F-4C21-A62A-0C7FCC4B4E77}" dt="2025-09-19T06:06:34.746" v="79" actId="27636"/>
          <ac:spMkLst>
            <pc:docMk/>
            <pc:sldMk cId="0" sldId="301"/>
            <ac:spMk id="481" creationId="{00000000-0000-0000-0000-000000000000}"/>
          </ac:spMkLst>
        </pc:spChg>
      </pc:sldChg>
      <pc:sldChg chg="modSp mod">
        <pc:chgData name="Alberto Ruiz" userId="47fa91d207cfb014" providerId="LiveId" clId="{9743E567-337F-4C21-A62A-0C7FCC4B4E77}" dt="2025-09-19T06:06:34.751" v="80" actId="27636"/>
        <pc:sldMkLst>
          <pc:docMk/>
          <pc:sldMk cId="0" sldId="304"/>
        </pc:sldMkLst>
        <pc:spChg chg="mod">
          <ac:chgData name="Alberto Ruiz" userId="47fa91d207cfb014" providerId="LiveId" clId="{9743E567-337F-4C21-A62A-0C7FCC4B4E77}" dt="2025-09-19T06:06:34.751" v="80" actId="27636"/>
          <ac:spMkLst>
            <pc:docMk/>
            <pc:sldMk cId="0" sldId="304"/>
            <ac:spMk id="502" creationId="{00000000-0000-0000-0000-000000000000}"/>
          </ac:spMkLst>
        </pc:spChg>
      </pc:sldChg>
      <pc:sldChg chg="modSp mod">
        <pc:chgData name="Alberto Ruiz" userId="47fa91d207cfb014" providerId="LiveId" clId="{9743E567-337F-4C21-A62A-0C7FCC4B4E77}" dt="2025-09-19T06:06:34.756" v="81" actId="27636"/>
        <pc:sldMkLst>
          <pc:docMk/>
          <pc:sldMk cId="0" sldId="308"/>
        </pc:sldMkLst>
        <pc:spChg chg="mod">
          <ac:chgData name="Alberto Ruiz" userId="47fa91d207cfb014" providerId="LiveId" clId="{9743E567-337F-4C21-A62A-0C7FCC4B4E77}" dt="2025-09-19T06:06:34.756" v="81" actId="27636"/>
          <ac:spMkLst>
            <pc:docMk/>
            <pc:sldMk cId="0" sldId="308"/>
            <ac:spMk id="527" creationId="{00000000-0000-0000-0000-000000000000}"/>
          </ac:spMkLst>
        </pc:spChg>
      </pc:sldChg>
      <pc:sldChg chg="modSp mod">
        <pc:chgData name="Alberto Ruiz" userId="47fa91d207cfb014" providerId="LiveId" clId="{9743E567-337F-4C21-A62A-0C7FCC4B4E77}" dt="2025-09-19T06:06:34.764" v="83" actId="27636"/>
        <pc:sldMkLst>
          <pc:docMk/>
          <pc:sldMk cId="0" sldId="310"/>
        </pc:sldMkLst>
        <pc:spChg chg="mod">
          <ac:chgData name="Alberto Ruiz" userId="47fa91d207cfb014" providerId="LiveId" clId="{9743E567-337F-4C21-A62A-0C7FCC4B4E77}" dt="2025-09-19T06:06:34.764" v="83" actId="27636"/>
          <ac:spMkLst>
            <pc:docMk/>
            <pc:sldMk cId="0" sldId="310"/>
            <ac:spMk id="547" creationId="{00000000-0000-0000-0000-000000000000}"/>
          </ac:spMkLst>
        </pc:spChg>
        <pc:spChg chg="mod">
          <ac:chgData name="Alberto Ruiz" userId="47fa91d207cfb014" providerId="LiveId" clId="{9743E567-337F-4C21-A62A-0C7FCC4B4E77}" dt="2025-09-19T06:06:34.763" v="82" actId="27636"/>
          <ac:spMkLst>
            <pc:docMk/>
            <pc:sldMk cId="0" sldId="310"/>
            <ac:spMk id="548" creationId="{00000000-0000-0000-0000-000000000000}"/>
          </ac:spMkLst>
        </pc:spChg>
      </pc:sldChg>
      <pc:sldChg chg="modSp mod">
        <pc:chgData name="Alberto Ruiz" userId="47fa91d207cfb014" providerId="LiveId" clId="{9743E567-337F-4C21-A62A-0C7FCC4B4E77}" dt="2025-09-19T06:06:34.774" v="84" actId="27636"/>
        <pc:sldMkLst>
          <pc:docMk/>
          <pc:sldMk cId="0" sldId="315"/>
        </pc:sldMkLst>
        <pc:spChg chg="mod">
          <ac:chgData name="Alberto Ruiz" userId="47fa91d207cfb014" providerId="LiveId" clId="{9743E567-337F-4C21-A62A-0C7FCC4B4E77}" dt="2025-09-19T06:06:34.774" v="84" actId="27636"/>
          <ac:spMkLst>
            <pc:docMk/>
            <pc:sldMk cId="0" sldId="315"/>
            <ac:spMk id="586" creationId="{00000000-0000-0000-0000-000000000000}"/>
          </ac:spMkLst>
        </pc:spChg>
      </pc:sldChg>
      <pc:sldChg chg="modSp mod">
        <pc:chgData name="Alberto Ruiz" userId="47fa91d207cfb014" providerId="LiveId" clId="{9743E567-337F-4C21-A62A-0C7FCC4B4E77}" dt="2025-09-19T06:06:34.780" v="85" actId="27636"/>
        <pc:sldMkLst>
          <pc:docMk/>
          <pc:sldMk cId="0" sldId="316"/>
        </pc:sldMkLst>
        <pc:spChg chg="mod">
          <ac:chgData name="Alberto Ruiz" userId="47fa91d207cfb014" providerId="LiveId" clId="{9743E567-337F-4C21-A62A-0C7FCC4B4E77}" dt="2025-09-19T06:06:34.780" v="85" actId="27636"/>
          <ac:spMkLst>
            <pc:docMk/>
            <pc:sldMk cId="0" sldId="316"/>
            <ac:spMk id="592" creationId="{00000000-0000-0000-0000-000000000000}"/>
          </ac:spMkLst>
        </pc:spChg>
      </pc:sldChg>
      <pc:sldChg chg="modSp mod">
        <pc:chgData name="Alberto Ruiz" userId="47fa91d207cfb014" providerId="LiveId" clId="{9743E567-337F-4C21-A62A-0C7FCC4B4E77}" dt="2025-09-19T06:06:34.785" v="86" actId="27636"/>
        <pc:sldMkLst>
          <pc:docMk/>
          <pc:sldMk cId="0" sldId="318"/>
        </pc:sldMkLst>
        <pc:spChg chg="mod">
          <ac:chgData name="Alberto Ruiz" userId="47fa91d207cfb014" providerId="LiveId" clId="{9743E567-337F-4C21-A62A-0C7FCC4B4E77}" dt="2025-09-19T06:06:34.785" v="86" actId="27636"/>
          <ac:spMkLst>
            <pc:docMk/>
            <pc:sldMk cId="0" sldId="318"/>
            <ac:spMk id="615" creationId="{00000000-0000-0000-0000-000000000000}"/>
          </ac:spMkLst>
        </pc:spChg>
      </pc:sldChg>
      <pc:sldChg chg="modSp mod">
        <pc:chgData name="Alberto Ruiz" userId="47fa91d207cfb014" providerId="LiveId" clId="{9743E567-337F-4C21-A62A-0C7FCC4B4E77}" dt="2025-09-19T06:06:34.790" v="87" actId="27636"/>
        <pc:sldMkLst>
          <pc:docMk/>
          <pc:sldMk cId="0" sldId="322"/>
        </pc:sldMkLst>
        <pc:spChg chg="mod">
          <ac:chgData name="Alberto Ruiz" userId="47fa91d207cfb014" providerId="LiveId" clId="{9743E567-337F-4C21-A62A-0C7FCC4B4E77}" dt="2025-09-19T06:06:34.790" v="87" actId="27636"/>
          <ac:spMkLst>
            <pc:docMk/>
            <pc:sldMk cId="0" sldId="322"/>
            <ac:spMk id="648" creationId="{00000000-0000-0000-0000-000000000000}"/>
          </ac:spMkLst>
        </pc:spChg>
      </pc:sldChg>
      <pc:sldChg chg="modSp mod">
        <pc:chgData name="Alberto Ruiz" userId="47fa91d207cfb014" providerId="LiveId" clId="{9743E567-337F-4C21-A62A-0C7FCC4B4E77}" dt="2025-09-19T06:06:34.799" v="88" actId="27636"/>
        <pc:sldMkLst>
          <pc:docMk/>
          <pc:sldMk cId="0" sldId="323"/>
        </pc:sldMkLst>
        <pc:spChg chg="mod">
          <ac:chgData name="Alberto Ruiz" userId="47fa91d207cfb014" providerId="LiveId" clId="{9743E567-337F-4C21-A62A-0C7FCC4B4E77}" dt="2025-09-19T06:06:34.799" v="88" actId="27636"/>
          <ac:spMkLst>
            <pc:docMk/>
            <pc:sldMk cId="0" sldId="323"/>
            <ac:spMk id="661" creationId="{00000000-0000-0000-0000-000000000000}"/>
          </ac:spMkLst>
        </pc:spChg>
      </pc:sldChg>
      <pc:sldChg chg="modSp mod">
        <pc:chgData name="Alberto Ruiz" userId="47fa91d207cfb014" providerId="LiveId" clId="{9743E567-337F-4C21-A62A-0C7FCC4B4E77}" dt="2025-09-19T06:06:34.804" v="89" actId="27636"/>
        <pc:sldMkLst>
          <pc:docMk/>
          <pc:sldMk cId="0" sldId="324"/>
        </pc:sldMkLst>
        <pc:spChg chg="mod">
          <ac:chgData name="Alberto Ruiz" userId="47fa91d207cfb014" providerId="LiveId" clId="{9743E567-337F-4C21-A62A-0C7FCC4B4E77}" dt="2025-09-19T06:06:34.804" v="89" actId="27636"/>
          <ac:spMkLst>
            <pc:docMk/>
            <pc:sldMk cId="0" sldId="324"/>
            <ac:spMk id="670" creationId="{00000000-0000-0000-0000-000000000000}"/>
          </ac:spMkLst>
        </pc:spChg>
      </pc:sldChg>
      <pc:sldChg chg="modSp mod">
        <pc:chgData name="Alberto Ruiz" userId="47fa91d207cfb014" providerId="LiveId" clId="{9743E567-337F-4C21-A62A-0C7FCC4B4E77}" dt="2025-09-19T06:06:34.637" v="57" actId="27636"/>
        <pc:sldMkLst>
          <pc:docMk/>
          <pc:sldMk cId="0" sldId="327"/>
        </pc:sldMkLst>
        <pc:spChg chg="mod">
          <ac:chgData name="Alberto Ruiz" userId="47fa91d207cfb014" providerId="LiveId" clId="{9743E567-337F-4C21-A62A-0C7FCC4B4E77}" dt="2025-09-19T06:06:34.637" v="57" actId="27636"/>
          <ac:spMkLst>
            <pc:docMk/>
            <pc:sldMk cId="0" sldId="327"/>
            <ac:spMk id="688" creationId="{00000000-0000-0000-0000-000000000000}"/>
          </ac:spMkLst>
        </pc:spChg>
      </pc:sldChg>
      <pc:sldChg chg="modSp mod">
        <pc:chgData name="Alberto Ruiz" userId="47fa91d207cfb014" providerId="LiveId" clId="{9743E567-337F-4C21-A62A-0C7FCC4B4E77}" dt="2025-09-19T06:06:34.643" v="58" actId="27636"/>
        <pc:sldMkLst>
          <pc:docMk/>
          <pc:sldMk cId="0" sldId="338"/>
        </pc:sldMkLst>
        <pc:spChg chg="mod">
          <ac:chgData name="Alberto Ruiz" userId="47fa91d207cfb014" providerId="LiveId" clId="{9743E567-337F-4C21-A62A-0C7FCC4B4E77}" dt="2025-09-19T06:06:34.643" v="58" actId="27636"/>
          <ac:spMkLst>
            <pc:docMk/>
            <pc:sldMk cId="0" sldId="338"/>
            <ac:spMk id="771" creationId="{00000000-0000-0000-0000-000000000000}"/>
          </ac:spMkLst>
        </pc:spChg>
      </pc:sldChg>
      <pc:sldChg chg="modSp mod">
        <pc:chgData name="Alberto Ruiz" userId="47fa91d207cfb014" providerId="LiveId" clId="{9743E567-337F-4C21-A62A-0C7FCC4B4E77}" dt="2025-09-19T06:06:34.646" v="59" actId="27636"/>
        <pc:sldMkLst>
          <pc:docMk/>
          <pc:sldMk cId="0" sldId="342"/>
        </pc:sldMkLst>
        <pc:spChg chg="mod">
          <ac:chgData name="Alberto Ruiz" userId="47fa91d207cfb014" providerId="LiveId" clId="{9743E567-337F-4C21-A62A-0C7FCC4B4E77}" dt="2025-09-19T06:06:34.646" v="59" actId="27636"/>
          <ac:spMkLst>
            <pc:docMk/>
            <pc:sldMk cId="0" sldId="342"/>
            <ac:spMk id="797" creationId="{00000000-0000-0000-0000-000000000000}"/>
          </ac:spMkLst>
        </pc:spChg>
      </pc:sldChg>
      <pc:sldChg chg="modSp mod">
        <pc:chgData name="Alberto Ruiz" userId="47fa91d207cfb014" providerId="LiveId" clId="{9743E567-337F-4C21-A62A-0C7FCC4B4E77}" dt="2025-09-19T06:06:34.649" v="60" actId="27636"/>
        <pc:sldMkLst>
          <pc:docMk/>
          <pc:sldMk cId="0" sldId="359"/>
        </pc:sldMkLst>
        <pc:spChg chg="mod">
          <ac:chgData name="Alberto Ruiz" userId="47fa91d207cfb014" providerId="LiveId" clId="{9743E567-337F-4C21-A62A-0C7FCC4B4E77}" dt="2025-09-19T06:06:34.649" v="60" actId="27636"/>
          <ac:spMkLst>
            <pc:docMk/>
            <pc:sldMk cId="0" sldId="359"/>
            <ac:spMk id="931" creationId="{00000000-0000-0000-0000-000000000000}"/>
          </ac:spMkLst>
        </pc:spChg>
      </pc:sldChg>
      <pc:sldChg chg="modSp mod">
        <pc:chgData name="Alberto Ruiz" userId="47fa91d207cfb014" providerId="LiveId" clId="{9743E567-337F-4C21-A62A-0C7FCC4B4E77}" dt="2025-09-19T06:06:34.654" v="61" actId="27636"/>
        <pc:sldMkLst>
          <pc:docMk/>
          <pc:sldMk cId="0" sldId="379"/>
        </pc:sldMkLst>
        <pc:spChg chg="mod">
          <ac:chgData name="Alberto Ruiz" userId="47fa91d207cfb014" providerId="LiveId" clId="{9743E567-337F-4C21-A62A-0C7FCC4B4E77}" dt="2025-09-19T06:06:34.654" v="61" actId="27636"/>
          <ac:spMkLst>
            <pc:docMk/>
            <pc:sldMk cId="0" sldId="379"/>
            <ac:spMk id="1101" creationId="{00000000-0000-0000-0000-000000000000}"/>
          </ac:spMkLst>
        </pc:spChg>
      </pc:sldChg>
      <pc:sldChg chg="addSp modSp new mod">
        <pc:chgData name="Alberto Ruiz" userId="47fa91d207cfb014" providerId="LiveId" clId="{9743E567-337F-4C21-A62A-0C7FCC4B4E77}" dt="2025-09-19T06:07:56.277" v="191" actId="27636"/>
        <pc:sldMkLst>
          <pc:docMk/>
          <pc:sldMk cId="3731442484" sldId="384"/>
        </pc:sldMkLst>
        <pc:spChg chg="mod">
          <ac:chgData name="Alberto Ruiz" userId="47fa91d207cfb014" providerId="LiveId" clId="{9743E567-337F-4C21-A62A-0C7FCC4B4E77}" dt="2025-09-19T06:05:35.519" v="22" actId="20577"/>
          <ac:spMkLst>
            <pc:docMk/>
            <pc:sldMk cId="3731442484" sldId="384"/>
            <ac:spMk id="2" creationId="{D59FEC35-3B74-CB2A-C528-005213F954CE}"/>
          </ac:spMkLst>
        </pc:spChg>
        <pc:spChg chg="mod">
          <ac:chgData name="Alberto Ruiz" userId="47fa91d207cfb014" providerId="LiveId" clId="{9743E567-337F-4C21-A62A-0C7FCC4B4E77}" dt="2025-09-19T06:07:56.277" v="191" actId="27636"/>
          <ac:spMkLst>
            <pc:docMk/>
            <pc:sldMk cId="3731442484" sldId="384"/>
            <ac:spMk id="3" creationId="{7E5F88AC-F60E-8427-4B90-2ADBC991025E}"/>
          </ac:spMkLst>
        </pc:spChg>
        <pc:spChg chg="add mod">
          <ac:chgData name="Alberto Ruiz" userId="47fa91d207cfb014" providerId="LiveId" clId="{9743E567-337F-4C21-A62A-0C7FCC4B4E77}" dt="2025-09-19T06:06:33.171" v="56" actId="27636"/>
          <ac:spMkLst>
            <pc:docMk/>
            <pc:sldMk cId="3731442484" sldId="384"/>
            <ac:spMk id="4" creationId="{6A7C6EBB-AA1B-D0B1-9B92-0DB3DB1C1F7E}"/>
          </ac:spMkLst>
        </pc:spChg>
        <pc:spChg chg="add mod">
          <ac:chgData name="Alberto Ruiz" userId="47fa91d207cfb014" providerId="LiveId" clId="{9743E567-337F-4C21-A62A-0C7FCC4B4E77}" dt="2025-09-19T06:06:33.171" v="56" actId="27636"/>
          <ac:spMkLst>
            <pc:docMk/>
            <pc:sldMk cId="3731442484" sldId="384"/>
            <ac:spMk id="5" creationId="{6FACC5CD-F1A8-B2B7-21AC-06A7C8ACD216}"/>
          </ac:spMkLst>
        </pc:spChg>
        <pc:spChg chg="add mod">
          <ac:chgData name="Alberto Ruiz" userId="47fa91d207cfb014" providerId="LiveId" clId="{9743E567-337F-4C21-A62A-0C7FCC4B4E77}" dt="2025-09-19T06:06:33.171" v="56" actId="27636"/>
          <ac:spMkLst>
            <pc:docMk/>
            <pc:sldMk cId="3731442484" sldId="384"/>
            <ac:spMk id="6" creationId="{7872A9B1-95AE-7433-7434-9DA65765EE4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8" Type="http://schemas.openxmlformats.org/officeDocument/2006/relationships/hyperlink" Target="https://es.wikipedia.org/wiki/Familia_de_protocolos_de_Internet" TargetMode="External"/><Relationship Id="rId13" Type="http://schemas.openxmlformats.org/officeDocument/2006/relationships/hyperlink" Target="https://es.wikipedia.org/wiki/Protocolo_(inform%C3%A1tica)" TargetMode="External"/><Relationship Id="rId3" Type="http://schemas.openxmlformats.org/officeDocument/2006/relationships/hyperlink" Target="https://es.wikipedia.org/wiki/Socket_de_Internet#mw-head" TargetMode="External"/><Relationship Id="rId7" Type="http://schemas.openxmlformats.org/officeDocument/2006/relationships/hyperlink" Target="https://es.wikipedia.org/wiki/Interfaz_de_programaci%C3%B3n_de_aplicaciones" TargetMode="External"/><Relationship Id="rId12" Type="http://schemas.openxmlformats.org/officeDocument/2006/relationships/hyperlink" Target="https://es.wikipedia.org/wiki/Direcci%C3%B3n_IP" TargetMode="External"/><Relationship Id="rId2" Type="http://schemas.openxmlformats.org/officeDocument/2006/relationships/slide" Target="../slides/slide53.xml"/><Relationship Id="rId1" Type="http://schemas.openxmlformats.org/officeDocument/2006/relationships/notesMaster" Target="../notesMasters/notesMaster1.xml"/><Relationship Id="rId6" Type="http://schemas.openxmlformats.org/officeDocument/2006/relationships/hyperlink" Target="https://es.wikipedia.org/wiki/Computadora" TargetMode="External"/><Relationship Id="rId11" Type="http://schemas.openxmlformats.org/officeDocument/2006/relationships/hyperlink" Target="https://es.wikipedia.org/wiki/Hilo_(inform%C3%A1tica)" TargetMode="External"/><Relationship Id="rId5" Type="http://schemas.openxmlformats.org/officeDocument/2006/relationships/hyperlink" Target="https://es.wikipedia.org/wiki/Proceso_(inform%C3%A1tica)" TargetMode="External"/><Relationship Id="rId10" Type="http://schemas.openxmlformats.org/officeDocument/2006/relationships/hyperlink" Target="https://es.wikipedia.org/wiki/Tarjeta_de_red" TargetMode="External"/><Relationship Id="rId4" Type="http://schemas.openxmlformats.org/officeDocument/2006/relationships/hyperlink" Target="https://es.wikipedia.org/wiki/Socket_de_Internet#searchInput" TargetMode="External"/><Relationship Id="rId9" Type="http://schemas.openxmlformats.org/officeDocument/2006/relationships/hyperlink" Target="https://es.wikipedia.org/wiki/Sistema_operativo" TargetMode="External"/><Relationship Id="rId14" Type="http://schemas.openxmlformats.org/officeDocument/2006/relationships/hyperlink" Target="https://es.wikipedia.org/wiki/Puerto_de_red" TargetMode="Externa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www.ionos.es/digitalguide/servidores/know-how/que-es-una-vpn-virtual-private-network/"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0" i="0">
                <a:solidFill>
                  <a:srgbClr val="202124"/>
                </a:solidFill>
                <a:latin typeface="arial"/>
                <a:ea typeface="arial"/>
                <a:cs typeface="arial"/>
                <a:sym typeface="arial"/>
              </a:rPr>
              <a:t>Un </a:t>
            </a:r>
            <a:r>
              <a:rPr lang="es-ES" b="1" i="0">
                <a:solidFill>
                  <a:srgbClr val="202124"/>
                </a:solidFill>
                <a:latin typeface="arial"/>
                <a:ea typeface="arial"/>
                <a:cs typeface="arial"/>
                <a:sym typeface="arial"/>
              </a:rPr>
              <a:t>Sniffer</a:t>
            </a:r>
            <a:r>
              <a:rPr lang="es-ES" b="0" i="0">
                <a:solidFill>
                  <a:srgbClr val="202124"/>
                </a:solidFill>
                <a:latin typeface="arial"/>
                <a:ea typeface="arial"/>
                <a:cs typeface="arial"/>
                <a:sym typeface="arial"/>
              </a:rPr>
              <a:t> es una aplicación especial para redes informáticas (un software) que se encarga de capturar y analizar paquetes en tránsito (entrada y/o salida) en una red de comunicaciones entre dispositivos.</a:t>
            </a:r>
            <a:endParaRPr/>
          </a:p>
          <a:p>
            <a:pPr marL="0" lvl="0" indent="-76200" algn="l" rtl="0">
              <a:spcBef>
                <a:spcPts val="0"/>
              </a:spcBef>
              <a:spcAft>
                <a:spcPts val="0"/>
              </a:spcAft>
              <a:buClr>
                <a:srgbClr val="202124"/>
              </a:buClr>
              <a:buSzPts val="1200"/>
              <a:buFont typeface="Calibri"/>
              <a:buAutoNum type="arabicPeriod"/>
            </a:pPr>
            <a:r>
              <a:rPr lang="es-ES" b="0" i="0">
                <a:solidFill>
                  <a:srgbClr val="202124"/>
                </a:solidFill>
                <a:latin typeface="arial"/>
                <a:ea typeface="arial"/>
                <a:cs typeface="arial"/>
                <a:sym typeface="arial"/>
              </a:rPr>
              <a:t>Wireshark. ...</a:t>
            </a:r>
            <a:endParaRPr/>
          </a:p>
          <a:p>
            <a:pPr marL="0" lvl="0" indent="-76200" algn="l" rtl="0">
              <a:spcBef>
                <a:spcPts val="0"/>
              </a:spcBef>
              <a:spcAft>
                <a:spcPts val="0"/>
              </a:spcAft>
              <a:buClr>
                <a:srgbClr val="202124"/>
              </a:buClr>
              <a:buSzPts val="1200"/>
              <a:buFont typeface="Calibri"/>
              <a:buAutoNum type="arabicPeriod"/>
            </a:pPr>
            <a:r>
              <a:rPr lang="es-ES" b="0" i="0">
                <a:solidFill>
                  <a:srgbClr val="202124"/>
                </a:solidFill>
                <a:latin typeface="arial"/>
                <a:ea typeface="arial"/>
                <a:cs typeface="arial"/>
                <a:sym typeface="arial"/>
              </a:rPr>
              <a:t>Microsoft Message Analyzer. ...</a:t>
            </a:r>
            <a:endParaRPr/>
          </a:p>
          <a:p>
            <a:pPr marL="0" lvl="0" indent="-76200" algn="l" rtl="0">
              <a:spcBef>
                <a:spcPts val="0"/>
              </a:spcBef>
              <a:spcAft>
                <a:spcPts val="0"/>
              </a:spcAft>
              <a:buClr>
                <a:srgbClr val="202124"/>
              </a:buClr>
              <a:buSzPts val="1200"/>
              <a:buFont typeface="Calibri"/>
              <a:buAutoNum type="arabicPeriod"/>
            </a:pPr>
            <a:r>
              <a:rPr lang="es-ES" b="0" i="0">
                <a:solidFill>
                  <a:srgbClr val="202124"/>
                </a:solidFill>
                <a:latin typeface="arial"/>
                <a:ea typeface="arial"/>
                <a:cs typeface="arial"/>
                <a:sym typeface="arial"/>
              </a:rPr>
              <a:t>Tcpdump. ...</a:t>
            </a:r>
            <a:endParaRPr/>
          </a:p>
          <a:p>
            <a:pPr marL="0" lvl="0" indent="-76200" algn="l" rtl="0">
              <a:spcBef>
                <a:spcPts val="0"/>
              </a:spcBef>
              <a:spcAft>
                <a:spcPts val="0"/>
              </a:spcAft>
              <a:buClr>
                <a:srgbClr val="202124"/>
              </a:buClr>
              <a:buSzPts val="1200"/>
              <a:buFont typeface="Calibri"/>
              <a:buAutoNum type="arabicPeriod"/>
            </a:pPr>
            <a:r>
              <a:rPr lang="es-ES" b="0" i="0">
                <a:solidFill>
                  <a:srgbClr val="202124"/>
                </a:solidFill>
                <a:latin typeface="arial"/>
                <a:ea typeface="arial"/>
                <a:cs typeface="arial"/>
                <a:sym typeface="arial"/>
              </a:rPr>
              <a:t>Windump.</a:t>
            </a:r>
            <a:endParaRPr/>
          </a:p>
          <a:p>
            <a:pPr marL="0" lvl="0" indent="0" algn="l" rtl="0">
              <a:spcBef>
                <a:spcPts val="0"/>
              </a:spcBef>
              <a:spcAft>
                <a:spcPts val="0"/>
              </a:spcAft>
              <a:buNone/>
            </a:pPr>
            <a:endParaRPr b="0" i="0">
              <a:solidFill>
                <a:srgbClr val="202124"/>
              </a:solidFill>
              <a:latin typeface="arial"/>
              <a:ea typeface="arial"/>
              <a:cs typeface="arial"/>
              <a:sym typeface="arial"/>
            </a:endParaRPr>
          </a:p>
          <a:p>
            <a:pPr marL="0" lvl="0" indent="0" algn="l" rtl="0">
              <a:spcBef>
                <a:spcPts val="0"/>
              </a:spcBef>
              <a:spcAft>
                <a:spcPts val="0"/>
              </a:spcAft>
              <a:buNone/>
            </a:pPr>
            <a:endParaRPr/>
          </a:p>
        </p:txBody>
      </p:sp>
      <p:sp>
        <p:nvSpPr>
          <p:cNvPr id="363" name="Google Shape;363;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5" name="Google Shape;485;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4" name="Google Shape;524;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Otros conceptos interesantes son:</a:t>
            </a:r>
            <a:endParaRPr/>
          </a:p>
          <a:p>
            <a:pPr marL="0" lvl="0" indent="0" algn="l" rtl="0">
              <a:spcBef>
                <a:spcPts val="0"/>
              </a:spcBef>
              <a:spcAft>
                <a:spcPts val="0"/>
              </a:spcAft>
              <a:buNone/>
            </a:pPr>
            <a:r>
              <a:rPr lang="es-ES" sz="1600" b="1" i="0">
                <a:solidFill>
                  <a:srgbClr val="000000"/>
                </a:solidFill>
                <a:latin typeface="Arial"/>
                <a:ea typeface="Arial"/>
                <a:cs typeface="Arial"/>
                <a:sym typeface="Arial"/>
              </a:rPr>
              <a:t>Socket de Internet</a:t>
            </a:r>
            <a:endParaRPr/>
          </a:p>
          <a:p>
            <a:pPr marL="0" lvl="0" indent="0" algn="l" rtl="0">
              <a:spcBef>
                <a:spcPts val="0"/>
              </a:spcBef>
              <a:spcAft>
                <a:spcPts val="0"/>
              </a:spcAft>
              <a:buNone/>
            </a:pPr>
            <a:r>
              <a:rPr lang="es-ES" b="0" i="0" u="sng" strike="noStrike">
                <a:solidFill>
                  <a:srgbClr val="0B0080"/>
                </a:solidFill>
                <a:latin typeface="Arial"/>
                <a:ea typeface="Arial"/>
                <a:cs typeface="Arial"/>
                <a:sym typeface="Arial"/>
                <a:hlinkClick r:id="rId3">
                  <a:extLst>
                    <a:ext uri="{A12FA001-AC4F-418D-AE19-62706E023703}">
                      <ahyp:hlinkClr xmlns:ahyp="http://schemas.microsoft.com/office/drawing/2018/hyperlinkcolor" val="tx"/>
                    </a:ext>
                  </a:extLst>
                </a:hlinkClick>
              </a:rPr>
              <a:t>Ir a la navegación</a:t>
            </a:r>
            <a:r>
              <a:rPr lang="es-ES" b="0" i="0" u="sng" strike="noStrike">
                <a:solidFill>
                  <a:srgbClr val="0B0080"/>
                </a:solidFill>
                <a:latin typeface="Arial"/>
                <a:ea typeface="Arial"/>
                <a:cs typeface="Arial"/>
                <a:sym typeface="Arial"/>
                <a:hlinkClick r:id="rId4">
                  <a:extLst>
                    <a:ext uri="{A12FA001-AC4F-418D-AE19-62706E023703}">
                      <ahyp:hlinkClr xmlns:ahyp="http://schemas.microsoft.com/office/drawing/2018/hyperlinkcolor" val="tx"/>
                    </a:ext>
                  </a:extLst>
                </a:hlinkClick>
              </a:rPr>
              <a:t>Ir a la búsqueda</a:t>
            </a:r>
            <a:r>
              <a:rPr lang="es-ES" b="1" i="1">
                <a:solidFill>
                  <a:srgbClr val="202122"/>
                </a:solidFill>
                <a:latin typeface="Arial"/>
                <a:ea typeface="Arial"/>
                <a:cs typeface="Arial"/>
                <a:sym typeface="Arial"/>
              </a:rPr>
              <a:t>Socket</a:t>
            </a:r>
            <a:r>
              <a:rPr lang="es-ES" b="0" i="0">
                <a:solidFill>
                  <a:srgbClr val="202122"/>
                </a:solidFill>
                <a:latin typeface="Arial"/>
                <a:ea typeface="Arial"/>
                <a:cs typeface="Arial"/>
                <a:sym typeface="Arial"/>
              </a:rPr>
              <a:t> designa un concepto abstracto por el cual dos </a:t>
            </a:r>
            <a:r>
              <a:rPr lang="es-ES" b="0" i="0" u="sng" strike="noStrike">
                <a:solidFill>
                  <a:srgbClr val="0B0080"/>
                </a:solidFill>
                <a:latin typeface="Arial"/>
                <a:ea typeface="Arial"/>
                <a:cs typeface="Arial"/>
                <a:sym typeface="Arial"/>
                <a:hlinkClick r:id="rId5">
                  <a:extLst>
                    <a:ext uri="{A12FA001-AC4F-418D-AE19-62706E023703}">
                      <ahyp:hlinkClr xmlns:ahyp="http://schemas.microsoft.com/office/drawing/2018/hyperlinkcolor" val="tx"/>
                    </a:ext>
                  </a:extLst>
                </a:hlinkClick>
              </a:rPr>
              <a:t>procesos</a:t>
            </a:r>
            <a:r>
              <a:rPr lang="es-ES" b="0" i="0">
                <a:solidFill>
                  <a:srgbClr val="202122"/>
                </a:solidFill>
                <a:latin typeface="Arial"/>
                <a:ea typeface="Arial"/>
                <a:cs typeface="Arial"/>
                <a:sym typeface="Arial"/>
              </a:rPr>
              <a:t> (posiblemente situados en </a:t>
            </a:r>
            <a:r>
              <a:rPr lang="es-ES" b="0" i="0" u="sng" strike="noStrike">
                <a:solidFill>
                  <a:srgbClr val="0B0080"/>
                </a:solidFill>
                <a:latin typeface="Arial"/>
                <a:ea typeface="Arial"/>
                <a:cs typeface="Arial"/>
                <a:sym typeface="Arial"/>
                <a:hlinkClick r:id="rId6">
                  <a:extLst>
                    <a:ext uri="{A12FA001-AC4F-418D-AE19-62706E023703}">
                      <ahyp:hlinkClr xmlns:ahyp="http://schemas.microsoft.com/office/drawing/2018/hyperlinkcolor" val="tx"/>
                    </a:ext>
                  </a:extLst>
                </a:hlinkClick>
              </a:rPr>
              <a:t>computadoras</a:t>
            </a:r>
            <a:r>
              <a:rPr lang="es-ES" b="0" i="0">
                <a:solidFill>
                  <a:srgbClr val="202122"/>
                </a:solidFill>
                <a:latin typeface="Arial"/>
                <a:ea typeface="Arial"/>
                <a:cs typeface="Arial"/>
                <a:sym typeface="Arial"/>
              </a:rPr>
              <a:t> distintas) pueden intercambiar cualquier flujo de datos, generalmente de manera fiable y ordenada.</a:t>
            </a:r>
            <a:endParaRPr/>
          </a:p>
          <a:p>
            <a:pPr marL="0" lvl="0" indent="0" algn="l" rtl="0">
              <a:spcBef>
                <a:spcPts val="0"/>
              </a:spcBef>
              <a:spcAft>
                <a:spcPts val="0"/>
              </a:spcAft>
              <a:buNone/>
            </a:pPr>
            <a:r>
              <a:rPr lang="es-ES" b="0" i="0">
                <a:solidFill>
                  <a:srgbClr val="202122"/>
                </a:solidFill>
                <a:latin typeface="Arial"/>
                <a:ea typeface="Arial"/>
                <a:cs typeface="Arial"/>
                <a:sym typeface="Arial"/>
              </a:rPr>
              <a:t>El término </a:t>
            </a:r>
            <a:r>
              <a:rPr lang="es-ES" b="0" i="1">
                <a:solidFill>
                  <a:srgbClr val="202122"/>
                </a:solidFill>
                <a:latin typeface="Arial"/>
                <a:ea typeface="Arial"/>
                <a:cs typeface="Arial"/>
                <a:sym typeface="Arial"/>
              </a:rPr>
              <a:t>socket</a:t>
            </a:r>
            <a:r>
              <a:rPr lang="es-ES" b="0" i="0">
                <a:solidFill>
                  <a:srgbClr val="202122"/>
                </a:solidFill>
                <a:latin typeface="Arial"/>
                <a:ea typeface="Arial"/>
                <a:cs typeface="Arial"/>
                <a:sym typeface="Arial"/>
              </a:rPr>
              <a:t> es también usado como el nombre de una </a:t>
            </a:r>
            <a:r>
              <a:rPr lang="es-ES" b="0" i="0" u="sng" strike="noStrike">
                <a:solidFill>
                  <a:srgbClr val="0B0080"/>
                </a:solidFill>
                <a:latin typeface="Arial"/>
                <a:ea typeface="Arial"/>
                <a:cs typeface="Arial"/>
                <a:sym typeface="Arial"/>
                <a:hlinkClick r:id="rId7">
                  <a:extLst>
                    <a:ext uri="{A12FA001-AC4F-418D-AE19-62706E023703}">
                      <ahyp:hlinkClr xmlns:ahyp="http://schemas.microsoft.com/office/drawing/2018/hyperlinkcolor" val="tx"/>
                    </a:ext>
                  </a:extLst>
                </a:hlinkClick>
              </a:rPr>
              <a:t>interfaz de programación de aplicaciones</a:t>
            </a:r>
            <a:r>
              <a:rPr lang="es-ES" b="0" i="0">
                <a:solidFill>
                  <a:srgbClr val="202122"/>
                </a:solidFill>
                <a:latin typeface="Arial"/>
                <a:ea typeface="Arial"/>
                <a:cs typeface="Arial"/>
                <a:sym typeface="Arial"/>
              </a:rPr>
              <a:t> (API) para la </a:t>
            </a:r>
            <a:r>
              <a:rPr lang="es-ES" b="0" i="0" u="sng" strike="noStrike">
                <a:solidFill>
                  <a:srgbClr val="0B0080"/>
                </a:solidFill>
                <a:latin typeface="Arial"/>
                <a:ea typeface="Arial"/>
                <a:cs typeface="Arial"/>
                <a:sym typeface="Arial"/>
                <a:hlinkClick r:id="rId8">
                  <a:extLst>
                    <a:ext uri="{A12FA001-AC4F-418D-AE19-62706E023703}">
                      <ahyp:hlinkClr xmlns:ahyp="http://schemas.microsoft.com/office/drawing/2018/hyperlinkcolor" val="tx"/>
                    </a:ext>
                  </a:extLst>
                </a:hlinkClick>
              </a:rPr>
              <a:t>familia de protocolos de Internet</a:t>
            </a:r>
            <a:r>
              <a:rPr lang="es-ES" b="0" i="0">
                <a:solidFill>
                  <a:srgbClr val="202122"/>
                </a:solidFill>
                <a:latin typeface="Arial"/>
                <a:ea typeface="Arial"/>
                <a:cs typeface="Arial"/>
                <a:sym typeface="Arial"/>
              </a:rPr>
              <a:t> TCP/IP, provista usualmente por el </a:t>
            </a:r>
            <a:r>
              <a:rPr lang="es-ES" b="0" i="0" u="sng" strike="noStrike">
                <a:solidFill>
                  <a:srgbClr val="0B0080"/>
                </a:solidFill>
                <a:latin typeface="Arial"/>
                <a:ea typeface="Arial"/>
                <a:cs typeface="Arial"/>
                <a:sym typeface="Arial"/>
                <a:hlinkClick r:id="rId9">
                  <a:extLst>
                    <a:ext uri="{A12FA001-AC4F-418D-AE19-62706E023703}">
                      <ahyp:hlinkClr xmlns:ahyp="http://schemas.microsoft.com/office/drawing/2018/hyperlinkcolor" val="tx"/>
                    </a:ext>
                  </a:extLst>
                </a:hlinkClick>
              </a:rPr>
              <a:t>sistema operativo</a:t>
            </a:r>
            <a:r>
              <a:rPr lang="es-ES" b="0" i="0">
                <a:solidFill>
                  <a:srgbClr val="202122"/>
                </a:solidFill>
                <a:latin typeface="Arial"/>
                <a:ea typeface="Arial"/>
                <a:cs typeface="Arial"/>
                <a:sym typeface="Arial"/>
              </a:rPr>
              <a:t>.</a:t>
            </a:r>
            <a:endParaRPr/>
          </a:p>
          <a:p>
            <a:pPr marL="0" lvl="0" indent="0" algn="l" rtl="0">
              <a:spcBef>
                <a:spcPts val="0"/>
              </a:spcBef>
              <a:spcAft>
                <a:spcPts val="0"/>
              </a:spcAft>
              <a:buNone/>
            </a:pPr>
            <a:r>
              <a:rPr lang="es-ES" b="0" i="0">
                <a:solidFill>
                  <a:srgbClr val="202122"/>
                </a:solidFill>
                <a:latin typeface="Arial"/>
                <a:ea typeface="Arial"/>
                <a:cs typeface="Arial"/>
                <a:sym typeface="Arial"/>
              </a:rPr>
              <a:t>Los </a:t>
            </a:r>
            <a:r>
              <a:rPr lang="es-ES" b="0" i="1">
                <a:solidFill>
                  <a:srgbClr val="202122"/>
                </a:solidFill>
                <a:latin typeface="Arial"/>
                <a:ea typeface="Arial"/>
                <a:cs typeface="Arial"/>
                <a:sym typeface="Arial"/>
              </a:rPr>
              <a:t>sockets</a:t>
            </a:r>
            <a:r>
              <a:rPr lang="es-ES" b="0" i="0">
                <a:solidFill>
                  <a:srgbClr val="202122"/>
                </a:solidFill>
                <a:latin typeface="Arial"/>
                <a:ea typeface="Arial"/>
                <a:cs typeface="Arial"/>
                <a:sym typeface="Arial"/>
              </a:rPr>
              <a:t> de Internet constituyen el mecanismo para la entrega de paquetes de datos provenientes de la </a:t>
            </a:r>
            <a:r>
              <a:rPr lang="es-ES" b="0" i="0" u="sng" strike="noStrike">
                <a:solidFill>
                  <a:srgbClr val="0B0080"/>
                </a:solidFill>
                <a:latin typeface="Arial"/>
                <a:ea typeface="Arial"/>
                <a:cs typeface="Arial"/>
                <a:sym typeface="Arial"/>
                <a:hlinkClick r:id="rId10">
                  <a:extLst>
                    <a:ext uri="{A12FA001-AC4F-418D-AE19-62706E023703}">
                      <ahyp:hlinkClr xmlns:ahyp="http://schemas.microsoft.com/office/drawing/2018/hyperlinkcolor" val="tx"/>
                    </a:ext>
                  </a:extLst>
                </a:hlinkClick>
              </a:rPr>
              <a:t>tarjeta de red</a:t>
            </a:r>
            <a:r>
              <a:rPr lang="es-ES" b="0" i="0">
                <a:solidFill>
                  <a:srgbClr val="202122"/>
                </a:solidFill>
                <a:latin typeface="Arial"/>
                <a:ea typeface="Arial"/>
                <a:cs typeface="Arial"/>
                <a:sym typeface="Arial"/>
              </a:rPr>
              <a:t> a los </a:t>
            </a:r>
            <a:r>
              <a:rPr lang="es-ES" b="0" i="0" u="sng" strike="noStrike">
                <a:solidFill>
                  <a:srgbClr val="0B0080"/>
                </a:solidFill>
                <a:latin typeface="Arial"/>
                <a:ea typeface="Arial"/>
                <a:cs typeface="Arial"/>
                <a:sym typeface="Arial"/>
                <a:hlinkClick r:id="rId5">
                  <a:extLst>
                    <a:ext uri="{A12FA001-AC4F-418D-AE19-62706E023703}">
                      <ahyp:hlinkClr xmlns:ahyp="http://schemas.microsoft.com/office/drawing/2018/hyperlinkcolor" val="tx"/>
                    </a:ext>
                  </a:extLst>
                </a:hlinkClick>
              </a:rPr>
              <a:t>procesos</a:t>
            </a:r>
            <a:r>
              <a:rPr lang="es-ES" b="0" i="0">
                <a:solidFill>
                  <a:srgbClr val="202122"/>
                </a:solidFill>
                <a:latin typeface="Arial"/>
                <a:ea typeface="Arial"/>
                <a:cs typeface="Arial"/>
                <a:sym typeface="Arial"/>
              </a:rPr>
              <a:t> o </a:t>
            </a:r>
            <a:r>
              <a:rPr lang="es-ES" b="0" i="0" u="sng" strike="noStrike">
                <a:solidFill>
                  <a:srgbClr val="0B0080"/>
                </a:solidFill>
                <a:latin typeface="Arial"/>
                <a:ea typeface="Arial"/>
                <a:cs typeface="Arial"/>
                <a:sym typeface="Arial"/>
                <a:hlinkClick r:id="rId11">
                  <a:extLst>
                    <a:ext uri="{A12FA001-AC4F-418D-AE19-62706E023703}">
                      <ahyp:hlinkClr xmlns:ahyp="http://schemas.microsoft.com/office/drawing/2018/hyperlinkcolor" val="tx"/>
                    </a:ext>
                  </a:extLst>
                </a:hlinkClick>
              </a:rPr>
              <a:t>hilos</a:t>
            </a:r>
            <a:r>
              <a:rPr lang="es-ES" b="0" i="0">
                <a:solidFill>
                  <a:srgbClr val="202122"/>
                </a:solidFill>
                <a:latin typeface="Arial"/>
                <a:ea typeface="Arial"/>
                <a:cs typeface="Arial"/>
                <a:sym typeface="Arial"/>
              </a:rPr>
              <a:t> apropiados. Un </a:t>
            </a:r>
            <a:r>
              <a:rPr lang="es-ES" b="0" i="1">
                <a:solidFill>
                  <a:srgbClr val="202122"/>
                </a:solidFill>
                <a:latin typeface="Arial"/>
                <a:ea typeface="Arial"/>
                <a:cs typeface="Arial"/>
                <a:sym typeface="Arial"/>
              </a:rPr>
              <a:t>socket</a:t>
            </a:r>
            <a:r>
              <a:rPr lang="es-ES" b="0" i="0">
                <a:solidFill>
                  <a:srgbClr val="202122"/>
                </a:solidFill>
                <a:latin typeface="Arial"/>
                <a:ea typeface="Arial"/>
                <a:cs typeface="Arial"/>
                <a:sym typeface="Arial"/>
              </a:rPr>
              <a:t> queda definido por un par de </a:t>
            </a:r>
            <a:r>
              <a:rPr lang="es-ES" b="0" i="0" u="sng" strike="noStrike">
                <a:solidFill>
                  <a:srgbClr val="0B0080"/>
                </a:solidFill>
                <a:latin typeface="Arial"/>
                <a:ea typeface="Arial"/>
                <a:cs typeface="Arial"/>
                <a:sym typeface="Arial"/>
                <a:hlinkClick r:id="rId12">
                  <a:extLst>
                    <a:ext uri="{A12FA001-AC4F-418D-AE19-62706E023703}">
                      <ahyp:hlinkClr xmlns:ahyp="http://schemas.microsoft.com/office/drawing/2018/hyperlinkcolor" val="tx"/>
                    </a:ext>
                  </a:extLst>
                </a:hlinkClick>
              </a:rPr>
              <a:t>direcciones IP</a:t>
            </a:r>
            <a:r>
              <a:rPr lang="es-ES" b="0" i="0">
                <a:solidFill>
                  <a:srgbClr val="202122"/>
                </a:solidFill>
                <a:latin typeface="Arial"/>
                <a:ea typeface="Arial"/>
                <a:cs typeface="Arial"/>
                <a:sym typeface="Arial"/>
              </a:rPr>
              <a:t> local y remota, un </a:t>
            </a:r>
            <a:r>
              <a:rPr lang="es-ES" b="0" i="0" u="sng" strike="noStrike">
                <a:solidFill>
                  <a:srgbClr val="0B0080"/>
                </a:solidFill>
                <a:latin typeface="Arial"/>
                <a:ea typeface="Arial"/>
                <a:cs typeface="Arial"/>
                <a:sym typeface="Arial"/>
                <a:hlinkClick r:id="rId13">
                  <a:extLst>
                    <a:ext uri="{A12FA001-AC4F-418D-AE19-62706E023703}">
                      <ahyp:hlinkClr xmlns:ahyp="http://schemas.microsoft.com/office/drawing/2018/hyperlinkcolor" val="tx"/>
                    </a:ext>
                  </a:extLst>
                </a:hlinkClick>
              </a:rPr>
              <a:t>protocolo</a:t>
            </a:r>
            <a:r>
              <a:rPr lang="es-ES" b="0" i="0">
                <a:solidFill>
                  <a:srgbClr val="202122"/>
                </a:solidFill>
                <a:latin typeface="Arial"/>
                <a:ea typeface="Arial"/>
                <a:cs typeface="Arial"/>
                <a:sym typeface="Arial"/>
              </a:rPr>
              <a:t> de transporte y un par de números de </a:t>
            </a:r>
            <a:r>
              <a:rPr lang="es-ES" b="0" i="0" u="sng" strike="noStrike">
                <a:solidFill>
                  <a:srgbClr val="0B0080"/>
                </a:solidFill>
                <a:latin typeface="Arial"/>
                <a:ea typeface="Arial"/>
                <a:cs typeface="Arial"/>
                <a:sym typeface="Arial"/>
                <a:hlinkClick r:id="rId14">
                  <a:extLst>
                    <a:ext uri="{A12FA001-AC4F-418D-AE19-62706E023703}">
                      <ahyp:hlinkClr xmlns:ahyp="http://schemas.microsoft.com/office/drawing/2018/hyperlinkcolor" val="tx"/>
                    </a:ext>
                  </a:extLst>
                </a:hlinkClick>
              </a:rPr>
              <a:t>puerto</a:t>
            </a:r>
            <a:r>
              <a:rPr lang="es-ES" b="0" i="0">
                <a:solidFill>
                  <a:srgbClr val="202122"/>
                </a:solidFill>
                <a:latin typeface="Arial"/>
                <a:ea typeface="Arial"/>
                <a:cs typeface="Arial"/>
                <a:sym typeface="Arial"/>
              </a:rPr>
              <a:t> local y remoto.</a:t>
            </a:r>
            <a:endParaRPr/>
          </a:p>
          <a:p>
            <a:pPr marL="0" lvl="0" indent="0" algn="l" rtl="0">
              <a:spcBef>
                <a:spcPts val="0"/>
              </a:spcBef>
              <a:spcAft>
                <a:spcPts val="0"/>
              </a:spcAft>
              <a:buNone/>
            </a:pPr>
            <a:r>
              <a:rPr lang="es-ES" b="1" i="0">
                <a:solidFill>
                  <a:srgbClr val="202124"/>
                </a:solidFill>
                <a:latin typeface="arial"/>
                <a:ea typeface="arial"/>
                <a:cs typeface="arial"/>
                <a:sym typeface="arial"/>
              </a:rPr>
              <a:t>DHCP</a:t>
            </a:r>
            <a:r>
              <a:rPr lang="es-ES" b="0" i="0">
                <a:solidFill>
                  <a:srgbClr val="202124"/>
                </a:solidFill>
                <a:latin typeface="arial"/>
                <a:ea typeface="arial"/>
                <a:cs typeface="arial"/>
                <a:sym typeface="arial"/>
              </a:rPr>
              <a:t> (Dynamic Host Configuration Protocol) es un conjunto de reglas para dar direcciones IP y opciones de configuración a ordenadores y estaciones de trabajo en una red. ... La dirección IP puede ser asignada estáticamente (manualmente) por el administrador o asignada dinámicamente por un servidor central.</a:t>
            </a:r>
            <a:endParaRPr b="0" i="0">
              <a:solidFill>
                <a:srgbClr val="202122"/>
              </a:solidFill>
              <a:latin typeface="Arial"/>
              <a:ea typeface="Arial"/>
              <a:cs typeface="Arial"/>
              <a:sym typeface="Arial"/>
            </a:endParaRPr>
          </a:p>
          <a:p>
            <a:pPr marL="0" lvl="0" indent="0" algn="l" rtl="0">
              <a:spcBef>
                <a:spcPts val="0"/>
              </a:spcBef>
              <a:spcAft>
                <a:spcPts val="0"/>
              </a:spcAft>
              <a:buNone/>
            </a:pPr>
            <a:endParaRPr/>
          </a:p>
        </p:txBody>
      </p:sp>
      <p:sp>
        <p:nvSpPr>
          <p:cNvPr id="525" name="Google Shape;525;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7" name="Google Shape;537;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2" name="Google Shape;55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3" name="Google Shape;583;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0" name="Google Shape;59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2" name="Google Shape;612;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Cloud computing </a:t>
            </a:r>
            <a:r>
              <a:rPr lang="es-ES" b="0" i="0">
                <a:solidFill>
                  <a:srgbClr val="222222"/>
                </a:solidFill>
                <a:latin typeface="Arial"/>
                <a:ea typeface="Arial"/>
                <a:cs typeface="Arial"/>
                <a:sym typeface="Arial"/>
              </a:rPr>
              <a:t>En otras palabras, la definición de cloud computing es ofrecer servicios a través de la conectividad y gran escala de Internet.</a:t>
            </a:r>
            <a:endParaRPr/>
          </a:p>
          <a:p>
            <a:pPr marL="0" lvl="0" indent="0" algn="l" rtl="0">
              <a:spcBef>
                <a:spcPts val="0"/>
              </a:spcBef>
              <a:spcAft>
                <a:spcPts val="0"/>
              </a:spcAft>
              <a:buNone/>
            </a:pPr>
            <a:r>
              <a:rPr lang="es-ES" b="0" i="0">
                <a:solidFill>
                  <a:srgbClr val="222222"/>
                </a:solidFill>
                <a:latin typeface="Arial"/>
                <a:ea typeface="Arial"/>
                <a:cs typeface="Arial"/>
                <a:sym typeface="Arial"/>
              </a:rPr>
              <a:t>Motivos para usar una intranet de documentos </a:t>
            </a:r>
            <a:r>
              <a:rPr lang="es-ES" b="1" i="0">
                <a:latin typeface="Arial"/>
                <a:ea typeface="Arial"/>
                <a:cs typeface="Arial"/>
                <a:sym typeface="Arial"/>
              </a:rPr>
              <a:t>Los motivos para utilizar una Intranet de documentos en la empresa:</a:t>
            </a:r>
            <a:endParaRPr/>
          </a:p>
          <a:p>
            <a:pPr marL="0" lvl="0" indent="-76200" algn="l" rtl="0">
              <a:spcBef>
                <a:spcPts val="0"/>
              </a:spcBef>
              <a:spcAft>
                <a:spcPts val="0"/>
              </a:spcAft>
              <a:buClr>
                <a:schemeClr val="dk1"/>
              </a:buClr>
              <a:buSzPts val="1200"/>
              <a:buFont typeface="Arial"/>
              <a:buChar char="•"/>
            </a:pPr>
            <a:r>
              <a:rPr lang="es-ES" b="0" i="0">
                <a:latin typeface="Arial"/>
                <a:ea typeface="Arial"/>
                <a:cs typeface="Arial"/>
                <a:sym typeface="Arial"/>
              </a:rPr>
              <a:t>Pérdida de tiempo para localizar información</a:t>
            </a:r>
            <a:endParaRPr/>
          </a:p>
          <a:p>
            <a:pPr marL="0" lvl="0" indent="-76200" algn="l" rtl="0">
              <a:spcBef>
                <a:spcPts val="0"/>
              </a:spcBef>
              <a:spcAft>
                <a:spcPts val="0"/>
              </a:spcAft>
              <a:buClr>
                <a:schemeClr val="dk1"/>
              </a:buClr>
              <a:buSzPts val="1200"/>
              <a:buFont typeface="Arial"/>
              <a:buChar char="•"/>
            </a:pPr>
            <a:r>
              <a:rPr lang="es-ES" b="0" i="0">
                <a:latin typeface="Arial"/>
                <a:ea typeface="Arial"/>
                <a:cs typeface="Arial"/>
                <a:sym typeface="Arial"/>
              </a:rPr>
              <a:t>Dificultad para trabajar fácilmente desde cualquier lugar</a:t>
            </a:r>
            <a:endParaRPr/>
          </a:p>
          <a:p>
            <a:pPr marL="0" lvl="0" indent="-76200" algn="l" rtl="0">
              <a:spcBef>
                <a:spcPts val="0"/>
              </a:spcBef>
              <a:spcAft>
                <a:spcPts val="0"/>
              </a:spcAft>
              <a:buClr>
                <a:schemeClr val="dk1"/>
              </a:buClr>
              <a:buSzPts val="1200"/>
              <a:buFont typeface="Arial"/>
              <a:buChar char="•"/>
            </a:pPr>
            <a:r>
              <a:rPr lang="es-ES" b="0" i="0">
                <a:latin typeface="Arial"/>
                <a:ea typeface="Arial"/>
                <a:cs typeface="Arial"/>
                <a:sym typeface="Arial"/>
              </a:rPr>
              <a:t>El conocimiento se pierde disperso entre empleados y ex-empleados</a:t>
            </a:r>
            <a:endParaRPr b="0" i="0">
              <a:latin typeface="Arial"/>
              <a:ea typeface="Arial"/>
              <a:cs typeface="Arial"/>
              <a:sym typeface="Arial"/>
            </a:endParaRPr>
          </a:p>
          <a:p>
            <a:pPr marL="0" lvl="0" indent="-76200" algn="l" rtl="0">
              <a:spcBef>
                <a:spcPts val="0"/>
              </a:spcBef>
              <a:spcAft>
                <a:spcPts val="0"/>
              </a:spcAft>
              <a:buClr>
                <a:schemeClr val="dk1"/>
              </a:buClr>
              <a:buSzPts val="1200"/>
              <a:buFont typeface="Arial"/>
              <a:buChar char="•"/>
            </a:pPr>
            <a:r>
              <a:rPr lang="es-ES" b="0" i="0">
                <a:latin typeface="Arial"/>
                <a:ea typeface="Arial"/>
                <a:cs typeface="Arial"/>
                <a:sym typeface="Arial"/>
              </a:rPr>
              <a:t>Excesivo uso del correo electrónico</a:t>
            </a:r>
            <a:endParaRPr/>
          </a:p>
          <a:p>
            <a:pPr marL="0" lvl="0" indent="-76200" algn="l" rtl="0">
              <a:spcBef>
                <a:spcPts val="0"/>
              </a:spcBef>
              <a:spcAft>
                <a:spcPts val="0"/>
              </a:spcAft>
              <a:buClr>
                <a:schemeClr val="dk1"/>
              </a:buClr>
              <a:buSzPts val="1200"/>
              <a:buFont typeface="Arial"/>
              <a:buChar char="•"/>
            </a:pPr>
            <a:r>
              <a:rPr lang="es-ES" b="0" i="0">
                <a:latin typeface="Arial"/>
                <a:ea typeface="Arial"/>
                <a:cs typeface="Arial"/>
                <a:sym typeface="Arial"/>
              </a:rPr>
              <a:t>Falta de automatización de procesos de negocio</a:t>
            </a:r>
            <a:endParaRPr/>
          </a:p>
          <a:p>
            <a:pPr marL="0" lvl="0" indent="-76200" algn="l" rtl="0">
              <a:spcBef>
                <a:spcPts val="0"/>
              </a:spcBef>
              <a:spcAft>
                <a:spcPts val="0"/>
              </a:spcAft>
              <a:buClr>
                <a:schemeClr val="dk1"/>
              </a:buClr>
              <a:buSzPts val="1200"/>
              <a:buFont typeface="Arial"/>
              <a:buChar char="•"/>
            </a:pPr>
            <a:r>
              <a:rPr lang="es-ES" b="0" i="0">
                <a:latin typeface="Arial"/>
                <a:ea typeface="Arial"/>
                <a:cs typeface="Arial"/>
                <a:sym typeface="Arial"/>
              </a:rPr>
              <a:t>Duplicidad de archivos y falta de control</a:t>
            </a:r>
            <a:endParaRPr/>
          </a:p>
          <a:p>
            <a:pPr marL="0" lvl="0" indent="0" algn="l" rtl="0">
              <a:spcBef>
                <a:spcPts val="0"/>
              </a:spcBef>
              <a:spcAft>
                <a:spcPts val="0"/>
              </a:spcAft>
              <a:buNone/>
            </a:pPr>
            <a:r>
              <a:rPr lang="es-ES" b="0" i="0">
                <a:latin typeface="Arial"/>
                <a:ea typeface="Arial"/>
                <a:cs typeface="Arial"/>
                <a:sym typeface="Arial"/>
              </a:rPr>
              <a:t>Las motivaciones para implantar una Intranet son muy p</a:t>
            </a:r>
            <a:endParaRPr/>
          </a:p>
          <a:p>
            <a:pPr marL="0" lvl="0" indent="0" algn="l" rtl="0">
              <a:spcBef>
                <a:spcPts val="0"/>
              </a:spcBef>
              <a:spcAft>
                <a:spcPts val="0"/>
              </a:spcAft>
              <a:buNone/>
            </a:pPr>
            <a:endParaRPr/>
          </a:p>
        </p:txBody>
      </p:sp>
      <p:sp>
        <p:nvSpPr>
          <p:cNvPr id="613" name="Google Shape;613;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5" name="Google Shape;625;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0" i="0">
                <a:solidFill>
                  <a:srgbClr val="3C3C3C"/>
                </a:solidFill>
                <a:latin typeface="Open Sans"/>
                <a:ea typeface="Open Sans"/>
                <a:cs typeface="Open Sans"/>
                <a:sym typeface="Open Sans"/>
              </a:rPr>
              <a:t>Las </a:t>
            </a:r>
            <a:r>
              <a:rPr lang="es-ES" b="1" i="0">
                <a:solidFill>
                  <a:srgbClr val="3C3C3C"/>
                </a:solidFill>
                <a:latin typeface="Open Sans"/>
                <a:ea typeface="Open Sans"/>
                <a:cs typeface="Open Sans"/>
                <a:sym typeface="Open Sans"/>
              </a:rPr>
              <a:t>redes virtuales privadas</a:t>
            </a:r>
            <a:r>
              <a:rPr lang="es-ES" b="0" i="0">
                <a:solidFill>
                  <a:srgbClr val="3C3C3C"/>
                </a:solidFill>
                <a:latin typeface="Open Sans"/>
                <a:ea typeface="Open Sans"/>
                <a:cs typeface="Open Sans"/>
                <a:sym typeface="Open Sans"/>
              </a:rPr>
              <a:t> o VPN también garantizan una elevada protección. Una </a:t>
            </a:r>
            <a:r>
              <a:rPr lang="es-ES" b="0" i="0" u="sng">
                <a:solidFill>
                  <a:srgbClr val="144C96"/>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VPN (Virtual Private Network)</a:t>
            </a:r>
            <a:r>
              <a:rPr lang="es-ES" b="0" i="0">
                <a:solidFill>
                  <a:srgbClr val="3C3C3C"/>
                </a:solidFill>
                <a:latin typeface="Open Sans"/>
                <a:ea typeface="Open Sans"/>
                <a:cs typeface="Open Sans"/>
                <a:sym typeface="Open Sans"/>
              </a:rPr>
              <a:t> es una red privada de comunicación en la cual la conexión se realiza por medio de un túnel IP virtual que permite a los integrantes de la red acceder a la intranet de la empresa. Para salvaguardar la integridad de los datos cuando se utilizan conexiones abiertas, la información se cifra (tunneling), de modo que resulte invisible para otros usuarios de la red pública.</a:t>
            </a:r>
            <a:endParaRPr/>
          </a:p>
          <a:p>
            <a:pPr marL="0" lvl="0" indent="0" algn="l" rtl="0">
              <a:spcBef>
                <a:spcPts val="0"/>
              </a:spcBef>
              <a:spcAft>
                <a:spcPts val="0"/>
              </a:spcAft>
              <a:buNone/>
            </a:pPr>
            <a:r>
              <a:rPr lang="es-ES" b="0" i="0">
                <a:solidFill>
                  <a:srgbClr val="3C3C3C"/>
                </a:solidFill>
                <a:latin typeface="Open Sans"/>
                <a:ea typeface="Open Sans"/>
                <a:cs typeface="Open Sans"/>
                <a:sym typeface="Open Sans"/>
              </a:rPr>
              <a:t>Para más información https://www.ionos.es/startupguide/productividad/extranet/</a:t>
            </a:r>
            <a:endParaRPr/>
          </a:p>
          <a:p>
            <a:pPr marL="0" lvl="0" indent="0" algn="l" rtl="0">
              <a:spcBef>
                <a:spcPts val="0"/>
              </a:spcBef>
              <a:spcAft>
                <a:spcPts val="0"/>
              </a:spcAft>
              <a:buNone/>
            </a:pPr>
            <a:endParaRPr/>
          </a:p>
        </p:txBody>
      </p:sp>
      <p:sp>
        <p:nvSpPr>
          <p:cNvPr id="626" name="Google Shape;626;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3" name="Google Shape;633;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9" name="Google Shape;639;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Como crear una vpn en Windows 10 https://www.profesionalreview.com/2018/11/23/crear-vpn-windows-10/</a:t>
            </a:r>
            <a:endParaRPr/>
          </a:p>
          <a:p>
            <a:pPr marL="0" lvl="0" indent="0" algn="l" rtl="0">
              <a:spcBef>
                <a:spcPts val="0"/>
              </a:spcBef>
              <a:spcAft>
                <a:spcPts val="0"/>
              </a:spcAft>
              <a:buNone/>
            </a:pPr>
            <a:endParaRPr/>
          </a:p>
        </p:txBody>
      </p:sp>
      <p:sp>
        <p:nvSpPr>
          <p:cNvPr id="640" name="Google Shape;640;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6" name="Google Shape;646;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4" name="Google Shape;664;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8" name="Google Shape;678;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6" name="Google Shape;686;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0" i="0">
                <a:solidFill>
                  <a:srgbClr val="202124"/>
                </a:solidFill>
                <a:latin typeface="arial"/>
                <a:ea typeface="arial"/>
                <a:cs typeface="arial"/>
                <a:sym typeface="arial"/>
              </a:rPr>
              <a:t>Un </a:t>
            </a:r>
            <a:r>
              <a:rPr lang="es-ES" b="1" i="0">
                <a:solidFill>
                  <a:srgbClr val="202124"/>
                </a:solidFill>
                <a:latin typeface="arial"/>
                <a:ea typeface="arial"/>
                <a:cs typeface="arial"/>
                <a:sym typeface="arial"/>
              </a:rPr>
              <a:t>ataque de diccionario</a:t>
            </a:r>
            <a:r>
              <a:rPr lang="es-ES" b="0" i="0">
                <a:solidFill>
                  <a:srgbClr val="202124"/>
                </a:solidFill>
                <a:latin typeface="arial"/>
                <a:ea typeface="arial"/>
                <a:cs typeface="arial"/>
                <a:sym typeface="arial"/>
              </a:rPr>
              <a:t> es un método de cracking que consiste en intentar averiguar una contraseña probando todas las palabras del </a:t>
            </a:r>
            <a:r>
              <a:rPr lang="es-ES" b="1" i="0">
                <a:solidFill>
                  <a:srgbClr val="202124"/>
                </a:solidFill>
                <a:latin typeface="arial"/>
                <a:ea typeface="arial"/>
                <a:cs typeface="arial"/>
                <a:sym typeface="arial"/>
              </a:rPr>
              <a:t>diccionario</a:t>
            </a:r>
            <a:r>
              <a:rPr lang="es-ES" b="0" i="0">
                <a:solidFill>
                  <a:srgbClr val="202124"/>
                </a:solidFill>
                <a:latin typeface="arial"/>
                <a:ea typeface="arial"/>
                <a:cs typeface="arial"/>
                <a:sym typeface="arial"/>
              </a:rPr>
              <a:t>.</a:t>
            </a:r>
            <a:endParaRPr/>
          </a:p>
        </p:txBody>
      </p:sp>
      <p:sp>
        <p:nvSpPr>
          <p:cNvPr id="717" name="Google Shape;717;p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77</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5" name="Google Shape;725;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2" name="Google Shape;732;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0" name="Google Shape;750;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b8a1ea7311_2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b8a1ea7311_2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7" name="Google Shape;757;gb8a1ea7311_2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ES"/>
              <a:t>82</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3" name="Google Shape;763;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9" name="Google Shape;769;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5" name="Google Shape;775;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1" name="Google Shape;781;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7" name="Google Shape;787;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5" name="Google Shape;795;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1" name="Google Shape;801;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9" name="Google Shape;809;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8" name="Google Shape;818;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6" name="Google Shape;846;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3" name="Google Shape;853;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0" name="Google Shape;860;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7" name="Google Shape;867;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p9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4" name="Google Shape;874;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1" name="Google Shape;881;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p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8" name="Google Shape;888;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5" name="Google Shape;895;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9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1" name="Google Shape;901;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10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8" name="Google Shape;908;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10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6" name="Google Shape;916;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10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3" name="Google Shape;923;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8" name="Google Shape;928;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4" name="Google Shape;934;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p1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1" name="Google Shape;941;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10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6" name="Google Shape;946;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p10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1" i="0">
                <a:solidFill>
                  <a:srgbClr val="202124"/>
                </a:solidFill>
                <a:latin typeface="arial"/>
                <a:ea typeface="arial"/>
                <a:cs typeface="arial"/>
                <a:sym typeface="arial"/>
              </a:rPr>
              <a:t>La diferencia</a:t>
            </a:r>
            <a:r>
              <a:rPr lang="es-ES" b="0" i="0">
                <a:solidFill>
                  <a:srgbClr val="202124"/>
                </a:solidFill>
                <a:latin typeface="arial"/>
                <a:ea typeface="arial"/>
                <a:cs typeface="arial"/>
                <a:sym typeface="arial"/>
              </a:rPr>
              <a:t> entre </a:t>
            </a:r>
            <a:r>
              <a:rPr lang="es-ES" b="1" i="0">
                <a:solidFill>
                  <a:srgbClr val="202124"/>
                </a:solidFill>
                <a:latin typeface="arial"/>
                <a:ea typeface="arial"/>
                <a:cs typeface="arial"/>
                <a:sym typeface="arial"/>
              </a:rPr>
              <a:t>DDoS</a:t>
            </a:r>
            <a:r>
              <a:rPr lang="es-ES" b="0" i="0">
                <a:solidFill>
                  <a:srgbClr val="202124"/>
                </a:solidFill>
                <a:latin typeface="arial"/>
                <a:ea typeface="arial"/>
                <a:cs typeface="arial"/>
                <a:sym typeface="arial"/>
              </a:rPr>
              <a:t> y </a:t>
            </a:r>
            <a:r>
              <a:rPr lang="es-ES" b="1" i="0">
                <a:solidFill>
                  <a:srgbClr val="202124"/>
                </a:solidFill>
                <a:latin typeface="arial"/>
                <a:ea typeface="arial"/>
                <a:cs typeface="arial"/>
                <a:sym typeface="arial"/>
              </a:rPr>
              <a:t>DoS</a:t>
            </a:r>
            <a:r>
              <a:rPr lang="es-ES" b="0" i="0">
                <a:solidFill>
                  <a:srgbClr val="202124"/>
                </a:solidFill>
                <a:latin typeface="arial"/>
                <a:ea typeface="arial"/>
                <a:cs typeface="arial"/>
                <a:sym typeface="arial"/>
              </a:rPr>
              <a:t> se encuentra en que en un </a:t>
            </a:r>
            <a:r>
              <a:rPr lang="es-ES" b="1" i="0">
                <a:solidFill>
                  <a:srgbClr val="202124"/>
                </a:solidFill>
                <a:latin typeface="arial"/>
                <a:ea typeface="arial"/>
                <a:cs typeface="arial"/>
                <a:sym typeface="arial"/>
              </a:rPr>
              <a:t>ataque DoS</a:t>
            </a:r>
            <a:r>
              <a:rPr lang="es-ES" b="0" i="0">
                <a:solidFill>
                  <a:srgbClr val="202124"/>
                </a:solidFill>
                <a:latin typeface="arial"/>
                <a:ea typeface="arial"/>
                <a:cs typeface="arial"/>
                <a:sym typeface="arial"/>
              </a:rPr>
              <a:t> el que realiza todas las peticiones es un único ordenador; en cambio, en un </a:t>
            </a:r>
            <a:r>
              <a:rPr lang="es-ES" b="1" i="0">
                <a:solidFill>
                  <a:srgbClr val="202124"/>
                </a:solidFill>
                <a:latin typeface="arial"/>
                <a:ea typeface="arial"/>
                <a:cs typeface="arial"/>
                <a:sym typeface="arial"/>
              </a:rPr>
              <a:t>ataque DDoS</a:t>
            </a:r>
            <a:r>
              <a:rPr lang="es-ES" b="0" i="0">
                <a:solidFill>
                  <a:srgbClr val="202124"/>
                </a:solidFill>
                <a:latin typeface="arial"/>
                <a:ea typeface="arial"/>
                <a:cs typeface="arial"/>
                <a:sym typeface="arial"/>
              </a:rPr>
              <a:t>, son muchas las máquinas que atacan simultáneamente al mismo servidor para dejarlo inoperativo.</a:t>
            </a:r>
            <a:endParaRPr/>
          </a:p>
          <a:p>
            <a:pPr marL="0" lvl="0" indent="0" algn="l" rtl="0">
              <a:spcBef>
                <a:spcPts val="0"/>
              </a:spcBef>
              <a:spcAft>
                <a:spcPts val="0"/>
              </a:spcAft>
              <a:buNone/>
            </a:pPr>
            <a:br>
              <a:rPr lang="es-ES" b="0" i="0">
                <a:solidFill>
                  <a:srgbClr val="202124"/>
                </a:solidFill>
                <a:latin typeface="arial"/>
                <a:ea typeface="arial"/>
                <a:cs typeface="arial"/>
                <a:sym typeface="arial"/>
              </a:rPr>
            </a:br>
            <a:endParaRPr/>
          </a:p>
        </p:txBody>
      </p:sp>
      <p:sp>
        <p:nvSpPr>
          <p:cNvPr id="962" name="Google Shape;962;p10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109</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p10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8" name="Google Shape;968;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10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4" name="Google Shape;974;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1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1" name="Google Shape;981;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1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8" name="Google Shape;988;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1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6" name="Google Shape;996;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p1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4" name="Google Shape;1004;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p1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0" name="Google Shape;1010;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1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4" name="Google Shape;1024;p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1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6" name="Google Shape;1036;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p1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1" name="Google Shape;1041;p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1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6" name="Google Shape;1046;p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1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3" name="Google Shape;1053;p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p1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0" i="0">
                <a:solidFill>
                  <a:srgbClr val="4D5156"/>
                </a:solidFill>
                <a:latin typeface="arial"/>
                <a:ea typeface="arial"/>
                <a:cs typeface="arial"/>
                <a:sym typeface="arial"/>
              </a:rPr>
              <a:t>Un </a:t>
            </a:r>
            <a:r>
              <a:rPr lang="es-ES" b="1" i="0">
                <a:solidFill>
                  <a:srgbClr val="5F6368"/>
                </a:solidFill>
                <a:latin typeface="arial"/>
                <a:ea typeface="arial"/>
                <a:cs typeface="arial"/>
                <a:sym typeface="arial"/>
              </a:rPr>
              <a:t>sistema</a:t>
            </a:r>
            <a:r>
              <a:rPr lang="es-ES" b="0" i="0">
                <a:solidFill>
                  <a:srgbClr val="4D5156"/>
                </a:solidFill>
                <a:latin typeface="arial"/>
                <a:ea typeface="arial"/>
                <a:cs typeface="arial"/>
                <a:sym typeface="arial"/>
              </a:rPr>
              <a:t> de detección de intrusiones (o </a:t>
            </a:r>
            <a:r>
              <a:rPr lang="es-ES" b="1" i="0">
                <a:solidFill>
                  <a:srgbClr val="5F6368"/>
                </a:solidFill>
                <a:latin typeface="arial"/>
                <a:ea typeface="arial"/>
                <a:cs typeface="arial"/>
                <a:sym typeface="arial"/>
              </a:rPr>
              <a:t>IDS</a:t>
            </a:r>
            <a:r>
              <a:rPr lang="es-ES" b="0" i="0">
                <a:solidFill>
                  <a:srgbClr val="4D5156"/>
                </a:solidFill>
                <a:latin typeface="arial"/>
                <a:ea typeface="arial"/>
                <a:cs typeface="arial"/>
                <a:sym typeface="arial"/>
              </a:rPr>
              <a:t> de sus siglas en inglés </a:t>
            </a:r>
            <a:r>
              <a:rPr lang="es-ES" b="1" i="0">
                <a:solidFill>
                  <a:srgbClr val="5F6368"/>
                </a:solidFill>
                <a:latin typeface="arial"/>
                <a:ea typeface="arial"/>
                <a:cs typeface="arial"/>
                <a:sym typeface="arial"/>
              </a:rPr>
              <a:t>Intrusion Detection</a:t>
            </a:r>
            <a:r>
              <a:rPr lang="es-ES" b="0" i="0">
                <a:solidFill>
                  <a:srgbClr val="4D5156"/>
                </a:solidFill>
                <a:latin typeface="arial"/>
                <a:ea typeface="arial"/>
                <a:cs typeface="arial"/>
                <a:sym typeface="arial"/>
              </a:rPr>
              <a:t> System) es un programa de detección de INTRUSOS NO AUTORIZADOS</a:t>
            </a:r>
            <a:endParaRPr/>
          </a:p>
        </p:txBody>
      </p:sp>
      <p:sp>
        <p:nvSpPr>
          <p:cNvPr id="1061" name="Google Shape;1061;p1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122</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p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p1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0" i="0">
                <a:solidFill>
                  <a:srgbClr val="4D5156"/>
                </a:solidFill>
                <a:latin typeface="arial"/>
                <a:ea typeface="arial"/>
                <a:cs typeface="arial"/>
                <a:sym typeface="arial"/>
              </a:rPr>
              <a:t>Un </a:t>
            </a:r>
            <a:r>
              <a:rPr lang="es-ES" b="1" i="0">
                <a:solidFill>
                  <a:srgbClr val="5F6368"/>
                </a:solidFill>
                <a:latin typeface="arial"/>
                <a:ea typeface="arial"/>
                <a:cs typeface="arial"/>
                <a:sym typeface="arial"/>
              </a:rPr>
              <a:t>sistema</a:t>
            </a:r>
            <a:r>
              <a:rPr lang="es-ES" b="0" i="0">
                <a:solidFill>
                  <a:srgbClr val="4D5156"/>
                </a:solidFill>
                <a:latin typeface="arial"/>
                <a:ea typeface="arial"/>
                <a:cs typeface="arial"/>
                <a:sym typeface="arial"/>
              </a:rPr>
              <a:t> de detección de intrusiones (o </a:t>
            </a:r>
            <a:r>
              <a:rPr lang="es-ES" b="1" i="0">
                <a:solidFill>
                  <a:srgbClr val="5F6368"/>
                </a:solidFill>
                <a:latin typeface="arial"/>
                <a:ea typeface="arial"/>
                <a:cs typeface="arial"/>
                <a:sym typeface="arial"/>
              </a:rPr>
              <a:t>IDS</a:t>
            </a:r>
            <a:r>
              <a:rPr lang="es-ES" b="0" i="0">
                <a:solidFill>
                  <a:srgbClr val="4D5156"/>
                </a:solidFill>
                <a:latin typeface="arial"/>
                <a:ea typeface="arial"/>
                <a:cs typeface="arial"/>
                <a:sym typeface="arial"/>
              </a:rPr>
              <a:t> de sus siglas en inglés </a:t>
            </a:r>
            <a:r>
              <a:rPr lang="es-ES" b="1" i="0">
                <a:solidFill>
                  <a:srgbClr val="5F6368"/>
                </a:solidFill>
                <a:latin typeface="arial"/>
                <a:ea typeface="arial"/>
                <a:cs typeface="arial"/>
                <a:sym typeface="arial"/>
              </a:rPr>
              <a:t>Intrusion Detection</a:t>
            </a:r>
            <a:r>
              <a:rPr lang="es-ES" b="0" i="0">
                <a:solidFill>
                  <a:srgbClr val="4D5156"/>
                </a:solidFill>
                <a:latin typeface="arial"/>
                <a:ea typeface="arial"/>
                <a:cs typeface="arial"/>
                <a:sym typeface="arial"/>
              </a:rPr>
              <a:t> System) es un programa de detección de INTRUSOS NO AUTORIZADOS</a:t>
            </a:r>
            <a:endParaRPr/>
          </a:p>
        </p:txBody>
      </p:sp>
      <p:sp>
        <p:nvSpPr>
          <p:cNvPr id="1074" name="Google Shape;1074;p1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123</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p1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b="0" i="0">
                <a:solidFill>
                  <a:srgbClr val="4D5156"/>
                </a:solidFill>
                <a:latin typeface="arial"/>
                <a:ea typeface="arial"/>
                <a:cs typeface="arial"/>
                <a:sym typeface="arial"/>
              </a:rPr>
              <a:t>Un </a:t>
            </a:r>
            <a:r>
              <a:rPr lang="es-ES" b="1" i="0">
                <a:solidFill>
                  <a:srgbClr val="5F6368"/>
                </a:solidFill>
                <a:latin typeface="arial"/>
                <a:ea typeface="arial"/>
                <a:cs typeface="arial"/>
                <a:sym typeface="arial"/>
              </a:rPr>
              <a:t>sistema</a:t>
            </a:r>
            <a:r>
              <a:rPr lang="es-ES" b="0" i="0">
                <a:solidFill>
                  <a:srgbClr val="4D5156"/>
                </a:solidFill>
                <a:latin typeface="arial"/>
                <a:ea typeface="arial"/>
                <a:cs typeface="arial"/>
                <a:sym typeface="arial"/>
              </a:rPr>
              <a:t> de detección de intrusiones (o </a:t>
            </a:r>
            <a:r>
              <a:rPr lang="es-ES" b="1" i="0">
                <a:solidFill>
                  <a:srgbClr val="5F6368"/>
                </a:solidFill>
                <a:latin typeface="arial"/>
                <a:ea typeface="arial"/>
                <a:cs typeface="arial"/>
                <a:sym typeface="arial"/>
              </a:rPr>
              <a:t>IDS</a:t>
            </a:r>
            <a:r>
              <a:rPr lang="es-ES" b="0" i="0">
                <a:solidFill>
                  <a:srgbClr val="4D5156"/>
                </a:solidFill>
                <a:latin typeface="arial"/>
                <a:ea typeface="arial"/>
                <a:cs typeface="arial"/>
                <a:sym typeface="arial"/>
              </a:rPr>
              <a:t> de sus siglas en inglés </a:t>
            </a:r>
            <a:r>
              <a:rPr lang="es-ES" b="1" i="0">
                <a:solidFill>
                  <a:srgbClr val="5F6368"/>
                </a:solidFill>
                <a:latin typeface="arial"/>
                <a:ea typeface="arial"/>
                <a:cs typeface="arial"/>
                <a:sym typeface="arial"/>
              </a:rPr>
              <a:t>Intrusion Detection</a:t>
            </a:r>
            <a:r>
              <a:rPr lang="es-ES" b="0" i="0">
                <a:solidFill>
                  <a:srgbClr val="4D5156"/>
                </a:solidFill>
                <a:latin typeface="arial"/>
                <a:ea typeface="arial"/>
                <a:cs typeface="arial"/>
                <a:sym typeface="arial"/>
              </a:rPr>
              <a:t> System) es un programa de detección de INTRUSOS NO AUTORIZADOS</a:t>
            </a:r>
            <a:endParaRPr/>
          </a:p>
        </p:txBody>
      </p:sp>
      <p:sp>
        <p:nvSpPr>
          <p:cNvPr id="1087" name="Google Shape;1087;p1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124</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1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9" name="Google Shape;1099;p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p1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6" name="Google Shape;1106;p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p1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2" name="Google Shape;1112;p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p1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7" name="Google Shape;1117;p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1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2" name="Google Shape;1122;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1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1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1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3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1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1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1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1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1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1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37"/>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1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1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mt="29000"/>
          </a:blip>
          <a:stretch>
            <a:fillRect/>
          </a:stretch>
        </a:blipFill>
        <a:effectLst/>
      </p:bgPr>
    </p:bg>
    <p:spTree>
      <p:nvGrpSpPr>
        <p:cNvPr id="1" name="Shape 9"/>
        <p:cNvGrpSpPr/>
        <p:nvPr/>
      </p:nvGrpSpPr>
      <p:grpSpPr>
        <a:xfrm>
          <a:off x="0" y="0"/>
          <a:ext cx="0" cy="0"/>
          <a:chOff x="0" y="0"/>
          <a:chExt cx="0" cy="0"/>
        </a:xfrm>
      </p:grpSpPr>
      <p:sp>
        <p:nvSpPr>
          <p:cNvPr id="10" name="Google Shape;10;p1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s.wikipedia.org/wiki/Seguridad_inform%C3%A1tica"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osi.es/es/actualidad/blog/2019/12/04/sabias-que-los-ataques-de-ingenieria-social-suponen-el-93-de-las-brecha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es.wikipedia.org/wiki/Malware"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hyperlink" Target="https://es.wikipedia.org/wiki/Redes_inform%C3%A1ticas" TargetMode="External"/><Relationship Id="rId13" Type="http://schemas.openxmlformats.org/officeDocument/2006/relationships/hyperlink" Target="https://es.wikipedia.org/wiki/Sistema_operativo" TargetMode="External"/><Relationship Id="rId3" Type="http://schemas.openxmlformats.org/officeDocument/2006/relationships/hyperlink" Target="https://es.wikipedia.org/wiki/Virus_inform%C3%A1tico#cite_note-1" TargetMode="External"/><Relationship Id="rId7" Type="http://schemas.openxmlformats.org/officeDocument/2006/relationships/hyperlink" Target="https://es.wikipedia.org/wiki/Datos" TargetMode="External"/><Relationship Id="rId12" Type="http://schemas.openxmlformats.org/officeDocument/2006/relationships/hyperlink" Target="https://es.wikipedia.org/w/index.php?title=Ejecutar&amp;action=edit&amp;redlink=1"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s://es.wikipedia.org/wiki/C%C3%B3digo_objeto" TargetMode="External"/><Relationship Id="rId11" Type="http://schemas.openxmlformats.org/officeDocument/2006/relationships/hyperlink" Target="https://es.wikipedia.org/wiki/Memoria_RAM" TargetMode="External"/><Relationship Id="rId5" Type="http://schemas.openxmlformats.org/officeDocument/2006/relationships/hyperlink" Target="https://es.wikipedia.org/wiki/Ejecutable" TargetMode="External"/><Relationship Id="rId15" Type="http://schemas.openxmlformats.org/officeDocument/2006/relationships/image" Target="../media/image21.jpg"/><Relationship Id="rId10" Type="http://schemas.openxmlformats.org/officeDocument/2006/relationships/hyperlink" Target="https://es.wikipedia.org/wiki/Usuario" TargetMode="External"/><Relationship Id="rId4" Type="http://schemas.openxmlformats.org/officeDocument/2006/relationships/hyperlink" Target="https://es.wikipedia.org/wiki/Software" TargetMode="External"/><Relationship Id="rId9" Type="http://schemas.openxmlformats.org/officeDocument/2006/relationships/hyperlink" Target="https://es.wikipedia.org/wiki/Programa_inform%C3%A1tico" TargetMode="External"/><Relationship Id="rId14" Type="http://schemas.openxmlformats.org/officeDocument/2006/relationships/hyperlink" Target="https://es.wikipedia.org/wiki/Disco_duro"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vxheaven.org/lib/arb01.html"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4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netspotapp.com/es/best-wifi-scanner-apps-windows.html#NetSpot" TargetMode="External"/><Relationship Id="rId7" Type="http://schemas.openxmlformats.org/officeDocument/2006/relationships/hyperlink" Target="https://www.netspotapp.com/es/best-wifi-scanner-apps-windows.html#WiFi_Scanner"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hyperlink" Target="https://www.netspotapp.com/es/best-wifi-scanner-apps-windows.html#WifiInfoView" TargetMode="External"/><Relationship Id="rId5" Type="http://schemas.openxmlformats.org/officeDocument/2006/relationships/hyperlink" Target="https://www.netspotapp.com/es/best-wifi-scanner-apps-windows.html#Xirrus_WiFi_Inspector" TargetMode="External"/><Relationship Id="rId4" Type="http://schemas.openxmlformats.org/officeDocument/2006/relationships/hyperlink" Target="https://www.netspotapp.com/es/best-wifi-scanner-apps-windows.html#inSSIDer"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dataprius.com/intranet-en-cloud-documentos-empresa.html"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www.netspotapp.com/es/wifi-encryption-and-security.html#UPD"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www.muycomputerpro.com/movilidad-profesional/wp-content/uploads/2017/03/CMD2_1.jpg"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hyperlink" Target="https://desafiohosting.com/que-es-un-servidor/#Servidor_de_correo_electronico" TargetMode="External"/><Relationship Id="rId13" Type="http://schemas.openxmlformats.org/officeDocument/2006/relationships/hyperlink" Target="https://desafiohosting.com/que-es-un-servidor/#Cluster_de_servidores" TargetMode="External"/><Relationship Id="rId3" Type="http://schemas.openxmlformats.org/officeDocument/2006/relationships/hyperlink" Target="https://desafiohosting.com/que-es-un-servidor/#Tipos_de_servidores" TargetMode="External"/><Relationship Id="rId7" Type="http://schemas.openxmlformats.org/officeDocument/2006/relationships/hyperlink" Target="https://desafiohosting.com/que-es-un-servidor/#Servidores_de_audio_y_video" TargetMode="External"/><Relationship Id="rId12" Type="http://schemas.openxmlformats.org/officeDocument/2006/relationships/hyperlink" Target="https://desafiohosting.com/que-es-un-servidor/#Servidor_de_base_de_datos" TargetMode="External"/><Relationship Id="rId2" Type="http://schemas.openxmlformats.org/officeDocument/2006/relationships/notesSlide" Target="../notesSlides/notesSlide87.xml"/><Relationship Id="rId16" Type="http://schemas.openxmlformats.org/officeDocument/2006/relationships/hyperlink" Target="https://desafiohosting.com/que-es-un-servidor/#Servidor_de_DNS" TargetMode="External"/><Relationship Id="rId1" Type="http://schemas.openxmlformats.org/officeDocument/2006/relationships/slideLayout" Target="../slideLayouts/slideLayout2.xml"/><Relationship Id="rId6" Type="http://schemas.openxmlformats.org/officeDocument/2006/relationships/hyperlink" Target="https://desafiohosting.com/que-es-un-servidor/#Servidor_compartido" TargetMode="External"/><Relationship Id="rId11" Type="http://schemas.openxmlformats.org/officeDocument/2006/relationships/hyperlink" Target="https://desafiohosting.com/que-es-un-servidor/#Servidor_en_la_nube" TargetMode="External"/><Relationship Id="rId5" Type="http://schemas.openxmlformats.org/officeDocument/2006/relationships/hyperlink" Target="https://desafiohosting.com/que-es-un-servidor/#Servidor_dedicado" TargetMode="External"/><Relationship Id="rId15" Type="http://schemas.openxmlformats.org/officeDocument/2006/relationships/hyperlink" Target="https://desafiohosting.com/que-es-un-servidor/#Servidor_de_archivos" TargetMode="External"/><Relationship Id="rId10" Type="http://schemas.openxmlformats.org/officeDocument/2006/relationships/hyperlink" Target="https://desafiohosting.com/que-es-un-servidor/#Servidor_de_impresion" TargetMode="External"/><Relationship Id="rId4" Type="http://schemas.openxmlformats.org/officeDocument/2006/relationships/hyperlink" Target="https://desafiohosting.com/que-es-un-servidor/#Servidor_web" TargetMode="External"/><Relationship Id="rId9" Type="http://schemas.openxmlformats.org/officeDocument/2006/relationships/hyperlink" Target="https://desafiohosting.com/que-es-un-servidor/#Servidor_FTP" TargetMode="External"/><Relationship Id="rId14" Type="http://schemas.openxmlformats.org/officeDocument/2006/relationships/hyperlink" Target="https://desafiohosting.com/que-es-un-servidor/#Servidor_Proxy" TargetMode="External"/></Relationships>
</file>

<file path=ppt/slides/_rels/slide89.xml.rels><?xml version="1.0" encoding="UTF-8" standalone="yes"?>
<Relationships xmlns="http://schemas.openxmlformats.org/package/2006/relationships"><Relationship Id="rId3" Type="http://schemas.openxmlformats.org/officeDocument/2006/relationships/hyperlink" Target="https://desafiohosting.com/que-es-streaming/" TargetMode="External"/><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desafiohosting.com/guia-funcionamiento-ftp-cpanel/" TargetMode="External"/><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hyperlink" Target="https://drive.google.com/" TargetMode="Externa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hyperlink" Target="https://www.ionos.es/digitalguide/servidores/seguridad/que-es-un-firewall/" TargetMode="External"/><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hyperlink" Target="https://www.ionos.es/digitalguide/servidores/know-how/balanceo-de-carga-conoce-a-fondo-sus-ventajas/" TargetMode="External"/></Relationships>
</file>

<file path=ppt/slides/_rels/slide1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hyperlink" Target="https://www.incibe.es/" TargetMode="External"/><Relationship Id="rId2" Type="http://schemas.openxmlformats.org/officeDocument/2006/relationships/notesSlide" Target="../notesSlides/notesSlide128.xml"/><Relationship Id="rId1" Type="http://schemas.openxmlformats.org/officeDocument/2006/relationships/slideLayout" Target="../slideLayouts/slideLayout2.xml"/><Relationship Id="rId6" Type="http://schemas.openxmlformats.org/officeDocument/2006/relationships/hyperlink" Target="https://cve.mitre.org/" TargetMode="External"/><Relationship Id="rId5" Type="http://schemas.openxmlformats.org/officeDocument/2006/relationships/hyperlink" Target="https://www.ccn-cert.cni.es/" TargetMode="External"/><Relationship Id="rId4" Type="http://schemas.openxmlformats.org/officeDocument/2006/relationships/hyperlink" Target="https://www.osi.es/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Seguridad, Protección, Antivirus, Software, Cms"/>
          <p:cNvPicPr preferRelativeResize="0"/>
          <p:nvPr/>
        </p:nvPicPr>
        <p:blipFill rotWithShape="1">
          <a:blip r:embed="rId3">
            <a:alphaModFix/>
          </a:blip>
          <a:srcRect/>
          <a:stretch/>
        </p:blipFill>
        <p:spPr>
          <a:xfrm>
            <a:off x="-47254" y="11544"/>
            <a:ext cx="12239253" cy="6846456"/>
          </a:xfrm>
          <a:prstGeom prst="rect">
            <a:avLst/>
          </a:prstGeom>
          <a:noFill/>
          <a:ln>
            <a:noFill/>
          </a:ln>
        </p:spPr>
      </p:pic>
      <p:sp>
        <p:nvSpPr>
          <p:cNvPr id="89" name="Google Shape;89;p1"/>
          <p:cNvSpPr txBox="1">
            <a:spLocks noGrp="1"/>
          </p:cNvSpPr>
          <p:nvPr>
            <p:ph type="ctrTitle"/>
          </p:nvPr>
        </p:nvSpPr>
        <p:spPr>
          <a:xfrm>
            <a:off x="0" y="750332"/>
            <a:ext cx="12192000" cy="995363"/>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lt1"/>
              </a:buClr>
              <a:buSzPts val="5400"/>
              <a:buFont typeface="Calibri"/>
              <a:buNone/>
            </a:pPr>
            <a:r>
              <a:rPr lang="es-ES" sz="5400">
                <a:solidFill>
                  <a:schemeClr val="lt1"/>
                </a:solidFill>
              </a:rPr>
              <a:t>CURSO ESPECIALISTA EN SEGURIDAD EN INTERNET</a:t>
            </a:r>
            <a:endParaRPr/>
          </a:p>
        </p:txBody>
      </p:sp>
      <p:sp>
        <p:nvSpPr>
          <p:cNvPr id="90" name="Google Shape;90;p1"/>
          <p:cNvSpPr txBox="1"/>
          <p:nvPr/>
        </p:nvSpPr>
        <p:spPr>
          <a:xfrm>
            <a:off x="868680" y="5989320"/>
            <a:ext cx="26320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u="none" strike="noStrike" cap="none">
                <a:solidFill>
                  <a:schemeClr val="lt1"/>
                </a:solidFill>
                <a:latin typeface="Calibri"/>
                <a:ea typeface="Calibri"/>
                <a:cs typeface="Calibri"/>
                <a:sym typeface="Calibri"/>
              </a:rPr>
              <a:t>PROFESOR: ALBERTO RUIZ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Principios básicos</a:t>
            </a:r>
            <a:endParaRPr/>
          </a:p>
        </p:txBody>
      </p:sp>
      <p:pic>
        <p:nvPicPr>
          <p:cNvPr id="96" name="Google Shape;96;p2" descr="Desconfianza por supervivencia"/>
          <p:cNvPicPr preferRelativeResize="0">
            <a:picLocks noGrp="1"/>
          </p:cNvPicPr>
          <p:nvPr>
            <p:ph type="body" idx="1"/>
          </p:nvPr>
        </p:nvPicPr>
        <p:blipFill rotWithShape="1">
          <a:blip r:embed="rId3">
            <a:alphaModFix/>
          </a:blip>
          <a:srcRect t="51109"/>
          <a:stretch/>
        </p:blipFill>
        <p:spPr>
          <a:xfrm>
            <a:off x="1179576" y="1856232"/>
            <a:ext cx="9619488" cy="314553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body" idx="1"/>
          </p:nvPr>
        </p:nvSpPr>
        <p:spPr>
          <a:xfrm>
            <a:off x="0" y="125129"/>
            <a:ext cx="12378088" cy="67328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es-ES" sz="3200" b="1"/>
              <a:t>PRIMERA PARTE: CIBERSEGURIDAD</a:t>
            </a:r>
            <a:endParaRPr/>
          </a:p>
          <a:p>
            <a:pPr marL="685800" lvl="1" indent="-228600" algn="l" rtl="0">
              <a:lnSpc>
                <a:spcPct val="90000"/>
              </a:lnSpc>
              <a:spcBef>
                <a:spcPts val="500"/>
              </a:spcBef>
              <a:spcAft>
                <a:spcPts val="0"/>
              </a:spcAft>
              <a:buClr>
                <a:schemeClr val="dk1"/>
              </a:buClr>
              <a:buSzPts val="3100"/>
              <a:buChar char="•"/>
            </a:pPr>
            <a:r>
              <a:rPr lang="es-ES" sz="3100"/>
              <a:t>Tema 1: introducción a la ciberseguridad: conceptos</a:t>
            </a:r>
            <a:endParaRPr/>
          </a:p>
          <a:p>
            <a:pPr marL="685800" lvl="1" indent="-228600" algn="l" rtl="0">
              <a:lnSpc>
                <a:spcPct val="90000"/>
              </a:lnSpc>
              <a:spcBef>
                <a:spcPts val="500"/>
              </a:spcBef>
              <a:spcAft>
                <a:spcPts val="0"/>
              </a:spcAft>
              <a:buClr>
                <a:schemeClr val="dk1"/>
              </a:buClr>
              <a:buSzPts val="3100"/>
              <a:buChar char="•"/>
            </a:pPr>
            <a:r>
              <a:rPr lang="es-ES" sz="3100"/>
              <a:t>Tema 2: Malware</a:t>
            </a:r>
            <a:endParaRPr/>
          </a:p>
          <a:p>
            <a:pPr marL="685800" lvl="1" indent="-228600" algn="l" rtl="0">
              <a:lnSpc>
                <a:spcPct val="90000"/>
              </a:lnSpc>
              <a:spcBef>
                <a:spcPts val="500"/>
              </a:spcBef>
              <a:spcAft>
                <a:spcPts val="0"/>
              </a:spcAft>
              <a:buClr>
                <a:schemeClr val="dk1"/>
              </a:buClr>
              <a:buSzPts val="3100"/>
              <a:buChar char="•"/>
            </a:pPr>
            <a:r>
              <a:rPr lang="es-ES" sz="3100"/>
              <a:t>Tema 3: Introducción a las redes</a:t>
            </a:r>
            <a:endParaRPr/>
          </a:p>
          <a:p>
            <a:pPr marL="685800" lvl="1" indent="-228600" algn="l" rtl="0">
              <a:lnSpc>
                <a:spcPct val="90000"/>
              </a:lnSpc>
              <a:spcBef>
                <a:spcPts val="500"/>
              </a:spcBef>
              <a:spcAft>
                <a:spcPts val="0"/>
              </a:spcAft>
              <a:buClr>
                <a:schemeClr val="dk1"/>
              </a:buClr>
              <a:buSzPts val="3100"/>
              <a:buChar char="•"/>
            </a:pPr>
            <a:r>
              <a:rPr lang="es-ES" sz="3100"/>
              <a:t>Tema 4: patrones de ataque</a:t>
            </a:r>
            <a:endParaRPr/>
          </a:p>
          <a:p>
            <a:pPr marL="685800" lvl="1" indent="-228600" algn="l" rtl="0">
              <a:lnSpc>
                <a:spcPct val="90000"/>
              </a:lnSpc>
              <a:spcBef>
                <a:spcPts val="500"/>
              </a:spcBef>
              <a:spcAft>
                <a:spcPts val="0"/>
              </a:spcAft>
              <a:buClr>
                <a:schemeClr val="dk1"/>
              </a:buClr>
              <a:buSzPts val="3100"/>
              <a:buChar char="•"/>
            </a:pPr>
            <a:r>
              <a:rPr lang="es-ES" sz="3100"/>
              <a:t>Tema 5: Contramedidas</a:t>
            </a:r>
            <a:endParaRPr/>
          </a:p>
          <a:p>
            <a:pPr marL="0" lvl="0" indent="0" algn="l" rtl="0">
              <a:lnSpc>
                <a:spcPct val="90000"/>
              </a:lnSpc>
              <a:spcBef>
                <a:spcPts val="1000"/>
              </a:spcBef>
              <a:spcAft>
                <a:spcPts val="0"/>
              </a:spcAft>
              <a:buClr>
                <a:schemeClr val="dk1"/>
              </a:buClr>
              <a:buSzPts val="3200"/>
              <a:buNone/>
            </a:pPr>
            <a:r>
              <a:rPr lang="es-ES" sz="3200" b="1"/>
              <a:t>SEGUNDA PARTE: TEMARIO ESPECIALISTA EN SEGURIDAD EN INTERNET</a:t>
            </a:r>
            <a:endParaRPr/>
          </a:p>
          <a:p>
            <a:pPr marL="685800" lvl="1" indent="-228600" algn="l" rtl="0">
              <a:lnSpc>
                <a:spcPct val="100000"/>
              </a:lnSpc>
              <a:spcBef>
                <a:spcPts val="500"/>
              </a:spcBef>
              <a:spcAft>
                <a:spcPts val="0"/>
              </a:spcAft>
              <a:buClr>
                <a:schemeClr val="dk1"/>
              </a:buClr>
              <a:buSzPts val="3100"/>
              <a:buChar char="•"/>
            </a:pPr>
            <a:r>
              <a:rPr lang="es-ES" sz="3100"/>
              <a:t>Tema 1: Windows Server.</a:t>
            </a:r>
            <a:endParaRPr/>
          </a:p>
          <a:p>
            <a:pPr marL="685800" lvl="1" indent="-228600" algn="l" rtl="0">
              <a:lnSpc>
                <a:spcPct val="100000"/>
              </a:lnSpc>
              <a:spcBef>
                <a:spcPts val="500"/>
              </a:spcBef>
              <a:spcAft>
                <a:spcPts val="0"/>
              </a:spcAft>
              <a:buClr>
                <a:schemeClr val="dk1"/>
              </a:buClr>
              <a:buSzPts val="3100"/>
              <a:buChar char="•"/>
            </a:pPr>
            <a:r>
              <a:rPr lang="es-ES" sz="3100"/>
              <a:t>Tema 2: Proxy Server.</a:t>
            </a:r>
            <a:endParaRPr/>
          </a:p>
          <a:p>
            <a:pPr marL="685800" lvl="1" indent="-228600" algn="l" rtl="0">
              <a:lnSpc>
                <a:spcPct val="100000"/>
              </a:lnSpc>
              <a:spcBef>
                <a:spcPts val="500"/>
              </a:spcBef>
              <a:spcAft>
                <a:spcPts val="0"/>
              </a:spcAft>
              <a:buClr>
                <a:schemeClr val="dk1"/>
              </a:buClr>
              <a:buSzPts val="3100"/>
              <a:buChar char="•"/>
            </a:pPr>
            <a:r>
              <a:rPr lang="es-ES" sz="3100"/>
              <a:t>Tema 3: Internet Information Server.</a:t>
            </a:r>
            <a:endParaRPr/>
          </a:p>
          <a:p>
            <a:pPr marL="685800" lvl="1" indent="-228600" algn="l" rtl="0">
              <a:lnSpc>
                <a:spcPct val="100000"/>
              </a:lnSpc>
              <a:spcBef>
                <a:spcPts val="500"/>
              </a:spcBef>
              <a:spcAft>
                <a:spcPts val="0"/>
              </a:spcAft>
              <a:buClr>
                <a:schemeClr val="dk1"/>
              </a:buClr>
              <a:buSzPts val="3100"/>
              <a:buChar char="•"/>
            </a:pPr>
            <a:r>
              <a:rPr lang="es-ES" sz="3100"/>
              <a:t>Tema 4: Exchange Server.</a:t>
            </a:r>
            <a:endParaRPr/>
          </a:p>
          <a:p>
            <a:pPr marL="685800" lvl="1" indent="-228600" algn="l" rtl="0">
              <a:lnSpc>
                <a:spcPct val="100000"/>
              </a:lnSpc>
              <a:spcBef>
                <a:spcPts val="500"/>
              </a:spcBef>
              <a:spcAft>
                <a:spcPts val="0"/>
              </a:spcAft>
              <a:buClr>
                <a:schemeClr val="dk1"/>
              </a:buClr>
              <a:buSzPts val="3100"/>
              <a:buChar char="•"/>
            </a:pPr>
            <a:r>
              <a:rPr lang="es-ES" sz="3100"/>
              <a:t>Tema 5: Firewall (Cortafuegos).</a:t>
            </a:r>
            <a:endParaRPr/>
          </a:p>
          <a:p>
            <a:pPr marL="0" lvl="0" indent="0" algn="l" rtl="0">
              <a:lnSpc>
                <a:spcPct val="90000"/>
              </a:lnSpc>
              <a:spcBef>
                <a:spcPts val="1000"/>
              </a:spcBef>
              <a:spcAft>
                <a:spcPts val="0"/>
              </a:spcAft>
              <a:buClr>
                <a:schemeClr val="dk1"/>
              </a:buClr>
              <a:buSzPts val="3200"/>
              <a:buNone/>
            </a:pPr>
            <a:endParaRPr sz="3200"/>
          </a:p>
          <a:p>
            <a:pPr marL="685800" lvl="1" indent="-50800" algn="l" rtl="0">
              <a:lnSpc>
                <a:spcPct val="90000"/>
              </a:lnSpc>
              <a:spcBef>
                <a:spcPts val="500"/>
              </a:spcBef>
              <a:spcAft>
                <a:spcPts val="0"/>
              </a:spcAft>
              <a:buClr>
                <a:schemeClr val="dk1"/>
              </a:buClr>
              <a:buSzPts val="2800"/>
              <a:buNone/>
            </a:pPr>
            <a:endParaRPr sz="2800" b="1"/>
          </a:p>
          <a:p>
            <a:pPr marL="685800" lvl="1" indent="-50800" algn="l" rtl="0">
              <a:lnSpc>
                <a:spcPct val="90000"/>
              </a:lnSpc>
              <a:spcBef>
                <a:spcPts val="500"/>
              </a:spcBef>
              <a:spcAft>
                <a:spcPts val="0"/>
              </a:spcAft>
              <a:buClr>
                <a:schemeClr val="dk1"/>
              </a:buClr>
              <a:buSzPts val="2800"/>
              <a:buNone/>
            </a:pPr>
            <a:endParaRPr sz="2800" b="1"/>
          </a:p>
          <a:p>
            <a:pPr marL="685800" lvl="1" indent="-50800" algn="l" rtl="0">
              <a:lnSpc>
                <a:spcPct val="90000"/>
              </a:lnSpc>
              <a:spcBef>
                <a:spcPts val="500"/>
              </a:spcBef>
              <a:spcAft>
                <a:spcPts val="0"/>
              </a:spcAft>
              <a:buClr>
                <a:schemeClr val="dk1"/>
              </a:buClr>
              <a:buSzPts val="2800"/>
              <a:buNone/>
            </a:pPr>
            <a:endParaRPr sz="2800" b="1"/>
          </a:p>
          <a:p>
            <a:pPr marL="685800" lvl="1" indent="-50800" algn="l" rtl="0">
              <a:lnSpc>
                <a:spcPct val="90000"/>
              </a:lnSpc>
              <a:spcBef>
                <a:spcPts val="500"/>
              </a:spcBef>
              <a:spcAft>
                <a:spcPts val="0"/>
              </a:spcAft>
              <a:buClr>
                <a:schemeClr val="dk1"/>
              </a:buClr>
              <a:buSzPts val="2800"/>
              <a:buNone/>
            </a:pPr>
            <a:endParaRPr sz="2800" b="1"/>
          </a:p>
          <a:p>
            <a:pPr marL="685800" lvl="1" indent="-50800" algn="l" rtl="0">
              <a:lnSpc>
                <a:spcPct val="90000"/>
              </a:lnSpc>
              <a:spcBef>
                <a:spcPts val="500"/>
              </a:spcBef>
              <a:spcAft>
                <a:spcPts val="0"/>
              </a:spcAft>
              <a:buClr>
                <a:schemeClr val="dk1"/>
              </a:buClr>
              <a:buSzPts val="2800"/>
              <a:buNone/>
            </a:pP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4"/>
          <p:cNvSpPr txBox="1">
            <a:spLocks noGrp="1"/>
          </p:cNvSpPr>
          <p:nvPr>
            <p:ph type="title"/>
          </p:nvPr>
        </p:nvSpPr>
        <p:spPr>
          <a:xfrm>
            <a:off x="664464" y="109094"/>
            <a:ext cx="10515600" cy="62680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Temario</a:t>
            </a:r>
            <a:endParaRPr/>
          </a:p>
        </p:txBody>
      </p:sp>
      <p:sp>
        <p:nvSpPr>
          <p:cNvPr id="107" name="Google Shape;107;p4"/>
          <p:cNvSpPr txBox="1">
            <a:spLocks noGrp="1"/>
          </p:cNvSpPr>
          <p:nvPr>
            <p:ph type="body" idx="1"/>
          </p:nvPr>
        </p:nvSpPr>
        <p:spPr>
          <a:xfrm>
            <a:off x="490728" y="786075"/>
            <a:ext cx="5431536"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000"/>
              <a:buChar char="•"/>
            </a:pPr>
            <a:r>
              <a:rPr lang="es-ES" sz="2000" b="1"/>
              <a:t>Tema 1: </a:t>
            </a:r>
            <a:r>
              <a:rPr lang="es-ES" sz="2400" b="1"/>
              <a:t>introducción</a:t>
            </a:r>
            <a:r>
              <a:rPr lang="es-ES" sz="2000" b="1"/>
              <a:t> a la ciberseguridad: conceptos</a:t>
            </a:r>
            <a:endParaRPr/>
          </a:p>
          <a:p>
            <a:pPr marL="685800" lvl="1" indent="-228600" algn="l" rtl="0">
              <a:lnSpc>
                <a:spcPct val="90000"/>
              </a:lnSpc>
              <a:spcBef>
                <a:spcPts val="500"/>
              </a:spcBef>
              <a:spcAft>
                <a:spcPts val="0"/>
              </a:spcAft>
              <a:buClr>
                <a:schemeClr val="dk1"/>
              </a:buClr>
              <a:buSzPts val="2000"/>
              <a:buChar char="•"/>
            </a:pPr>
            <a:r>
              <a:rPr lang="es-ES" sz="2000"/>
              <a:t>1.1 Tipos de atacantes.</a:t>
            </a:r>
            <a:endParaRPr/>
          </a:p>
          <a:p>
            <a:pPr marL="685800" lvl="1" indent="-228600" algn="l" rtl="0">
              <a:lnSpc>
                <a:spcPct val="90000"/>
              </a:lnSpc>
              <a:spcBef>
                <a:spcPts val="500"/>
              </a:spcBef>
              <a:spcAft>
                <a:spcPts val="0"/>
              </a:spcAft>
              <a:buClr>
                <a:schemeClr val="dk1"/>
              </a:buClr>
              <a:buSzPts val="2000"/>
              <a:buChar char="•"/>
            </a:pPr>
            <a:r>
              <a:rPr lang="es-ES" sz="2000"/>
              <a:t>1.2 Tipos de ataques.</a:t>
            </a:r>
            <a:endParaRPr/>
          </a:p>
          <a:p>
            <a:pPr marL="685800" lvl="1" indent="-228600" algn="l" rtl="0">
              <a:lnSpc>
                <a:spcPct val="90000"/>
              </a:lnSpc>
              <a:spcBef>
                <a:spcPts val="500"/>
              </a:spcBef>
              <a:spcAft>
                <a:spcPts val="0"/>
              </a:spcAft>
              <a:buClr>
                <a:schemeClr val="dk1"/>
              </a:buClr>
              <a:buSzPts val="2000"/>
              <a:buChar char="•"/>
            </a:pPr>
            <a:r>
              <a:rPr lang="es-ES" sz="2000"/>
              <a:t>1.3 Vulnerabilidades.</a:t>
            </a:r>
            <a:endParaRPr/>
          </a:p>
          <a:p>
            <a:pPr marL="685800" lvl="1" indent="-228600" algn="l" rtl="0">
              <a:lnSpc>
                <a:spcPct val="90000"/>
              </a:lnSpc>
              <a:spcBef>
                <a:spcPts val="500"/>
              </a:spcBef>
              <a:spcAft>
                <a:spcPts val="0"/>
              </a:spcAft>
              <a:buClr>
                <a:schemeClr val="dk1"/>
              </a:buClr>
              <a:buSzPts val="2000"/>
              <a:buChar char="•"/>
            </a:pPr>
            <a:r>
              <a:rPr lang="es-ES" sz="2000"/>
              <a:t>1.4 Análisis de riesgos y prevención.</a:t>
            </a:r>
            <a:endParaRPr/>
          </a:p>
          <a:p>
            <a:pPr marL="685800" lvl="1" indent="-228600" algn="l" rtl="0">
              <a:lnSpc>
                <a:spcPct val="90000"/>
              </a:lnSpc>
              <a:spcBef>
                <a:spcPts val="500"/>
              </a:spcBef>
              <a:spcAft>
                <a:spcPts val="0"/>
              </a:spcAft>
              <a:buClr>
                <a:schemeClr val="dk1"/>
              </a:buClr>
              <a:buSzPts val="2000"/>
              <a:buChar char="•"/>
            </a:pPr>
            <a:r>
              <a:rPr lang="es-ES" sz="2000"/>
              <a:t>1.5 Factor humano: ingeniería social. </a:t>
            </a:r>
            <a:endParaRPr/>
          </a:p>
          <a:p>
            <a:pPr marL="685800" lvl="1" indent="-228600" algn="l" rtl="0">
              <a:lnSpc>
                <a:spcPct val="90000"/>
              </a:lnSpc>
              <a:spcBef>
                <a:spcPts val="500"/>
              </a:spcBef>
              <a:spcAft>
                <a:spcPts val="0"/>
              </a:spcAft>
              <a:buClr>
                <a:schemeClr val="dk1"/>
              </a:buClr>
              <a:buSzPts val="2000"/>
              <a:buChar char="•"/>
            </a:pPr>
            <a:r>
              <a:rPr lang="es-ES" sz="2000"/>
              <a:t>1.6 Eventos, ataques e incidentes de seguridad.</a:t>
            </a:r>
            <a:endParaRPr/>
          </a:p>
          <a:p>
            <a:pPr marL="228600" lvl="0" indent="-228600" algn="l" rtl="0">
              <a:lnSpc>
                <a:spcPct val="90000"/>
              </a:lnSpc>
              <a:spcBef>
                <a:spcPts val="1000"/>
              </a:spcBef>
              <a:spcAft>
                <a:spcPts val="0"/>
              </a:spcAft>
              <a:buClr>
                <a:schemeClr val="dk1"/>
              </a:buClr>
              <a:buSzPts val="2000"/>
              <a:buChar char="•"/>
            </a:pPr>
            <a:r>
              <a:rPr lang="es-ES" sz="2000" b="1"/>
              <a:t>Tema 2: Malware</a:t>
            </a:r>
            <a:endParaRPr/>
          </a:p>
          <a:p>
            <a:pPr marL="685800" lvl="1" indent="-228600" algn="l" rtl="0">
              <a:lnSpc>
                <a:spcPct val="90000"/>
              </a:lnSpc>
              <a:spcBef>
                <a:spcPts val="500"/>
              </a:spcBef>
              <a:spcAft>
                <a:spcPts val="0"/>
              </a:spcAft>
              <a:buClr>
                <a:schemeClr val="dk1"/>
              </a:buClr>
              <a:buSzPts val="2000"/>
              <a:buChar char="•"/>
            </a:pPr>
            <a:r>
              <a:rPr lang="es-ES" sz="2000"/>
              <a:t>2.1 Tipos de Malware.</a:t>
            </a:r>
            <a:endParaRPr/>
          </a:p>
          <a:p>
            <a:pPr marL="685800" lvl="1" indent="-228600" algn="l" rtl="0">
              <a:lnSpc>
                <a:spcPct val="90000"/>
              </a:lnSpc>
              <a:spcBef>
                <a:spcPts val="500"/>
              </a:spcBef>
              <a:spcAft>
                <a:spcPts val="0"/>
              </a:spcAft>
              <a:buClr>
                <a:schemeClr val="dk1"/>
              </a:buClr>
              <a:buSzPts val="2000"/>
              <a:buChar char="•"/>
            </a:pPr>
            <a:r>
              <a:rPr lang="es-ES" sz="2000"/>
              <a:t>2.2 Historia de los virus.</a:t>
            </a:r>
            <a:endParaRPr/>
          </a:p>
          <a:p>
            <a:pPr marL="228600" lvl="0" indent="-228600" algn="l" rtl="0">
              <a:lnSpc>
                <a:spcPct val="90000"/>
              </a:lnSpc>
              <a:spcBef>
                <a:spcPts val="1000"/>
              </a:spcBef>
              <a:spcAft>
                <a:spcPts val="0"/>
              </a:spcAft>
              <a:buClr>
                <a:schemeClr val="dk1"/>
              </a:buClr>
              <a:buSzPts val="2000"/>
              <a:buChar char="•"/>
            </a:pPr>
            <a:r>
              <a:rPr lang="es-ES" sz="2000" b="1"/>
              <a:t>Tema 3: Introducción a las redes</a:t>
            </a:r>
            <a:endParaRPr/>
          </a:p>
          <a:p>
            <a:pPr marL="685800" lvl="1" indent="-228600" algn="l" rtl="0">
              <a:lnSpc>
                <a:spcPct val="90000"/>
              </a:lnSpc>
              <a:spcBef>
                <a:spcPts val="500"/>
              </a:spcBef>
              <a:spcAft>
                <a:spcPts val="0"/>
              </a:spcAft>
              <a:buClr>
                <a:schemeClr val="dk1"/>
              </a:buClr>
              <a:buSzPts val="2000"/>
              <a:buChar char="•"/>
            </a:pPr>
            <a:r>
              <a:rPr lang="es-ES" sz="2000"/>
              <a:t>3.1 Aspectos básicos.</a:t>
            </a:r>
            <a:endParaRPr/>
          </a:p>
          <a:p>
            <a:pPr marL="685800" lvl="1" indent="-228600" algn="l" rtl="0">
              <a:lnSpc>
                <a:spcPct val="90000"/>
              </a:lnSpc>
              <a:spcBef>
                <a:spcPts val="500"/>
              </a:spcBef>
              <a:spcAft>
                <a:spcPts val="0"/>
              </a:spcAft>
              <a:buClr>
                <a:schemeClr val="dk1"/>
              </a:buClr>
              <a:buSzPts val="2000"/>
              <a:buChar char="•"/>
            </a:pPr>
            <a:r>
              <a:rPr lang="es-ES" sz="2000"/>
              <a:t>3.2 Comandos de redes en Windows.</a:t>
            </a:r>
            <a:endParaRPr/>
          </a:p>
          <a:p>
            <a:pPr marL="685800" lvl="1" indent="-228600" algn="l" rtl="0">
              <a:lnSpc>
                <a:spcPct val="90000"/>
              </a:lnSpc>
              <a:spcBef>
                <a:spcPts val="500"/>
              </a:spcBef>
              <a:spcAft>
                <a:spcPts val="0"/>
              </a:spcAft>
              <a:buClr>
                <a:schemeClr val="dk1"/>
              </a:buClr>
              <a:buSzPts val="2000"/>
              <a:buChar char="•"/>
            </a:pPr>
            <a:r>
              <a:rPr lang="es-ES" sz="2000"/>
              <a:t>3.3 Aplicaciones.</a:t>
            </a:r>
            <a:endParaRPr/>
          </a:p>
          <a:p>
            <a:pPr marL="685800" lvl="1" indent="-228600" algn="l" rtl="0">
              <a:lnSpc>
                <a:spcPct val="90000"/>
              </a:lnSpc>
              <a:spcBef>
                <a:spcPts val="500"/>
              </a:spcBef>
              <a:spcAft>
                <a:spcPts val="0"/>
              </a:spcAft>
              <a:buClr>
                <a:schemeClr val="dk1"/>
              </a:buClr>
              <a:buSzPts val="2000"/>
              <a:buChar char="•"/>
            </a:pPr>
            <a:r>
              <a:rPr lang="es-ES" sz="2000"/>
              <a:t>3.4 Tipos de servidores</a:t>
            </a:r>
            <a:endParaRPr/>
          </a:p>
          <a:p>
            <a:pPr marL="457200" lvl="1" indent="0" algn="l" rtl="0">
              <a:lnSpc>
                <a:spcPct val="90000"/>
              </a:lnSpc>
              <a:spcBef>
                <a:spcPts val="500"/>
              </a:spcBef>
              <a:spcAft>
                <a:spcPts val="0"/>
              </a:spcAft>
              <a:buClr>
                <a:schemeClr val="dk1"/>
              </a:buClr>
              <a:buSzPts val="2000"/>
              <a:buNone/>
            </a:pPr>
            <a:endParaRPr sz="2000"/>
          </a:p>
        </p:txBody>
      </p:sp>
      <p:sp>
        <p:nvSpPr>
          <p:cNvPr id="108" name="Google Shape;108;p4"/>
          <p:cNvSpPr txBox="1"/>
          <p:nvPr/>
        </p:nvSpPr>
        <p:spPr>
          <a:xfrm>
            <a:off x="6436895" y="786075"/>
            <a:ext cx="6097604"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a:solidFill>
                  <a:schemeClr val="dk1"/>
                </a:solidFill>
                <a:latin typeface="Calibri"/>
                <a:ea typeface="Calibri"/>
                <a:cs typeface="Calibri"/>
                <a:sym typeface="Calibri"/>
              </a:rPr>
              <a:t>Tema 4: patrones de ataque</a:t>
            </a:r>
            <a:endParaRPr/>
          </a:p>
          <a:p>
            <a:pPr marL="457200" marR="0" lvl="1" indent="0" algn="l" rtl="0">
              <a:spcBef>
                <a:spcPts val="0"/>
              </a:spcBef>
              <a:spcAft>
                <a:spcPts val="0"/>
              </a:spcAft>
              <a:buNone/>
            </a:pPr>
            <a:r>
              <a:rPr lang="es-ES" sz="2400" b="0" i="0" u="none" strike="noStrike" cap="none">
                <a:solidFill>
                  <a:schemeClr val="dk1"/>
                </a:solidFill>
                <a:latin typeface="Calibri"/>
                <a:ea typeface="Calibri"/>
                <a:cs typeface="Calibri"/>
                <a:sym typeface="Calibri"/>
              </a:rPr>
              <a:t>4.1 Suplantación de identidad.</a:t>
            </a:r>
            <a:endParaRPr/>
          </a:p>
          <a:p>
            <a:pPr marL="457200" marR="0" lvl="1" indent="0" algn="l" rtl="0">
              <a:spcBef>
                <a:spcPts val="0"/>
              </a:spcBef>
              <a:spcAft>
                <a:spcPts val="0"/>
              </a:spcAft>
              <a:buNone/>
            </a:pPr>
            <a:r>
              <a:rPr lang="es-ES" sz="2400" b="0" i="0" u="none" strike="noStrike" cap="none">
                <a:solidFill>
                  <a:schemeClr val="dk1"/>
                </a:solidFill>
                <a:latin typeface="Calibri"/>
                <a:ea typeface="Calibri"/>
                <a:cs typeface="Calibri"/>
                <a:sym typeface="Calibri"/>
              </a:rPr>
              <a:t>4.2 Ataque de denegación de servicio. Ddos.</a:t>
            </a:r>
            <a:endParaRPr/>
          </a:p>
          <a:p>
            <a:pPr marL="0" marR="0" lvl="0" indent="0" algn="l" rtl="0">
              <a:spcBef>
                <a:spcPts val="0"/>
              </a:spcBef>
              <a:spcAft>
                <a:spcPts val="0"/>
              </a:spcAft>
              <a:buNone/>
            </a:pPr>
            <a:r>
              <a:rPr lang="es-ES" sz="2400" b="1">
                <a:solidFill>
                  <a:schemeClr val="dk1"/>
                </a:solidFill>
                <a:latin typeface="Calibri"/>
                <a:ea typeface="Calibri"/>
                <a:cs typeface="Calibri"/>
                <a:sym typeface="Calibri"/>
              </a:rPr>
              <a:t>Tema 5: Contramedidas</a:t>
            </a:r>
            <a:endParaRPr/>
          </a:p>
          <a:p>
            <a:pPr marL="457200" marR="0" lvl="1" indent="0" algn="l" rtl="0">
              <a:spcBef>
                <a:spcPts val="0"/>
              </a:spcBef>
              <a:spcAft>
                <a:spcPts val="0"/>
              </a:spcAft>
              <a:buNone/>
            </a:pPr>
            <a:r>
              <a:rPr lang="es-ES" sz="2400" b="0" i="0" u="none" strike="noStrike" cap="none">
                <a:solidFill>
                  <a:schemeClr val="dk1"/>
                </a:solidFill>
                <a:latin typeface="Calibri"/>
                <a:ea typeface="Calibri"/>
                <a:cs typeface="Calibri"/>
                <a:sym typeface="Calibri"/>
              </a:rPr>
              <a:t>5.1 A nivel de red.</a:t>
            </a:r>
            <a:endParaRPr/>
          </a:p>
          <a:p>
            <a:pPr marL="457200" marR="0" lvl="1" indent="0" algn="l" rtl="0">
              <a:spcBef>
                <a:spcPts val="0"/>
              </a:spcBef>
              <a:spcAft>
                <a:spcPts val="0"/>
              </a:spcAft>
              <a:buNone/>
            </a:pPr>
            <a:r>
              <a:rPr lang="es-ES" sz="2400" b="0" i="0" u="none" strike="noStrike" cap="none">
                <a:solidFill>
                  <a:schemeClr val="dk1"/>
                </a:solidFill>
                <a:latin typeface="Calibri"/>
                <a:ea typeface="Calibri"/>
                <a:cs typeface="Calibri"/>
                <a:sym typeface="Calibri"/>
              </a:rPr>
              <a:t>5.2 Servicios/aplicaciones y metodología.</a:t>
            </a:r>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5" descr="Ciberseguridad en las empresas | Quality Devs"/>
          <p:cNvPicPr preferRelativeResize="0"/>
          <p:nvPr/>
        </p:nvPicPr>
        <p:blipFill rotWithShape="1">
          <a:blip r:embed="rId3">
            <a:alphaModFix/>
          </a:blip>
          <a:srcRect/>
          <a:stretch/>
        </p:blipFill>
        <p:spPr>
          <a:xfrm>
            <a:off x="0" y="0"/>
            <a:ext cx="12246429" cy="6858000"/>
          </a:xfrm>
          <a:prstGeom prst="rect">
            <a:avLst/>
          </a:prstGeom>
          <a:noFill/>
          <a:ln>
            <a:noFill/>
          </a:ln>
        </p:spPr>
      </p:pic>
      <p:sp>
        <p:nvSpPr>
          <p:cNvPr id="114" name="Google Shape;114;p5"/>
          <p:cNvSpPr txBox="1">
            <a:spLocks noGrp="1"/>
          </p:cNvSpPr>
          <p:nvPr>
            <p:ph type="title"/>
          </p:nvPr>
        </p:nvSpPr>
        <p:spPr>
          <a:xfrm>
            <a:off x="941832" y="-182563"/>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ts val="4860"/>
              <a:buFont typeface="Calibri"/>
              <a:buNone/>
            </a:pPr>
            <a:r>
              <a:rPr lang="es-ES" sz="4860" b="1">
                <a:solidFill>
                  <a:schemeClr val="lt1"/>
                </a:solidFill>
              </a:rPr>
              <a:t>Tema 1: introducción a la ciberseguridad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a:spLocks noGrp="1"/>
          </p:cNvSpPr>
          <p:nvPr>
            <p:ph type="title"/>
          </p:nvPr>
        </p:nvSpPr>
        <p:spPr>
          <a:xfrm>
            <a:off x="3325368" y="42913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Conceptos básicos</a:t>
            </a:r>
            <a:br>
              <a:rPr lang="es-ES"/>
            </a:br>
            <a:r>
              <a:rPr lang="es-ES"/>
              <a:t>Que es la ciberseguridad</a:t>
            </a:r>
            <a:endParaRPr/>
          </a:p>
        </p:txBody>
      </p:sp>
      <p:sp>
        <p:nvSpPr>
          <p:cNvPr id="120" name="Google Shape;120;p6"/>
          <p:cNvSpPr txBox="1">
            <a:spLocks noGrp="1"/>
          </p:cNvSpPr>
          <p:nvPr>
            <p:ph type="body" idx="1"/>
          </p:nvPr>
        </p:nvSpPr>
        <p:spPr>
          <a:xfrm>
            <a:off x="838200" y="2417810"/>
            <a:ext cx="10515600" cy="4351338"/>
          </a:xfrm>
          <a:prstGeom prst="rect">
            <a:avLst/>
          </a:prstGeom>
          <a:noFill/>
          <a:ln>
            <a:noFill/>
          </a:ln>
        </p:spPr>
        <p:txBody>
          <a:bodyPr spcFirstLastPara="1" wrap="square" lIns="91425" tIns="45700" rIns="91425" bIns="45700" anchor="t" anchorCtr="0">
            <a:normAutofit/>
          </a:bodyPr>
          <a:lstStyle/>
          <a:p>
            <a:pPr marL="228600" lvl="0" indent="-254000" algn="l" rtl="0">
              <a:lnSpc>
                <a:spcPct val="90000"/>
              </a:lnSpc>
              <a:spcBef>
                <a:spcPts val="0"/>
              </a:spcBef>
              <a:spcAft>
                <a:spcPts val="0"/>
              </a:spcAft>
              <a:buClr>
                <a:schemeClr val="dk1"/>
              </a:buClr>
              <a:buSzPts val="4000"/>
              <a:buChar char="•"/>
            </a:pPr>
            <a:r>
              <a:rPr lang="es-ES" sz="4000" b="0" i="0">
                <a:latin typeface="arial"/>
                <a:ea typeface="arial"/>
                <a:cs typeface="arial"/>
                <a:sym typeface="arial"/>
              </a:rPr>
              <a:t>La seguridad informática, también conocida como ciberseguridad o seguridad de tecnología de la información, ​ es el área relacionada con la informática y la telemática que se enfoca en la protección de la ... </a:t>
            </a:r>
            <a:r>
              <a:rPr lang="es-ES" sz="4000" b="0" i="0" u="sng" strike="noStrike">
                <a:solidFill>
                  <a:schemeClr val="hlink"/>
                </a:solidFill>
                <a:latin typeface="arial"/>
                <a:ea typeface="arial"/>
                <a:cs typeface="arial"/>
                <a:sym typeface="arial"/>
                <a:hlinkClick r:id="rId3"/>
              </a:rPr>
              <a:t>Wikipedia</a:t>
            </a:r>
            <a:endParaRPr sz="4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txBox="1">
            <a:spLocks noGrp="1"/>
          </p:cNvSpPr>
          <p:nvPr>
            <p:ph type="title"/>
          </p:nvPr>
        </p:nvSpPr>
        <p:spPr>
          <a:xfrm>
            <a:off x="838200" y="9080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Ciberdelincuentes</a:t>
            </a:r>
            <a:endParaRPr/>
          </a:p>
        </p:txBody>
      </p:sp>
      <p:sp>
        <p:nvSpPr>
          <p:cNvPr id="126" name="Google Shape;126;p7"/>
          <p:cNvSpPr txBox="1">
            <a:spLocks noGrp="1"/>
          </p:cNvSpPr>
          <p:nvPr>
            <p:ph type="body" idx="1"/>
          </p:nvPr>
        </p:nvSpPr>
        <p:spPr>
          <a:xfrm>
            <a:off x="774192" y="1340993"/>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s-ES"/>
              <a:t>Conoce a tu enemigo como a ti mismo y saldrás triunfador en mil batallas Sun Tzu, el arte de la guerra.</a:t>
            </a:r>
            <a:endParaRPr/>
          </a:p>
          <a:p>
            <a:pPr marL="228600" lvl="0" indent="-228600" algn="l" rtl="0">
              <a:lnSpc>
                <a:spcPct val="90000"/>
              </a:lnSpc>
              <a:spcBef>
                <a:spcPts val="1000"/>
              </a:spcBef>
              <a:spcAft>
                <a:spcPts val="0"/>
              </a:spcAft>
              <a:buClr>
                <a:schemeClr val="dk1"/>
              </a:buClr>
              <a:buSzPts val="2800"/>
              <a:buChar char="•"/>
            </a:pPr>
            <a:r>
              <a:rPr lang="es-ES"/>
              <a:t>Ante un problema de ciberseguridad, no intentes arreglarlo, sigue el </a:t>
            </a:r>
            <a:endParaRPr/>
          </a:p>
          <a:p>
            <a:pPr marL="0" lvl="0" indent="0" algn="l" rtl="0">
              <a:lnSpc>
                <a:spcPct val="90000"/>
              </a:lnSpc>
              <a:spcBef>
                <a:spcPts val="1000"/>
              </a:spcBef>
              <a:spcAft>
                <a:spcPts val="0"/>
              </a:spcAft>
              <a:buClr>
                <a:schemeClr val="dk1"/>
              </a:buClr>
              <a:buSzPts val="2800"/>
              <a:buNone/>
            </a:pPr>
            <a:r>
              <a:rPr lang="es-ES"/>
              <a:t>Consejo del maestro Yoda, “hazlo o no lo hagas, pero no lo intentes”</a:t>
            </a:r>
            <a:endParaRPr/>
          </a:p>
          <a:p>
            <a:pPr marL="228600" lvl="0" indent="-50800" algn="l" rtl="0">
              <a:lnSpc>
                <a:spcPct val="90000"/>
              </a:lnSpc>
              <a:spcBef>
                <a:spcPts val="1000"/>
              </a:spcBef>
              <a:spcAft>
                <a:spcPts val="0"/>
              </a:spcAft>
              <a:buClr>
                <a:schemeClr val="dk1"/>
              </a:buClr>
              <a:buSzPts val="2800"/>
              <a:buNone/>
            </a:pPr>
            <a:endParaRPr/>
          </a:p>
        </p:txBody>
      </p:sp>
      <p:pic>
        <p:nvPicPr>
          <p:cNvPr id="127" name="Google Shape;127;p7" descr="Yoda - Wikipedia, la enciclopedia libre"/>
          <p:cNvPicPr preferRelativeResize="0"/>
          <p:nvPr/>
        </p:nvPicPr>
        <p:blipFill rotWithShape="1">
          <a:blip r:embed="rId3">
            <a:alphaModFix/>
          </a:blip>
          <a:srcRect/>
          <a:stretch/>
        </p:blipFill>
        <p:spPr>
          <a:xfrm>
            <a:off x="8165592" y="3347090"/>
            <a:ext cx="3564192" cy="3282309"/>
          </a:xfrm>
          <a:prstGeom prst="rect">
            <a:avLst/>
          </a:prstGeom>
          <a:noFill/>
          <a:ln>
            <a:noFill/>
          </a:ln>
        </p:spPr>
      </p:pic>
      <p:pic>
        <p:nvPicPr>
          <p:cNvPr id="128" name="Google Shape;128;p7" descr="El arte de la guerra de el estratega Sun Tzu | Política Exterior"/>
          <p:cNvPicPr preferRelativeResize="0"/>
          <p:nvPr/>
        </p:nvPicPr>
        <p:blipFill rotWithShape="1">
          <a:blip r:embed="rId4">
            <a:alphaModFix/>
          </a:blip>
          <a:srcRect/>
          <a:stretch/>
        </p:blipFill>
        <p:spPr>
          <a:xfrm>
            <a:off x="774192" y="3431953"/>
            <a:ext cx="3974675" cy="2886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8"/>
          <p:cNvSpPr txBox="1">
            <a:spLocks noGrp="1"/>
          </p:cNvSpPr>
          <p:nvPr>
            <p:ph type="title"/>
          </p:nvPr>
        </p:nvSpPr>
        <p:spPr>
          <a:xfrm>
            <a:off x="838200" y="82550"/>
            <a:ext cx="10515600" cy="31591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2160"/>
              <a:buFont typeface="Calibri"/>
              <a:buNone/>
            </a:pPr>
            <a:r>
              <a:rPr lang="es-ES" sz="2160"/>
              <a:t>1.1 Tipos de atacantes</a:t>
            </a:r>
            <a:endParaRPr/>
          </a:p>
        </p:txBody>
      </p:sp>
      <p:sp>
        <p:nvSpPr>
          <p:cNvPr id="134" name="Google Shape;134;p8"/>
          <p:cNvSpPr txBox="1">
            <a:spLocks noGrp="1"/>
          </p:cNvSpPr>
          <p:nvPr>
            <p:ph type="body" idx="1"/>
          </p:nvPr>
        </p:nvSpPr>
        <p:spPr>
          <a:xfrm>
            <a:off x="440634" y="497904"/>
            <a:ext cx="10515600" cy="6277546"/>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228600" lvl="0" indent="-228600" algn="l" rtl="0">
              <a:lnSpc>
                <a:spcPct val="170000"/>
              </a:lnSpc>
              <a:spcBef>
                <a:spcPts val="0"/>
              </a:spcBef>
              <a:spcAft>
                <a:spcPts val="0"/>
              </a:spcAft>
              <a:buClr>
                <a:schemeClr val="lt1"/>
              </a:buClr>
              <a:buSzPts val="2000"/>
              <a:buFont typeface="Arial"/>
              <a:buChar char="•"/>
            </a:pPr>
            <a:r>
              <a:rPr lang="es-ES" sz="2000" b="1" i="0">
                <a:solidFill>
                  <a:schemeClr val="lt1"/>
                </a:solidFill>
                <a:latin typeface="Open Sans"/>
                <a:ea typeface="Open Sans"/>
                <a:cs typeface="Open Sans"/>
                <a:sym typeface="Open Sans"/>
              </a:rPr>
              <a:t>Hackers:</a:t>
            </a:r>
            <a:r>
              <a:rPr lang="es-ES" sz="2000" b="0" i="0">
                <a:solidFill>
                  <a:schemeClr val="lt1"/>
                </a:solidFill>
                <a:latin typeface="Open Sans"/>
                <a:ea typeface="Open Sans"/>
                <a:cs typeface="Open Sans"/>
                <a:sym typeface="Open Sans"/>
              </a:rPr>
              <a:t> Son normalmente informáticos, que quieren descubrir vulnerabilidades de los sistemas por gusto, sin motivación económica ni dañina.</a:t>
            </a:r>
            <a:endParaRPr/>
          </a:p>
          <a:p>
            <a:pPr marL="228600" lvl="0" indent="-228600" algn="l" rtl="0">
              <a:lnSpc>
                <a:spcPct val="170000"/>
              </a:lnSpc>
              <a:spcBef>
                <a:spcPts val="1000"/>
              </a:spcBef>
              <a:spcAft>
                <a:spcPts val="0"/>
              </a:spcAft>
              <a:buClr>
                <a:schemeClr val="lt1"/>
              </a:buClr>
              <a:buSzPts val="2000"/>
              <a:buFont typeface="Arial"/>
              <a:buChar char="•"/>
            </a:pPr>
            <a:r>
              <a:rPr lang="es-ES" sz="2000" b="1" i="0">
                <a:solidFill>
                  <a:schemeClr val="lt1"/>
                </a:solidFill>
                <a:latin typeface="Open Sans"/>
                <a:ea typeface="Open Sans"/>
                <a:cs typeface="Open Sans"/>
                <a:sym typeface="Open Sans"/>
              </a:rPr>
              <a:t>Crackers:</a:t>
            </a:r>
            <a:r>
              <a:rPr lang="es-ES" sz="2000" b="0" i="0">
                <a:solidFill>
                  <a:schemeClr val="lt1"/>
                </a:solidFill>
                <a:latin typeface="Open Sans"/>
                <a:ea typeface="Open Sans"/>
                <a:cs typeface="Open Sans"/>
                <a:sym typeface="Open Sans"/>
              </a:rPr>
              <a:t> Son las personas que rompen la seguridad del sistema con intención maliciosa, para dañarla u obtener beneficios económicos.</a:t>
            </a:r>
            <a:endParaRPr/>
          </a:p>
          <a:p>
            <a:pPr marL="228600" lvl="0" indent="-228600" algn="l" rtl="0">
              <a:lnSpc>
                <a:spcPct val="170000"/>
              </a:lnSpc>
              <a:spcBef>
                <a:spcPts val="1000"/>
              </a:spcBef>
              <a:spcAft>
                <a:spcPts val="0"/>
              </a:spcAft>
              <a:buClr>
                <a:schemeClr val="lt1"/>
              </a:buClr>
              <a:buSzPts val="2000"/>
              <a:buFont typeface="Arial"/>
              <a:buChar char="•"/>
            </a:pPr>
            <a:r>
              <a:rPr lang="es-ES" sz="2000" b="1" i="0">
                <a:solidFill>
                  <a:schemeClr val="lt1"/>
                </a:solidFill>
                <a:latin typeface="Open Sans"/>
                <a:ea typeface="Open Sans"/>
                <a:cs typeface="Open Sans"/>
                <a:sym typeface="Open Sans"/>
              </a:rPr>
              <a:t>Sniffers: </a:t>
            </a:r>
            <a:r>
              <a:rPr lang="es-ES" sz="2000" b="0" i="0">
                <a:solidFill>
                  <a:schemeClr val="lt1"/>
                </a:solidFill>
                <a:latin typeface="Open Sans"/>
                <a:ea typeface="Open Sans"/>
                <a:cs typeface="Open Sans"/>
                <a:sym typeface="Open Sans"/>
              </a:rPr>
              <a:t>Son expertos en redes que analizan el trafico de la red, para obtener información extrayéndola de los paquetes que se transmiten por la red.</a:t>
            </a:r>
            <a:endParaRPr/>
          </a:p>
          <a:p>
            <a:pPr marL="228600" lvl="0" indent="-228600" algn="l" rtl="0">
              <a:lnSpc>
                <a:spcPct val="170000"/>
              </a:lnSpc>
              <a:spcBef>
                <a:spcPts val="1000"/>
              </a:spcBef>
              <a:spcAft>
                <a:spcPts val="0"/>
              </a:spcAft>
              <a:buClr>
                <a:schemeClr val="lt1"/>
              </a:buClr>
              <a:buSzPts val="2000"/>
              <a:buFont typeface="Arial"/>
              <a:buChar char="•"/>
            </a:pPr>
            <a:r>
              <a:rPr lang="es-ES" sz="2000" b="1" i="0">
                <a:solidFill>
                  <a:schemeClr val="lt1"/>
                </a:solidFill>
                <a:latin typeface="Open Sans"/>
                <a:ea typeface="Open Sans"/>
                <a:cs typeface="Open Sans"/>
                <a:sym typeface="Open Sans"/>
              </a:rPr>
              <a:t>LAMMERS:</a:t>
            </a:r>
            <a:r>
              <a:rPr lang="es-ES" sz="2000" b="0" i="0">
                <a:solidFill>
                  <a:schemeClr val="lt1"/>
                </a:solidFill>
                <a:latin typeface="Open Sans"/>
                <a:ea typeface="Open Sans"/>
                <a:cs typeface="Open Sans"/>
                <a:sym typeface="Open Sans"/>
              </a:rPr>
              <a:t> Son gente joven sin muchos conocimientos informáticos que se consideran a si mismos hackers y presumen de ello.</a:t>
            </a:r>
            <a:endParaRPr/>
          </a:p>
          <a:p>
            <a:pPr marL="228600" lvl="0" indent="-228600" algn="l" rtl="0">
              <a:lnSpc>
                <a:spcPct val="170000"/>
              </a:lnSpc>
              <a:spcBef>
                <a:spcPts val="1000"/>
              </a:spcBef>
              <a:spcAft>
                <a:spcPts val="0"/>
              </a:spcAft>
              <a:buClr>
                <a:schemeClr val="lt1"/>
              </a:buClr>
              <a:buSzPts val="2000"/>
              <a:buFont typeface="Arial"/>
              <a:buChar char="•"/>
            </a:pPr>
            <a:r>
              <a:rPr lang="es-ES" sz="2000" b="1" i="0">
                <a:solidFill>
                  <a:schemeClr val="lt1"/>
                </a:solidFill>
                <a:latin typeface="Open Sans"/>
                <a:ea typeface="Open Sans"/>
                <a:cs typeface="Open Sans"/>
                <a:sym typeface="Open Sans"/>
              </a:rPr>
              <a:t>Newbie:</a:t>
            </a:r>
            <a:r>
              <a:rPr lang="es-ES" sz="2000" b="0" i="0">
                <a:solidFill>
                  <a:schemeClr val="lt1"/>
                </a:solidFill>
                <a:latin typeface="Open Sans"/>
                <a:ea typeface="Open Sans"/>
                <a:cs typeface="Open Sans"/>
                <a:sym typeface="Open Sans"/>
              </a:rPr>
              <a:t> Son hackers novatos.</a:t>
            </a:r>
            <a:endParaRPr/>
          </a:p>
          <a:p>
            <a:pPr marL="228600" lvl="0" indent="-228600" algn="l" rtl="0">
              <a:lnSpc>
                <a:spcPct val="170000"/>
              </a:lnSpc>
              <a:spcBef>
                <a:spcPts val="1000"/>
              </a:spcBef>
              <a:spcAft>
                <a:spcPts val="0"/>
              </a:spcAft>
              <a:buClr>
                <a:schemeClr val="lt1"/>
              </a:buClr>
              <a:buSzPts val="2000"/>
              <a:buFont typeface="Arial"/>
              <a:buChar char="•"/>
            </a:pPr>
            <a:r>
              <a:rPr lang="es-ES" sz="2000" b="1" i="0">
                <a:solidFill>
                  <a:schemeClr val="lt1"/>
                </a:solidFill>
                <a:latin typeface="Open Sans"/>
                <a:ea typeface="Open Sans"/>
                <a:cs typeface="Open Sans"/>
                <a:sym typeface="Open Sans"/>
              </a:rPr>
              <a:t>Ciberterrorista: </a:t>
            </a:r>
            <a:r>
              <a:rPr lang="es-ES" sz="2000" b="0" i="0">
                <a:solidFill>
                  <a:schemeClr val="lt1"/>
                </a:solidFill>
                <a:latin typeface="Open Sans"/>
                <a:ea typeface="Open Sans"/>
                <a:cs typeface="Open Sans"/>
                <a:sym typeface="Open Sans"/>
              </a:rPr>
              <a:t>Son expertos informáticos que trabajan para países u organizaciones como espías </a:t>
            </a:r>
            <a:r>
              <a:rPr lang="es-ES" sz="2000">
                <a:solidFill>
                  <a:schemeClr val="lt1"/>
                </a:solidFill>
                <a:latin typeface="Open Sans"/>
                <a:ea typeface="Open Sans"/>
                <a:cs typeface="Open Sans"/>
                <a:sym typeface="Open Sans"/>
              </a:rPr>
              <a:t>y</a:t>
            </a:r>
            <a:r>
              <a:rPr lang="es-ES" sz="2000" b="0" i="0">
                <a:solidFill>
                  <a:schemeClr val="lt1"/>
                </a:solidFill>
                <a:latin typeface="Open Sans"/>
                <a:ea typeface="Open Sans"/>
                <a:cs typeface="Open Sans"/>
                <a:sym typeface="Open Sans"/>
              </a:rPr>
              <a:t> saboteadores informáticos.</a:t>
            </a:r>
            <a:endParaRPr/>
          </a:p>
          <a:p>
            <a:pPr marL="228600" lvl="0" indent="-228600" algn="l" rtl="0">
              <a:lnSpc>
                <a:spcPct val="170000"/>
              </a:lnSpc>
              <a:spcBef>
                <a:spcPts val="1000"/>
              </a:spcBef>
              <a:spcAft>
                <a:spcPts val="0"/>
              </a:spcAft>
              <a:buClr>
                <a:schemeClr val="lt1"/>
              </a:buClr>
              <a:buSzPts val="2000"/>
              <a:buFont typeface="Arial"/>
              <a:buChar char="•"/>
            </a:pPr>
            <a:r>
              <a:rPr lang="es-ES" sz="2000" b="1" i="0">
                <a:solidFill>
                  <a:schemeClr val="lt1"/>
                </a:solidFill>
                <a:latin typeface="Open Sans"/>
                <a:ea typeface="Open Sans"/>
                <a:cs typeface="Open Sans"/>
                <a:sym typeface="Open Sans"/>
              </a:rPr>
              <a:t>Programadores de virus:</a:t>
            </a:r>
            <a:r>
              <a:rPr lang="es-ES" sz="2000" b="0" i="0">
                <a:solidFill>
                  <a:schemeClr val="lt1"/>
                </a:solidFill>
                <a:latin typeface="Open Sans"/>
                <a:ea typeface="Open Sans"/>
                <a:cs typeface="Open Sans"/>
                <a:sym typeface="Open Sans"/>
              </a:rPr>
              <a:t> Estas personas deben ser expertos en programación redes y sistemas., que crean programas dañinos que afectan a aplicaciones y a sistemas.</a:t>
            </a:r>
            <a:endParaRPr/>
          </a:p>
          <a:p>
            <a:pPr marL="228600" lvl="0" indent="-228600" algn="l" rtl="0">
              <a:lnSpc>
                <a:spcPct val="170000"/>
              </a:lnSpc>
              <a:spcBef>
                <a:spcPts val="1000"/>
              </a:spcBef>
              <a:spcAft>
                <a:spcPts val="0"/>
              </a:spcAft>
              <a:buClr>
                <a:schemeClr val="lt1"/>
              </a:buClr>
              <a:buSzPts val="2000"/>
              <a:buFont typeface="Arial"/>
              <a:buChar char="•"/>
            </a:pPr>
            <a:r>
              <a:rPr lang="es-ES" sz="2000" b="1" i="0">
                <a:solidFill>
                  <a:schemeClr val="lt1"/>
                </a:solidFill>
                <a:latin typeface="Open Sans"/>
                <a:ea typeface="Open Sans"/>
                <a:cs typeface="Open Sans"/>
                <a:sym typeface="Open Sans"/>
              </a:rPr>
              <a:t>Carders:</a:t>
            </a:r>
            <a:r>
              <a:rPr lang="es-ES" sz="2000" b="0" i="0">
                <a:solidFill>
                  <a:schemeClr val="lt1"/>
                </a:solidFill>
                <a:latin typeface="Open Sans"/>
                <a:ea typeface="Open Sans"/>
                <a:cs typeface="Open Sans"/>
                <a:sym typeface="Open Sans"/>
              </a:rPr>
              <a:t> Son personas que se dedican a ataques de sistemas de tarjetas como cajeros automáticos.</a:t>
            </a:r>
            <a:endParaRPr/>
          </a:p>
          <a:p>
            <a:pPr marL="228600" lvl="0" indent="-101600" algn="l" rtl="0">
              <a:lnSpc>
                <a:spcPct val="170000"/>
              </a:lnSpc>
              <a:spcBef>
                <a:spcPts val="1000"/>
              </a:spcBef>
              <a:spcAft>
                <a:spcPts val="0"/>
              </a:spcAft>
              <a:buClr>
                <a:schemeClr val="dk1"/>
              </a:buClr>
              <a:buSzPts val="2000"/>
              <a:buNone/>
            </a:pPr>
            <a:endParaRPr sz="2000">
              <a:solidFill>
                <a:schemeClr val="lt1"/>
              </a:solidFill>
            </a:endParaRPr>
          </a:p>
        </p:txBody>
      </p:sp>
      <p:pic>
        <p:nvPicPr>
          <p:cNvPr id="135" name="Google Shape;135;p8" descr="Cómo protegerse de los virus, piratas informáticos y demás ataques? |  Tecnología - ComputerHoy.com"/>
          <p:cNvPicPr preferRelativeResize="0"/>
          <p:nvPr/>
        </p:nvPicPr>
        <p:blipFill rotWithShape="1">
          <a:blip r:embed="rId3">
            <a:alphaModFix/>
          </a:blip>
          <a:srcRect/>
          <a:stretch/>
        </p:blipFill>
        <p:spPr>
          <a:xfrm>
            <a:off x="11173379" y="0"/>
            <a:ext cx="1018621" cy="6778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9"/>
          <p:cNvSpPr txBox="1">
            <a:spLocks noGrp="1"/>
          </p:cNvSpPr>
          <p:nvPr>
            <p:ph type="title"/>
          </p:nvPr>
        </p:nvSpPr>
        <p:spPr>
          <a:xfrm>
            <a:off x="96253" y="0"/>
            <a:ext cx="12192000" cy="78028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Calibri"/>
              <a:buNone/>
            </a:pPr>
            <a:r>
              <a:rPr lang="es-ES" sz="3600"/>
              <a:t>Formas de actuar de los ciberdelincuentes: anonimato</a:t>
            </a:r>
            <a:endParaRPr/>
          </a:p>
        </p:txBody>
      </p:sp>
      <p:sp>
        <p:nvSpPr>
          <p:cNvPr id="141" name="Google Shape;141;p9"/>
          <p:cNvSpPr txBox="1">
            <a:spLocks noGrp="1"/>
          </p:cNvSpPr>
          <p:nvPr>
            <p:ph type="body" idx="1"/>
          </p:nvPr>
        </p:nvSpPr>
        <p:spPr>
          <a:xfrm>
            <a:off x="462815" y="2906828"/>
            <a:ext cx="10515600" cy="998571"/>
          </a:xfrm>
          <a:prstGeom prst="rect">
            <a:avLst/>
          </a:prstGeom>
          <a:noFill/>
          <a:ln>
            <a:noFill/>
          </a:ln>
        </p:spPr>
        <p:txBody>
          <a:bodyPr spcFirstLastPara="1" wrap="square" lIns="91425" tIns="45700" rIns="91425" bIns="45700" anchor="t" anchorCtr="0">
            <a:normAutofit/>
          </a:bodyPr>
          <a:lstStyle/>
          <a:p>
            <a:pPr marL="228600" lvl="0" indent="0" algn="l" rtl="0">
              <a:lnSpc>
                <a:spcPct val="87000"/>
              </a:lnSpc>
              <a:spcBef>
                <a:spcPts val="0"/>
              </a:spcBef>
              <a:spcAft>
                <a:spcPts val="0"/>
              </a:spcAft>
              <a:buClr>
                <a:schemeClr val="dk1"/>
              </a:buClr>
              <a:buSzPts val="5920"/>
              <a:buNone/>
            </a:pPr>
            <a:endParaRPr sz="5920">
              <a:latin typeface="Calibri"/>
              <a:ea typeface="Calibri"/>
              <a:cs typeface="Calibri"/>
              <a:sym typeface="Calibri"/>
            </a:endParaRPr>
          </a:p>
          <a:p>
            <a:pPr marL="228600" lvl="0" indent="-64135" algn="l" rtl="0">
              <a:lnSpc>
                <a:spcPct val="70000"/>
              </a:lnSpc>
              <a:spcBef>
                <a:spcPts val="1800"/>
              </a:spcBef>
              <a:spcAft>
                <a:spcPts val="0"/>
              </a:spcAft>
              <a:buClr>
                <a:schemeClr val="dk1"/>
              </a:buClr>
              <a:buSzPts val="2590"/>
              <a:buNone/>
            </a:pPr>
            <a:endParaRPr sz="2590"/>
          </a:p>
        </p:txBody>
      </p:sp>
      <p:sp>
        <p:nvSpPr>
          <p:cNvPr id="142" name="Google Shape;142;p9"/>
          <p:cNvSpPr txBox="1"/>
          <p:nvPr/>
        </p:nvSpPr>
        <p:spPr>
          <a:xfrm>
            <a:off x="535404" y="1371964"/>
            <a:ext cx="10986035" cy="774507"/>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7000"/>
              </a:lnSpc>
              <a:spcBef>
                <a:spcPts val="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Ocultar</a:t>
            </a:r>
            <a:r>
              <a:rPr lang="es-ES" sz="1800">
                <a:solidFill>
                  <a:srgbClr val="003245"/>
                </a:solidFill>
                <a:latin typeface="Calibri"/>
                <a:ea typeface="Calibri"/>
                <a:cs typeface="Calibri"/>
                <a:sym typeface="Calibri"/>
              </a:rPr>
              <a:t> su </a:t>
            </a:r>
            <a:r>
              <a:rPr lang="es-ES" sz="1800" b="1">
                <a:solidFill>
                  <a:srgbClr val="003245"/>
                </a:solidFill>
                <a:latin typeface="Calibri"/>
                <a:ea typeface="Calibri"/>
                <a:cs typeface="Calibri"/>
                <a:sym typeface="Calibri"/>
              </a:rPr>
              <a:t>identidad </a:t>
            </a:r>
            <a:r>
              <a:rPr lang="es-ES" sz="1800">
                <a:solidFill>
                  <a:srgbClr val="003245"/>
                </a:solidFill>
                <a:latin typeface="Calibri"/>
                <a:ea typeface="Calibri"/>
                <a:cs typeface="Calibri"/>
                <a:sym typeface="Calibri"/>
              </a:rPr>
              <a:t>desde las fases iniciales del ataque </a:t>
            </a:r>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Borrar</a:t>
            </a:r>
            <a:r>
              <a:rPr lang="es-ES" sz="1800">
                <a:solidFill>
                  <a:srgbClr val="003245"/>
                </a:solidFill>
                <a:latin typeface="Calibri"/>
                <a:ea typeface="Calibri"/>
                <a:cs typeface="Calibri"/>
                <a:sym typeface="Calibri"/>
              </a:rPr>
              <a:t> sus </a:t>
            </a:r>
            <a:r>
              <a:rPr lang="es-ES" sz="1800" b="1">
                <a:solidFill>
                  <a:srgbClr val="003245"/>
                </a:solidFill>
                <a:latin typeface="Calibri"/>
                <a:ea typeface="Calibri"/>
                <a:cs typeface="Calibri"/>
                <a:sym typeface="Calibri"/>
              </a:rPr>
              <a:t>huellas</a:t>
            </a:r>
            <a:r>
              <a:rPr lang="es-ES" sz="1800">
                <a:solidFill>
                  <a:srgbClr val="003245"/>
                </a:solidFill>
                <a:latin typeface="Calibri"/>
                <a:ea typeface="Calibri"/>
                <a:cs typeface="Calibri"/>
                <a:sym typeface="Calibri"/>
              </a:rPr>
              <a:t> para dificultar posibles análisis forenses y lecciones aprendidas.</a:t>
            </a:r>
            <a:endParaRPr sz="1800">
              <a:solidFill>
                <a:schemeClr val="dk1"/>
              </a:solidFill>
              <a:latin typeface="Calibri"/>
              <a:ea typeface="Calibri"/>
              <a:cs typeface="Calibri"/>
              <a:sym typeface="Calibri"/>
            </a:endParaRPr>
          </a:p>
        </p:txBody>
      </p:sp>
      <p:pic>
        <p:nvPicPr>
          <p:cNvPr id="143" name="Google Shape;143;p9" descr="Hacker, Silueta, Hack, Anónimo, Anonimato"/>
          <p:cNvPicPr preferRelativeResize="0"/>
          <p:nvPr/>
        </p:nvPicPr>
        <p:blipFill rotWithShape="1">
          <a:blip r:embed="rId3">
            <a:alphaModFix/>
          </a:blip>
          <a:srcRect/>
          <a:stretch/>
        </p:blipFill>
        <p:spPr>
          <a:xfrm>
            <a:off x="3137835" y="2146471"/>
            <a:ext cx="5630779" cy="43313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0"/>
          <p:cNvSpPr txBox="1">
            <a:spLocks noGrp="1"/>
          </p:cNvSpPr>
          <p:nvPr>
            <p:ph type="title"/>
          </p:nvPr>
        </p:nvSpPr>
        <p:spPr>
          <a:xfrm>
            <a:off x="838200" y="7170"/>
            <a:ext cx="10515600" cy="61665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Técnicas </a:t>
            </a:r>
            <a:endParaRPr/>
          </a:p>
        </p:txBody>
      </p:sp>
      <p:sp>
        <p:nvSpPr>
          <p:cNvPr id="149" name="Google Shape;149;p10"/>
          <p:cNvSpPr txBox="1">
            <a:spLocks noGrp="1"/>
          </p:cNvSpPr>
          <p:nvPr>
            <p:ph type="body" idx="1"/>
          </p:nvPr>
        </p:nvSpPr>
        <p:spPr>
          <a:xfrm>
            <a:off x="257876" y="813554"/>
            <a:ext cx="11446443" cy="5406941"/>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87000"/>
              </a:lnSpc>
              <a:spcBef>
                <a:spcPts val="0"/>
              </a:spcBef>
              <a:spcAft>
                <a:spcPts val="0"/>
              </a:spcAft>
              <a:buClr>
                <a:schemeClr val="lt1"/>
              </a:buClr>
              <a:buSzPts val="1700"/>
              <a:buChar char="•"/>
            </a:pPr>
            <a:r>
              <a:rPr lang="es-ES" sz="1700">
                <a:solidFill>
                  <a:schemeClr val="lt1"/>
                </a:solidFill>
                <a:latin typeface="Calibri"/>
                <a:ea typeface="Calibri"/>
                <a:cs typeface="Calibri"/>
                <a:sym typeface="Calibri"/>
              </a:rPr>
              <a:t>La primera y más sencilla, aunque también por ello la menos utilizada, es el </a:t>
            </a:r>
            <a:r>
              <a:rPr lang="es-ES" sz="2465" b="1">
                <a:solidFill>
                  <a:schemeClr val="lt1"/>
                </a:solidFill>
                <a:latin typeface="Calibri"/>
                <a:ea typeface="Calibri"/>
                <a:cs typeface="Calibri"/>
                <a:sym typeface="Calibri"/>
              </a:rPr>
              <a:t>anonimato físico</a:t>
            </a:r>
            <a:r>
              <a:rPr lang="es-ES" sz="2465">
                <a:solidFill>
                  <a:schemeClr val="lt1"/>
                </a:solidFill>
                <a:latin typeface="Calibri"/>
                <a:ea typeface="Calibri"/>
                <a:cs typeface="Calibri"/>
                <a:sym typeface="Calibri"/>
              </a:rPr>
              <a:t>.  </a:t>
            </a:r>
            <a:r>
              <a:rPr lang="es-ES" sz="1700">
                <a:solidFill>
                  <a:schemeClr val="lt1"/>
                </a:solidFill>
                <a:latin typeface="Calibri"/>
                <a:ea typeface="Calibri"/>
                <a:cs typeface="Calibri"/>
                <a:sym typeface="Calibri"/>
              </a:rPr>
              <a:t>Es decir, el que consigue proteger la identidad del atacante porque este accede a la red desde un lugar público, desde un cibercafé, etc.</a:t>
            </a:r>
            <a:endParaRPr sz="1700">
              <a:solidFill>
                <a:schemeClr val="lt1"/>
              </a:solidFill>
              <a:latin typeface="Calibri"/>
              <a:ea typeface="Calibri"/>
              <a:cs typeface="Calibri"/>
              <a:sym typeface="Calibri"/>
            </a:endParaRPr>
          </a:p>
          <a:p>
            <a:pPr marL="228600" lvl="0" indent="-228600" algn="l" rtl="0">
              <a:lnSpc>
                <a:spcPct val="87000"/>
              </a:lnSpc>
              <a:spcBef>
                <a:spcPts val="1800"/>
              </a:spcBef>
              <a:spcAft>
                <a:spcPts val="0"/>
              </a:spcAft>
              <a:buClr>
                <a:schemeClr val="lt1"/>
              </a:buClr>
              <a:buSzPts val="1700"/>
              <a:buChar char="•"/>
            </a:pPr>
            <a:r>
              <a:rPr lang="es-ES" sz="1700">
                <a:solidFill>
                  <a:schemeClr val="lt1"/>
                </a:solidFill>
                <a:latin typeface="Calibri"/>
                <a:ea typeface="Calibri"/>
                <a:cs typeface="Calibri"/>
                <a:sym typeface="Calibri"/>
              </a:rPr>
              <a:t>La segunda es el anonimato </a:t>
            </a:r>
            <a:r>
              <a:rPr lang="es-ES" sz="2210" b="1">
                <a:solidFill>
                  <a:schemeClr val="lt1"/>
                </a:solidFill>
                <a:latin typeface="Calibri"/>
                <a:ea typeface="Calibri"/>
                <a:cs typeface="Calibri"/>
                <a:sym typeface="Calibri"/>
              </a:rPr>
              <a:t>por</a:t>
            </a:r>
            <a:r>
              <a:rPr lang="es-ES" sz="2210">
                <a:solidFill>
                  <a:schemeClr val="lt1"/>
                </a:solidFill>
                <a:latin typeface="Calibri"/>
                <a:ea typeface="Calibri"/>
                <a:cs typeface="Calibri"/>
                <a:sym typeface="Calibri"/>
              </a:rPr>
              <a:t> </a:t>
            </a:r>
            <a:r>
              <a:rPr lang="es-ES" sz="2210" b="1">
                <a:solidFill>
                  <a:schemeClr val="lt1"/>
                </a:solidFill>
                <a:latin typeface="Calibri"/>
                <a:ea typeface="Calibri"/>
                <a:cs typeface="Calibri"/>
                <a:sym typeface="Calibri"/>
              </a:rPr>
              <a:t>uso de bouncer o de equipo zombie</a:t>
            </a:r>
            <a:r>
              <a:rPr lang="es-ES" sz="1700">
                <a:solidFill>
                  <a:schemeClr val="lt1"/>
                </a:solidFill>
                <a:latin typeface="Calibri"/>
                <a:ea typeface="Calibri"/>
                <a:cs typeface="Calibri"/>
                <a:sym typeface="Calibri"/>
              </a:rPr>
              <a:t>, es decir, controlado por el atacante sin que lo sepa su propietario o administrador. El atacante toma el control sobre este sistema y lo utiliza como puerta de entrada para su conexión, de manera que se vea siempre como el origen de los ataques. Como tiene control total sobre este sistema, puede editar todos sus registros para borrar sus huellas y hacer el rastreo imposible. Para convertir a una víctima en un bouncer se explota alguna de sus vulnerabilidades, normalmente con algún software malicioso como un troyano.</a:t>
            </a:r>
            <a:endParaRPr sz="1700">
              <a:solidFill>
                <a:schemeClr val="lt1"/>
              </a:solidFill>
              <a:latin typeface="Calibri"/>
              <a:ea typeface="Calibri"/>
              <a:cs typeface="Calibri"/>
              <a:sym typeface="Calibri"/>
            </a:endParaRPr>
          </a:p>
          <a:p>
            <a:pPr marL="228600" lvl="0" indent="-228600" algn="l" rtl="0">
              <a:lnSpc>
                <a:spcPct val="87000"/>
              </a:lnSpc>
              <a:spcBef>
                <a:spcPts val="1800"/>
              </a:spcBef>
              <a:spcAft>
                <a:spcPts val="0"/>
              </a:spcAft>
              <a:buClr>
                <a:schemeClr val="lt1"/>
              </a:buClr>
              <a:buSzPts val="1700"/>
              <a:buChar char="•"/>
            </a:pPr>
            <a:r>
              <a:rPr lang="es-ES" sz="1700">
                <a:solidFill>
                  <a:schemeClr val="lt1"/>
                </a:solidFill>
                <a:latin typeface="Calibri"/>
                <a:ea typeface="Calibri"/>
                <a:cs typeface="Calibri"/>
                <a:sym typeface="Calibri"/>
              </a:rPr>
              <a:t>La tercera, </a:t>
            </a:r>
            <a:r>
              <a:rPr lang="es-ES" sz="2465" b="1">
                <a:solidFill>
                  <a:schemeClr val="lt1"/>
                </a:solidFill>
                <a:latin typeface="Calibri"/>
                <a:ea typeface="Calibri"/>
                <a:cs typeface="Calibri"/>
                <a:sym typeface="Calibri"/>
              </a:rPr>
              <a:t>con uso de proxy</a:t>
            </a:r>
            <a:r>
              <a:rPr lang="es-ES" sz="1700">
                <a:solidFill>
                  <a:schemeClr val="lt1"/>
                </a:solidFill>
                <a:latin typeface="Calibri"/>
                <a:ea typeface="Calibri"/>
                <a:cs typeface="Calibri"/>
                <a:sym typeface="Calibri"/>
              </a:rPr>
              <a:t>, es muy similar a ésta, ya que un proxy es una máquina, que normalmente mediante NAT, realiza funciones de intermediación, ocultando el origen de las comunicaciones. Por este motivo la víctima del ataque verá como origen de las comunicaciones al proxy, no al atacante. La mayor parte de los servidores proxy corporativos requieren de autenticación para evitar un uso malicioso. Pero por desgracia no siempre están protegidos adecuadamente.</a:t>
            </a:r>
            <a:endParaRPr sz="1700">
              <a:solidFill>
                <a:schemeClr val="lt1"/>
              </a:solidFill>
              <a:latin typeface="Calibri"/>
              <a:ea typeface="Calibri"/>
              <a:cs typeface="Calibri"/>
              <a:sym typeface="Calibri"/>
            </a:endParaRPr>
          </a:p>
          <a:p>
            <a:pPr marL="228600" lvl="0" indent="-228600" algn="l" rtl="0">
              <a:lnSpc>
                <a:spcPct val="87000"/>
              </a:lnSpc>
              <a:spcBef>
                <a:spcPts val="1800"/>
              </a:spcBef>
              <a:spcAft>
                <a:spcPts val="0"/>
              </a:spcAft>
              <a:buClr>
                <a:schemeClr val="lt1"/>
              </a:buClr>
              <a:buSzPts val="1700"/>
              <a:buChar char="•"/>
            </a:pPr>
            <a:r>
              <a:rPr lang="es-ES" sz="1700">
                <a:solidFill>
                  <a:schemeClr val="lt1"/>
                </a:solidFill>
                <a:latin typeface="Calibri"/>
                <a:ea typeface="Calibri"/>
                <a:cs typeface="Calibri"/>
                <a:sym typeface="Calibri"/>
              </a:rPr>
              <a:t>La cuarta y última es el </a:t>
            </a:r>
            <a:r>
              <a:rPr lang="es-ES" sz="2465" b="1">
                <a:solidFill>
                  <a:schemeClr val="lt1"/>
                </a:solidFill>
                <a:latin typeface="Calibri"/>
                <a:ea typeface="Calibri"/>
                <a:cs typeface="Calibri"/>
                <a:sym typeface="Calibri"/>
              </a:rPr>
              <a:t>uso de la deep web o Internet Profunda</a:t>
            </a:r>
            <a:r>
              <a:rPr lang="es-ES" sz="1700">
                <a:solidFill>
                  <a:schemeClr val="lt1"/>
                </a:solidFill>
                <a:latin typeface="Calibri"/>
                <a:ea typeface="Calibri"/>
                <a:cs typeface="Calibri"/>
                <a:sym typeface="Calibri"/>
              </a:rPr>
              <a:t>, gracias a proyectos como TOR (The Onion Router), I2P o Freenet. El más conocido y utilizado es todavía TOR, aunque las últimas noticias (desde las revelaciones de Snowden) han hecho sospechar a la comunidad hacker que esta red ya no es tan anónima como cabía pensar. El objetivo principal de este proyecto y de otros similares fue el desarrollo de una red de comunicaciones distribuida superpuesta sobre Internet en la que el encaminamiento de los mensajes intercambiados entre los usuarios no revela su identidad (su dirección IP) garantizando además la integridad y confidencialidad de estos mensajes.</a:t>
            </a:r>
            <a:endParaRPr sz="1700">
              <a:solidFill>
                <a:schemeClr val="lt1"/>
              </a:solidFill>
              <a:latin typeface="Calibri"/>
              <a:ea typeface="Calibri"/>
              <a:cs typeface="Calibri"/>
              <a:sym typeface="Calibri"/>
            </a:endParaRPr>
          </a:p>
          <a:p>
            <a:pPr marL="228600" lvl="0" indent="-180022" algn="l" rtl="0">
              <a:lnSpc>
                <a:spcPct val="70000"/>
              </a:lnSpc>
              <a:spcBef>
                <a:spcPts val="1800"/>
              </a:spcBef>
              <a:spcAft>
                <a:spcPts val="0"/>
              </a:spcAft>
              <a:buClr>
                <a:schemeClr val="dk1"/>
              </a:buClr>
              <a:buSzPts val="765"/>
              <a:buNone/>
            </a:pPr>
            <a:endParaRPr sz="765">
              <a:solidFill>
                <a:schemeClr val="lt1"/>
              </a:solidFill>
            </a:endParaRPr>
          </a:p>
        </p:txBody>
      </p:sp>
      <p:pic>
        <p:nvPicPr>
          <p:cNvPr id="150" name="Google Shape;150;p10" descr="Hacker, Ciberdelincuencia, De Seguridad, Internet"/>
          <p:cNvPicPr preferRelativeResize="0"/>
          <p:nvPr/>
        </p:nvPicPr>
        <p:blipFill rotWithShape="1">
          <a:blip r:embed="rId3">
            <a:alphaModFix/>
          </a:blip>
          <a:srcRect/>
          <a:stretch/>
        </p:blipFill>
        <p:spPr>
          <a:xfrm>
            <a:off x="10982425" y="1"/>
            <a:ext cx="1209575" cy="8063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p:nvPr/>
        </p:nvSpPr>
        <p:spPr>
          <a:xfrm>
            <a:off x="1465326" y="1045988"/>
            <a:ext cx="9507474" cy="4424609"/>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s-ES" sz="2800">
                <a:solidFill>
                  <a:srgbClr val="003245"/>
                </a:solidFill>
                <a:latin typeface="Times New Roman"/>
                <a:ea typeface="Times New Roman"/>
                <a:cs typeface="Times New Roman"/>
                <a:sym typeface="Times New Roman"/>
              </a:rPr>
              <a:t>En cuanto a las amenazas, estos serían algunos ejemplos:</a:t>
            </a:r>
            <a:endParaRPr sz="2400">
              <a:solidFill>
                <a:schemeClr val="dk1"/>
              </a:solidFill>
              <a:latin typeface="Calibri"/>
              <a:ea typeface="Calibri"/>
              <a:cs typeface="Calibri"/>
              <a:sym typeface="Calibri"/>
            </a:endParaRPr>
          </a:p>
          <a:p>
            <a:pPr marL="457200" marR="0" lvl="0" indent="-457200" algn="l" rtl="0">
              <a:lnSpc>
                <a:spcPct val="107000"/>
              </a:lnSpc>
              <a:spcBef>
                <a:spcPts val="1200"/>
              </a:spcBef>
              <a:spcAft>
                <a:spcPts val="0"/>
              </a:spcAft>
              <a:buClr>
                <a:srgbClr val="1E4E79"/>
              </a:buClr>
              <a:buSzPts val="1000"/>
              <a:buFont typeface="Noto Sans Symbols"/>
              <a:buChar char="❑"/>
            </a:pPr>
            <a:r>
              <a:rPr lang="es-ES" sz="2800" b="1">
                <a:solidFill>
                  <a:srgbClr val="1E4E79"/>
                </a:solidFill>
                <a:latin typeface="Times New Roman"/>
                <a:ea typeface="Times New Roman"/>
                <a:cs typeface="Times New Roman"/>
                <a:sym typeface="Times New Roman"/>
              </a:rPr>
              <a:t>Virus informáticos y malware en general.</a:t>
            </a:r>
            <a:endParaRPr sz="2400" b="1">
              <a:solidFill>
                <a:srgbClr val="1E4E79"/>
              </a:solidFill>
              <a:latin typeface="Calibri"/>
              <a:ea typeface="Calibri"/>
              <a:cs typeface="Calibri"/>
              <a:sym typeface="Calibri"/>
            </a:endParaRPr>
          </a:p>
          <a:p>
            <a:pPr marL="457200" marR="0" lvl="0" indent="-457200" algn="l" rtl="0">
              <a:lnSpc>
                <a:spcPct val="107000"/>
              </a:lnSpc>
              <a:spcBef>
                <a:spcPts val="800"/>
              </a:spcBef>
              <a:spcAft>
                <a:spcPts val="0"/>
              </a:spcAft>
              <a:buClr>
                <a:srgbClr val="1E4E79"/>
              </a:buClr>
              <a:buSzPts val="1000"/>
              <a:buFont typeface="Noto Sans Symbols"/>
              <a:buChar char="❑"/>
            </a:pPr>
            <a:r>
              <a:rPr lang="es-ES" sz="2800" b="1">
                <a:solidFill>
                  <a:srgbClr val="1E4E79"/>
                </a:solidFill>
                <a:latin typeface="Times New Roman"/>
                <a:ea typeface="Times New Roman"/>
                <a:cs typeface="Times New Roman"/>
                <a:sym typeface="Times New Roman"/>
              </a:rPr>
              <a:t>Daños físicos en los equipos y centros de datos (intencionados o por desastres naturales).</a:t>
            </a:r>
            <a:endParaRPr sz="2400" b="1">
              <a:solidFill>
                <a:srgbClr val="1E4E79"/>
              </a:solidFill>
              <a:latin typeface="Calibri"/>
              <a:ea typeface="Calibri"/>
              <a:cs typeface="Calibri"/>
              <a:sym typeface="Calibri"/>
            </a:endParaRPr>
          </a:p>
          <a:p>
            <a:pPr marL="457200" marR="0" lvl="0" indent="-457200" algn="l" rtl="0">
              <a:lnSpc>
                <a:spcPct val="107000"/>
              </a:lnSpc>
              <a:spcBef>
                <a:spcPts val="800"/>
              </a:spcBef>
              <a:spcAft>
                <a:spcPts val="0"/>
              </a:spcAft>
              <a:buClr>
                <a:srgbClr val="1E4E79"/>
              </a:buClr>
              <a:buSzPts val="1000"/>
              <a:buFont typeface="Noto Sans Symbols"/>
              <a:buChar char="❑"/>
            </a:pPr>
            <a:r>
              <a:rPr lang="es-ES" sz="2800" b="1">
                <a:solidFill>
                  <a:srgbClr val="1E4E79"/>
                </a:solidFill>
                <a:latin typeface="Times New Roman"/>
                <a:ea typeface="Times New Roman"/>
                <a:cs typeface="Times New Roman"/>
                <a:sym typeface="Times New Roman"/>
              </a:rPr>
              <a:t>Pérdida o robo de portátiles y dispositivos móviles.</a:t>
            </a:r>
            <a:endParaRPr sz="2400" b="1">
              <a:solidFill>
                <a:srgbClr val="1E4E79"/>
              </a:solidFill>
              <a:latin typeface="Calibri"/>
              <a:ea typeface="Calibri"/>
              <a:cs typeface="Calibri"/>
              <a:sym typeface="Calibri"/>
            </a:endParaRPr>
          </a:p>
          <a:p>
            <a:pPr marL="457200" marR="0" lvl="0" indent="-457200" algn="l" rtl="0">
              <a:lnSpc>
                <a:spcPct val="107000"/>
              </a:lnSpc>
              <a:spcBef>
                <a:spcPts val="800"/>
              </a:spcBef>
              <a:spcAft>
                <a:spcPts val="0"/>
              </a:spcAft>
              <a:buClr>
                <a:srgbClr val="1E4E79"/>
              </a:buClr>
              <a:buSzPts val="1000"/>
              <a:buFont typeface="Noto Sans Symbols"/>
              <a:buChar char="❑"/>
            </a:pPr>
            <a:r>
              <a:rPr lang="es-ES" sz="2800" b="1">
                <a:solidFill>
                  <a:srgbClr val="1E4E79"/>
                </a:solidFill>
                <a:latin typeface="Times New Roman"/>
                <a:ea typeface="Times New Roman"/>
                <a:cs typeface="Times New Roman"/>
                <a:sym typeface="Times New Roman"/>
              </a:rPr>
              <a:t>Brechas de datos.</a:t>
            </a:r>
            <a:endParaRPr sz="2400" b="1">
              <a:solidFill>
                <a:srgbClr val="1E4E79"/>
              </a:solidFill>
              <a:latin typeface="Calibri"/>
              <a:ea typeface="Calibri"/>
              <a:cs typeface="Calibri"/>
              <a:sym typeface="Calibri"/>
            </a:endParaRPr>
          </a:p>
          <a:p>
            <a:pPr marL="457200" marR="0" lvl="0" indent="-457200" algn="l" rtl="0">
              <a:lnSpc>
                <a:spcPct val="107000"/>
              </a:lnSpc>
              <a:spcBef>
                <a:spcPts val="800"/>
              </a:spcBef>
              <a:spcAft>
                <a:spcPts val="0"/>
              </a:spcAft>
              <a:buClr>
                <a:srgbClr val="1E4E79"/>
              </a:buClr>
              <a:buSzPts val="1000"/>
              <a:buFont typeface="Noto Sans Symbols"/>
              <a:buChar char="❑"/>
            </a:pPr>
            <a:r>
              <a:rPr lang="es-ES" sz="2800" b="1">
                <a:solidFill>
                  <a:srgbClr val="1E4E79"/>
                </a:solidFill>
                <a:latin typeface="Times New Roman"/>
                <a:ea typeface="Times New Roman"/>
                <a:cs typeface="Times New Roman"/>
                <a:sym typeface="Times New Roman"/>
              </a:rPr>
              <a:t>Denegaciones de servicio.</a:t>
            </a:r>
            <a:endParaRPr sz="2400" b="1">
              <a:solidFill>
                <a:srgbClr val="1E4E79"/>
              </a:solidFill>
              <a:latin typeface="Calibri"/>
              <a:ea typeface="Calibri"/>
              <a:cs typeface="Calibri"/>
              <a:sym typeface="Calibri"/>
            </a:endParaRPr>
          </a:p>
          <a:p>
            <a:pPr marL="457200" marR="0" lvl="0" indent="-457200" algn="l" rtl="0">
              <a:lnSpc>
                <a:spcPct val="107000"/>
              </a:lnSpc>
              <a:spcBef>
                <a:spcPts val="800"/>
              </a:spcBef>
              <a:spcAft>
                <a:spcPts val="0"/>
              </a:spcAft>
              <a:buClr>
                <a:srgbClr val="1E4E79"/>
              </a:buClr>
              <a:buSzPts val="1000"/>
              <a:buFont typeface="Noto Sans Symbols"/>
              <a:buChar char="❑"/>
            </a:pPr>
            <a:r>
              <a:rPr lang="es-ES" sz="2800" b="1">
                <a:solidFill>
                  <a:srgbClr val="1E4E79"/>
                </a:solidFill>
                <a:latin typeface="Times New Roman"/>
                <a:ea typeface="Times New Roman"/>
                <a:cs typeface="Times New Roman"/>
                <a:sym typeface="Times New Roman"/>
              </a:rPr>
              <a:t>Robo de identidad/credenciales.</a:t>
            </a:r>
            <a:endParaRPr sz="2400" b="1">
              <a:solidFill>
                <a:srgbClr val="1E4E79"/>
              </a:solidFill>
              <a:latin typeface="Calibri"/>
              <a:ea typeface="Calibri"/>
              <a:cs typeface="Calibri"/>
              <a:sym typeface="Calibri"/>
            </a:endParaRPr>
          </a:p>
        </p:txBody>
      </p:sp>
      <p:sp>
        <p:nvSpPr>
          <p:cNvPr id="156" name="Google Shape;156;p11"/>
          <p:cNvSpPr txBox="1"/>
          <p:nvPr/>
        </p:nvSpPr>
        <p:spPr>
          <a:xfrm>
            <a:off x="4555998" y="128016"/>
            <a:ext cx="27394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AMENAZAS INFORMATICAS</a:t>
            </a:r>
            <a:endParaRPr/>
          </a:p>
        </p:txBody>
      </p:sp>
      <p:pic>
        <p:nvPicPr>
          <p:cNvPr id="157" name="Google Shape;157;p11" descr="Star Wars – Darth Vader | Swarovski.com"/>
          <p:cNvPicPr preferRelativeResize="0"/>
          <p:nvPr/>
        </p:nvPicPr>
        <p:blipFill rotWithShape="1">
          <a:blip r:embed="rId3">
            <a:alphaModFix/>
          </a:blip>
          <a:srcRect/>
          <a:stretch/>
        </p:blipFill>
        <p:spPr>
          <a:xfrm>
            <a:off x="8333168" y="4023360"/>
            <a:ext cx="2313511" cy="23135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a:spLocks noGrp="1"/>
          </p:cNvSpPr>
          <p:nvPr>
            <p:ph type="title"/>
          </p:nvPr>
        </p:nvSpPr>
        <p:spPr>
          <a:xfrm>
            <a:off x="774192" y="104330"/>
            <a:ext cx="10515600" cy="57670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1.2 Tipos de ataques</a:t>
            </a:r>
            <a:endParaRPr/>
          </a:p>
        </p:txBody>
      </p:sp>
      <p:sp>
        <p:nvSpPr>
          <p:cNvPr id="163" name="Google Shape;163;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70000"/>
              </a:lnSpc>
              <a:spcBef>
                <a:spcPts val="0"/>
              </a:spcBef>
              <a:spcAft>
                <a:spcPts val="0"/>
              </a:spcAft>
              <a:buClr>
                <a:srgbClr val="222222"/>
              </a:buClr>
              <a:buSzPts val="2590"/>
              <a:buFont typeface="Arial"/>
              <a:buChar char="•"/>
            </a:pPr>
            <a:r>
              <a:rPr lang="es-ES" sz="2590" b="1" i="0">
                <a:solidFill>
                  <a:srgbClr val="222222"/>
                </a:solidFill>
                <a:latin typeface="Open Sans"/>
                <a:ea typeface="Open Sans"/>
                <a:cs typeface="Open Sans"/>
                <a:sym typeface="Open Sans"/>
              </a:rPr>
              <a:t>Interrupción: </a:t>
            </a:r>
            <a:r>
              <a:rPr lang="es-ES" sz="2590" b="0" i="0">
                <a:solidFill>
                  <a:srgbClr val="222222"/>
                </a:solidFill>
                <a:latin typeface="Open Sans"/>
                <a:ea typeface="Open Sans"/>
                <a:cs typeface="Open Sans"/>
                <a:sym typeface="Open Sans"/>
              </a:rPr>
              <a:t>Un recurso del sistema o de la red, deja de estar disponible debido al ataque.</a:t>
            </a:r>
            <a:endParaRPr/>
          </a:p>
          <a:p>
            <a:pPr marL="0" lvl="0" indent="0" algn="l" rtl="0">
              <a:lnSpc>
                <a:spcPct val="70000"/>
              </a:lnSpc>
              <a:spcBef>
                <a:spcPts val="1000"/>
              </a:spcBef>
              <a:spcAft>
                <a:spcPts val="0"/>
              </a:spcAft>
              <a:buClr>
                <a:schemeClr val="dk1"/>
              </a:buClr>
              <a:buSzPts val="2590"/>
              <a:buNone/>
            </a:pPr>
            <a:endParaRPr sz="2590" b="0" i="0">
              <a:solidFill>
                <a:srgbClr val="222222"/>
              </a:solidFill>
              <a:latin typeface="Open Sans"/>
              <a:ea typeface="Open Sans"/>
              <a:cs typeface="Open Sans"/>
              <a:sym typeface="Open Sans"/>
            </a:endParaRPr>
          </a:p>
          <a:p>
            <a:pPr marL="228600" lvl="0" indent="-228600" algn="l" rtl="0">
              <a:lnSpc>
                <a:spcPct val="70000"/>
              </a:lnSpc>
              <a:spcBef>
                <a:spcPts val="1000"/>
              </a:spcBef>
              <a:spcAft>
                <a:spcPts val="0"/>
              </a:spcAft>
              <a:buClr>
                <a:srgbClr val="222222"/>
              </a:buClr>
              <a:buSzPts val="2590"/>
              <a:buFont typeface="Arial"/>
              <a:buChar char="•"/>
            </a:pPr>
            <a:r>
              <a:rPr lang="es-ES" sz="2590" b="1" i="0">
                <a:solidFill>
                  <a:srgbClr val="222222"/>
                </a:solidFill>
                <a:latin typeface="Open Sans"/>
                <a:ea typeface="Open Sans"/>
                <a:cs typeface="Open Sans"/>
                <a:sym typeface="Open Sans"/>
              </a:rPr>
              <a:t>Modificación:</a:t>
            </a:r>
            <a:r>
              <a:rPr lang="es-ES" sz="2590" b="0" i="0">
                <a:solidFill>
                  <a:srgbClr val="222222"/>
                </a:solidFill>
                <a:latin typeface="Open Sans"/>
                <a:ea typeface="Open Sans"/>
                <a:cs typeface="Open Sans"/>
                <a:sym typeface="Open Sans"/>
              </a:rPr>
              <a:t> La información de la que se dispone, es modificada sin autorización y por lo tanto deja de ser válida.</a:t>
            </a:r>
            <a:endParaRPr/>
          </a:p>
          <a:p>
            <a:pPr marL="0" lvl="0" indent="0" algn="l" rtl="0">
              <a:lnSpc>
                <a:spcPct val="70000"/>
              </a:lnSpc>
              <a:spcBef>
                <a:spcPts val="1000"/>
              </a:spcBef>
              <a:spcAft>
                <a:spcPts val="0"/>
              </a:spcAft>
              <a:buClr>
                <a:schemeClr val="dk1"/>
              </a:buClr>
              <a:buSzPts val="2590"/>
              <a:buNone/>
            </a:pPr>
            <a:endParaRPr sz="2590" b="0" i="0">
              <a:solidFill>
                <a:srgbClr val="222222"/>
              </a:solidFill>
              <a:latin typeface="Open Sans"/>
              <a:ea typeface="Open Sans"/>
              <a:cs typeface="Open Sans"/>
              <a:sym typeface="Open Sans"/>
            </a:endParaRPr>
          </a:p>
          <a:p>
            <a:pPr marL="228600" lvl="0" indent="-228600" algn="l" rtl="0">
              <a:lnSpc>
                <a:spcPct val="70000"/>
              </a:lnSpc>
              <a:spcBef>
                <a:spcPts val="1000"/>
              </a:spcBef>
              <a:spcAft>
                <a:spcPts val="0"/>
              </a:spcAft>
              <a:buClr>
                <a:srgbClr val="222222"/>
              </a:buClr>
              <a:buSzPts val="2590"/>
              <a:buFont typeface="Arial"/>
              <a:buChar char="•"/>
            </a:pPr>
            <a:r>
              <a:rPr lang="es-ES" sz="2590" b="1" i="0">
                <a:solidFill>
                  <a:srgbClr val="222222"/>
                </a:solidFill>
                <a:latin typeface="Open Sans"/>
                <a:ea typeface="Open Sans"/>
                <a:cs typeface="Open Sans"/>
                <a:sym typeface="Open Sans"/>
              </a:rPr>
              <a:t>Intercepción:</a:t>
            </a:r>
            <a:r>
              <a:rPr lang="es-ES" sz="2590" b="0" i="0">
                <a:solidFill>
                  <a:srgbClr val="222222"/>
                </a:solidFill>
                <a:latin typeface="Open Sans"/>
                <a:ea typeface="Open Sans"/>
                <a:cs typeface="Open Sans"/>
                <a:sym typeface="Open Sans"/>
              </a:rPr>
              <a:t> El intruso accede a la información de nuestros equipos, o a la información que enviamos por la red.</a:t>
            </a:r>
            <a:endParaRPr/>
          </a:p>
          <a:p>
            <a:pPr marL="0" lvl="0" indent="0" algn="l" rtl="0">
              <a:lnSpc>
                <a:spcPct val="70000"/>
              </a:lnSpc>
              <a:spcBef>
                <a:spcPts val="1000"/>
              </a:spcBef>
              <a:spcAft>
                <a:spcPts val="0"/>
              </a:spcAft>
              <a:buClr>
                <a:schemeClr val="dk1"/>
              </a:buClr>
              <a:buSzPts val="2590"/>
              <a:buNone/>
            </a:pPr>
            <a:endParaRPr sz="2590" b="0" i="0">
              <a:solidFill>
                <a:srgbClr val="222222"/>
              </a:solidFill>
              <a:latin typeface="Open Sans"/>
              <a:ea typeface="Open Sans"/>
              <a:cs typeface="Open Sans"/>
              <a:sym typeface="Open Sans"/>
            </a:endParaRPr>
          </a:p>
          <a:p>
            <a:pPr marL="228600" lvl="0" indent="-228600" algn="l" rtl="0">
              <a:lnSpc>
                <a:spcPct val="70000"/>
              </a:lnSpc>
              <a:spcBef>
                <a:spcPts val="1000"/>
              </a:spcBef>
              <a:spcAft>
                <a:spcPts val="0"/>
              </a:spcAft>
              <a:buClr>
                <a:srgbClr val="222222"/>
              </a:buClr>
              <a:buSzPts val="2590"/>
              <a:buFont typeface="Arial"/>
              <a:buChar char="•"/>
            </a:pPr>
            <a:r>
              <a:rPr lang="es-ES" sz="2590" b="1" i="0">
                <a:solidFill>
                  <a:srgbClr val="222222"/>
                </a:solidFill>
                <a:latin typeface="Open Sans"/>
                <a:ea typeface="Open Sans"/>
                <a:cs typeface="Open Sans"/>
                <a:sym typeface="Open Sans"/>
              </a:rPr>
              <a:t>Fabricación:</a:t>
            </a:r>
            <a:r>
              <a:rPr lang="es-ES" sz="2590" b="0" i="0">
                <a:solidFill>
                  <a:srgbClr val="222222"/>
                </a:solidFill>
                <a:latin typeface="Open Sans"/>
                <a:ea typeface="Open Sans"/>
                <a:cs typeface="Open Sans"/>
                <a:sym typeface="Open Sans"/>
              </a:rPr>
              <a:t> Consiste en crear un producto que sea difícil de distinguir del autentico y que es utilizado para hacerse con la información confidencial de los usuarios.</a:t>
            </a:r>
            <a:endParaRPr/>
          </a:p>
          <a:p>
            <a:pPr marL="228600" lvl="0" indent="-64135" algn="l" rtl="0">
              <a:lnSpc>
                <a:spcPct val="70000"/>
              </a:lnSpc>
              <a:spcBef>
                <a:spcPts val="1000"/>
              </a:spcBef>
              <a:spcAft>
                <a:spcPts val="0"/>
              </a:spcAft>
              <a:buClr>
                <a:schemeClr val="dk1"/>
              </a:buClr>
              <a:buSzPts val="2590"/>
              <a:buNone/>
            </a:pPr>
            <a:endParaRPr sz="2590"/>
          </a:p>
        </p:txBody>
      </p:sp>
      <p:pic>
        <p:nvPicPr>
          <p:cNvPr id="164" name="Google Shape;164;p12" descr="JUGANDO Star Wars: El Imperio en Guerra - &quot;La Conquista de Hoth&quot; - YouTube"/>
          <p:cNvPicPr preferRelativeResize="0"/>
          <p:nvPr/>
        </p:nvPicPr>
        <p:blipFill rotWithShape="1">
          <a:blip r:embed="rId3">
            <a:alphaModFix/>
          </a:blip>
          <a:srcRect/>
          <a:stretch/>
        </p:blipFill>
        <p:spPr>
          <a:xfrm>
            <a:off x="8023098" y="59245"/>
            <a:ext cx="2857500" cy="160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3"/>
          <p:cNvSpPr txBox="1"/>
          <p:nvPr/>
        </p:nvSpPr>
        <p:spPr>
          <a:xfrm>
            <a:off x="329184" y="2909086"/>
            <a:ext cx="3326130" cy="966803"/>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s-ES" sz="1800" b="1">
                <a:solidFill>
                  <a:srgbClr val="003245"/>
                </a:solidFill>
                <a:latin typeface="Calibri"/>
                <a:ea typeface="Calibri"/>
                <a:cs typeface="Calibri"/>
                <a:sym typeface="Calibri"/>
              </a:rPr>
              <a:t>Por último, si nos centramos en vulnerabilidades, estos serían algunos ejemplos:</a:t>
            </a:r>
            <a:endParaRPr sz="1800" b="1">
              <a:solidFill>
                <a:schemeClr val="dk1"/>
              </a:solidFill>
              <a:latin typeface="Calibri"/>
              <a:ea typeface="Calibri"/>
              <a:cs typeface="Calibri"/>
              <a:sym typeface="Calibri"/>
            </a:endParaRPr>
          </a:p>
        </p:txBody>
      </p:sp>
      <p:sp>
        <p:nvSpPr>
          <p:cNvPr id="170" name="Google Shape;170;p13"/>
          <p:cNvSpPr txBox="1"/>
          <p:nvPr/>
        </p:nvSpPr>
        <p:spPr>
          <a:xfrm>
            <a:off x="1364742" y="196257"/>
            <a:ext cx="239437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1.3 VULNERABILIDADES</a:t>
            </a:r>
            <a:endParaRPr/>
          </a:p>
        </p:txBody>
      </p:sp>
      <p:sp>
        <p:nvSpPr>
          <p:cNvPr id="171" name="Google Shape;171;p13"/>
          <p:cNvSpPr txBox="1"/>
          <p:nvPr/>
        </p:nvSpPr>
        <p:spPr>
          <a:xfrm>
            <a:off x="587502" y="565589"/>
            <a:ext cx="1137285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202124"/>
                </a:solidFill>
                <a:latin typeface="arial"/>
                <a:ea typeface="arial"/>
                <a:cs typeface="arial"/>
                <a:sym typeface="arial"/>
              </a:rPr>
              <a:t>Una </a:t>
            </a:r>
            <a:r>
              <a:rPr lang="es-ES" sz="1800" b="1" i="0">
                <a:solidFill>
                  <a:srgbClr val="202124"/>
                </a:solidFill>
                <a:latin typeface="arial"/>
                <a:ea typeface="arial"/>
                <a:cs typeface="arial"/>
                <a:sym typeface="arial"/>
              </a:rPr>
              <a:t>vulnerabilidad</a:t>
            </a:r>
            <a:r>
              <a:rPr lang="es-ES" sz="1800" b="0" i="0">
                <a:solidFill>
                  <a:srgbClr val="202124"/>
                </a:solidFill>
                <a:latin typeface="arial"/>
                <a:ea typeface="arial"/>
                <a:cs typeface="arial"/>
                <a:sym typeface="arial"/>
              </a:rPr>
              <a:t> (en términos de </a:t>
            </a:r>
            <a:r>
              <a:rPr lang="es-ES" sz="1800" b="1" i="0">
                <a:solidFill>
                  <a:srgbClr val="202124"/>
                </a:solidFill>
                <a:latin typeface="arial"/>
                <a:ea typeface="arial"/>
                <a:cs typeface="arial"/>
                <a:sym typeface="arial"/>
              </a:rPr>
              <a:t>informática</a:t>
            </a:r>
            <a:r>
              <a:rPr lang="es-ES" sz="1800" b="0" i="0">
                <a:solidFill>
                  <a:srgbClr val="202124"/>
                </a:solidFill>
                <a:latin typeface="arial"/>
                <a:ea typeface="arial"/>
                <a:cs typeface="arial"/>
                <a:sym typeface="arial"/>
              </a:rPr>
              <a:t>) es una debilidad o fallo en un sistema de información que pone en riesgo la seguridad de la información pudiendo permitir que un atacante pueda comprometer la integridad, disponibilidad o confidencialidad de la misma, por lo que es necesario encontrarlas y eliminarlas</a:t>
            </a:r>
            <a:endParaRPr sz="1800">
              <a:solidFill>
                <a:schemeClr val="dk1"/>
              </a:solidFill>
              <a:latin typeface="Calibri"/>
              <a:ea typeface="Calibri"/>
              <a:cs typeface="Calibri"/>
              <a:sym typeface="Calibri"/>
            </a:endParaRPr>
          </a:p>
        </p:txBody>
      </p:sp>
      <p:grpSp>
        <p:nvGrpSpPr>
          <p:cNvPr id="172" name="Google Shape;172;p13"/>
          <p:cNvGrpSpPr/>
          <p:nvPr/>
        </p:nvGrpSpPr>
        <p:grpSpPr>
          <a:xfrm>
            <a:off x="3832352" y="1518416"/>
            <a:ext cx="8128000" cy="5260500"/>
            <a:chOff x="0" y="79083"/>
            <a:chExt cx="8128000" cy="5260500"/>
          </a:xfrm>
        </p:grpSpPr>
        <p:sp>
          <p:nvSpPr>
            <p:cNvPr id="173" name="Google Shape;173;p13"/>
            <p:cNvSpPr/>
            <p:nvPr/>
          </p:nvSpPr>
          <p:spPr>
            <a:xfrm>
              <a:off x="0" y="79083"/>
              <a:ext cx="8128000" cy="99450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3"/>
            <p:cNvSpPr txBox="1"/>
            <p:nvPr/>
          </p:nvSpPr>
          <p:spPr>
            <a:xfrm>
              <a:off x="48547" y="127630"/>
              <a:ext cx="8030906" cy="897406"/>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1000"/>
                <a:buFont typeface="Noto Sans Symbols"/>
                <a:buNone/>
              </a:pPr>
              <a:r>
                <a:rPr lang="es-ES" sz="2500" b="1">
                  <a:solidFill>
                    <a:schemeClr val="lt1"/>
                  </a:solidFill>
                  <a:latin typeface="Calibri"/>
                  <a:ea typeface="Calibri"/>
                  <a:cs typeface="Calibri"/>
                  <a:sym typeface="Calibri"/>
                </a:rPr>
                <a:t>Formulario</a:t>
              </a:r>
              <a:r>
                <a:rPr lang="es-ES" sz="2500" b="1">
                  <a:solidFill>
                    <a:schemeClr val="lt1"/>
                  </a:solidFill>
                  <a:latin typeface="Times New Roman"/>
                  <a:ea typeface="Times New Roman"/>
                  <a:cs typeface="Times New Roman"/>
                  <a:sym typeface="Times New Roman"/>
                </a:rPr>
                <a:t> web que no </a:t>
              </a:r>
              <a:r>
                <a:rPr lang="es-ES" sz="2500" b="1">
                  <a:solidFill>
                    <a:schemeClr val="lt1"/>
                  </a:solidFill>
                  <a:latin typeface="Calibri"/>
                  <a:ea typeface="Calibri"/>
                  <a:cs typeface="Calibri"/>
                  <a:sym typeface="Calibri"/>
                </a:rPr>
                <a:t>comprueba los parámetros introducidos por el usuario.</a:t>
              </a:r>
              <a:endParaRPr sz="2500">
                <a:solidFill>
                  <a:schemeClr val="lt1"/>
                </a:solidFill>
                <a:latin typeface="Calibri"/>
                <a:ea typeface="Calibri"/>
                <a:cs typeface="Calibri"/>
                <a:sym typeface="Calibri"/>
              </a:endParaRPr>
            </a:p>
          </p:txBody>
        </p:sp>
        <p:sp>
          <p:nvSpPr>
            <p:cNvPr id="175" name="Google Shape;175;p13"/>
            <p:cNvSpPr/>
            <p:nvPr/>
          </p:nvSpPr>
          <p:spPr>
            <a:xfrm>
              <a:off x="0" y="1145583"/>
              <a:ext cx="8128000" cy="99450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3"/>
            <p:cNvSpPr txBox="1"/>
            <p:nvPr/>
          </p:nvSpPr>
          <p:spPr>
            <a:xfrm>
              <a:off x="48547" y="1194130"/>
              <a:ext cx="8030906" cy="897406"/>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Calibri"/>
                <a:buNone/>
              </a:pPr>
              <a:r>
                <a:rPr lang="es-ES" sz="2500" b="1">
                  <a:solidFill>
                    <a:schemeClr val="lt1"/>
                  </a:solidFill>
                  <a:latin typeface="Calibri"/>
                  <a:ea typeface="Calibri"/>
                  <a:cs typeface="Calibri"/>
                  <a:sym typeface="Calibri"/>
                </a:rPr>
                <a:t>Mala ubicación de un servidor de base de datos dentro de la red corporativa.</a:t>
              </a:r>
              <a:endParaRPr sz="2500" b="1">
                <a:solidFill>
                  <a:schemeClr val="lt1"/>
                </a:solidFill>
                <a:latin typeface="Calibri"/>
                <a:ea typeface="Calibri"/>
                <a:cs typeface="Calibri"/>
                <a:sym typeface="Calibri"/>
              </a:endParaRPr>
            </a:p>
          </p:txBody>
        </p:sp>
        <p:sp>
          <p:nvSpPr>
            <p:cNvPr id="177" name="Google Shape;177;p13"/>
            <p:cNvSpPr/>
            <p:nvPr/>
          </p:nvSpPr>
          <p:spPr>
            <a:xfrm>
              <a:off x="0" y="2212083"/>
              <a:ext cx="8128000" cy="994500"/>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3"/>
            <p:cNvSpPr txBox="1"/>
            <p:nvPr/>
          </p:nvSpPr>
          <p:spPr>
            <a:xfrm>
              <a:off x="48547" y="2260630"/>
              <a:ext cx="8030906" cy="897406"/>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Calibri"/>
                <a:buNone/>
              </a:pPr>
              <a:r>
                <a:rPr lang="es-ES" sz="2500" b="1">
                  <a:solidFill>
                    <a:schemeClr val="lt1"/>
                  </a:solidFill>
                  <a:latin typeface="Calibri"/>
                  <a:ea typeface="Calibri"/>
                  <a:cs typeface="Calibri"/>
                  <a:sym typeface="Calibri"/>
                </a:rPr>
                <a:t>Hardware obsoleto y sistemas operativos sin actualizar.</a:t>
              </a:r>
              <a:endParaRPr sz="2500" b="1">
                <a:solidFill>
                  <a:schemeClr val="lt1"/>
                </a:solidFill>
                <a:latin typeface="Calibri"/>
                <a:ea typeface="Calibri"/>
                <a:cs typeface="Calibri"/>
                <a:sym typeface="Calibri"/>
              </a:endParaRPr>
            </a:p>
          </p:txBody>
        </p:sp>
        <p:sp>
          <p:nvSpPr>
            <p:cNvPr id="179" name="Google Shape;179;p13"/>
            <p:cNvSpPr/>
            <p:nvPr/>
          </p:nvSpPr>
          <p:spPr>
            <a:xfrm>
              <a:off x="0" y="3278583"/>
              <a:ext cx="8128000" cy="994500"/>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3"/>
            <p:cNvSpPr txBox="1"/>
            <p:nvPr/>
          </p:nvSpPr>
          <p:spPr>
            <a:xfrm>
              <a:off x="48547" y="3327130"/>
              <a:ext cx="8030906" cy="897406"/>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Calibri"/>
                <a:buNone/>
              </a:pPr>
              <a:r>
                <a:rPr lang="es-ES" sz="2500" b="1">
                  <a:solidFill>
                    <a:schemeClr val="lt1"/>
                  </a:solidFill>
                  <a:latin typeface="Calibri"/>
                  <a:ea typeface="Calibri"/>
                  <a:cs typeface="Calibri"/>
                  <a:sym typeface="Calibri"/>
                </a:rPr>
                <a:t>Ausencia de copias de seguridad.</a:t>
              </a:r>
              <a:endParaRPr sz="2500" b="1">
                <a:solidFill>
                  <a:schemeClr val="lt1"/>
                </a:solidFill>
                <a:latin typeface="Calibri"/>
                <a:ea typeface="Calibri"/>
                <a:cs typeface="Calibri"/>
                <a:sym typeface="Calibri"/>
              </a:endParaRPr>
            </a:p>
          </p:txBody>
        </p:sp>
        <p:sp>
          <p:nvSpPr>
            <p:cNvPr id="181" name="Google Shape;181;p13"/>
            <p:cNvSpPr/>
            <p:nvPr/>
          </p:nvSpPr>
          <p:spPr>
            <a:xfrm>
              <a:off x="0" y="4345083"/>
              <a:ext cx="8128000" cy="994500"/>
            </a:xfrm>
            <a:prstGeom prst="roundRect">
              <a:avLst>
                <a:gd name="adj" fmla="val 16667"/>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p:cNvSpPr txBox="1"/>
            <p:nvPr/>
          </p:nvSpPr>
          <p:spPr>
            <a:xfrm>
              <a:off x="48547" y="4393630"/>
              <a:ext cx="8030906" cy="897406"/>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Calibri"/>
                <a:buNone/>
              </a:pPr>
              <a:r>
                <a:rPr lang="es-ES" sz="2500" b="1">
                  <a:solidFill>
                    <a:schemeClr val="lt1"/>
                  </a:solidFill>
                  <a:latin typeface="Calibri"/>
                  <a:ea typeface="Calibri"/>
                  <a:cs typeface="Calibri"/>
                  <a:sym typeface="Calibri"/>
                </a:rPr>
                <a:t>Cuentas de usuario mal configuradas.</a:t>
              </a:r>
              <a:endParaRPr sz="2500" b="1">
                <a:solidFill>
                  <a:schemeClr val="lt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4"/>
          <p:cNvSpPr txBox="1">
            <a:spLocks noGrp="1"/>
          </p:cNvSpPr>
          <p:nvPr>
            <p:ph type="title"/>
          </p:nvPr>
        </p:nvSpPr>
        <p:spPr>
          <a:xfrm>
            <a:off x="2529840" y="99949"/>
            <a:ext cx="10515600" cy="38468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TIPOS DE VULNERABILIDADES</a:t>
            </a:r>
            <a:endParaRPr/>
          </a:p>
        </p:txBody>
      </p:sp>
      <p:sp>
        <p:nvSpPr>
          <p:cNvPr id="188" name="Google Shape;188;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189" name="Google Shape;189;p14" descr="Tipos de Vulnerabilidades"/>
          <p:cNvPicPr preferRelativeResize="0"/>
          <p:nvPr/>
        </p:nvPicPr>
        <p:blipFill rotWithShape="1">
          <a:blip r:embed="rId3">
            <a:alphaModFix/>
          </a:blip>
          <a:srcRect l="9654" t="21284" r="8462" b="45557"/>
          <a:stretch/>
        </p:blipFill>
        <p:spPr>
          <a:xfrm>
            <a:off x="603503" y="925226"/>
            <a:ext cx="5761667" cy="5832825"/>
          </a:xfrm>
          <a:prstGeom prst="rect">
            <a:avLst/>
          </a:prstGeom>
          <a:noFill/>
          <a:ln>
            <a:noFill/>
          </a:ln>
        </p:spPr>
      </p:pic>
      <p:pic>
        <p:nvPicPr>
          <p:cNvPr id="190" name="Google Shape;190;p14" descr="Tipos de Vulnerabilidades"/>
          <p:cNvPicPr preferRelativeResize="0"/>
          <p:nvPr/>
        </p:nvPicPr>
        <p:blipFill rotWithShape="1">
          <a:blip r:embed="rId3">
            <a:alphaModFix/>
          </a:blip>
          <a:srcRect l="9654" t="53087" r="8462" b="10653"/>
          <a:stretch/>
        </p:blipFill>
        <p:spPr>
          <a:xfrm>
            <a:off x="6599867" y="876459"/>
            <a:ext cx="5312861" cy="58815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5"/>
          <p:cNvSpPr txBox="1">
            <a:spLocks noGrp="1"/>
          </p:cNvSpPr>
          <p:nvPr>
            <p:ph type="title"/>
          </p:nvPr>
        </p:nvSpPr>
        <p:spPr>
          <a:xfrm>
            <a:off x="0" y="18255"/>
            <a:ext cx="12281837"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CICLO DE VIDA DE UNA VULNERABILIDAD DE CODIGO</a:t>
            </a:r>
            <a:endParaRPr/>
          </a:p>
        </p:txBody>
      </p:sp>
      <p:grpSp>
        <p:nvGrpSpPr>
          <p:cNvPr id="196" name="Google Shape;196;p15"/>
          <p:cNvGrpSpPr/>
          <p:nvPr/>
        </p:nvGrpSpPr>
        <p:grpSpPr>
          <a:xfrm>
            <a:off x="2213867" y="828582"/>
            <a:ext cx="7594219" cy="5917768"/>
            <a:chOff x="2473749" y="-162820"/>
            <a:chExt cx="7594219" cy="5917768"/>
          </a:xfrm>
        </p:grpSpPr>
        <p:sp>
          <p:nvSpPr>
            <p:cNvPr id="197" name="Google Shape;197;p15"/>
            <p:cNvSpPr/>
            <p:nvPr/>
          </p:nvSpPr>
          <p:spPr>
            <a:xfrm>
              <a:off x="3545900" y="-162820"/>
              <a:ext cx="5449916" cy="5449916"/>
            </a:xfrm>
            <a:custGeom>
              <a:avLst/>
              <a:gdLst/>
              <a:ahLst/>
              <a:cxnLst/>
              <a:rect l="l" t="t" r="r" b="b"/>
              <a:pathLst>
                <a:path w="120000" h="120000" extrusionOk="0">
                  <a:moveTo>
                    <a:pt x="89493" y="11242"/>
                  </a:moveTo>
                  <a:lnTo>
                    <a:pt x="89493" y="11242"/>
                  </a:lnTo>
                  <a:cubicBezTo>
                    <a:pt x="109366" y="23262"/>
                    <a:pt x="119955" y="46141"/>
                    <a:pt x="116258" y="69070"/>
                  </a:cubicBezTo>
                  <a:cubicBezTo>
                    <a:pt x="112561" y="91999"/>
                    <a:pt x="95319" y="110390"/>
                    <a:pt x="72676" y="115557"/>
                  </a:cubicBezTo>
                  <a:cubicBezTo>
                    <a:pt x="50033" y="120723"/>
                    <a:pt x="26520" y="111630"/>
                    <a:pt x="13244" y="92574"/>
                  </a:cubicBezTo>
                  <a:cubicBezTo>
                    <a:pt x="-33" y="73517"/>
                    <a:pt x="-415" y="48310"/>
                    <a:pt x="12277" y="28860"/>
                  </a:cubicBezTo>
                  <a:lnTo>
                    <a:pt x="9889" y="27031"/>
                  </a:lnTo>
                  <a:lnTo>
                    <a:pt x="16984" y="27053"/>
                  </a:lnTo>
                  <a:lnTo>
                    <a:pt x="19124" y="34105"/>
                  </a:lnTo>
                  <a:lnTo>
                    <a:pt x="16738" y="32277"/>
                  </a:lnTo>
                  <a:cubicBezTo>
                    <a:pt x="5460" y="49877"/>
                    <a:pt x="5967" y="72555"/>
                    <a:pt x="18022" y="89632"/>
                  </a:cubicBezTo>
                  <a:cubicBezTo>
                    <a:pt x="30077" y="106709"/>
                    <a:pt x="51276" y="114782"/>
                    <a:pt x="71636" y="110048"/>
                  </a:cubicBezTo>
                  <a:cubicBezTo>
                    <a:pt x="91997" y="105314"/>
                    <a:pt x="107460" y="88717"/>
                    <a:pt x="110745" y="68074"/>
                  </a:cubicBezTo>
                  <a:cubicBezTo>
                    <a:pt x="114029" y="47430"/>
                    <a:pt x="104480" y="26854"/>
                    <a:pt x="86594" y="16035"/>
                  </a:cubicBezTo>
                  <a:close/>
                </a:path>
              </a:pathLst>
            </a:cu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5"/>
            <p:cNvSpPr/>
            <p:nvPr/>
          </p:nvSpPr>
          <p:spPr>
            <a:xfrm>
              <a:off x="4430631" y="957"/>
              <a:ext cx="3680455" cy="1840227"/>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5"/>
            <p:cNvSpPr txBox="1"/>
            <p:nvPr/>
          </p:nvSpPr>
          <p:spPr>
            <a:xfrm>
              <a:off x="4520463" y="90789"/>
              <a:ext cx="3500791" cy="1660563"/>
            </a:xfrm>
            <a:prstGeom prst="rect">
              <a:avLst/>
            </a:prstGeom>
            <a:no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chemeClr val="lt1"/>
                </a:buClr>
                <a:buSzPts val="1500"/>
                <a:buFont typeface="Calibri"/>
                <a:buNone/>
              </a:pPr>
              <a:r>
                <a:rPr lang="es-ES" sz="1500">
                  <a:solidFill>
                    <a:schemeClr val="lt1"/>
                  </a:solidFill>
                  <a:latin typeface="Calibri"/>
                  <a:ea typeface="Calibri"/>
                  <a:cs typeface="Calibri"/>
                  <a:sym typeface="Calibri"/>
                </a:rPr>
                <a:t>Detección y descripción de la vulnerabilidad con su CVE-ID. Se trata de un estándar de nomenclatura de vulnerabilidades con el fin de facilitar el intercambio de información entre diferentes bases de datos y herramientas.</a:t>
              </a:r>
              <a:endParaRPr sz="1500">
                <a:solidFill>
                  <a:schemeClr val="lt1"/>
                </a:solidFill>
                <a:latin typeface="Calibri"/>
                <a:ea typeface="Calibri"/>
                <a:cs typeface="Calibri"/>
                <a:sym typeface="Calibri"/>
              </a:endParaRPr>
            </a:p>
          </p:txBody>
        </p:sp>
        <p:sp>
          <p:nvSpPr>
            <p:cNvPr id="200" name="Google Shape;200;p15"/>
            <p:cNvSpPr/>
            <p:nvPr/>
          </p:nvSpPr>
          <p:spPr>
            <a:xfrm>
              <a:off x="6387513" y="1957839"/>
              <a:ext cx="3680455" cy="1840227"/>
            </a:xfrm>
            <a:prstGeom prst="roundRect">
              <a:avLst>
                <a:gd name="adj" fmla="val 16667"/>
              </a:avLst>
            </a:prstGeom>
            <a:solidFill>
              <a:srgbClr val="D07A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5"/>
            <p:cNvSpPr txBox="1"/>
            <p:nvPr/>
          </p:nvSpPr>
          <p:spPr>
            <a:xfrm>
              <a:off x="6477345" y="2047671"/>
              <a:ext cx="3500791" cy="1660563"/>
            </a:xfrm>
            <a:prstGeom prst="rect">
              <a:avLst/>
            </a:prstGeom>
            <a:no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chemeClr val="lt1"/>
                </a:buClr>
                <a:buSzPts val="1500"/>
                <a:buFont typeface="Calibri"/>
                <a:buNone/>
              </a:pPr>
              <a:r>
                <a:rPr lang="es-ES" sz="1500">
                  <a:solidFill>
                    <a:schemeClr val="lt1"/>
                  </a:solidFill>
                  <a:latin typeface="Calibri"/>
                  <a:ea typeface="Calibri"/>
                  <a:cs typeface="Calibri"/>
                  <a:sym typeface="Calibri"/>
                </a:rPr>
                <a:t>Implementación de la explotación de la vulnerabilidad del sistema (desarrollo de exploits).</a:t>
              </a:r>
              <a:endParaRPr sz="1500">
                <a:solidFill>
                  <a:schemeClr val="lt1"/>
                </a:solidFill>
                <a:latin typeface="Calibri"/>
                <a:ea typeface="Calibri"/>
                <a:cs typeface="Calibri"/>
                <a:sym typeface="Calibri"/>
              </a:endParaRPr>
            </a:p>
          </p:txBody>
        </p:sp>
        <p:sp>
          <p:nvSpPr>
            <p:cNvPr id="202" name="Google Shape;202;p15"/>
            <p:cNvSpPr/>
            <p:nvPr/>
          </p:nvSpPr>
          <p:spPr>
            <a:xfrm>
              <a:off x="4430631" y="3914721"/>
              <a:ext cx="3680455" cy="1840227"/>
            </a:xfrm>
            <a:prstGeom prst="roundRect">
              <a:avLst>
                <a:gd name="adj" fmla="val 16667"/>
              </a:avLst>
            </a:prstGeom>
            <a:solidFill>
              <a:srgbClr val="B8888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5"/>
            <p:cNvSpPr txBox="1"/>
            <p:nvPr/>
          </p:nvSpPr>
          <p:spPr>
            <a:xfrm>
              <a:off x="4520463" y="4004553"/>
              <a:ext cx="3500791" cy="1660563"/>
            </a:xfrm>
            <a:prstGeom prst="rect">
              <a:avLst/>
            </a:prstGeom>
            <a:no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chemeClr val="lt1"/>
                </a:buClr>
                <a:buSzPts val="1500"/>
                <a:buFont typeface="Calibri"/>
                <a:buNone/>
              </a:pPr>
              <a:r>
                <a:rPr lang="es-ES" sz="1500">
                  <a:solidFill>
                    <a:schemeClr val="lt1"/>
                  </a:solidFill>
                  <a:latin typeface="Calibri"/>
                  <a:ea typeface="Calibri"/>
                  <a:cs typeface="Calibri"/>
                  <a:sym typeface="Calibri"/>
                </a:rPr>
                <a:t>Solución al problema.</a:t>
              </a:r>
              <a:endParaRPr sz="1500">
                <a:solidFill>
                  <a:schemeClr val="lt1"/>
                </a:solidFill>
                <a:latin typeface="Calibri"/>
                <a:ea typeface="Calibri"/>
                <a:cs typeface="Calibri"/>
                <a:sym typeface="Calibri"/>
              </a:endParaRPr>
            </a:p>
          </p:txBody>
        </p:sp>
        <p:sp>
          <p:nvSpPr>
            <p:cNvPr id="204" name="Google Shape;204;p15"/>
            <p:cNvSpPr/>
            <p:nvPr/>
          </p:nvSpPr>
          <p:spPr>
            <a:xfrm>
              <a:off x="2473749" y="1957839"/>
              <a:ext cx="3680455" cy="1840227"/>
            </a:xfrm>
            <a:prstGeom prst="roundRect">
              <a:avLst>
                <a:gd name="adj" fmla="val 16667"/>
              </a:avLst>
            </a:prstGeom>
            <a:solidFill>
              <a:srgbClr val="A4A4A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5"/>
            <p:cNvSpPr txBox="1"/>
            <p:nvPr/>
          </p:nvSpPr>
          <p:spPr>
            <a:xfrm>
              <a:off x="2563581" y="2047671"/>
              <a:ext cx="3500791" cy="1660563"/>
            </a:xfrm>
            <a:prstGeom prst="rect">
              <a:avLst/>
            </a:prstGeom>
            <a:no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chemeClr val="lt1"/>
                </a:buClr>
                <a:buSzPts val="1500"/>
                <a:buFont typeface="Calibri"/>
                <a:buNone/>
              </a:pPr>
              <a:r>
                <a:rPr lang="es-ES" sz="1500">
                  <a:solidFill>
                    <a:schemeClr val="lt1"/>
                  </a:solidFill>
                  <a:latin typeface="Calibri"/>
                  <a:ea typeface="Calibri"/>
                  <a:cs typeface="Calibri"/>
                  <a:sym typeface="Calibri"/>
                </a:rPr>
                <a:t>Generación de parche de actualización o de nueva versión del código.</a:t>
              </a:r>
              <a:endParaRPr sz="1500">
                <a:solidFill>
                  <a:schemeClr val="lt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VULNERABILIDAD DE ZERO-DAY</a:t>
            </a:r>
            <a:endParaRPr/>
          </a:p>
        </p:txBody>
      </p:sp>
      <p:sp>
        <p:nvSpPr>
          <p:cNvPr id="211" name="Google Shape;2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07000"/>
              </a:lnSpc>
              <a:spcBef>
                <a:spcPts val="0"/>
              </a:spcBef>
              <a:spcAft>
                <a:spcPts val="0"/>
              </a:spcAft>
              <a:buClr>
                <a:srgbClr val="003245"/>
              </a:buClr>
              <a:buSzPts val="2000"/>
              <a:buChar char="•"/>
            </a:pPr>
            <a:r>
              <a:rPr lang="es-ES" sz="2000">
                <a:solidFill>
                  <a:srgbClr val="003245"/>
                </a:solidFill>
                <a:latin typeface="Calibri"/>
                <a:ea typeface="Calibri"/>
                <a:cs typeface="Calibri"/>
                <a:sym typeface="Calibri"/>
              </a:rPr>
              <a:t>Existen diferentes </a:t>
            </a:r>
            <a:r>
              <a:rPr lang="es-ES" sz="2000" b="1">
                <a:solidFill>
                  <a:srgbClr val="003245"/>
                </a:solidFill>
                <a:latin typeface="Calibri"/>
                <a:ea typeface="Calibri"/>
                <a:cs typeface="Calibri"/>
                <a:sym typeface="Calibri"/>
              </a:rPr>
              <a:t>listas/bases de datos de vulnerabilidades</a:t>
            </a:r>
            <a:r>
              <a:rPr lang="es-ES" sz="2000">
                <a:solidFill>
                  <a:srgbClr val="003245"/>
                </a:solidFill>
                <a:latin typeface="Calibri"/>
                <a:ea typeface="Calibri"/>
                <a:cs typeface="Calibri"/>
                <a:sym typeface="Calibri"/>
              </a:rPr>
              <a:t>: horizontales (genéricas, casi todas son subconjuntos del CVE) y verticales (sectoriales). Estas bases de datos deben ser consultadas con regularidad por auditores y administradores para conocer las amenazas a las que se están exponiendo los activos.  </a:t>
            </a:r>
            <a:endParaRPr sz="2000">
              <a:latin typeface="Calibri"/>
              <a:ea typeface="Calibri"/>
              <a:cs typeface="Calibri"/>
              <a:sym typeface="Calibri"/>
            </a:endParaRPr>
          </a:p>
          <a:p>
            <a:pPr marL="228600" lvl="0" indent="-228600" algn="l" rtl="0">
              <a:lnSpc>
                <a:spcPct val="107000"/>
              </a:lnSpc>
              <a:spcBef>
                <a:spcPts val="1800"/>
              </a:spcBef>
              <a:spcAft>
                <a:spcPts val="0"/>
              </a:spcAft>
              <a:buClr>
                <a:srgbClr val="003245"/>
              </a:buClr>
              <a:buSzPts val="2000"/>
              <a:buChar char="•"/>
            </a:pPr>
            <a:r>
              <a:rPr lang="es-ES" sz="2000">
                <a:solidFill>
                  <a:srgbClr val="003245"/>
                </a:solidFill>
                <a:latin typeface="Calibri"/>
                <a:ea typeface="Calibri"/>
                <a:cs typeface="Calibri"/>
                <a:sym typeface="Calibri"/>
              </a:rPr>
              <a:t>Se conoce como </a:t>
            </a:r>
            <a:r>
              <a:rPr lang="es-ES" b="1">
                <a:solidFill>
                  <a:srgbClr val="003245"/>
                </a:solidFill>
                <a:latin typeface="Calibri"/>
                <a:ea typeface="Calibri"/>
                <a:cs typeface="Calibri"/>
                <a:sym typeface="Calibri"/>
              </a:rPr>
              <a:t>vulnerabilidad de zero day o 0-day</a:t>
            </a:r>
            <a:r>
              <a:rPr lang="es-ES">
                <a:solidFill>
                  <a:srgbClr val="003245"/>
                </a:solidFill>
                <a:latin typeface="Calibri"/>
                <a:ea typeface="Calibri"/>
                <a:cs typeface="Calibri"/>
                <a:sym typeface="Calibri"/>
              </a:rPr>
              <a:t> </a:t>
            </a:r>
            <a:r>
              <a:rPr lang="es-ES" sz="2000">
                <a:solidFill>
                  <a:srgbClr val="003245"/>
                </a:solidFill>
                <a:latin typeface="Calibri"/>
                <a:ea typeface="Calibri"/>
                <a:cs typeface="Calibri"/>
                <a:sym typeface="Calibri"/>
              </a:rPr>
              <a:t>(vulnerabilidad de día 0) a la situación que aparece cuando sólo una persona (o muy pocas personas) conocen una vulnerabilidad y están en una situación de ventaja para poder explotarla. Es decir, la persona que ha encontrado la vulnerabilidad no la ha hecho pública, de modo que ni el fabricante ni los administradores/usuarios son conocedores del problema. Los atacantes más avanzados suelen dejar de explotar una vulnerabilidad de día cero una vez que esta se hace pública y se remedia, para evitar ser detectados, buscan emplear una vulnerabilidad alternativa. </a:t>
            </a:r>
            <a:endParaRPr sz="3200">
              <a:latin typeface="Calibri"/>
              <a:ea typeface="Calibri"/>
              <a:cs typeface="Calibri"/>
              <a:sym typeface="Calibri"/>
            </a:endParaRPr>
          </a:p>
        </p:txBody>
      </p:sp>
      <p:pic>
        <p:nvPicPr>
          <p:cNvPr id="212" name="Google Shape;212;p16" descr="Hackers rusos han pirateado entidades diplomáticas en la UE, según  Kaspersky - AS.com"/>
          <p:cNvPicPr preferRelativeResize="0"/>
          <p:nvPr/>
        </p:nvPicPr>
        <p:blipFill rotWithShape="1">
          <a:blip r:embed="rId3">
            <a:alphaModFix/>
          </a:blip>
          <a:srcRect/>
          <a:stretch/>
        </p:blipFill>
        <p:spPr>
          <a:xfrm>
            <a:off x="8831070" y="230188"/>
            <a:ext cx="2596445" cy="1460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7"/>
          <p:cNvSpPr txBox="1">
            <a:spLocks noGrp="1"/>
          </p:cNvSpPr>
          <p:nvPr>
            <p:ph type="title"/>
          </p:nvPr>
        </p:nvSpPr>
        <p:spPr>
          <a:xfrm>
            <a:off x="2694432" y="1"/>
            <a:ext cx="10515600" cy="50292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1.4  ANÁLISIS DE RIESGO Y PREVENCIÓN</a:t>
            </a:r>
            <a:endParaRPr/>
          </a:p>
        </p:txBody>
      </p:sp>
      <p:grpSp>
        <p:nvGrpSpPr>
          <p:cNvPr id="218" name="Google Shape;218;p17"/>
          <p:cNvGrpSpPr/>
          <p:nvPr/>
        </p:nvGrpSpPr>
        <p:grpSpPr>
          <a:xfrm>
            <a:off x="2307880" y="504609"/>
            <a:ext cx="8133022" cy="6760564"/>
            <a:chOff x="2408464" y="1689"/>
            <a:chExt cx="8133022" cy="6760564"/>
          </a:xfrm>
        </p:grpSpPr>
        <p:sp>
          <p:nvSpPr>
            <p:cNvPr id="219" name="Google Shape;219;p17"/>
            <p:cNvSpPr/>
            <p:nvPr/>
          </p:nvSpPr>
          <p:spPr>
            <a:xfrm>
              <a:off x="6798006" y="15176"/>
              <a:ext cx="1278205" cy="127820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7"/>
            <p:cNvSpPr txBox="1"/>
            <p:nvPr/>
          </p:nvSpPr>
          <p:spPr>
            <a:xfrm>
              <a:off x="6798006" y="15176"/>
              <a:ext cx="1278205" cy="1278205"/>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ES" sz="2000">
                  <a:solidFill>
                    <a:schemeClr val="dk1"/>
                  </a:solidFill>
                  <a:latin typeface="Calibri"/>
                  <a:ea typeface="Calibri"/>
                  <a:cs typeface="Calibri"/>
                  <a:sym typeface="Calibri"/>
                </a:rPr>
                <a:t>GESTIONAR EL RIESGO</a:t>
              </a:r>
              <a:endParaRPr/>
            </a:p>
          </p:txBody>
        </p:sp>
        <p:sp>
          <p:nvSpPr>
            <p:cNvPr id="221" name="Google Shape;221;p17"/>
            <p:cNvSpPr/>
            <p:nvPr/>
          </p:nvSpPr>
          <p:spPr>
            <a:xfrm>
              <a:off x="2883782" y="1689"/>
              <a:ext cx="6251115" cy="6251115"/>
            </a:xfrm>
            <a:custGeom>
              <a:avLst/>
              <a:gdLst/>
              <a:ahLst/>
              <a:cxnLst/>
              <a:rect l="l" t="t" r="r" b="b"/>
              <a:pathLst>
                <a:path w="120000" h="120000" extrusionOk="0">
                  <a:moveTo>
                    <a:pt x="101120" y="20801"/>
                  </a:moveTo>
                  <a:lnTo>
                    <a:pt x="101120" y="20801"/>
                  </a:lnTo>
                  <a:cubicBezTo>
                    <a:pt x="107237" y="27219"/>
                    <a:pt x="111768" y="34979"/>
                    <a:pt x="114349" y="43461"/>
                  </a:cubicBezTo>
                  <a:lnTo>
                    <a:pt x="117452" y="42748"/>
                  </a:lnTo>
                  <a:lnTo>
                    <a:pt x="113037" y="47821"/>
                  </a:lnTo>
                  <a:lnTo>
                    <a:pt x="106571" y="45247"/>
                  </a:lnTo>
                  <a:lnTo>
                    <a:pt x="109674" y="44534"/>
                  </a:lnTo>
                  <a:lnTo>
                    <a:pt x="109674" y="44534"/>
                  </a:lnTo>
                  <a:cubicBezTo>
                    <a:pt x="107293" y="36890"/>
                    <a:pt x="103181" y="29898"/>
                    <a:pt x="97657" y="24103"/>
                  </a:cubicBezTo>
                  <a:close/>
                </a:path>
              </a:pathLst>
            </a:cu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7"/>
            <p:cNvSpPr/>
            <p:nvPr/>
          </p:nvSpPr>
          <p:spPr>
            <a:xfrm>
              <a:off x="7188267" y="2488144"/>
              <a:ext cx="3353219" cy="127820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7"/>
            <p:cNvSpPr txBox="1"/>
            <p:nvPr/>
          </p:nvSpPr>
          <p:spPr>
            <a:xfrm>
              <a:off x="7188267" y="2488144"/>
              <a:ext cx="3353219" cy="1278205"/>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ES" sz="2000">
                  <a:solidFill>
                    <a:schemeClr val="dk1"/>
                  </a:solidFill>
                  <a:latin typeface="Calibri"/>
                  <a:ea typeface="Calibri"/>
                  <a:cs typeface="Calibri"/>
                  <a:sym typeface="Calibri"/>
                </a:rPr>
                <a:t>INVENTARIAR ACTIVOS</a:t>
              </a:r>
              <a:endParaRPr/>
            </a:p>
          </p:txBody>
        </p:sp>
        <p:sp>
          <p:nvSpPr>
            <p:cNvPr id="224" name="Google Shape;224;p17"/>
            <p:cNvSpPr/>
            <p:nvPr/>
          </p:nvSpPr>
          <p:spPr>
            <a:xfrm>
              <a:off x="2883782" y="1689"/>
              <a:ext cx="6251115" cy="6251115"/>
            </a:xfrm>
            <a:custGeom>
              <a:avLst/>
              <a:gdLst/>
              <a:ahLst/>
              <a:cxnLst/>
              <a:rect l="l" t="t" r="r" b="b"/>
              <a:pathLst>
                <a:path w="120000" h="120000" extrusionOk="0">
                  <a:moveTo>
                    <a:pt x="115369" y="72715"/>
                  </a:moveTo>
                  <a:lnTo>
                    <a:pt x="115369" y="72715"/>
                  </a:lnTo>
                  <a:cubicBezTo>
                    <a:pt x="113384" y="81356"/>
                    <a:pt x="109405" y="89413"/>
                    <a:pt x="103749" y="96240"/>
                  </a:cubicBezTo>
                  <a:lnTo>
                    <a:pt x="106054" y="98437"/>
                  </a:lnTo>
                  <a:lnTo>
                    <a:pt x="99388" y="97548"/>
                  </a:lnTo>
                  <a:lnTo>
                    <a:pt x="97973" y="90734"/>
                  </a:lnTo>
                  <a:lnTo>
                    <a:pt x="100277" y="92930"/>
                  </a:lnTo>
                  <a:cubicBezTo>
                    <a:pt x="105345" y="86732"/>
                    <a:pt x="108914" y="79447"/>
                    <a:pt x="110706" y="71644"/>
                  </a:cubicBezTo>
                  <a:close/>
                </a:path>
              </a:pathLst>
            </a:cu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7"/>
            <p:cNvSpPr/>
            <p:nvPr/>
          </p:nvSpPr>
          <p:spPr>
            <a:xfrm>
              <a:off x="6798006" y="4961112"/>
              <a:ext cx="1278205" cy="127820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7"/>
            <p:cNvSpPr txBox="1"/>
            <p:nvPr/>
          </p:nvSpPr>
          <p:spPr>
            <a:xfrm>
              <a:off x="6798006" y="4961112"/>
              <a:ext cx="1278205" cy="1278205"/>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ES" sz="2000">
                  <a:solidFill>
                    <a:schemeClr val="dk1"/>
                  </a:solidFill>
                  <a:latin typeface="Calibri"/>
                  <a:ea typeface="Calibri"/>
                  <a:cs typeface="Calibri"/>
                  <a:sym typeface="Calibri"/>
                </a:rPr>
                <a:t>IDENTIFICAR AMENAZAS</a:t>
              </a:r>
              <a:endParaRPr/>
            </a:p>
          </p:txBody>
        </p:sp>
        <p:sp>
          <p:nvSpPr>
            <p:cNvPr id="227" name="Google Shape;227;p17"/>
            <p:cNvSpPr/>
            <p:nvPr/>
          </p:nvSpPr>
          <p:spPr>
            <a:xfrm>
              <a:off x="2408464" y="185602"/>
              <a:ext cx="6251115" cy="6251115"/>
            </a:xfrm>
            <a:custGeom>
              <a:avLst/>
              <a:gdLst/>
              <a:ahLst/>
              <a:cxnLst/>
              <a:rect l="l" t="t" r="r" b="b"/>
              <a:pathLst>
                <a:path w="120000" h="120000" extrusionOk="0">
                  <a:moveTo>
                    <a:pt x="85146" y="110941"/>
                  </a:moveTo>
                  <a:lnTo>
                    <a:pt x="85146" y="110941"/>
                  </a:lnTo>
                  <a:cubicBezTo>
                    <a:pt x="79083" y="113934"/>
                    <a:pt x="72535" y="115821"/>
                    <a:pt x="65809" y="116512"/>
                  </a:cubicBezTo>
                  <a:lnTo>
                    <a:pt x="65913" y="119694"/>
                  </a:lnTo>
                  <a:lnTo>
                    <a:pt x="61782" y="114388"/>
                  </a:lnTo>
                  <a:lnTo>
                    <a:pt x="65548" y="108536"/>
                  </a:lnTo>
                  <a:lnTo>
                    <a:pt x="65652" y="111717"/>
                  </a:lnTo>
                  <a:lnTo>
                    <a:pt x="65652" y="111717"/>
                  </a:lnTo>
                  <a:cubicBezTo>
                    <a:pt x="71696" y="111057"/>
                    <a:pt x="77577" y="109342"/>
                    <a:pt x="83029" y="106651"/>
                  </a:cubicBezTo>
                  <a:close/>
                </a:path>
              </a:pathLst>
            </a:cu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7"/>
            <p:cNvSpPr/>
            <p:nvPr/>
          </p:nvSpPr>
          <p:spPr>
            <a:xfrm>
              <a:off x="2678394" y="4923009"/>
              <a:ext cx="2949115" cy="127820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7"/>
            <p:cNvSpPr txBox="1"/>
            <p:nvPr/>
          </p:nvSpPr>
          <p:spPr>
            <a:xfrm>
              <a:off x="2678394" y="4923009"/>
              <a:ext cx="2949115" cy="1278205"/>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ES" sz="2000">
                  <a:solidFill>
                    <a:schemeClr val="dk1"/>
                  </a:solidFill>
                  <a:latin typeface="Calibri"/>
                  <a:ea typeface="Calibri"/>
                  <a:cs typeface="Calibri"/>
                  <a:sym typeface="Calibri"/>
                </a:rPr>
                <a:t>ANALIZAR VULNERABILIDADES</a:t>
              </a:r>
              <a:endParaRPr/>
            </a:p>
          </p:txBody>
        </p:sp>
        <p:sp>
          <p:nvSpPr>
            <p:cNvPr id="230" name="Google Shape;230;p17"/>
            <p:cNvSpPr/>
            <p:nvPr/>
          </p:nvSpPr>
          <p:spPr>
            <a:xfrm>
              <a:off x="2953275" y="511138"/>
              <a:ext cx="6251115" cy="6251115"/>
            </a:xfrm>
            <a:custGeom>
              <a:avLst/>
              <a:gdLst/>
              <a:ahLst/>
              <a:cxnLst/>
              <a:rect l="l" t="t" r="r" b="b"/>
              <a:pathLst>
                <a:path w="120000" h="120000" extrusionOk="0">
                  <a:moveTo>
                    <a:pt x="9280" y="85591"/>
                  </a:moveTo>
                  <a:lnTo>
                    <a:pt x="9280" y="85591"/>
                  </a:lnTo>
                  <a:cubicBezTo>
                    <a:pt x="6269" y="79621"/>
                    <a:pt x="4334" y="73167"/>
                    <a:pt x="3566" y="66525"/>
                  </a:cubicBezTo>
                  <a:lnTo>
                    <a:pt x="385" y="66669"/>
                  </a:lnTo>
                  <a:lnTo>
                    <a:pt x="5639" y="62471"/>
                  </a:lnTo>
                  <a:lnTo>
                    <a:pt x="11539" y="66162"/>
                  </a:lnTo>
                  <a:lnTo>
                    <a:pt x="8358" y="66307"/>
                  </a:lnTo>
                  <a:cubicBezTo>
                    <a:pt x="9087" y="72274"/>
                    <a:pt x="10844" y="78069"/>
                    <a:pt x="13552" y="83436"/>
                  </a:cubicBezTo>
                  <a:close/>
                </a:path>
              </a:pathLst>
            </a:cu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7"/>
            <p:cNvSpPr/>
            <p:nvPr/>
          </p:nvSpPr>
          <p:spPr>
            <a:xfrm>
              <a:off x="2514700" y="2488144"/>
              <a:ext cx="1278205" cy="127820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7"/>
            <p:cNvSpPr txBox="1"/>
            <p:nvPr/>
          </p:nvSpPr>
          <p:spPr>
            <a:xfrm>
              <a:off x="2514700" y="2488144"/>
              <a:ext cx="1278205" cy="1278205"/>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ES" sz="2000">
                  <a:solidFill>
                    <a:schemeClr val="dk1"/>
                  </a:solidFill>
                  <a:latin typeface="Calibri"/>
                  <a:ea typeface="Calibri"/>
                  <a:cs typeface="Calibri"/>
                  <a:sym typeface="Calibri"/>
                </a:rPr>
                <a:t>EVALUAR EL RIESGO</a:t>
              </a:r>
              <a:endParaRPr/>
            </a:p>
          </p:txBody>
        </p:sp>
        <p:sp>
          <p:nvSpPr>
            <p:cNvPr id="233" name="Google Shape;233;p17"/>
            <p:cNvSpPr/>
            <p:nvPr/>
          </p:nvSpPr>
          <p:spPr>
            <a:xfrm>
              <a:off x="2883782" y="1689"/>
              <a:ext cx="6251115" cy="6251115"/>
            </a:xfrm>
            <a:custGeom>
              <a:avLst/>
              <a:gdLst/>
              <a:ahLst/>
              <a:cxnLst/>
              <a:rect l="l" t="t" r="r" b="b"/>
              <a:pathLst>
                <a:path w="120000" h="120000" extrusionOk="0">
                  <a:moveTo>
                    <a:pt x="4631" y="47285"/>
                  </a:moveTo>
                  <a:cubicBezTo>
                    <a:pt x="6341" y="39841"/>
                    <a:pt x="9534" y="32818"/>
                    <a:pt x="14019" y="26637"/>
                  </a:cubicBezTo>
                  <a:lnTo>
                    <a:pt x="11578" y="24592"/>
                  </a:lnTo>
                  <a:lnTo>
                    <a:pt x="18288" y="25052"/>
                  </a:lnTo>
                  <a:lnTo>
                    <a:pt x="20137" y="31762"/>
                  </a:lnTo>
                  <a:lnTo>
                    <a:pt x="17696" y="29717"/>
                  </a:lnTo>
                  <a:lnTo>
                    <a:pt x="17696" y="29717"/>
                  </a:lnTo>
                  <a:cubicBezTo>
                    <a:pt x="13690" y="35313"/>
                    <a:pt x="10835" y="41649"/>
                    <a:pt x="9294" y="48356"/>
                  </a:cubicBezTo>
                  <a:close/>
                </a:path>
              </a:pathLst>
            </a:cu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7"/>
            <p:cNvSpPr/>
            <p:nvPr/>
          </p:nvSpPr>
          <p:spPr>
            <a:xfrm>
              <a:off x="3154634" y="15176"/>
              <a:ext cx="2853875" cy="127820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7"/>
            <p:cNvSpPr txBox="1"/>
            <p:nvPr/>
          </p:nvSpPr>
          <p:spPr>
            <a:xfrm>
              <a:off x="3154634" y="15176"/>
              <a:ext cx="2853875" cy="1278205"/>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ES" sz="2000">
                  <a:solidFill>
                    <a:schemeClr val="dk1"/>
                  </a:solidFill>
                  <a:latin typeface="Calibri"/>
                  <a:ea typeface="Calibri"/>
                  <a:cs typeface="Calibri"/>
                  <a:sym typeface="Calibri"/>
                </a:rPr>
                <a:t>PRIORIZAR CONTRAMEDIDAS</a:t>
              </a:r>
              <a:endParaRPr/>
            </a:p>
          </p:txBody>
        </p:sp>
        <p:sp>
          <p:nvSpPr>
            <p:cNvPr id="236" name="Google Shape;236;p17"/>
            <p:cNvSpPr/>
            <p:nvPr/>
          </p:nvSpPr>
          <p:spPr>
            <a:xfrm>
              <a:off x="2883782" y="1689"/>
              <a:ext cx="6251115" cy="6251115"/>
            </a:xfrm>
            <a:custGeom>
              <a:avLst/>
              <a:gdLst/>
              <a:ahLst/>
              <a:cxnLst/>
              <a:rect l="l" t="t" r="r" b="b"/>
              <a:pathLst>
                <a:path w="120000" h="120000" extrusionOk="0">
                  <a:moveTo>
                    <a:pt x="59983" y="3190"/>
                  </a:moveTo>
                  <a:lnTo>
                    <a:pt x="59983" y="3190"/>
                  </a:lnTo>
                  <a:cubicBezTo>
                    <a:pt x="63972" y="3189"/>
                    <a:pt x="67950" y="3608"/>
                    <a:pt x="71850" y="4440"/>
                  </a:cubicBezTo>
                  <a:lnTo>
                    <a:pt x="72730" y="1380"/>
                  </a:lnTo>
                  <a:lnTo>
                    <a:pt x="75029" y="7699"/>
                  </a:lnTo>
                  <a:lnTo>
                    <a:pt x="69646" y="12110"/>
                  </a:lnTo>
                  <a:lnTo>
                    <a:pt x="70525" y="9050"/>
                  </a:lnTo>
                  <a:lnTo>
                    <a:pt x="70525" y="9050"/>
                  </a:lnTo>
                  <a:cubicBezTo>
                    <a:pt x="67058" y="8334"/>
                    <a:pt x="63526" y="7974"/>
                    <a:pt x="59985" y="7975"/>
                  </a:cubicBezTo>
                  <a:close/>
                </a:path>
              </a:pathLst>
            </a:cu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8"/>
          <p:cNvSpPr txBox="1">
            <a:spLocks noGrp="1"/>
          </p:cNvSpPr>
          <p:nvPr>
            <p:ph type="title"/>
          </p:nvPr>
        </p:nvSpPr>
        <p:spPr>
          <a:xfrm>
            <a:off x="765048" y="0"/>
            <a:ext cx="10515600" cy="49441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PREVENCION</a:t>
            </a:r>
            <a:endParaRPr/>
          </a:p>
        </p:txBody>
      </p:sp>
      <p:sp>
        <p:nvSpPr>
          <p:cNvPr id="242" name="Google Shape;242;p18"/>
          <p:cNvSpPr txBox="1">
            <a:spLocks noGrp="1"/>
          </p:cNvSpPr>
          <p:nvPr>
            <p:ph type="body" idx="1"/>
          </p:nvPr>
        </p:nvSpPr>
        <p:spPr>
          <a:xfrm>
            <a:off x="500514" y="723991"/>
            <a:ext cx="11822115" cy="5291797"/>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107000"/>
              </a:lnSpc>
              <a:spcBef>
                <a:spcPts val="0"/>
              </a:spcBef>
              <a:spcAft>
                <a:spcPts val="0"/>
              </a:spcAft>
              <a:buClr>
                <a:srgbClr val="00B5CC"/>
              </a:buClr>
              <a:buSzPts val="3200"/>
              <a:buNone/>
            </a:pPr>
            <a:r>
              <a:rPr lang="es-ES" sz="3200" b="1">
                <a:solidFill>
                  <a:srgbClr val="00B5CC"/>
                </a:solidFill>
                <a:latin typeface="Calibri"/>
                <a:ea typeface="Calibri"/>
                <a:cs typeface="Calibri"/>
                <a:sym typeface="Calibri"/>
              </a:rPr>
              <a:t>SISTEMAS</a:t>
            </a:r>
            <a:endParaRPr sz="3200">
              <a:latin typeface="Calibri"/>
              <a:ea typeface="Calibri"/>
              <a:cs typeface="Calibri"/>
              <a:sym typeface="Calibri"/>
            </a:endParaRPr>
          </a:p>
          <a:p>
            <a:pPr marL="342900" lvl="0" indent="-342900" algn="l" rtl="0">
              <a:lnSpc>
                <a:spcPct val="107000"/>
              </a:lnSpc>
              <a:spcBef>
                <a:spcPts val="2200"/>
              </a:spcBef>
              <a:spcAft>
                <a:spcPts val="0"/>
              </a:spcAft>
              <a:buClr>
                <a:srgbClr val="003245"/>
              </a:buClr>
              <a:buSzPts val="3200"/>
              <a:buChar char="•"/>
            </a:pPr>
            <a:r>
              <a:rPr lang="es-ES" sz="3200">
                <a:solidFill>
                  <a:srgbClr val="003245"/>
                </a:solidFill>
                <a:latin typeface="Calibri"/>
                <a:ea typeface="Calibri"/>
                <a:cs typeface="Calibri"/>
                <a:sym typeface="Calibri"/>
              </a:rPr>
              <a:t>1º La </a:t>
            </a:r>
            <a:r>
              <a:rPr lang="es-ES" sz="3200" b="1">
                <a:solidFill>
                  <a:srgbClr val="003245"/>
                </a:solidFill>
                <a:latin typeface="Calibri"/>
                <a:ea typeface="Calibri"/>
                <a:cs typeface="Calibri"/>
                <a:sym typeface="Calibri"/>
              </a:rPr>
              <a:t>incorporación de sistemas de segmentación y monitorización de tráfico de red y/o sistemas de detección y/o prevención de intrusos (IDS/IPS)</a:t>
            </a:r>
            <a:r>
              <a:rPr lang="es-ES" sz="3200">
                <a:solidFill>
                  <a:srgbClr val="003245"/>
                </a:solidFill>
                <a:latin typeface="Calibri"/>
                <a:ea typeface="Calibri"/>
                <a:cs typeface="Calibri"/>
                <a:sym typeface="Calibri"/>
              </a:rPr>
              <a:t>es una primera contramedida básica que puede utilizarse siempre y cuando:</a:t>
            </a:r>
            <a:endParaRPr sz="32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Aº Se puedan habilitar </a:t>
            </a:r>
            <a:r>
              <a:rPr lang="es-ES" sz="3200" b="1">
                <a:solidFill>
                  <a:srgbClr val="003245"/>
                </a:solidFill>
                <a:latin typeface="Calibri"/>
                <a:ea typeface="Calibri"/>
                <a:cs typeface="Calibri"/>
                <a:sym typeface="Calibri"/>
              </a:rPr>
              <a:t>servidores virtuales</a:t>
            </a:r>
            <a:r>
              <a:rPr lang="es-ES" sz="3200">
                <a:solidFill>
                  <a:srgbClr val="003245"/>
                </a:solidFill>
                <a:latin typeface="Calibri"/>
                <a:ea typeface="Calibri"/>
                <a:cs typeface="Calibri"/>
                <a:sym typeface="Calibri"/>
              </a:rPr>
              <a:t> en los que se puedan comprobar que los paquetes de información no han sido alterados.</a:t>
            </a:r>
            <a:endParaRPr sz="3200">
              <a:latin typeface="Calibri"/>
              <a:ea typeface="Calibri"/>
              <a:cs typeface="Calibri"/>
              <a:sym typeface="Calibri"/>
            </a:endParaRPr>
          </a:p>
          <a:p>
            <a:pPr marL="409575" lvl="0" indent="0" algn="l" rtl="0">
              <a:lnSpc>
                <a:spcPct val="107000"/>
              </a:lnSpc>
              <a:spcBef>
                <a:spcPts val="1800"/>
              </a:spcBef>
              <a:spcAft>
                <a:spcPts val="0"/>
              </a:spcAft>
              <a:buClr>
                <a:srgbClr val="003245"/>
              </a:buClr>
              <a:buSzPts val="3200"/>
              <a:buNone/>
            </a:pPr>
            <a:r>
              <a:rPr lang="es-ES" sz="3200">
                <a:solidFill>
                  <a:srgbClr val="003245"/>
                </a:solidFill>
                <a:latin typeface="Calibri"/>
                <a:ea typeface="Calibri"/>
                <a:cs typeface="Calibri"/>
                <a:sym typeface="Calibri"/>
              </a:rPr>
              <a:t>Bº Confiar en </a:t>
            </a:r>
            <a:r>
              <a:rPr lang="es-ES" sz="3200" b="1">
                <a:solidFill>
                  <a:srgbClr val="003245"/>
                </a:solidFill>
                <a:latin typeface="Calibri"/>
                <a:ea typeface="Calibri"/>
                <a:cs typeface="Calibri"/>
                <a:sym typeface="Calibri"/>
              </a:rPr>
              <a:t>soluciones anti-malware</a:t>
            </a:r>
            <a:r>
              <a:rPr lang="es-ES" sz="3200">
                <a:solidFill>
                  <a:srgbClr val="003245"/>
                </a:solidFill>
                <a:latin typeface="Calibri"/>
                <a:ea typeface="Calibri"/>
                <a:cs typeface="Calibri"/>
                <a:sym typeface="Calibri"/>
              </a:rPr>
              <a:t> completas y complejas.</a:t>
            </a:r>
            <a:endParaRPr sz="3200">
              <a:latin typeface="Calibri"/>
              <a:ea typeface="Calibri"/>
              <a:cs typeface="Calibri"/>
              <a:sym typeface="Calibri"/>
            </a:endParaRPr>
          </a:p>
          <a:p>
            <a:pPr marL="228600" lvl="0" indent="0" algn="l" rtl="0">
              <a:lnSpc>
                <a:spcPct val="90000"/>
              </a:lnSpc>
              <a:spcBef>
                <a:spcPts val="1800"/>
              </a:spcBef>
              <a:spcAft>
                <a:spcPts val="0"/>
              </a:spcAft>
              <a:buClr>
                <a:schemeClr val="dk1"/>
              </a:buClr>
              <a:buSzPts val="4000"/>
              <a:buNone/>
            </a:pPr>
            <a:endParaRPr sz="4000"/>
          </a:p>
        </p:txBody>
      </p:sp>
      <p:pic>
        <p:nvPicPr>
          <p:cNvPr id="243" name="Google Shape;243;p18" descr="Apple, Dispositivos De Apple"/>
          <p:cNvPicPr preferRelativeResize="0"/>
          <p:nvPr/>
        </p:nvPicPr>
        <p:blipFill rotWithShape="1">
          <a:blip r:embed="rId3">
            <a:alphaModFix/>
          </a:blip>
          <a:srcRect/>
          <a:stretch/>
        </p:blipFill>
        <p:spPr>
          <a:xfrm>
            <a:off x="9856269" y="102937"/>
            <a:ext cx="2191452" cy="146096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9"/>
          <p:cNvSpPr txBox="1">
            <a:spLocks noGrp="1"/>
          </p:cNvSpPr>
          <p:nvPr>
            <p:ph type="body" idx="1"/>
          </p:nvPr>
        </p:nvSpPr>
        <p:spPr>
          <a:xfrm>
            <a:off x="128815" y="638628"/>
            <a:ext cx="11934370" cy="6219371"/>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107000"/>
              </a:lnSpc>
              <a:spcBef>
                <a:spcPts val="0"/>
              </a:spcBef>
              <a:spcAft>
                <a:spcPts val="0"/>
              </a:spcAft>
              <a:buClr>
                <a:srgbClr val="00B5CC"/>
              </a:buClr>
              <a:buSzPts val="2500"/>
              <a:buNone/>
            </a:pPr>
            <a:r>
              <a:rPr lang="es-ES" sz="2500" b="1">
                <a:solidFill>
                  <a:srgbClr val="00B5CC"/>
                </a:solidFill>
                <a:latin typeface="Calibri"/>
                <a:ea typeface="Calibri"/>
                <a:cs typeface="Calibri"/>
                <a:sym typeface="Calibri"/>
              </a:rPr>
              <a:t>PROCESOS</a:t>
            </a:r>
            <a:endParaRPr sz="2500">
              <a:latin typeface="Calibri"/>
              <a:ea typeface="Calibri"/>
              <a:cs typeface="Calibri"/>
              <a:sym typeface="Calibri"/>
            </a:endParaRPr>
          </a:p>
          <a:p>
            <a:pPr marL="342900" lvl="0" indent="-342900" algn="l" rtl="0">
              <a:lnSpc>
                <a:spcPct val="107000"/>
              </a:lnSpc>
              <a:spcBef>
                <a:spcPts val="2200"/>
              </a:spcBef>
              <a:spcAft>
                <a:spcPts val="0"/>
              </a:spcAft>
              <a:buClr>
                <a:srgbClr val="003245"/>
              </a:buClr>
              <a:buSzPts val="2500"/>
              <a:buChar char="•"/>
            </a:pPr>
            <a:r>
              <a:rPr lang="es-ES" sz="2500" b="1">
                <a:solidFill>
                  <a:srgbClr val="003245"/>
                </a:solidFill>
                <a:latin typeface="Calibri"/>
                <a:ea typeface="Calibri"/>
                <a:cs typeface="Calibri"/>
                <a:sym typeface="Calibri"/>
              </a:rPr>
              <a:t>Analizar con asiduidad los logs de eventos ocurridos </a:t>
            </a:r>
            <a:r>
              <a:rPr lang="es-ES" sz="2500">
                <a:solidFill>
                  <a:srgbClr val="003245"/>
                </a:solidFill>
                <a:latin typeface="Calibri"/>
                <a:ea typeface="Calibri"/>
                <a:cs typeface="Calibri"/>
                <a:sym typeface="Calibri"/>
              </a:rPr>
              <a:t>que se registran normalmente en los dispositivos de electrónica de red utilizados para segmentar redes. </a:t>
            </a:r>
            <a:endParaRPr/>
          </a:p>
          <a:p>
            <a:pPr marL="342900" lvl="0" indent="-342900" algn="l" rtl="0">
              <a:lnSpc>
                <a:spcPct val="107000"/>
              </a:lnSpc>
              <a:spcBef>
                <a:spcPts val="1800"/>
              </a:spcBef>
              <a:spcAft>
                <a:spcPts val="0"/>
              </a:spcAft>
              <a:buClr>
                <a:srgbClr val="003245"/>
              </a:buClr>
              <a:buSzPts val="2500"/>
              <a:buChar char="•"/>
            </a:pPr>
            <a:r>
              <a:rPr lang="es-ES" sz="2500">
                <a:solidFill>
                  <a:srgbClr val="003245"/>
                </a:solidFill>
                <a:latin typeface="Calibri"/>
                <a:ea typeface="Calibri"/>
                <a:cs typeface="Calibri"/>
                <a:sym typeface="Calibri"/>
              </a:rPr>
              <a:t>Establecer </a:t>
            </a:r>
            <a:r>
              <a:rPr lang="es-ES" sz="2500" b="1">
                <a:solidFill>
                  <a:srgbClr val="003245"/>
                </a:solidFill>
                <a:latin typeface="Calibri"/>
                <a:ea typeface="Calibri"/>
                <a:cs typeface="Calibri"/>
                <a:sym typeface="Calibri"/>
              </a:rPr>
              <a:t>procedimientos de actualización y parcheo de los sistemas </a:t>
            </a:r>
            <a:endParaRPr/>
          </a:p>
          <a:p>
            <a:pPr marL="342900" lvl="0" indent="-342900" algn="l" rtl="0">
              <a:lnSpc>
                <a:spcPct val="107000"/>
              </a:lnSpc>
              <a:spcBef>
                <a:spcPts val="1800"/>
              </a:spcBef>
              <a:spcAft>
                <a:spcPts val="0"/>
              </a:spcAft>
              <a:buClr>
                <a:srgbClr val="003245"/>
              </a:buClr>
              <a:buSzPts val="2500"/>
              <a:buChar char="•"/>
            </a:pPr>
            <a:r>
              <a:rPr lang="es-ES" sz="2500" b="1">
                <a:solidFill>
                  <a:srgbClr val="003245"/>
                </a:solidFill>
                <a:latin typeface="Calibri"/>
                <a:ea typeface="Calibri"/>
                <a:cs typeface="Calibri"/>
                <a:sym typeface="Calibri"/>
              </a:rPr>
              <a:t>Configurar los navegadores de Internet con parametrizaciones que incrementen su seguridad</a:t>
            </a:r>
            <a:r>
              <a:rPr lang="es-ES" sz="2500">
                <a:solidFill>
                  <a:srgbClr val="003245"/>
                </a:solidFill>
                <a:latin typeface="Calibri"/>
                <a:ea typeface="Calibri"/>
                <a:cs typeface="Calibri"/>
                <a:sym typeface="Calibri"/>
              </a:rPr>
              <a:t>. </a:t>
            </a:r>
            <a:endParaRPr/>
          </a:p>
          <a:p>
            <a:pPr marL="342900" lvl="0" indent="-342900" algn="l" rtl="0">
              <a:lnSpc>
                <a:spcPct val="107000"/>
              </a:lnSpc>
              <a:spcBef>
                <a:spcPts val="1800"/>
              </a:spcBef>
              <a:spcAft>
                <a:spcPts val="0"/>
              </a:spcAft>
              <a:buClr>
                <a:srgbClr val="003245"/>
              </a:buClr>
              <a:buSzPts val="2500"/>
              <a:buChar char="•"/>
            </a:pPr>
            <a:r>
              <a:rPr lang="es-ES" sz="2500">
                <a:solidFill>
                  <a:srgbClr val="003245"/>
                </a:solidFill>
                <a:latin typeface="Calibri"/>
                <a:ea typeface="Calibri"/>
                <a:cs typeface="Calibri"/>
                <a:sym typeface="Calibri"/>
              </a:rPr>
              <a:t>Establecer políticas para el </a:t>
            </a:r>
            <a:r>
              <a:rPr lang="es-ES" sz="2500" b="1">
                <a:solidFill>
                  <a:srgbClr val="003245"/>
                </a:solidFill>
                <a:latin typeface="Calibri"/>
                <a:ea typeface="Calibri"/>
                <a:cs typeface="Calibri"/>
                <a:sym typeface="Calibri"/>
              </a:rPr>
              <a:t>mínimo privilegio en el acceso y uso de la información</a:t>
            </a:r>
            <a:r>
              <a:rPr lang="es-ES" sz="2500">
                <a:solidFill>
                  <a:srgbClr val="003245"/>
                </a:solidFill>
                <a:latin typeface="Calibri"/>
                <a:ea typeface="Calibri"/>
                <a:cs typeface="Calibri"/>
                <a:sym typeface="Calibri"/>
              </a:rPr>
              <a:t>, así como de utilización de </a:t>
            </a:r>
            <a:r>
              <a:rPr lang="es-ES" sz="2500" b="1">
                <a:solidFill>
                  <a:srgbClr val="003245"/>
                </a:solidFill>
                <a:latin typeface="Calibri"/>
                <a:ea typeface="Calibri"/>
                <a:cs typeface="Calibri"/>
                <a:sym typeface="Calibri"/>
              </a:rPr>
              <a:t>criptografía</a:t>
            </a:r>
            <a:r>
              <a:rPr lang="es-ES" sz="2500">
                <a:solidFill>
                  <a:srgbClr val="003245"/>
                </a:solidFill>
                <a:latin typeface="Calibri"/>
                <a:ea typeface="Calibri"/>
                <a:cs typeface="Calibri"/>
                <a:sym typeface="Calibri"/>
              </a:rPr>
              <a:t>. Es decir, preocuparse de manera activa por la seguridad de los datos de la compañía, tratándolos como los activos esenciales que realmente son.</a:t>
            </a:r>
            <a:endParaRPr sz="25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2500"/>
              <a:buChar char="•"/>
            </a:pPr>
            <a:r>
              <a:rPr lang="es-ES" sz="2500">
                <a:solidFill>
                  <a:srgbClr val="003245"/>
                </a:solidFill>
                <a:latin typeface="Calibri"/>
                <a:ea typeface="Calibri"/>
                <a:cs typeface="Calibri"/>
                <a:sym typeface="Calibri"/>
              </a:rPr>
              <a:t>Realizar una </a:t>
            </a:r>
            <a:r>
              <a:rPr lang="es-ES" sz="2500" b="1">
                <a:solidFill>
                  <a:srgbClr val="003245"/>
                </a:solidFill>
                <a:latin typeface="Calibri"/>
                <a:ea typeface="Calibri"/>
                <a:cs typeface="Calibri"/>
                <a:sym typeface="Calibri"/>
              </a:rPr>
              <a:t>gestión de identidades y control de acceso</a:t>
            </a:r>
            <a:r>
              <a:rPr lang="es-ES" sz="2500">
                <a:solidFill>
                  <a:srgbClr val="003245"/>
                </a:solidFill>
                <a:latin typeface="Calibri"/>
                <a:ea typeface="Calibri"/>
                <a:cs typeface="Calibri"/>
                <a:sym typeface="Calibri"/>
              </a:rPr>
              <a:t> adecuada, confiando siempre en sistemas de autenticación multi-factor.</a:t>
            </a:r>
            <a:endParaRPr sz="2500">
              <a:latin typeface="Calibri"/>
              <a:ea typeface="Calibri"/>
              <a:cs typeface="Calibri"/>
              <a:sym typeface="Calibri"/>
            </a:endParaRPr>
          </a:p>
          <a:p>
            <a:pPr marL="228600" lvl="0" indent="-69850" algn="l" rtl="0">
              <a:lnSpc>
                <a:spcPct val="90000"/>
              </a:lnSpc>
              <a:spcBef>
                <a:spcPts val="1800"/>
              </a:spcBef>
              <a:spcAft>
                <a:spcPts val="0"/>
              </a:spcAft>
              <a:buClr>
                <a:schemeClr val="dk1"/>
              </a:buClr>
              <a:buSzPts val="2500"/>
              <a:buNone/>
            </a:pPr>
            <a:endParaRPr sz="2500"/>
          </a:p>
        </p:txBody>
      </p:sp>
      <p:sp>
        <p:nvSpPr>
          <p:cNvPr id="249" name="Google Shape;249;p19"/>
          <p:cNvSpPr txBox="1">
            <a:spLocks noGrp="1"/>
          </p:cNvSpPr>
          <p:nvPr>
            <p:ph type="title"/>
          </p:nvPr>
        </p:nvSpPr>
        <p:spPr>
          <a:xfrm>
            <a:off x="446314" y="190954"/>
            <a:ext cx="10515600" cy="4476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PREVENCIÓN</a:t>
            </a:r>
            <a:endParaRPr/>
          </a:p>
        </p:txBody>
      </p:sp>
      <p:pic>
        <p:nvPicPr>
          <p:cNvPr id="250" name="Google Shape;250;p19" descr="Código, Programación, Hacking, Html, Web"/>
          <p:cNvPicPr preferRelativeResize="0"/>
          <p:nvPr/>
        </p:nvPicPr>
        <p:blipFill rotWithShape="1">
          <a:blip r:embed="rId3">
            <a:alphaModFix/>
          </a:blip>
          <a:srcRect/>
          <a:stretch/>
        </p:blipFill>
        <p:spPr>
          <a:xfrm>
            <a:off x="11019370" y="0"/>
            <a:ext cx="1062967" cy="7086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title"/>
          </p:nvPr>
        </p:nvSpPr>
        <p:spPr>
          <a:xfrm>
            <a:off x="625457" y="176440"/>
            <a:ext cx="10515600" cy="31591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2520"/>
              <a:buFont typeface="Calibri"/>
              <a:buNone/>
            </a:pPr>
            <a:r>
              <a:rPr lang="es-ES" sz="2520"/>
              <a:t>1.5 FACTOR HUMANO-INGENERIA SOCIAL</a:t>
            </a:r>
            <a:endParaRPr/>
          </a:p>
        </p:txBody>
      </p:sp>
      <p:sp>
        <p:nvSpPr>
          <p:cNvPr id="256" name="Google Shape;256;p20"/>
          <p:cNvSpPr txBox="1"/>
          <p:nvPr/>
        </p:nvSpPr>
        <p:spPr>
          <a:xfrm>
            <a:off x="261257" y="736196"/>
            <a:ext cx="11669485" cy="6121804"/>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45000"/>
              </a:lnSpc>
              <a:spcBef>
                <a:spcPts val="0"/>
              </a:spcBef>
              <a:spcAft>
                <a:spcPts val="0"/>
              </a:spcAft>
              <a:buNone/>
            </a:pPr>
            <a:r>
              <a:rPr lang="es-ES" sz="3200">
                <a:solidFill>
                  <a:schemeClr val="lt1"/>
                </a:solidFill>
                <a:latin typeface="Times New Roman"/>
                <a:ea typeface="Times New Roman"/>
                <a:cs typeface="Times New Roman"/>
                <a:sym typeface="Times New Roman"/>
              </a:rPr>
              <a:t>Amenazas que aprovechan el factor humano</a:t>
            </a:r>
            <a:endParaRPr sz="2800">
              <a:solidFill>
                <a:schemeClr val="lt1"/>
              </a:solidFill>
              <a:latin typeface="Calibri"/>
              <a:ea typeface="Calibri"/>
              <a:cs typeface="Calibri"/>
              <a:sym typeface="Calibri"/>
            </a:endParaRPr>
          </a:p>
          <a:p>
            <a:pPr marL="0" marR="0" lvl="0" indent="0" algn="l" rtl="0">
              <a:lnSpc>
                <a:spcPct val="107000"/>
              </a:lnSpc>
              <a:spcBef>
                <a:spcPts val="750"/>
              </a:spcBef>
              <a:spcAft>
                <a:spcPts val="0"/>
              </a:spcAft>
              <a:buNone/>
            </a:pPr>
            <a:r>
              <a:rPr lang="es-ES" sz="2400">
                <a:solidFill>
                  <a:schemeClr val="lt1"/>
                </a:solidFill>
                <a:latin typeface="Times New Roman"/>
                <a:ea typeface="Times New Roman"/>
                <a:cs typeface="Times New Roman"/>
                <a:sym typeface="Times New Roman"/>
              </a:rPr>
              <a:t>Muchas de las técnicas que amenazan a la seguridad que aprovechan el factor humano se basan en la </a:t>
            </a:r>
            <a:r>
              <a:rPr lang="es-ES" sz="2400" b="1">
                <a:solidFill>
                  <a:schemeClr val="lt1"/>
                </a:solidFill>
                <a:latin typeface="Times New Roman"/>
                <a:ea typeface="Times New Roman"/>
                <a:cs typeface="Times New Roman"/>
                <a:sym typeface="Times New Roman"/>
              </a:rPr>
              <a:t>ingeniería social</a:t>
            </a:r>
            <a:r>
              <a:rPr lang="es-ES" sz="2400">
                <a:solidFill>
                  <a:schemeClr val="lt1"/>
                </a:solidFill>
                <a:latin typeface="Times New Roman"/>
                <a:ea typeface="Times New Roman"/>
                <a:cs typeface="Times New Roman"/>
                <a:sym typeface="Times New Roman"/>
              </a:rPr>
              <a:t>. Esta es una mezcla entre ciencia, psicología y arte, por la que se intenta influir o manipular a una persona para que lleve a cabo acciones o facilite información confidencial, normalmente en contra de sus intereses. Se trata habitualmente de técnicas psicológicas que </a:t>
            </a:r>
            <a:r>
              <a:rPr lang="es-ES" sz="3200">
                <a:solidFill>
                  <a:schemeClr val="lt1"/>
                </a:solidFill>
                <a:latin typeface="Times New Roman"/>
                <a:ea typeface="Times New Roman"/>
                <a:cs typeface="Times New Roman"/>
                <a:sym typeface="Times New Roman"/>
              </a:rPr>
              <a:t>combinadas</a:t>
            </a:r>
            <a:r>
              <a:rPr lang="es-ES" sz="2400">
                <a:solidFill>
                  <a:schemeClr val="lt1"/>
                </a:solidFill>
                <a:latin typeface="Times New Roman"/>
                <a:ea typeface="Times New Roman"/>
                <a:cs typeface="Times New Roman"/>
                <a:sym typeface="Times New Roman"/>
              </a:rPr>
              <a:t> con ciertas </a:t>
            </a:r>
            <a:r>
              <a:rPr lang="es-ES" sz="2400" b="1">
                <a:solidFill>
                  <a:schemeClr val="lt1"/>
                </a:solidFill>
                <a:latin typeface="Times New Roman"/>
                <a:ea typeface="Times New Roman"/>
                <a:cs typeface="Times New Roman"/>
                <a:sym typeface="Times New Roman"/>
              </a:rPr>
              <a:t>habilidades sociales</a:t>
            </a:r>
            <a:r>
              <a:rPr lang="es-ES" sz="2400">
                <a:solidFill>
                  <a:schemeClr val="lt1"/>
                </a:solidFill>
                <a:latin typeface="Times New Roman"/>
                <a:ea typeface="Times New Roman"/>
                <a:cs typeface="Times New Roman"/>
                <a:sym typeface="Times New Roman"/>
              </a:rPr>
              <a:t> se aprovechan de la buena (o mala) fe de las personas de dentro de una organización, para que realicen determinadas acciones (como por ejemplo instalar software malicioso) u obtener de ellas información o acceso a zonas restringidas, y poder así llevar a cabo un ataque con éxito. También se conoce como “hackear a la persona” (human hacking).</a:t>
            </a:r>
            <a:endParaRPr sz="2000">
              <a:solidFill>
                <a:schemeClr val="lt1"/>
              </a:solidFill>
              <a:latin typeface="Calibri"/>
              <a:ea typeface="Calibri"/>
              <a:cs typeface="Calibri"/>
              <a:sym typeface="Calibri"/>
            </a:endParaRPr>
          </a:p>
          <a:p>
            <a:pPr marL="0" marR="0" lvl="0" indent="0" algn="l" rtl="0">
              <a:lnSpc>
                <a:spcPct val="107000"/>
              </a:lnSpc>
              <a:spcBef>
                <a:spcPts val="800"/>
              </a:spcBef>
              <a:spcAft>
                <a:spcPts val="0"/>
              </a:spcAft>
              <a:buNone/>
            </a:pPr>
            <a:r>
              <a:rPr lang="es-ES" sz="2400">
                <a:solidFill>
                  <a:schemeClr val="lt1"/>
                </a:solidFill>
                <a:latin typeface="Times New Roman"/>
                <a:ea typeface="Times New Roman"/>
                <a:cs typeface="Times New Roman"/>
                <a:sym typeface="Times New Roman"/>
              </a:rPr>
              <a:t>Un atacante externo puede aprovechar los descuidos o la escasa formación de un empleado para acceder a la información suficiente para realizar un ataque con éxito. También puede ser directamente el propio empleado (insider) el que de forma consciente (ya sea por venganza, por dinero, por coacción, etc.) proporcione la información al atacante o incluso lleve él mismo a cabo el ataque.</a:t>
            </a:r>
            <a:endParaRPr sz="2000">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1"/>
          <p:cNvSpPr txBox="1"/>
          <p:nvPr/>
        </p:nvSpPr>
        <p:spPr>
          <a:xfrm>
            <a:off x="2235200" y="317501"/>
            <a:ext cx="8064500" cy="34163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5400" b="1" i="0" u="sng" strike="noStrike">
                <a:solidFill>
                  <a:srgbClr val="FF6200"/>
                </a:solidFill>
                <a:latin typeface="Arial"/>
                <a:ea typeface="Arial"/>
                <a:cs typeface="Arial"/>
                <a:sym typeface="Arial"/>
                <a:hlinkClick r:id="rId3">
                  <a:extLst>
                    <a:ext uri="{A12FA001-AC4F-418D-AE19-62706E023703}">
                      <ahyp:hlinkClr xmlns:ahyp="http://schemas.microsoft.com/office/drawing/2018/hyperlinkcolor" val="tx"/>
                    </a:ext>
                  </a:extLst>
                </a:hlinkClick>
              </a:rPr>
              <a:t>¿Sabías que los ataques de ingeniería social suponen el 93% de las brechas de seguridad?</a:t>
            </a:r>
            <a:endParaRPr sz="5400" b="0" i="0">
              <a:solidFill>
                <a:srgbClr val="7A7A7A"/>
              </a:solidFill>
              <a:latin typeface="Arial"/>
              <a:ea typeface="Arial"/>
              <a:cs typeface="Arial"/>
              <a:sym typeface="Arial"/>
            </a:endParaRPr>
          </a:p>
        </p:txBody>
      </p:sp>
      <p:pic>
        <p:nvPicPr>
          <p:cNvPr id="262" name="Google Shape;262;p21" descr="Hacker, Hacking, Robo, Cibernético"/>
          <p:cNvPicPr preferRelativeResize="0"/>
          <p:nvPr/>
        </p:nvPicPr>
        <p:blipFill rotWithShape="1">
          <a:blip r:embed="rId4">
            <a:alphaModFix/>
          </a:blip>
          <a:srcRect/>
          <a:stretch/>
        </p:blipFill>
        <p:spPr>
          <a:xfrm>
            <a:off x="4660900" y="3882330"/>
            <a:ext cx="3414713" cy="25629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Ejemplos </a:t>
            </a:r>
            <a:endParaRPr/>
          </a:p>
        </p:txBody>
      </p:sp>
      <p:grpSp>
        <p:nvGrpSpPr>
          <p:cNvPr id="268" name="Google Shape;268;p22"/>
          <p:cNvGrpSpPr/>
          <p:nvPr/>
        </p:nvGrpSpPr>
        <p:grpSpPr>
          <a:xfrm>
            <a:off x="838200" y="1865312"/>
            <a:ext cx="10515600" cy="4271963"/>
            <a:chOff x="0" y="39687"/>
            <a:chExt cx="10515600" cy="4271963"/>
          </a:xfrm>
        </p:grpSpPr>
        <p:sp>
          <p:nvSpPr>
            <p:cNvPr id="269" name="Google Shape;269;p22"/>
            <p:cNvSpPr/>
            <p:nvPr/>
          </p:nvSpPr>
          <p:spPr>
            <a:xfrm>
              <a:off x="0" y="39687"/>
              <a:ext cx="3286125" cy="1971675"/>
            </a:xfrm>
            <a:prstGeom prst="rect">
              <a:avLst/>
            </a:prstGeom>
            <a:solidFill>
              <a:srgbClr val="3A66B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2"/>
            <p:cNvSpPr txBox="1"/>
            <p:nvPr/>
          </p:nvSpPr>
          <p:spPr>
            <a:xfrm>
              <a:off x="0" y="39687"/>
              <a:ext cx="3286125" cy="1971675"/>
            </a:xfrm>
            <a:prstGeom prst="rect">
              <a:avLst/>
            </a:prstGeom>
            <a:noFill/>
            <a:ln>
              <a:noFill/>
            </a:ln>
          </p:spPr>
          <p:txBody>
            <a:bodyPr spcFirstLastPara="1" wrap="square" lIns="118100" tIns="118100" rIns="118100" bIns="118100" anchor="ctr" anchorCtr="0">
              <a:noAutofit/>
            </a:bodyPr>
            <a:lstStyle/>
            <a:p>
              <a:pPr marL="0" marR="0" lvl="0" indent="0" algn="ctr" rtl="0">
                <a:lnSpc>
                  <a:spcPct val="90000"/>
                </a:lnSpc>
                <a:spcBef>
                  <a:spcPts val="0"/>
                </a:spcBef>
                <a:spcAft>
                  <a:spcPts val="0"/>
                </a:spcAft>
                <a:buClr>
                  <a:schemeClr val="lt1"/>
                </a:buClr>
                <a:buSzPts val="3100"/>
                <a:buFont typeface="Times New Roman"/>
                <a:buNone/>
              </a:pPr>
              <a:r>
                <a:rPr lang="es-ES" sz="3100">
                  <a:solidFill>
                    <a:schemeClr val="lt1"/>
                  </a:solidFill>
                  <a:latin typeface="Times New Roman"/>
                  <a:ea typeface="Times New Roman"/>
                  <a:cs typeface="Times New Roman"/>
                  <a:sym typeface="Times New Roman"/>
                </a:rPr>
                <a:t>Buscar por internet, a través de redes sociales.</a:t>
              </a:r>
              <a:endParaRPr sz="3100">
                <a:solidFill>
                  <a:schemeClr val="lt1"/>
                </a:solidFill>
                <a:latin typeface="Calibri"/>
                <a:ea typeface="Calibri"/>
                <a:cs typeface="Calibri"/>
                <a:sym typeface="Calibri"/>
              </a:endParaRPr>
            </a:p>
          </p:txBody>
        </p:sp>
        <p:sp>
          <p:nvSpPr>
            <p:cNvPr id="271" name="Google Shape;271;p22"/>
            <p:cNvSpPr/>
            <p:nvPr/>
          </p:nvSpPr>
          <p:spPr>
            <a:xfrm>
              <a:off x="3614737" y="39687"/>
              <a:ext cx="3286125" cy="1971675"/>
            </a:xfrm>
            <a:prstGeom prst="rect">
              <a:avLst/>
            </a:prstGeom>
            <a:solidFill>
              <a:srgbClr val="4770B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2"/>
            <p:cNvSpPr txBox="1"/>
            <p:nvPr/>
          </p:nvSpPr>
          <p:spPr>
            <a:xfrm>
              <a:off x="3614737" y="39687"/>
              <a:ext cx="3286125" cy="1971675"/>
            </a:xfrm>
            <a:prstGeom prst="rect">
              <a:avLst/>
            </a:prstGeom>
            <a:noFill/>
            <a:ln>
              <a:noFill/>
            </a:ln>
          </p:spPr>
          <p:txBody>
            <a:bodyPr spcFirstLastPara="1" wrap="square" lIns="118100" tIns="118100" rIns="118100" bIns="118100" anchor="ctr" anchorCtr="0">
              <a:noAutofit/>
            </a:bodyPr>
            <a:lstStyle/>
            <a:p>
              <a:pPr marL="0" marR="0" lvl="0" indent="0" algn="ctr" rtl="0">
                <a:lnSpc>
                  <a:spcPct val="90000"/>
                </a:lnSpc>
                <a:spcBef>
                  <a:spcPts val="0"/>
                </a:spcBef>
                <a:spcAft>
                  <a:spcPts val="0"/>
                </a:spcAft>
                <a:buClr>
                  <a:schemeClr val="lt1"/>
                </a:buClr>
                <a:buSzPts val="3100"/>
                <a:buFont typeface="Times New Roman"/>
                <a:buNone/>
              </a:pPr>
              <a:r>
                <a:rPr lang="es-ES" sz="3100">
                  <a:solidFill>
                    <a:schemeClr val="lt1"/>
                  </a:solidFill>
                  <a:latin typeface="Times New Roman"/>
                  <a:ea typeface="Times New Roman"/>
                  <a:cs typeface="Times New Roman"/>
                  <a:sym typeface="Times New Roman"/>
                </a:rPr>
                <a:t>Llamadas haciéndose para por otras personas. </a:t>
              </a:r>
              <a:endParaRPr sz="3100">
                <a:solidFill>
                  <a:schemeClr val="lt1"/>
                </a:solidFill>
                <a:latin typeface="Calibri"/>
                <a:ea typeface="Calibri"/>
                <a:cs typeface="Calibri"/>
                <a:sym typeface="Calibri"/>
              </a:endParaRPr>
            </a:p>
          </p:txBody>
        </p:sp>
        <p:sp>
          <p:nvSpPr>
            <p:cNvPr id="273" name="Google Shape;273;p22"/>
            <p:cNvSpPr/>
            <p:nvPr/>
          </p:nvSpPr>
          <p:spPr>
            <a:xfrm>
              <a:off x="7229475" y="39687"/>
              <a:ext cx="3286125" cy="1971675"/>
            </a:xfrm>
            <a:prstGeom prst="rect">
              <a:avLst/>
            </a:prstGeom>
            <a:solidFill>
              <a:srgbClr val="5C7FC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2"/>
            <p:cNvSpPr txBox="1"/>
            <p:nvPr/>
          </p:nvSpPr>
          <p:spPr>
            <a:xfrm>
              <a:off x="7229475" y="39687"/>
              <a:ext cx="3286125" cy="1971675"/>
            </a:xfrm>
            <a:prstGeom prst="rect">
              <a:avLst/>
            </a:prstGeom>
            <a:noFill/>
            <a:ln>
              <a:noFill/>
            </a:ln>
          </p:spPr>
          <p:txBody>
            <a:bodyPr spcFirstLastPara="1" wrap="square" lIns="118100" tIns="118100" rIns="118100" bIns="118100"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s-ES" sz="3100">
                  <a:solidFill>
                    <a:schemeClr val="lt1"/>
                  </a:solidFill>
                  <a:latin typeface="Calibri"/>
                  <a:ea typeface="Calibri"/>
                  <a:cs typeface="Calibri"/>
                  <a:sym typeface="Calibri"/>
                </a:rPr>
                <a:t>Buscando en la mesa del usuario en una oficina.</a:t>
              </a:r>
              <a:endParaRPr/>
            </a:p>
          </p:txBody>
        </p:sp>
        <p:sp>
          <p:nvSpPr>
            <p:cNvPr id="275" name="Google Shape;275;p22"/>
            <p:cNvSpPr/>
            <p:nvPr/>
          </p:nvSpPr>
          <p:spPr>
            <a:xfrm>
              <a:off x="0" y="2339975"/>
              <a:ext cx="3286125" cy="1971675"/>
            </a:xfrm>
            <a:prstGeom prst="rect">
              <a:avLst/>
            </a:prstGeom>
            <a:solidFill>
              <a:srgbClr val="728DCA"/>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2"/>
            <p:cNvSpPr txBox="1"/>
            <p:nvPr/>
          </p:nvSpPr>
          <p:spPr>
            <a:xfrm>
              <a:off x="0" y="2339975"/>
              <a:ext cx="3286125" cy="1971675"/>
            </a:xfrm>
            <a:prstGeom prst="rect">
              <a:avLst/>
            </a:prstGeom>
            <a:noFill/>
            <a:ln>
              <a:noFill/>
            </a:ln>
          </p:spPr>
          <p:txBody>
            <a:bodyPr spcFirstLastPara="1" wrap="square" lIns="118100" tIns="118100" rIns="118100" bIns="118100"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s-ES" sz="3100">
                  <a:solidFill>
                    <a:schemeClr val="lt1"/>
                  </a:solidFill>
                  <a:latin typeface="Calibri"/>
                  <a:ea typeface="Calibri"/>
                  <a:cs typeface="Calibri"/>
                  <a:sym typeface="Calibri"/>
                </a:rPr>
                <a:t>Poner contraseñas sin apenas seguridad.</a:t>
              </a:r>
              <a:endParaRPr/>
            </a:p>
          </p:txBody>
        </p:sp>
        <p:sp>
          <p:nvSpPr>
            <p:cNvPr id="277" name="Google Shape;277;p22"/>
            <p:cNvSpPr/>
            <p:nvPr/>
          </p:nvSpPr>
          <p:spPr>
            <a:xfrm>
              <a:off x="3614737" y="2339975"/>
              <a:ext cx="3286125" cy="1971675"/>
            </a:xfrm>
            <a:prstGeom prst="rect">
              <a:avLst/>
            </a:prstGeom>
            <a:solidFill>
              <a:srgbClr val="879CD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2"/>
            <p:cNvSpPr txBox="1"/>
            <p:nvPr/>
          </p:nvSpPr>
          <p:spPr>
            <a:xfrm>
              <a:off x="3614737" y="2339975"/>
              <a:ext cx="3286125" cy="1971675"/>
            </a:xfrm>
            <a:prstGeom prst="rect">
              <a:avLst/>
            </a:prstGeom>
            <a:noFill/>
            <a:ln>
              <a:noFill/>
            </a:ln>
          </p:spPr>
          <p:txBody>
            <a:bodyPr spcFirstLastPara="1" wrap="square" lIns="118100" tIns="118100" rIns="118100" bIns="118100"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s-ES" sz="3100">
                  <a:solidFill>
                    <a:schemeClr val="lt1"/>
                  </a:solidFill>
                  <a:latin typeface="Calibri"/>
                  <a:ea typeface="Calibri"/>
                  <a:cs typeface="Calibri"/>
                  <a:sym typeface="Calibri"/>
                </a:rPr>
                <a:t>Hablar en voz alta y decirle a otro usuario la contraseña.</a:t>
              </a:r>
              <a:endParaRPr/>
            </a:p>
          </p:txBody>
        </p:sp>
        <p:sp>
          <p:nvSpPr>
            <p:cNvPr id="279" name="Google Shape;279;p22"/>
            <p:cNvSpPr/>
            <p:nvPr/>
          </p:nvSpPr>
          <p:spPr>
            <a:xfrm>
              <a:off x="7229475" y="2339975"/>
              <a:ext cx="3286125" cy="1971675"/>
            </a:xfrm>
            <a:prstGeom prst="rect">
              <a:avLst/>
            </a:prstGeom>
            <a:solidFill>
              <a:srgbClr val="9BABD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2"/>
            <p:cNvSpPr txBox="1"/>
            <p:nvPr/>
          </p:nvSpPr>
          <p:spPr>
            <a:xfrm>
              <a:off x="7229475" y="2339975"/>
              <a:ext cx="3286125" cy="1971675"/>
            </a:xfrm>
            <a:prstGeom prst="rect">
              <a:avLst/>
            </a:prstGeom>
            <a:noFill/>
            <a:ln>
              <a:noFill/>
            </a:ln>
          </p:spPr>
          <p:txBody>
            <a:bodyPr spcFirstLastPara="1" wrap="square" lIns="118100" tIns="118100" rIns="118100" bIns="118100"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s-ES" sz="3100">
                  <a:solidFill>
                    <a:schemeClr val="lt1"/>
                  </a:solidFill>
                  <a:latin typeface="Calibri"/>
                  <a:ea typeface="Calibri"/>
                  <a:cs typeface="Calibri"/>
                  <a:sym typeface="Calibri"/>
                </a:rPr>
                <a:t>Poner la contraseña y no mirar si detrás hay alguien mirando.</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3"/>
          <p:cNvSpPr txBox="1">
            <a:spLocks noGrp="1"/>
          </p:cNvSpPr>
          <p:nvPr>
            <p:ph type="title"/>
          </p:nvPr>
        </p:nvSpPr>
        <p:spPr>
          <a:xfrm>
            <a:off x="3610429"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INGENIERIA SOCIAL</a:t>
            </a:r>
            <a:endParaRPr/>
          </a:p>
        </p:txBody>
      </p:sp>
      <p:grpSp>
        <p:nvGrpSpPr>
          <p:cNvPr id="286" name="Google Shape;286;p23"/>
          <p:cNvGrpSpPr/>
          <p:nvPr/>
        </p:nvGrpSpPr>
        <p:grpSpPr>
          <a:xfrm>
            <a:off x="2160692" y="420914"/>
            <a:ext cx="9147870" cy="5717419"/>
            <a:chOff x="128693" y="0"/>
            <a:chExt cx="9147870" cy="5717419"/>
          </a:xfrm>
        </p:grpSpPr>
        <p:sp>
          <p:nvSpPr>
            <p:cNvPr id="287" name="Google Shape;287;p23"/>
            <p:cNvSpPr/>
            <p:nvPr/>
          </p:nvSpPr>
          <p:spPr>
            <a:xfrm>
              <a:off x="128693" y="0"/>
              <a:ext cx="9147870" cy="5717419"/>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3"/>
            <p:cNvSpPr/>
            <p:nvPr/>
          </p:nvSpPr>
          <p:spPr>
            <a:xfrm>
              <a:off x="2255573" y="3115993"/>
              <a:ext cx="320175" cy="320175"/>
            </a:xfrm>
            <a:prstGeom prst="ellipse">
              <a:avLst/>
            </a:prstGeom>
            <a:solidFill>
              <a:schemeClr val="lt1"/>
            </a:solidFill>
            <a:ln w="12700" cap="flat" cmpd="sng">
              <a:solidFill>
                <a:srgbClr val="D66E2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3"/>
            <p:cNvSpPr/>
            <p:nvPr/>
          </p:nvSpPr>
          <p:spPr>
            <a:xfrm>
              <a:off x="2415660" y="3276081"/>
              <a:ext cx="2973057" cy="244133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3"/>
            <p:cNvSpPr txBox="1"/>
            <p:nvPr/>
          </p:nvSpPr>
          <p:spPr>
            <a:xfrm>
              <a:off x="2415660" y="3276081"/>
              <a:ext cx="2973057" cy="2441337"/>
            </a:xfrm>
            <a:prstGeom prst="rect">
              <a:avLst/>
            </a:prstGeom>
            <a:noFill/>
            <a:ln>
              <a:noFill/>
            </a:ln>
          </p:spPr>
          <p:txBody>
            <a:bodyPr spcFirstLastPara="1" wrap="square" lIns="169650" tIns="0" rIns="0" bIns="0" anchor="t" anchorCtr="0">
              <a:noAutofit/>
            </a:bodyPr>
            <a:lstStyle/>
            <a:p>
              <a:pPr marL="0" marR="0" lvl="0" indent="0" algn="l" rtl="0">
                <a:lnSpc>
                  <a:spcPct val="90000"/>
                </a:lnSpc>
                <a:spcBef>
                  <a:spcPts val="0"/>
                </a:spcBef>
                <a:spcAft>
                  <a:spcPts val="0"/>
                </a:spcAft>
                <a:buClr>
                  <a:schemeClr val="dk1"/>
                </a:buClr>
                <a:buSzPts val="1000"/>
                <a:buFont typeface="Noto Sans Symbols"/>
                <a:buNone/>
              </a:pPr>
              <a:r>
                <a:rPr lang="es-ES" sz="2000" b="1">
                  <a:solidFill>
                    <a:schemeClr val="dk1"/>
                  </a:solidFill>
                  <a:latin typeface="Times New Roman"/>
                  <a:ea typeface="Times New Roman"/>
                  <a:cs typeface="Times New Roman"/>
                  <a:sym typeface="Times New Roman"/>
                </a:rPr>
                <a:t>No presenciales</a:t>
              </a:r>
              <a:r>
                <a:rPr lang="es-ES" sz="2000">
                  <a:solidFill>
                    <a:schemeClr val="dk1"/>
                  </a:solidFill>
                  <a:latin typeface="Times New Roman"/>
                  <a:ea typeface="Times New Roman"/>
                  <a:cs typeface="Times New Roman"/>
                  <a:sym typeface="Times New Roman"/>
                </a:rPr>
                <a:t>: Contacto con empleados, normalmente realizando algún tipo de suplantación por teléfono (vishing), correo electrónico (phishing), mensajería instantánea, etc.</a:t>
              </a:r>
              <a:endParaRPr sz="2000">
                <a:solidFill>
                  <a:schemeClr val="dk1"/>
                </a:solidFill>
                <a:latin typeface="Calibri"/>
                <a:ea typeface="Calibri"/>
                <a:cs typeface="Calibri"/>
                <a:sym typeface="Calibri"/>
              </a:endParaRPr>
            </a:p>
          </p:txBody>
        </p:sp>
        <p:sp>
          <p:nvSpPr>
            <p:cNvPr id="291" name="Google Shape;291;p23"/>
            <p:cNvSpPr/>
            <p:nvPr/>
          </p:nvSpPr>
          <p:spPr>
            <a:xfrm>
              <a:off x="5205761" y="1658051"/>
              <a:ext cx="548872" cy="548872"/>
            </a:xfrm>
            <a:prstGeom prst="ellipse">
              <a:avLst/>
            </a:prstGeom>
            <a:solidFill>
              <a:schemeClr val="lt1"/>
            </a:solidFill>
            <a:ln w="12700" cap="flat" cmpd="sng">
              <a:solidFill>
                <a:srgbClr val="D66E2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3"/>
            <p:cNvSpPr/>
            <p:nvPr/>
          </p:nvSpPr>
          <p:spPr>
            <a:xfrm>
              <a:off x="5480197" y="1932487"/>
              <a:ext cx="2973057" cy="378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3"/>
            <p:cNvSpPr txBox="1"/>
            <p:nvPr/>
          </p:nvSpPr>
          <p:spPr>
            <a:xfrm>
              <a:off x="5480197" y="1932487"/>
              <a:ext cx="2973057" cy="3784931"/>
            </a:xfrm>
            <a:prstGeom prst="rect">
              <a:avLst/>
            </a:prstGeom>
            <a:noFill/>
            <a:ln>
              <a:noFill/>
            </a:ln>
          </p:spPr>
          <p:txBody>
            <a:bodyPr spcFirstLastPara="1" wrap="square" lIns="290825" tIns="0" rIns="0" bIns="0" anchor="t" anchorCtr="0">
              <a:noAutofit/>
            </a:bodyPr>
            <a:lstStyle/>
            <a:p>
              <a:pPr marL="0" marR="0" lvl="0" indent="0" algn="l" rtl="0">
                <a:lnSpc>
                  <a:spcPct val="90000"/>
                </a:lnSpc>
                <a:spcBef>
                  <a:spcPts val="0"/>
                </a:spcBef>
                <a:spcAft>
                  <a:spcPts val="0"/>
                </a:spcAft>
                <a:buClr>
                  <a:schemeClr val="dk1"/>
                </a:buClr>
                <a:buSzPts val="2000"/>
                <a:buFont typeface="Times New Roman"/>
                <a:buNone/>
              </a:pPr>
              <a:r>
                <a:rPr lang="es-ES" sz="2000" b="1">
                  <a:solidFill>
                    <a:schemeClr val="dk1"/>
                  </a:solidFill>
                  <a:latin typeface="Times New Roman"/>
                  <a:ea typeface="Times New Roman"/>
                  <a:cs typeface="Times New Roman"/>
                  <a:sym typeface="Times New Roman"/>
                </a:rPr>
                <a:t>Presenciales</a:t>
              </a:r>
              <a:r>
                <a:rPr lang="es-ES" sz="2000">
                  <a:solidFill>
                    <a:schemeClr val="dk1"/>
                  </a:solidFill>
                  <a:latin typeface="Times New Roman"/>
                  <a:ea typeface="Times New Roman"/>
                  <a:cs typeface="Times New Roman"/>
                  <a:sym typeface="Times New Roman"/>
                </a:rPr>
                <a:t>: Búsqueda en la basura (dumpster diving), seguimiento de personas y vehículos, vigilancia de salas y edificios, generación de situaciones de crisis, presión psicológica, soborno, chantaje o extorsión, etc.</a:t>
              </a:r>
              <a:endParaRPr sz="2000">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PHISING</a:t>
            </a:r>
            <a:endParaRPr/>
          </a:p>
        </p:txBody>
      </p:sp>
      <p:sp>
        <p:nvSpPr>
          <p:cNvPr id="299" name="Google Shape;299;p24"/>
          <p:cNvSpPr txBox="1">
            <a:spLocks noGrp="1"/>
          </p:cNvSpPr>
          <p:nvPr>
            <p:ph type="body" idx="1"/>
          </p:nvPr>
        </p:nvSpPr>
        <p:spPr>
          <a:xfrm>
            <a:off x="755904" y="1386713"/>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3245"/>
              </a:buClr>
              <a:buSzPts val="1800"/>
              <a:buChar char="•"/>
            </a:pPr>
            <a:r>
              <a:rPr lang="es-ES" sz="1800">
                <a:solidFill>
                  <a:srgbClr val="003245"/>
                </a:solidFill>
                <a:latin typeface="Times New Roman"/>
                <a:ea typeface="Times New Roman"/>
                <a:cs typeface="Times New Roman"/>
                <a:sym typeface="Times New Roman"/>
              </a:rPr>
              <a:t>Consiste en el envío masivo de comunicaciones (normalmente correos electrónicos) desde lo que parece un origen de confianza, con el aspecto de un escrito real en el que requiere al receptor que facilite determinada información, bien respondiendo al email, bien conectándose a una página web que parece real donde introducirá sus datos. El éxito del phishing se basa en el </a:t>
            </a:r>
            <a:r>
              <a:rPr lang="es-ES" sz="1800" b="1">
                <a:solidFill>
                  <a:srgbClr val="003245"/>
                </a:solidFill>
                <a:latin typeface="Times New Roman"/>
                <a:ea typeface="Times New Roman"/>
                <a:cs typeface="Times New Roman"/>
                <a:sym typeface="Times New Roman"/>
              </a:rPr>
              <a:t>envío masivo</a:t>
            </a:r>
            <a:r>
              <a:rPr lang="es-ES" sz="1800">
                <a:solidFill>
                  <a:srgbClr val="003245"/>
                </a:solidFill>
                <a:latin typeface="Times New Roman"/>
                <a:ea typeface="Times New Roman"/>
                <a:cs typeface="Times New Roman"/>
                <a:sym typeface="Times New Roman"/>
              </a:rPr>
              <a:t> y la probabilidad, dado que el número de víctimas potenciales es muy grande, es muy probable que alguna de ellas caiga en la trampa y facilite esa información que el atacante tan amablemente solicita.</a:t>
            </a:r>
            <a:endParaRPr sz="1800">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a:p>
        </p:txBody>
      </p:sp>
      <p:pic>
        <p:nvPicPr>
          <p:cNvPr id="300" name="Google Shape;300;p24" descr="Conoce a fondo qué es el phishing | Oficina de Seguridad del Internauta"/>
          <p:cNvPicPr preferRelativeResize="0"/>
          <p:nvPr/>
        </p:nvPicPr>
        <p:blipFill rotWithShape="1">
          <a:blip r:embed="rId3">
            <a:alphaModFix/>
          </a:blip>
          <a:srcRect/>
          <a:stretch/>
        </p:blipFill>
        <p:spPr>
          <a:xfrm>
            <a:off x="4397407" y="3095689"/>
            <a:ext cx="3397186" cy="339718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ejemplos</a:t>
            </a:r>
            <a:endParaRPr/>
          </a:p>
        </p:txBody>
      </p:sp>
      <p:sp>
        <p:nvSpPr>
          <p:cNvPr id="306" name="Google Shape;306;p25"/>
          <p:cNvSpPr txBox="1">
            <a:spLocks noGrp="1"/>
          </p:cNvSpPr>
          <p:nvPr>
            <p:ph type="body" idx="1"/>
          </p:nvPr>
        </p:nvSpPr>
        <p:spPr>
          <a:xfrm>
            <a:off x="202131" y="1540042"/>
            <a:ext cx="11665818" cy="5187783"/>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342900" lvl="0" indent="-342900" algn="l" rtl="0">
              <a:lnSpc>
                <a:spcPct val="107000"/>
              </a:lnSpc>
              <a:spcBef>
                <a:spcPts val="0"/>
              </a:spcBef>
              <a:spcAft>
                <a:spcPts val="0"/>
              </a:spcAft>
              <a:buClr>
                <a:schemeClr val="lt1"/>
              </a:buClr>
              <a:buSzPts val="1000"/>
              <a:buFont typeface="Noto Sans Symbols"/>
              <a:buChar char="∙"/>
            </a:pPr>
            <a:r>
              <a:rPr lang="es-ES" sz="2400" b="1">
                <a:solidFill>
                  <a:schemeClr val="lt1"/>
                </a:solidFill>
                <a:latin typeface="Calibri"/>
                <a:ea typeface="Calibri"/>
                <a:cs typeface="Calibri"/>
                <a:sym typeface="Calibri"/>
              </a:rPr>
              <a:t>Epic Turla: </a:t>
            </a:r>
            <a:r>
              <a:rPr lang="es-ES" sz="1600">
                <a:solidFill>
                  <a:schemeClr val="lt1"/>
                </a:solidFill>
                <a:latin typeface="Calibri"/>
                <a:ea typeface="Calibri"/>
                <a:cs typeface="Calibri"/>
                <a:sym typeface="Calibri"/>
              </a:rPr>
              <a:t>Campaña de ciberespionaje detectada en 2014 y que empleando técnicas de spear-phishing y watering-hole desde 2007 consiguió infectar miles de memorias USB y los equipos en los que éstas se utilizaban.</a:t>
            </a:r>
            <a:endParaRPr sz="1600">
              <a:solidFill>
                <a:schemeClr val="lt1"/>
              </a:solidFill>
              <a:latin typeface="Calibri"/>
              <a:ea typeface="Calibri"/>
              <a:cs typeface="Calibri"/>
              <a:sym typeface="Calibri"/>
            </a:endParaRPr>
          </a:p>
          <a:p>
            <a:pPr marL="342900" lvl="0" indent="-342900" algn="l" rtl="0">
              <a:lnSpc>
                <a:spcPct val="107000"/>
              </a:lnSpc>
              <a:spcBef>
                <a:spcPts val="1800"/>
              </a:spcBef>
              <a:spcAft>
                <a:spcPts val="0"/>
              </a:spcAft>
              <a:buClr>
                <a:schemeClr val="lt1"/>
              </a:buClr>
              <a:buSzPts val="1000"/>
              <a:buFont typeface="Noto Sans Symbols"/>
              <a:buChar char="∙"/>
            </a:pPr>
            <a:r>
              <a:rPr lang="es-ES" sz="2000" b="1">
                <a:solidFill>
                  <a:schemeClr val="lt1"/>
                </a:solidFill>
                <a:latin typeface="Calibri"/>
                <a:ea typeface="Calibri"/>
                <a:cs typeface="Calibri"/>
                <a:sym typeface="Calibri"/>
              </a:rPr>
              <a:t>Darkhotel APT: </a:t>
            </a:r>
            <a:r>
              <a:rPr lang="es-ES" sz="1600">
                <a:solidFill>
                  <a:schemeClr val="lt1"/>
                </a:solidFill>
                <a:latin typeface="Calibri"/>
                <a:ea typeface="Calibri"/>
                <a:cs typeface="Calibri"/>
                <a:sym typeface="Calibri"/>
              </a:rPr>
              <a:t>Campaña que tiene como objetivo altos ejecutivos que se alojan en hoteles durante sus viajes de negocios, donde son víctimas de este malware.</a:t>
            </a:r>
            <a:endParaRPr sz="1600">
              <a:solidFill>
                <a:schemeClr val="lt1"/>
              </a:solidFill>
              <a:latin typeface="Calibri"/>
              <a:ea typeface="Calibri"/>
              <a:cs typeface="Calibri"/>
              <a:sym typeface="Calibri"/>
            </a:endParaRPr>
          </a:p>
          <a:p>
            <a:pPr marL="342900" lvl="0" indent="-342900" algn="l" rtl="0">
              <a:lnSpc>
                <a:spcPct val="107000"/>
              </a:lnSpc>
              <a:spcBef>
                <a:spcPts val="1800"/>
              </a:spcBef>
              <a:spcAft>
                <a:spcPts val="0"/>
              </a:spcAft>
              <a:buClr>
                <a:schemeClr val="lt1"/>
              </a:buClr>
              <a:buSzPts val="1000"/>
              <a:buFont typeface="Noto Sans Symbols"/>
              <a:buChar char="∙"/>
            </a:pPr>
            <a:r>
              <a:rPr lang="es-ES" sz="2000" b="1">
                <a:solidFill>
                  <a:schemeClr val="lt1"/>
                </a:solidFill>
                <a:latin typeface="Calibri"/>
                <a:ea typeface="Calibri"/>
                <a:cs typeface="Calibri"/>
                <a:sym typeface="Calibri"/>
              </a:rPr>
              <a:t>Red October: </a:t>
            </a:r>
            <a:r>
              <a:rPr lang="es-ES" sz="1600">
                <a:solidFill>
                  <a:schemeClr val="lt1"/>
                </a:solidFill>
                <a:latin typeface="Calibri"/>
                <a:ea typeface="Calibri"/>
                <a:cs typeface="Calibri"/>
                <a:sym typeface="Calibri"/>
              </a:rPr>
              <a:t>Campaña que desde 2008 ha afectado a cientos de agencias diplomáticas y gubernamentales, instituciones y empresas de todo el mundo, no sólo a sus equipos informáticos, sino también a sus teléfonos móviles.</a:t>
            </a:r>
            <a:endParaRPr sz="1600">
              <a:solidFill>
                <a:schemeClr val="lt1"/>
              </a:solidFill>
              <a:latin typeface="Calibri"/>
              <a:ea typeface="Calibri"/>
              <a:cs typeface="Calibri"/>
              <a:sym typeface="Calibri"/>
            </a:endParaRPr>
          </a:p>
          <a:p>
            <a:pPr marL="342900" lvl="0" indent="-342900" algn="l" rtl="0">
              <a:lnSpc>
                <a:spcPct val="107000"/>
              </a:lnSpc>
              <a:spcBef>
                <a:spcPts val="1800"/>
              </a:spcBef>
              <a:spcAft>
                <a:spcPts val="0"/>
              </a:spcAft>
              <a:buClr>
                <a:schemeClr val="lt1"/>
              </a:buClr>
              <a:buSzPts val="1000"/>
              <a:buFont typeface="Noto Sans Symbols"/>
              <a:buChar char="∙"/>
            </a:pPr>
            <a:r>
              <a:rPr lang="es-ES" sz="2000" b="1">
                <a:solidFill>
                  <a:schemeClr val="lt1"/>
                </a:solidFill>
                <a:latin typeface="Calibri"/>
                <a:ea typeface="Calibri"/>
                <a:cs typeface="Calibri"/>
                <a:sym typeface="Calibri"/>
              </a:rPr>
              <a:t>MiniDuke: </a:t>
            </a:r>
            <a:r>
              <a:rPr lang="es-ES" sz="1600">
                <a:solidFill>
                  <a:schemeClr val="lt1"/>
                </a:solidFill>
                <a:latin typeface="Calibri"/>
                <a:ea typeface="Calibri"/>
                <a:cs typeface="Calibri"/>
                <a:sym typeface="Calibri"/>
              </a:rPr>
              <a:t>Ce destapó en 2013 robando datos de casi 60 agencias gubernamentales y entidades de investigación.</a:t>
            </a:r>
            <a:endParaRPr sz="1600">
              <a:solidFill>
                <a:schemeClr val="lt1"/>
              </a:solidFill>
              <a:latin typeface="Calibri"/>
              <a:ea typeface="Calibri"/>
              <a:cs typeface="Calibri"/>
              <a:sym typeface="Calibri"/>
            </a:endParaRPr>
          </a:p>
          <a:p>
            <a:pPr marL="342900" lvl="0" indent="-342900" algn="l" rtl="0">
              <a:lnSpc>
                <a:spcPct val="107000"/>
              </a:lnSpc>
              <a:spcBef>
                <a:spcPts val="1800"/>
              </a:spcBef>
              <a:spcAft>
                <a:spcPts val="0"/>
              </a:spcAft>
              <a:buClr>
                <a:schemeClr val="lt1"/>
              </a:buClr>
              <a:buSzPts val="1000"/>
              <a:buFont typeface="Noto Sans Symbols"/>
              <a:buChar char="∙"/>
            </a:pPr>
            <a:r>
              <a:rPr lang="es-ES" sz="2000" b="1">
                <a:solidFill>
                  <a:schemeClr val="lt1"/>
                </a:solidFill>
                <a:latin typeface="Calibri"/>
                <a:ea typeface="Calibri"/>
                <a:cs typeface="Calibri"/>
                <a:sym typeface="Calibri"/>
              </a:rPr>
              <a:t>NetTraveler: </a:t>
            </a:r>
            <a:r>
              <a:rPr lang="es-ES" sz="1600">
                <a:solidFill>
                  <a:schemeClr val="lt1"/>
                </a:solidFill>
                <a:latin typeface="Calibri"/>
                <a:ea typeface="Calibri"/>
                <a:cs typeface="Calibri"/>
                <a:sym typeface="Calibri"/>
              </a:rPr>
              <a:t>Campaña de 2004 que se descubrió en 2013 y que obtuvo datos sobre la exploración del espacio, nanotecnología, producción energética, plantas nucleares, láseres, medicina y telecomunicaciones de más de 350 organizaciones de 40 países.</a:t>
            </a:r>
            <a:endParaRPr sz="1600">
              <a:solidFill>
                <a:schemeClr val="lt1"/>
              </a:solidFill>
              <a:latin typeface="Calibri"/>
              <a:ea typeface="Calibri"/>
              <a:cs typeface="Calibri"/>
              <a:sym typeface="Calibri"/>
            </a:endParaRPr>
          </a:p>
          <a:p>
            <a:pPr marL="342900" lvl="0" indent="-342900" algn="l" rtl="0">
              <a:lnSpc>
                <a:spcPct val="107000"/>
              </a:lnSpc>
              <a:spcBef>
                <a:spcPts val="1800"/>
              </a:spcBef>
              <a:spcAft>
                <a:spcPts val="0"/>
              </a:spcAft>
              <a:buClr>
                <a:schemeClr val="lt1"/>
              </a:buClr>
              <a:buSzPts val="1000"/>
              <a:buFont typeface="Noto Sans Symbols"/>
              <a:buChar char="∙"/>
            </a:pPr>
            <a:r>
              <a:rPr lang="es-ES" sz="2000" b="1">
                <a:solidFill>
                  <a:schemeClr val="lt1"/>
                </a:solidFill>
                <a:latin typeface="Calibri"/>
                <a:ea typeface="Calibri"/>
                <a:cs typeface="Calibri"/>
                <a:sym typeface="Calibri"/>
              </a:rPr>
              <a:t>IceFog: </a:t>
            </a:r>
            <a:r>
              <a:rPr lang="es-ES" sz="1600">
                <a:solidFill>
                  <a:schemeClr val="lt1"/>
                </a:solidFill>
                <a:latin typeface="Calibri"/>
                <a:ea typeface="Calibri"/>
                <a:cs typeface="Calibri"/>
                <a:sym typeface="Calibri"/>
              </a:rPr>
              <a:t>Desde 2011 hasta 2013 atacó a numerosas instituciones de gobiernos, contratas militares, navieras, operadoras de telecomunicaciones y satélites, empresas industriales y tecnológicas y de comunicación, al igual que todas las anteriores con el spear-phishing como primer paso.</a:t>
            </a:r>
            <a:endParaRPr sz="1600">
              <a:solidFill>
                <a:schemeClr val="lt1"/>
              </a:solidFill>
              <a:latin typeface="Calibri"/>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a:solidFill>
                <a:schemeClr val="lt1"/>
              </a:solidFill>
              <a:latin typeface="Calibri"/>
              <a:ea typeface="Calibri"/>
              <a:cs typeface="Calibri"/>
              <a:sym typeface="Calibri"/>
            </a:endParaRPr>
          </a:p>
        </p:txBody>
      </p:sp>
      <p:pic>
        <p:nvPicPr>
          <p:cNvPr id="307" name="Google Shape;307;p25" descr="Qué es el phishing? - ValoraData"/>
          <p:cNvPicPr preferRelativeResize="0"/>
          <p:nvPr/>
        </p:nvPicPr>
        <p:blipFill rotWithShape="1">
          <a:blip r:embed="rId3">
            <a:alphaModFix/>
          </a:blip>
          <a:srcRect/>
          <a:stretch/>
        </p:blipFill>
        <p:spPr>
          <a:xfrm>
            <a:off x="9648916" y="-4762"/>
            <a:ext cx="2348943" cy="147742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6"/>
          <p:cNvSpPr txBox="1">
            <a:spLocks noGrp="1"/>
          </p:cNvSpPr>
          <p:nvPr>
            <p:ph type="title"/>
          </p:nvPr>
        </p:nvSpPr>
        <p:spPr>
          <a:xfrm>
            <a:off x="762000" y="0"/>
            <a:ext cx="10515600" cy="8064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PHISING</a:t>
            </a:r>
            <a:endParaRPr/>
          </a:p>
        </p:txBody>
      </p:sp>
      <p:grpSp>
        <p:nvGrpSpPr>
          <p:cNvPr id="313" name="Google Shape;313;p26"/>
          <p:cNvGrpSpPr/>
          <p:nvPr/>
        </p:nvGrpSpPr>
        <p:grpSpPr>
          <a:xfrm>
            <a:off x="544308" y="806450"/>
            <a:ext cx="11322458" cy="6051549"/>
            <a:chOff x="1383" y="0"/>
            <a:chExt cx="11322458" cy="6051549"/>
          </a:xfrm>
        </p:grpSpPr>
        <p:sp>
          <p:nvSpPr>
            <p:cNvPr id="314" name="Google Shape;314;p26"/>
            <p:cNvSpPr/>
            <p:nvPr/>
          </p:nvSpPr>
          <p:spPr>
            <a:xfrm rot="-5400000">
              <a:off x="-1227176" y="1228559"/>
              <a:ext cx="6051549" cy="3594431"/>
            </a:xfrm>
            <a:prstGeom prst="flowChartManualOperation">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txBox="1"/>
            <p:nvPr/>
          </p:nvSpPr>
          <p:spPr>
            <a:xfrm>
              <a:off x="1383" y="1210310"/>
              <a:ext cx="3594431" cy="3630929"/>
            </a:xfrm>
            <a:prstGeom prst="rect">
              <a:avLst/>
            </a:prstGeom>
            <a:noFill/>
            <a:ln>
              <a:noFill/>
            </a:ln>
          </p:spPr>
          <p:txBody>
            <a:bodyPr spcFirstLastPara="1" wrap="square" lIns="127000" tIns="0" rIns="127000" bIns="0" anchor="t" anchorCtr="0">
              <a:noAutofit/>
            </a:bodyPr>
            <a:lstStyle/>
            <a:p>
              <a:pPr marL="0" marR="0" lvl="0" indent="0" algn="l" rtl="0">
                <a:lnSpc>
                  <a:spcPct val="90000"/>
                </a:lnSpc>
                <a:spcBef>
                  <a:spcPts val="0"/>
                </a:spcBef>
                <a:spcAft>
                  <a:spcPts val="0"/>
                </a:spcAft>
                <a:buClr>
                  <a:schemeClr val="lt1"/>
                </a:buClr>
                <a:buSzPts val="2000"/>
                <a:buFont typeface="Calibri"/>
                <a:buNone/>
              </a:pPr>
              <a:r>
                <a:rPr lang="es-ES" sz="2000" b="1">
                  <a:solidFill>
                    <a:schemeClr val="lt1"/>
                  </a:solidFill>
                  <a:latin typeface="Calibri"/>
                  <a:ea typeface="Calibri"/>
                  <a:cs typeface="Calibri"/>
                  <a:sym typeface="Calibri"/>
                </a:rPr>
                <a:t>Spear-phishing:</a:t>
              </a:r>
              <a:endParaRPr sz="2000">
                <a:solidFill>
                  <a:schemeClr val="lt1"/>
                </a:solidFill>
                <a:latin typeface="Calibri"/>
                <a:ea typeface="Calibri"/>
                <a:cs typeface="Calibri"/>
                <a:sym typeface="Calibri"/>
              </a:endParaRPr>
            </a:p>
            <a:p>
              <a:pPr marL="171450" marR="0" lvl="1" indent="-171450" algn="l" rtl="0">
                <a:lnSpc>
                  <a:spcPct val="90000"/>
                </a:lnSpc>
                <a:spcBef>
                  <a:spcPts val="700"/>
                </a:spcBef>
                <a:spcAft>
                  <a:spcPts val="0"/>
                </a:spcAft>
                <a:buClr>
                  <a:schemeClr val="lt1"/>
                </a:buClr>
                <a:buSzPts val="1000"/>
                <a:buFont typeface="Noto Sans Symbols"/>
                <a:buChar char="∙"/>
              </a:pPr>
              <a:r>
                <a:rPr lang="es-ES" sz="1600" b="0" i="0" u="none" strike="noStrike" cap="none">
                  <a:solidFill>
                    <a:schemeClr val="lt1"/>
                  </a:solidFill>
                  <a:latin typeface="Calibri"/>
                  <a:ea typeface="Calibri"/>
                  <a:cs typeface="Calibri"/>
                  <a:sym typeface="Calibri"/>
                </a:rPr>
                <a:t>Variante que perfecciona y personaliza la comunicación (la traducción sería pesca con arpón), adaptándola a cada individuo, gracias a un análisis previo de la empresa, los nombres de los empleados/jefes/personal de servicio técnico, nombres de clientes, etc. En definitiva, cualquier información que pueda ser útil para hacer más creíble la comunicación que va a recibir la víctima. Los envíos no son masivos como los mencionados anteriormente, sino muy dirigidos a un grupo de posibles víctimas concretas.</a:t>
              </a:r>
              <a:endParaRPr sz="1600" b="0" i="0" u="none" strike="noStrike" cap="none">
                <a:solidFill>
                  <a:schemeClr val="lt1"/>
                </a:solidFill>
                <a:latin typeface="Calibri"/>
                <a:ea typeface="Calibri"/>
                <a:cs typeface="Calibri"/>
                <a:sym typeface="Calibri"/>
              </a:endParaRPr>
            </a:p>
          </p:txBody>
        </p:sp>
        <p:sp>
          <p:nvSpPr>
            <p:cNvPr id="316" name="Google Shape;316;p26"/>
            <p:cNvSpPr/>
            <p:nvPr/>
          </p:nvSpPr>
          <p:spPr>
            <a:xfrm rot="-5400000">
              <a:off x="2636837" y="1228559"/>
              <a:ext cx="6051549" cy="3594431"/>
            </a:xfrm>
            <a:prstGeom prst="flowChartManualOperation">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txBox="1"/>
            <p:nvPr/>
          </p:nvSpPr>
          <p:spPr>
            <a:xfrm>
              <a:off x="3865396" y="1210310"/>
              <a:ext cx="3594431" cy="3630929"/>
            </a:xfrm>
            <a:prstGeom prst="rect">
              <a:avLst/>
            </a:prstGeom>
            <a:noFill/>
            <a:ln>
              <a:noFill/>
            </a:ln>
          </p:spPr>
          <p:txBody>
            <a:bodyPr spcFirstLastPara="1" wrap="square" lIns="127000" tIns="0" rIns="127000" bIns="0" anchor="t" anchorCtr="0">
              <a:noAutofit/>
            </a:bodyPr>
            <a:lstStyle/>
            <a:p>
              <a:pPr marL="0" marR="0" lvl="0" indent="0" algn="l" rtl="0">
                <a:lnSpc>
                  <a:spcPct val="90000"/>
                </a:lnSpc>
                <a:spcBef>
                  <a:spcPts val="0"/>
                </a:spcBef>
                <a:spcAft>
                  <a:spcPts val="0"/>
                </a:spcAft>
                <a:buClr>
                  <a:schemeClr val="lt1"/>
                </a:buClr>
                <a:buSzPts val="2000"/>
                <a:buFont typeface="Calibri"/>
                <a:buNone/>
              </a:pPr>
              <a:r>
                <a:rPr lang="es-ES" sz="2000" b="1">
                  <a:solidFill>
                    <a:schemeClr val="lt1"/>
                  </a:solidFill>
                  <a:latin typeface="Calibri"/>
                  <a:ea typeface="Calibri"/>
                  <a:cs typeface="Calibri"/>
                  <a:sym typeface="Calibri"/>
                </a:rPr>
                <a:t>Whaling:</a:t>
              </a:r>
              <a:endParaRPr sz="2000">
                <a:solidFill>
                  <a:schemeClr val="lt1"/>
                </a:solidFill>
                <a:latin typeface="Calibri"/>
                <a:ea typeface="Calibri"/>
                <a:cs typeface="Calibri"/>
                <a:sym typeface="Calibri"/>
              </a:endParaRPr>
            </a:p>
            <a:p>
              <a:pPr marL="171450" marR="0" lvl="1" indent="-171450" algn="l" rtl="0">
                <a:lnSpc>
                  <a:spcPct val="90000"/>
                </a:lnSpc>
                <a:spcBef>
                  <a:spcPts val="700"/>
                </a:spcBef>
                <a:spcAft>
                  <a:spcPts val="0"/>
                </a:spcAft>
                <a:buClr>
                  <a:schemeClr val="lt1"/>
                </a:buClr>
                <a:buSzPts val="1000"/>
                <a:buFont typeface="Noto Sans Symbols"/>
                <a:buChar char="∙"/>
              </a:pPr>
              <a:r>
                <a:rPr lang="es-ES" sz="1600" b="0" i="0" u="none" strike="noStrike" cap="none">
                  <a:solidFill>
                    <a:schemeClr val="lt1"/>
                  </a:solidFill>
                  <a:latin typeface="Calibri"/>
                  <a:ea typeface="Calibri"/>
                  <a:cs typeface="Calibri"/>
                  <a:sym typeface="Calibri"/>
                </a:rPr>
                <a:t>Tiene como objetivo los directivos de la empresa, de manera que al igual que con el spear-phishing se personalizan mucho más las comunicaciones que se envían en lugar de hacer envíos masivos. Este tipo de técnica suele tener una alta probabilidad de éxito ya que los directivos no suelen asistir a las sesiones de concienciación o de formación que se organizan para los empleados.</a:t>
              </a:r>
              <a:endParaRPr sz="1600" b="0" i="0" u="none" strike="noStrike" cap="none">
                <a:solidFill>
                  <a:schemeClr val="lt1"/>
                </a:solidFill>
                <a:latin typeface="Calibri"/>
                <a:ea typeface="Calibri"/>
                <a:cs typeface="Calibri"/>
                <a:sym typeface="Calibri"/>
              </a:endParaRPr>
            </a:p>
          </p:txBody>
        </p:sp>
        <p:sp>
          <p:nvSpPr>
            <p:cNvPr id="318" name="Google Shape;318;p26"/>
            <p:cNvSpPr/>
            <p:nvPr/>
          </p:nvSpPr>
          <p:spPr>
            <a:xfrm rot="-5400000">
              <a:off x="6500851" y="1228559"/>
              <a:ext cx="6051549" cy="3594431"/>
            </a:xfrm>
            <a:prstGeom prst="flowChartManualOperation">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txBox="1"/>
            <p:nvPr/>
          </p:nvSpPr>
          <p:spPr>
            <a:xfrm>
              <a:off x="7729410" y="1210310"/>
              <a:ext cx="3594431" cy="3630929"/>
            </a:xfrm>
            <a:prstGeom prst="rect">
              <a:avLst/>
            </a:prstGeom>
            <a:noFill/>
            <a:ln>
              <a:noFill/>
            </a:ln>
          </p:spPr>
          <p:txBody>
            <a:bodyPr spcFirstLastPara="1" wrap="square" lIns="127000" tIns="0" rIns="127000" bIns="0" anchor="t" anchorCtr="0">
              <a:noAutofit/>
            </a:bodyPr>
            <a:lstStyle/>
            <a:p>
              <a:pPr marL="0" marR="0" lvl="0" indent="0" algn="l" rtl="0">
                <a:lnSpc>
                  <a:spcPct val="90000"/>
                </a:lnSpc>
                <a:spcBef>
                  <a:spcPts val="0"/>
                </a:spcBef>
                <a:spcAft>
                  <a:spcPts val="0"/>
                </a:spcAft>
                <a:buClr>
                  <a:schemeClr val="lt1"/>
                </a:buClr>
                <a:buSzPts val="2000"/>
                <a:buFont typeface="Calibri"/>
                <a:buNone/>
              </a:pPr>
              <a:r>
                <a:rPr lang="es-ES" sz="2000" b="1">
                  <a:solidFill>
                    <a:schemeClr val="lt1"/>
                  </a:solidFill>
                  <a:latin typeface="Calibri"/>
                  <a:ea typeface="Calibri"/>
                  <a:cs typeface="Calibri"/>
                  <a:sym typeface="Calibri"/>
                </a:rPr>
                <a:t>Watering-holes</a:t>
              </a:r>
              <a:r>
                <a:rPr lang="es-ES" sz="2000">
                  <a:solidFill>
                    <a:schemeClr val="lt1"/>
                  </a:solidFill>
                  <a:latin typeface="Calibri"/>
                  <a:ea typeface="Calibri"/>
                  <a:cs typeface="Calibri"/>
                  <a:sym typeface="Calibri"/>
                </a:rPr>
                <a:t> </a:t>
              </a:r>
              <a:endParaRPr sz="2000">
                <a:solidFill>
                  <a:schemeClr val="lt1"/>
                </a:solidFill>
                <a:latin typeface="Calibri"/>
                <a:ea typeface="Calibri"/>
                <a:cs typeface="Calibri"/>
                <a:sym typeface="Calibri"/>
              </a:endParaRPr>
            </a:p>
            <a:p>
              <a:pPr marL="171450" marR="0" lvl="1" indent="-171450" algn="l" rtl="0">
                <a:lnSpc>
                  <a:spcPct val="90000"/>
                </a:lnSpc>
                <a:spcBef>
                  <a:spcPts val="700"/>
                </a:spcBef>
                <a:spcAft>
                  <a:spcPts val="0"/>
                </a:spcAft>
                <a:buClr>
                  <a:schemeClr val="lt1"/>
                </a:buClr>
                <a:buSzPts val="1600"/>
                <a:buFont typeface="Calibri"/>
                <a:buChar char="•"/>
              </a:pPr>
              <a:r>
                <a:rPr lang="es-ES" sz="1600" b="0" i="0" u="none" strike="noStrike" cap="none">
                  <a:solidFill>
                    <a:schemeClr val="lt1"/>
                  </a:solidFill>
                  <a:latin typeface="Calibri"/>
                  <a:ea typeface="Calibri"/>
                  <a:cs typeface="Calibri"/>
                  <a:sym typeface="Calibri"/>
                </a:rPr>
                <a:t>(la traducción sería abrevaderos) es otra de las técnicas que, aunque no explota directamente el factor humano, sí que se suele emplear conjuntamente con técnicas de recogida de información como las comentadas anteriormente. Se trata de averiguar primero qué páginas o sitios web suelen visitar los empleados de la empresa objetivo, para infectar alguna de ellas con malware o con algún exploit específico</a:t>
              </a:r>
              <a:endParaRPr sz="16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7"/>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Recomendaciones elemento humano</a:t>
            </a:r>
            <a:endParaRPr/>
          </a:p>
        </p:txBody>
      </p:sp>
      <p:sp>
        <p:nvSpPr>
          <p:cNvPr id="325" name="Google Shape;325;p27"/>
          <p:cNvSpPr txBox="1">
            <a:spLocks noGrp="1"/>
          </p:cNvSpPr>
          <p:nvPr>
            <p:ph type="body" idx="1"/>
          </p:nvPr>
        </p:nvSpPr>
        <p:spPr>
          <a:xfrm>
            <a:off x="838200" y="1368425"/>
            <a:ext cx="10515600" cy="4351338"/>
          </a:xfrm>
          <a:prstGeom prst="rect">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t" anchorCtr="0">
            <a:normAutofit/>
          </a:bodyPr>
          <a:lstStyle/>
          <a:p>
            <a:pPr marL="0" lvl="0" indent="0" algn="l" rtl="0">
              <a:lnSpc>
                <a:spcPct val="80000"/>
              </a:lnSpc>
              <a:spcBef>
                <a:spcPts val="0"/>
              </a:spcBef>
              <a:spcAft>
                <a:spcPts val="0"/>
              </a:spcAft>
              <a:buClr>
                <a:schemeClr val="lt1"/>
              </a:buClr>
              <a:buSzPts val="2800"/>
              <a:buNone/>
            </a:pPr>
            <a:r>
              <a:rPr lang="es-ES" b="1" i="0">
                <a:solidFill>
                  <a:schemeClr val="lt1"/>
                </a:solidFill>
                <a:latin typeface="Calibri"/>
                <a:ea typeface="Calibri"/>
                <a:cs typeface="Calibri"/>
                <a:sym typeface="Calibri"/>
              </a:rPr>
              <a:t>8 pasos para prevenir un ciberataque</a:t>
            </a:r>
            <a:endParaRPr b="0" i="0">
              <a:solidFill>
                <a:schemeClr val="lt1"/>
              </a:solidFill>
              <a:latin typeface="Calibri"/>
              <a:ea typeface="Calibri"/>
              <a:cs typeface="Calibri"/>
              <a:sym typeface="Calibri"/>
            </a:endParaRPr>
          </a:p>
          <a:p>
            <a:pPr marL="228600" lvl="0" indent="-228600" algn="l" rtl="0">
              <a:lnSpc>
                <a:spcPct val="80000"/>
              </a:lnSpc>
              <a:spcBef>
                <a:spcPts val="1000"/>
              </a:spcBef>
              <a:spcAft>
                <a:spcPts val="0"/>
              </a:spcAft>
              <a:buClr>
                <a:schemeClr val="lt1"/>
              </a:buClr>
              <a:buSzPts val="2800"/>
              <a:buFont typeface="Calibri"/>
              <a:buAutoNum type="arabicPeriod"/>
            </a:pPr>
            <a:r>
              <a:rPr lang="es-ES" i="0">
                <a:solidFill>
                  <a:schemeClr val="lt1"/>
                </a:solidFill>
                <a:latin typeface="Calibri"/>
                <a:ea typeface="Calibri"/>
                <a:cs typeface="Calibri"/>
                <a:sym typeface="Calibri"/>
              </a:rPr>
              <a:t>Proteger los equipos. Cualquier dispositivo electrónico que se tenga en casa o la oficina debe estar completamente actualizado. ...</a:t>
            </a:r>
            <a:endParaRPr/>
          </a:p>
          <a:p>
            <a:pPr marL="228600" lvl="0" indent="-228600" algn="l" rtl="0">
              <a:lnSpc>
                <a:spcPct val="80000"/>
              </a:lnSpc>
              <a:spcBef>
                <a:spcPts val="1000"/>
              </a:spcBef>
              <a:spcAft>
                <a:spcPts val="0"/>
              </a:spcAft>
              <a:buClr>
                <a:schemeClr val="lt1"/>
              </a:buClr>
              <a:buSzPts val="2800"/>
              <a:buFont typeface="Calibri"/>
              <a:buAutoNum type="arabicPeriod"/>
            </a:pPr>
            <a:r>
              <a:rPr lang="es-ES" i="0">
                <a:solidFill>
                  <a:schemeClr val="lt1"/>
                </a:solidFill>
                <a:latin typeface="Calibri"/>
                <a:ea typeface="Calibri"/>
                <a:cs typeface="Calibri"/>
                <a:sym typeface="Calibri"/>
              </a:rPr>
              <a:t>Contraseñas fuertes. ...</a:t>
            </a:r>
            <a:endParaRPr/>
          </a:p>
          <a:p>
            <a:pPr marL="228600" lvl="0" indent="-228600" algn="l" rtl="0">
              <a:lnSpc>
                <a:spcPct val="80000"/>
              </a:lnSpc>
              <a:spcBef>
                <a:spcPts val="1000"/>
              </a:spcBef>
              <a:spcAft>
                <a:spcPts val="0"/>
              </a:spcAft>
              <a:buClr>
                <a:schemeClr val="lt1"/>
              </a:buClr>
              <a:buSzPts val="2800"/>
              <a:buFont typeface="Calibri"/>
              <a:buAutoNum type="arabicPeriod"/>
            </a:pPr>
            <a:r>
              <a:rPr lang="es-ES" i="0">
                <a:solidFill>
                  <a:schemeClr val="lt1"/>
                </a:solidFill>
                <a:latin typeface="Calibri"/>
                <a:ea typeface="Calibri"/>
                <a:cs typeface="Calibri"/>
                <a:sym typeface="Calibri"/>
              </a:rPr>
              <a:t>Utilizar protocolos de seguridad. ...</a:t>
            </a:r>
            <a:endParaRPr/>
          </a:p>
          <a:p>
            <a:pPr marL="228600" lvl="0" indent="-228600" algn="l" rtl="0">
              <a:lnSpc>
                <a:spcPct val="80000"/>
              </a:lnSpc>
              <a:spcBef>
                <a:spcPts val="1000"/>
              </a:spcBef>
              <a:spcAft>
                <a:spcPts val="0"/>
              </a:spcAft>
              <a:buClr>
                <a:schemeClr val="lt1"/>
              </a:buClr>
              <a:buSzPts val="2800"/>
              <a:buFont typeface="Calibri"/>
              <a:buAutoNum type="arabicPeriod"/>
            </a:pPr>
            <a:r>
              <a:rPr lang="es-ES" i="0">
                <a:solidFill>
                  <a:schemeClr val="lt1"/>
                </a:solidFill>
                <a:latin typeface="Calibri"/>
                <a:ea typeface="Calibri"/>
                <a:cs typeface="Calibri"/>
                <a:sym typeface="Calibri"/>
              </a:rPr>
              <a:t>Comprobar la autenticidad de enlaces y perfiles. ...</a:t>
            </a:r>
            <a:endParaRPr/>
          </a:p>
          <a:p>
            <a:pPr marL="228600" lvl="0" indent="-228600" algn="l" rtl="0">
              <a:lnSpc>
                <a:spcPct val="80000"/>
              </a:lnSpc>
              <a:spcBef>
                <a:spcPts val="1000"/>
              </a:spcBef>
              <a:spcAft>
                <a:spcPts val="0"/>
              </a:spcAft>
              <a:buClr>
                <a:schemeClr val="lt1"/>
              </a:buClr>
              <a:buSzPts val="2800"/>
              <a:buFont typeface="Calibri"/>
              <a:buAutoNum type="arabicPeriod"/>
            </a:pPr>
            <a:r>
              <a:rPr lang="es-ES" i="0">
                <a:solidFill>
                  <a:schemeClr val="lt1"/>
                </a:solidFill>
                <a:latin typeface="Calibri"/>
                <a:ea typeface="Calibri"/>
                <a:cs typeface="Calibri"/>
                <a:sym typeface="Calibri"/>
              </a:rPr>
              <a:t>Evitar dar datos personales. ...</a:t>
            </a:r>
            <a:endParaRPr/>
          </a:p>
          <a:p>
            <a:pPr marL="228600" lvl="0" indent="-228600" algn="l" rtl="0">
              <a:lnSpc>
                <a:spcPct val="80000"/>
              </a:lnSpc>
              <a:spcBef>
                <a:spcPts val="1000"/>
              </a:spcBef>
              <a:spcAft>
                <a:spcPts val="0"/>
              </a:spcAft>
              <a:buClr>
                <a:schemeClr val="lt1"/>
              </a:buClr>
              <a:buSzPts val="2800"/>
              <a:buFont typeface="Calibri"/>
              <a:buAutoNum type="arabicPeriod"/>
            </a:pPr>
            <a:r>
              <a:rPr lang="es-ES" i="0">
                <a:solidFill>
                  <a:schemeClr val="lt1"/>
                </a:solidFill>
                <a:latin typeface="Calibri"/>
                <a:ea typeface="Calibri"/>
                <a:cs typeface="Calibri"/>
                <a:sym typeface="Calibri"/>
              </a:rPr>
              <a:t>No descargar contenido pirata. ...</a:t>
            </a:r>
            <a:endParaRPr/>
          </a:p>
          <a:p>
            <a:pPr marL="228600" lvl="0" indent="-228600" algn="l" rtl="0">
              <a:lnSpc>
                <a:spcPct val="80000"/>
              </a:lnSpc>
              <a:spcBef>
                <a:spcPts val="1000"/>
              </a:spcBef>
              <a:spcAft>
                <a:spcPts val="0"/>
              </a:spcAft>
              <a:buClr>
                <a:schemeClr val="lt1"/>
              </a:buClr>
              <a:buSzPts val="2800"/>
              <a:buFont typeface="Calibri"/>
              <a:buAutoNum type="arabicPeriod"/>
            </a:pPr>
            <a:r>
              <a:rPr lang="es-ES" i="0">
                <a:solidFill>
                  <a:schemeClr val="lt1"/>
                </a:solidFill>
                <a:latin typeface="Calibri"/>
                <a:ea typeface="Calibri"/>
                <a:cs typeface="Calibri"/>
                <a:sym typeface="Calibri"/>
              </a:rPr>
              <a:t>Realizar una copia de seguridad.</a:t>
            </a:r>
            <a:endParaRPr/>
          </a:p>
          <a:p>
            <a:pPr marL="228600" lvl="0" indent="-50800" algn="l" rtl="0">
              <a:lnSpc>
                <a:spcPct val="80000"/>
              </a:lnSpc>
              <a:spcBef>
                <a:spcPts val="1000"/>
              </a:spcBef>
              <a:spcAft>
                <a:spcPts val="0"/>
              </a:spcAft>
              <a:buClr>
                <a:schemeClr val="dk1"/>
              </a:buClr>
              <a:buSzPts val="2800"/>
              <a:buNone/>
            </a:pPr>
            <a:endParaRPr>
              <a:solidFill>
                <a:schemeClr val="lt1"/>
              </a:solidFill>
            </a:endParaRPr>
          </a:p>
        </p:txBody>
      </p:sp>
      <p:pic>
        <p:nvPicPr>
          <p:cNvPr id="326" name="Google Shape;326;p27" descr="Estudiante, Escribir, Teclado, Texto, Inicio, Personas"/>
          <p:cNvPicPr preferRelativeResize="0"/>
          <p:nvPr/>
        </p:nvPicPr>
        <p:blipFill rotWithShape="1">
          <a:blip r:embed="rId3">
            <a:alphaModFix/>
          </a:blip>
          <a:srcRect/>
          <a:stretch/>
        </p:blipFill>
        <p:spPr>
          <a:xfrm>
            <a:off x="8633859" y="4277092"/>
            <a:ext cx="3343175" cy="222878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Otras medidas</a:t>
            </a:r>
            <a:endParaRPr/>
          </a:p>
        </p:txBody>
      </p:sp>
      <p:sp>
        <p:nvSpPr>
          <p:cNvPr id="332" name="Google Shape;332;p28"/>
          <p:cNvSpPr txBox="1">
            <a:spLocks noGrp="1"/>
          </p:cNvSpPr>
          <p:nvPr>
            <p:ph type="body" idx="1"/>
          </p:nvPr>
        </p:nvSpPr>
        <p:spPr>
          <a:xfrm>
            <a:off x="647700" y="1524000"/>
            <a:ext cx="10706100" cy="4652963"/>
          </a:xfrm>
          <a:prstGeom prst="rect">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2170"/>
              <a:buNone/>
            </a:pPr>
            <a:r>
              <a:rPr lang="es-ES" sz="2170" b="1">
                <a:solidFill>
                  <a:schemeClr val="lt1"/>
                </a:solidFill>
                <a:latin typeface="Calibri"/>
                <a:ea typeface="Calibri"/>
                <a:cs typeface="Calibri"/>
                <a:sym typeface="Calibri"/>
              </a:rPr>
              <a:t>COMPROBAR QUE LAS FUENTES DE LOS CORREOS SON FIDEDIGNAS</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NUNCA COMPARTAS TUS CLAVES DE ACCESO</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ACTIVA LA VERIFICACIÓN EN DOS PASOS</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INSTALAR Y MANTENER ACTUALIZADO TU ANTIVIRUS</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NO ACEPTES A DESCONOCIDOS EN RRSS NI EN OTROS MEDIOS</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COMPARTE INFORMACIÓN Y ARCHIVOS SOLO CON GENTE Y POR CANALES DE CONFIANZA</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No uses redes publicas para información importante</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USO ÚNICAMENTE DE HERRAMIENTAS RECONOCIDAS POR LA EMPRESA</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CONTROL DE LA SEGURIDAD PERIMETRAL</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ESTABLECER FIREWALL PARA EVITAR LA PROPAGACIÓN</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CIFRADO DE DISPOSITIVOS</a:t>
            </a:r>
            <a:endParaRPr/>
          </a:p>
          <a:p>
            <a:pPr marL="0" lvl="0" indent="0" algn="l" rtl="0">
              <a:lnSpc>
                <a:spcPct val="70000"/>
              </a:lnSpc>
              <a:spcBef>
                <a:spcPts val="1000"/>
              </a:spcBef>
              <a:spcAft>
                <a:spcPts val="0"/>
              </a:spcAft>
              <a:buClr>
                <a:schemeClr val="lt1"/>
              </a:buClr>
              <a:buSzPts val="2170"/>
              <a:buNone/>
            </a:pPr>
            <a:r>
              <a:rPr lang="es-ES" sz="2170" b="1">
                <a:solidFill>
                  <a:schemeClr val="lt1"/>
                </a:solidFill>
                <a:latin typeface="Calibri"/>
                <a:ea typeface="Calibri"/>
                <a:cs typeface="Calibri"/>
                <a:sym typeface="Calibri"/>
              </a:rPr>
              <a:t>GESTIÓN DE ACCESOS E IDENTIDADES</a:t>
            </a:r>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a:p>
            <a:pPr marL="0" lvl="0" indent="0" algn="l" rtl="0">
              <a:lnSpc>
                <a:spcPct val="70000"/>
              </a:lnSpc>
              <a:spcBef>
                <a:spcPts val="1000"/>
              </a:spcBef>
              <a:spcAft>
                <a:spcPts val="0"/>
              </a:spcAft>
              <a:buClr>
                <a:schemeClr val="dk1"/>
              </a:buClr>
              <a:buSzPts val="2170"/>
              <a:buNone/>
            </a:pPr>
            <a:endParaRPr sz="2170" b="1">
              <a:solidFill>
                <a:schemeClr val="lt1"/>
              </a:solidFill>
              <a:latin typeface="Calibri"/>
              <a:ea typeface="Calibri"/>
              <a:cs typeface="Calibri"/>
              <a:sym typeface="Calibri"/>
            </a:endParaRPr>
          </a:p>
        </p:txBody>
      </p:sp>
      <p:pic>
        <p:nvPicPr>
          <p:cNvPr id="333" name="Google Shape;333;p28" descr="Estudiante, Escribir, Teclado, Texto, Inicio, Personas"/>
          <p:cNvPicPr preferRelativeResize="0"/>
          <p:nvPr/>
        </p:nvPicPr>
        <p:blipFill rotWithShape="1">
          <a:blip r:embed="rId3">
            <a:alphaModFix/>
          </a:blip>
          <a:srcRect/>
          <a:stretch/>
        </p:blipFill>
        <p:spPr>
          <a:xfrm>
            <a:off x="8848825" y="4264092"/>
            <a:ext cx="3343175" cy="222878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9"/>
          <p:cNvSpPr txBox="1">
            <a:spLocks noGrp="1"/>
          </p:cNvSpPr>
          <p:nvPr>
            <p:ph type="title"/>
          </p:nvPr>
        </p:nvSpPr>
        <p:spPr>
          <a:xfrm>
            <a:off x="1386840" y="134120"/>
            <a:ext cx="10515600" cy="5589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Como solucionar el factor humano</a:t>
            </a:r>
            <a:endParaRPr/>
          </a:p>
        </p:txBody>
      </p:sp>
      <p:sp>
        <p:nvSpPr>
          <p:cNvPr id="339" name="Google Shape;339;p29"/>
          <p:cNvSpPr txBox="1">
            <a:spLocks noGrp="1"/>
          </p:cNvSpPr>
          <p:nvPr>
            <p:ph type="body" idx="1"/>
          </p:nvPr>
        </p:nvSpPr>
        <p:spPr>
          <a:xfrm>
            <a:off x="530352" y="882268"/>
            <a:ext cx="10683748" cy="3448431"/>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3245"/>
              </a:buClr>
              <a:buSzPts val="2400"/>
              <a:buChar char="•"/>
            </a:pPr>
            <a:r>
              <a:rPr lang="es-ES" sz="2400" b="1">
                <a:solidFill>
                  <a:srgbClr val="003245"/>
                </a:solidFill>
                <a:latin typeface="Calibri"/>
                <a:ea typeface="Calibri"/>
                <a:cs typeface="Calibri"/>
                <a:sym typeface="Calibri"/>
              </a:rPr>
              <a:t>Planes de seguridad</a:t>
            </a:r>
            <a:r>
              <a:rPr lang="es-ES" sz="2400">
                <a:solidFill>
                  <a:srgbClr val="003245"/>
                </a:solidFill>
                <a:latin typeface="Calibri"/>
                <a:ea typeface="Calibri"/>
                <a:cs typeface="Calibri"/>
                <a:sym typeface="Calibri"/>
              </a:rPr>
              <a:t>, que son un conjunto de decisiones que definen las acciones a seguir, así como los medios que se van a utilizar (planes de instalación, testeo, administración, configuración, etc.) para que la organización esté preparada para seguir las políticas que se han definido. </a:t>
            </a:r>
            <a:endParaRPr/>
          </a:p>
          <a:p>
            <a:pPr marL="228600" lvl="0" indent="-76200" algn="l" rtl="0">
              <a:lnSpc>
                <a:spcPct val="90000"/>
              </a:lnSpc>
              <a:spcBef>
                <a:spcPts val="1000"/>
              </a:spcBef>
              <a:spcAft>
                <a:spcPts val="0"/>
              </a:spcAft>
              <a:buClr>
                <a:schemeClr val="dk1"/>
              </a:buClr>
              <a:buSzPts val="2400"/>
              <a:buNone/>
            </a:pPr>
            <a:endParaRPr sz="2400">
              <a:solidFill>
                <a:srgbClr val="003245"/>
              </a:solidFill>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2400"/>
              <a:buChar char="•"/>
            </a:pPr>
            <a:r>
              <a:rPr lang="es-ES" sz="2400">
                <a:solidFill>
                  <a:srgbClr val="003245"/>
                </a:solidFill>
                <a:latin typeface="Calibri"/>
                <a:ea typeface="Calibri"/>
                <a:cs typeface="Calibri"/>
                <a:sym typeface="Calibri"/>
              </a:rPr>
              <a:t>Por ejemplo, si un estándar de una política de seguridad pide a los usuarios que se conecten siempre a los activos de la organización desde el exterior a través de una VPN, los procedimientos deben indicar a los administradores cómo configurar y mantener esta VPN, y debe existir algún plan que prevea el despliegue de esta VPN. </a:t>
            </a:r>
            <a:endParaRPr/>
          </a:p>
          <a:p>
            <a:pPr marL="228600" lvl="0" indent="-76200" algn="l" rtl="0">
              <a:lnSpc>
                <a:spcPct val="90000"/>
              </a:lnSpc>
              <a:spcBef>
                <a:spcPts val="1000"/>
              </a:spcBef>
              <a:spcAft>
                <a:spcPts val="0"/>
              </a:spcAft>
              <a:buClr>
                <a:schemeClr val="dk1"/>
              </a:buClr>
              <a:buSzPts val="2400"/>
              <a:buNone/>
            </a:pPr>
            <a:endParaRPr sz="2400">
              <a:solidFill>
                <a:srgbClr val="003245"/>
              </a:solidFill>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2400"/>
              <a:buChar char="•"/>
            </a:pPr>
            <a:r>
              <a:rPr lang="es-ES" sz="2400">
                <a:solidFill>
                  <a:srgbClr val="003245"/>
                </a:solidFill>
                <a:latin typeface="Calibri"/>
                <a:ea typeface="Calibri"/>
                <a:cs typeface="Calibri"/>
                <a:sym typeface="Calibri"/>
              </a:rPr>
              <a:t>Los estándares y procedimientos de seguridad se completan cuando se define una política con las </a:t>
            </a:r>
            <a:r>
              <a:rPr lang="es-ES" sz="2400" b="1">
                <a:solidFill>
                  <a:srgbClr val="003245"/>
                </a:solidFill>
                <a:latin typeface="Calibri"/>
                <a:ea typeface="Calibri"/>
                <a:cs typeface="Calibri"/>
                <a:sym typeface="Calibri"/>
              </a:rPr>
              <a:t>Guías y mejores prácticas</a:t>
            </a:r>
            <a:r>
              <a:rPr lang="es-ES" sz="2400">
                <a:solidFill>
                  <a:srgbClr val="003245"/>
                </a:solidFill>
                <a:latin typeface="Calibri"/>
                <a:ea typeface="Calibri"/>
                <a:cs typeface="Calibri"/>
                <a:sym typeface="Calibri"/>
              </a:rPr>
              <a:t>, sugerencias que no son obligatorias e información complementaria que pueden mejorar el nivel de cumplimiento de objetivos, facilitar el trabajo de administradores y usuarios, etc.</a:t>
            </a:r>
            <a:endParaRPr sz="2400">
              <a:latin typeface="Calibri"/>
              <a:ea typeface="Calibri"/>
              <a:cs typeface="Calibri"/>
              <a:sym typeface="Calibri"/>
            </a:endParaRPr>
          </a:p>
          <a:p>
            <a:pPr marL="228600" lvl="0" indent="-76200" algn="l" rtl="0">
              <a:lnSpc>
                <a:spcPct val="90000"/>
              </a:lnSpc>
              <a:spcBef>
                <a:spcPts val="1000"/>
              </a:spcBef>
              <a:spcAft>
                <a:spcPts val="0"/>
              </a:spcAft>
              <a:buClr>
                <a:schemeClr val="dk1"/>
              </a:buClr>
              <a:buSzPts val="2400"/>
              <a:buNone/>
            </a:pPr>
            <a:endParaRPr sz="2400"/>
          </a:p>
        </p:txBody>
      </p:sp>
      <p:pic>
        <p:nvPicPr>
          <p:cNvPr id="340" name="Google Shape;340;p29" descr="De acuerdo en inglés | Traductor de español a inglés - SpanishDict"/>
          <p:cNvPicPr preferRelativeResize="0"/>
          <p:nvPr/>
        </p:nvPicPr>
        <p:blipFill rotWithShape="1">
          <a:blip r:embed="rId3">
            <a:alphaModFix/>
          </a:blip>
          <a:srcRect/>
          <a:stretch/>
        </p:blipFill>
        <p:spPr>
          <a:xfrm>
            <a:off x="11010249" y="0"/>
            <a:ext cx="1325814" cy="88226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0"/>
          <p:cNvSpPr txBox="1">
            <a:spLocks noGrp="1"/>
          </p:cNvSpPr>
          <p:nvPr>
            <p:ph type="title"/>
          </p:nvPr>
        </p:nvSpPr>
        <p:spPr>
          <a:xfrm>
            <a:off x="728472" y="1"/>
            <a:ext cx="10515600" cy="48463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Calibri"/>
              <a:buNone/>
            </a:pPr>
            <a:r>
              <a:rPr lang="es-ES" sz="2800"/>
              <a:t>1.6 Eventos-ataques e incidentes de seguridad</a:t>
            </a:r>
            <a:endParaRPr/>
          </a:p>
        </p:txBody>
      </p:sp>
      <p:sp>
        <p:nvSpPr>
          <p:cNvPr id="346" name="Google Shape;346;p30"/>
          <p:cNvSpPr txBox="1"/>
          <p:nvPr/>
        </p:nvSpPr>
        <p:spPr>
          <a:xfrm>
            <a:off x="9795510" y="-3545732"/>
            <a:ext cx="9077706" cy="374077"/>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s-ES" sz="1800">
                <a:solidFill>
                  <a:srgbClr val="003245"/>
                </a:solidFill>
                <a:latin typeface="Times New Roman"/>
                <a:ea typeface="Times New Roman"/>
                <a:cs typeface="Times New Roman"/>
                <a:sym typeface="Times New Roman"/>
              </a:rPr>
              <a:t> </a:t>
            </a:r>
            <a:endParaRPr sz="1600">
              <a:solidFill>
                <a:schemeClr val="dk1"/>
              </a:solidFill>
              <a:latin typeface="Calibri"/>
              <a:ea typeface="Calibri"/>
              <a:cs typeface="Calibri"/>
              <a:sym typeface="Calibri"/>
            </a:endParaRPr>
          </a:p>
        </p:txBody>
      </p:sp>
      <p:grpSp>
        <p:nvGrpSpPr>
          <p:cNvPr id="347" name="Google Shape;347;p30"/>
          <p:cNvGrpSpPr/>
          <p:nvPr/>
        </p:nvGrpSpPr>
        <p:grpSpPr>
          <a:xfrm>
            <a:off x="298940" y="589477"/>
            <a:ext cx="11721118" cy="5992228"/>
            <a:chOff x="3665" y="104844"/>
            <a:chExt cx="11721118" cy="5992228"/>
          </a:xfrm>
        </p:grpSpPr>
        <p:sp>
          <p:nvSpPr>
            <p:cNvPr id="348" name="Google Shape;348;p30"/>
            <p:cNvSpPr/>
            <p:nvPr/>
          </p:nvSpPr>
          <p:spPr>
            <a:xfrm>
              <a:off x="3665" y="104844"/>
              <a:ext cx="3573511" cy="576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0"/>
            <p:cNvSpPr txBox="1"/>
            <p:nvPr/>
          </p:nvSpPr>
          <p:spPr>
            <a:xfrm>
              <a:off x="3665" y="104844"/>
              <a:ext cx="3573511" cy="576000"/>
            </a:xfrm>
            <a:prstGeom prst="rect">
              <a:avLst/>
            </a:prstGeom>
            <a:noFill/>
            <a:ln>
              <a:noFill/>
            </a:ln>
          </p:spPr>
          <p:txBody>
            <a:bodyPr spcFirstLastPara="1" wrap="square" lIns="142225" tIns="81275" rIns="142225" bIns="81275"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ES" sz="2000" b="1">
                  <a:solidFill>
                    <a:schemeClr val="lt1"/>
                  </a:solidFill>
                  <a:latin typeface="Calibri"/>
                  <a:ea typeface="Calibri"/>
                  <a:cs typeface="Calibri"/>
                  <a:sym typeface="Calibri"/>
                </a:rPr>
                <a:t>Evento de seguridad</a:t>
              </a:r>
              <a:r>
                <a:rPr lang="es-ES" sz="2000">
                  <a:solidFill>
                    <a:schemeClr val="lt1"/>
                  </a:solidFill>
                  <a:latin typeface="Calibri"/>
                  <a:ea typeface="Calibri"/>
                  <a:cs typeface="Calibri"/>
                  <a:sym typeface="Calibri"/>
                </a:rPr>
                <a:t> </a:t>
              </a:r>
              <a:endParaRPr sz="2000">
                <a:solidFill>
                  <a:schemeClr val="lt1"/>
                </a:solidFill>
                <a:latin typeface="Calibri"/>
                <a:ea typeface="Calibri"/>
                <a:cs typeface="Calibri"/>
                <a:sym typeface="Calibri"/>
              </a:endParaRPr>
            </a:p>
          </p:txBody>
        </p:sp>
        <p:sp>
          <p:nvSpPr>
            <p:cNvPr id="350" name="Google Shape;350;p30"/>
            <p:cNvSpPr/>
            <p:nvPr/>
          </p:nvSpPr>
          <p:spPr>
            <a:xfrm>
              <a:off x="3665" y="680844"/>
              <a:ext cx="3573511" cy="5416228"/>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0"/>
            <p:cNvSpPr txBox="1"/>
            <p:nvPr/>
          </p:nvSpPr>
          <p:spPr>
            <a:xfrm>
              <a:off x="3665" y="680844"/>
              <a:ext cx="3573511" cy="5416228"/>
            </a:xfrm>
            <a:prstGeom prst="rect">
              <a:avLst/>
            </a:prstGeom>
            <a:noFill/>
            <a:ln>
              <a:noFill/>
            </a:ln>
          </p:spPr>
          <p:txBody>
            <a:bodyPr spcFirstLastPara="1" wrap="square" lIns="106675" tIns="106675" rIns="142225" bIns="160000" anchor="t" anchorCtr="0">
              <a:noAutofit/>
            </a:bodyPr>
            <a:lstStyle/>
            <a:p>
              <a:pPr marL="228600" marR="0" lvl="1" indent="-228600" algn="l" rtl="0">
                <a:lnSpc>
                  <a:spcPct val="90000"/>
                </a:lnSpc>
                <a:spcBef>
                  <a:spcPts val="0"/>
                </a:spcBef>
                <a:spcAft>
                  <a:spcPts val="0"/>
                </a:spcAft>
                <a:buClr>
                  <a:srgbClr val="003245"/>
                </a:buClr>
                <a:buSzPts val="2000"/>
                <a:buFont typeface="Calibri"/>
                <a:buChar char="•"/>
              </a:pPr>
              <a:r>
                <a:rPr lang="es-ES" sz="2000" b="0" i="0" u="none" strike="noStrike" cap="none">
                  <a:solidFill>
                    <a:srgbClr val="003245"/>
                  </a:solidFill>
                  <a:latin typeface="Calibri"/>
                  <a:ea typeface="Calibri"/>
                  <a:cs typeface="Calibri"/>
                  <a:sym typeface="Calibri"/>
                </a:rPr>
                <a:t>Si te fijas, el </a:t>
              </a:r>
              <a:r>
                <a:rPr lang="es-ES" sz="2000" b="1" i="0" u="none" strike="noStrike" cap="none">
                  <a:solidFill>
                    <a:srgbClr val="003245"/>
                  </a:solidFill>
                  <a:latin typeface="Calibri"/>
                  <a:ea typeface="Calibri"/>
                  <a:cs typeface="Calibri"/>
                  <a:sym typeface="Calibri"/>
                </a:rPr>
                <a:t>evento de seguridad</a:t>
              </a:r>
              <a:r>
                <a:rPr lang="es-ES" sz="2000" b="0" i="0" u="none" strike="noStrike" cap="none">
                  <a:solidFill>
                    <a:srgbClr val="003245"/>
                  </a:solidFill>
                  <a:latin typeface="Calibri"/>
                  <a:ea typeface="Calibri"/>
                  <a:cs typeface="Calibri"/>
                  <a:sym typeface="Calibri"/>
                </a:rPr>
                <a:t> se ciñe a la realización de una acción concreta sobre un objetivo, víctima o target. El evento es lo que se observa cuando se está sufriendo un ataque, por lo tanto, es lo que permite detectarlo y lo que queda registrado en los logs.</a:t>
              </a:r>
              <a:endParaRPr sz="2000" b="0" i="0" u="none" strike="noStrike" cap="none">
                <a:solidFill>
                  <a:schemeClr val="dk1"/>
                </a:solidFill>
                <a:latin typeface="Calibri"/>
                <a:ea typeface="Calibri"/>
                <a:cs typeface="Calibri"/>
                <a:sym typeface="Calibri"/>
              </a:endParaRPr>
            </a:p>
          </p:txBody>
        </p:sp>
        <p:sp>
          <p:nvSpPr>
            <p:cNvPr id="352" name="Google Shape;352;p30"/>
            <p:cNvSpPr/>
            <p:nvPr/>
          </p:nvSpPr>
          <p:spPr>
            <a:xfrm>
              <a:off x="4077468" y="104844"/>
              <a:ext cx="3573511" cy="576000"/>
            </a:xfrm>
            <a:prstGeom prst="rect">
              <a:avLst/>
            </a:prstGeom>
            <a:solidFill>
              <a:srgbClr val="C85B5B"/>
            </a:solidFill>
            <a:ln w="12700" cap="flat" cmpd="sng">
              <a:solidFill>
                <a:srgbClr val="C85B5B"/>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0"/>
            <p:cNvSpPr txBox="1"/>
            <p:nvPr/>
          </p:nvSpPr>
          <p:spPr>
            <a:xfrm>
              <a:off x="4077468" y="104844"/>
              <a:ext cx="3573511" cy="576000"/>
            </a:xfrm>
            <a:prstGeom prst="rect">
              <a:avLst/>
            </a:prstGeom>
            <a:noFill/>
            <a:ln>
              <a:noFill/>
            </a:ln>
          </p:spPr>
          <p:txBody>
            <a:bodyPr spcFirstLastPara="1" wrap="square" lIns="142225" tIns="81275" rIns="142225" bIns="81275"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ES" sz="2000">
                  <a:solidFill>
                    <a:schemeClr val="lt1"/>
                  </a:solidFill>
                  <a:latin typeface="Calibri"/>
                  <a:ea typeface="Calibri"/>
                  <a:cs typeface="Calibri"/>
                  <a:sym typeface="Calibri"/>
                </a:rPr>
                <a:t>Ataque</a:t>
              </a:r>
              <a:endParaRPr sz="2000">
                <a:solidFill>
                  <a:schemeClr val="lt1"/>
                </a:solidFill>
                <a:latin typeface="Calibri"/>
                <a:ea typeface="Calibri"/>
                <a:cs typeface="Calibri"/>
                <a:sym typeface="Calibri"/>
              </a:endParaRPr>
            </a:p>
          </p:txBody>
        </p:sp>
        <p:sp>
          <p:nvSpPr>
            <p:cNvPr id="354" name="Google Shape;354;p30"/>
            <p:cNvSpPr/>
            <p:nvPr/>
          </p:nvSpPr>
          <p:spPr>
            <a:xfrm>
              <a:off x="4077468" y="680844"/>
              <a:ext cx="3573511" cy="5416228"/>
            </a:xfrm>
            <a:prstGeom prst="rect">
              <a:avLst/>
            </a:prstGeom>
            <a:solidFill>
              <a:srgbClr val="F0D3D3">
                <a:alpha val="89803"/>
              </a:srgbClr>
            </a:solidFill>
            <a:ln w="12700" cap="flat" cmpd="sng">
              <a:solidFill>
                <a:srgbClr val="F0D3D3">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0"/>
            <p:cNvSpPr txBox="1"/>
            <p:nvPr/>
          </p:nvSpPr>
          <p:spPr>
            <a:xfrm>
              <a:off x="4077468" y="680844"/>
              <a:ext cx="3573511" cy="5416228"/>
            </a:xfrm>
            <a:prstGeom prst="rect">
              <a:avLst/>
            </a:prstGeom>
            <a:noFill/>
            <a:ln>
              <a:noFill/>
            </a:ln>
          </p:spPr>
          <p:txBody>
            <a:bodyPr spcFirstLastPara="1" wrap="square" lIns="106675" tIns="106675" rIns="142225" bIns="160000" anchor="t" anchorCtr="0">
              <a:noAutofit/>
            </a:bodyPr>
            <a:lstStyle/>
            <a:p>
              <a:pPr marL="228600" marR="0" lvl="1" indent="-228600" algn="l" rtl="0">
                <a:lnSpc>
                  <a:spcPct val="90000"/>
                </a:lnSpc>
                <a:spcBef>
                  <a:spcPts val="0"/>
                </a:spcBef>
                <a:spcAft>
                  <a:spcPts val="0"/>
                </a:spcAft>
                <a:buClr>
                  <a:srgbClr val="003245"/>
                </a:buClr>
                <a:buSzPts val="2000"/>
                <a:buFont typeface="Calibri"/>
                <a:buChar char="•"/>
              </a:pPr>
              <a:r>
                <a:rPr lang="es-ES" sz="2000" b="0" i="0" u="none" strike="noStrike" cap="none">
                  <a:solidFill>
                    <a:srgbClr val="003245"/>
                  </a:solidFill>
                  <a:latin typeface="Calibri"/>
                  <a:ea typeface="Calibri"/>
                  <a:cs typeface="Calibri"/>
                  <a:sym typeface="Calibri"/>
                </a:rPr>
                <a:t>El </a:t>
              </a:r>
              <a:r>
                <a:rPr lang="es-ES" sz="2000" b="1" i="0" u="none" strike="noStrike" cap="none">
                  <a:solidFill>
                    <a:srgbClr val="003245"/>
                  </a:solidFill>
                  <a:latin typeface="Calibri"/>
                  <a:ea typeface="Calibri"/>
                  <a:cs typeface="Calibri"/>
                  <a:sym typeface="Calibri"/>
                </a:rPr>
                <a:t>ataque</a:t>
              </a:r>
              <a:r>
                <a:rPr lang="es-ES" sz="2000" b="0" i="0" u="none" strike="noStrike" cap="none">
                  <a:solidFill>
                    <a:srgbClr val="003245"/>
                  </a:solidFill>
                  <a:latin typeface="Calibri"/>
                  <a:ea typeface="Calibri"/>
                  <a:cs typeface="Calibri"/>
                  <a:sym typeface="Calibri"/>
                </a:rPr>
                <a:t> empieza antes, cuando se utiliza algún tipo de herramienta para explotar una vulnerabilidad (aunque como veremos dentro más adelante, existen herramientas que van dirigidas a otros aspectos diferentes que la explotación), y termina un poco más tarde, cuando gracias a la acción realizada sobre el objetivo, víctima o target, se produce un resultado concreto. </a:t>
              </a:r>
              <a:endParaRPr sz="2000" b="0" i="0" u="none" strike="noStrike" cap="none">
                <a:solidFill>
                  <a:schemeClr val="dk1"/>
                </a:solidFill>
                <a:latin typeface="Calibri"/>
                <a:ea typeface="Calibri"/>
                <a:cs typeface="Calibri"/>
                <a:sym typeface="Calibri"/>
              </a:endParaRPr>
            </a:p>
          </p:txBody>
        </p:sp>
        <p:sp>
          <p:nvSpPr>
            <p:cNvPr id="356" name="Google Shape;356;p30"/>
            <p:cNvSpPr/>
            <p:nvPr/>
          </p:nvSpPr>
          <p:spPr>
            <a:xfrm>
              <a:off x="8151272" y="104844"/>
              <a:ext cx="3573511" cy="576000"/>
            </a:xfrm>
            <a:prstGeom prst="rect">
              <a:avLst/>
            </a:prstGeom>
            <a:solidFill>
              <a:srgbClr val="FE0000"/>
            </a:solidFill>
            <a:ln w="12700" cap="flat" cmpd="sng">
              <a:solidFill>
                <a:srgbClr val="FE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0"/>
            <p:cNvSpPr txBox="1"/>
            <p:nvPr/>
          </p:nvSpPr>
          <p:spPr>
            <a:xfrm>
              <a:off x="8151272" y="104844"/>
              <a:ext cx="3573511" cy="576000"/>
            </a:xfrm>
            <a:prstGeom prst="rect">
              <a:avLst/>
            </a:prstGeom>
            <a:noFill/>
            <a:ln>
              <a:noFill/>
            </a:ln>
          </p:spPr>
          <p:txBody>
            <a:bodyPr spcFirstLastPara="1" wrap="square" lIns="142225" tIns="81275" rIns="142225" bIns="81275"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ES" sz="2000">
                  <a:solidFill>
                    <a:schemeClr val="lt1"/>
                  </a:solidFill>
                  <a:latin typeface="Calibri"/>
                  <a:ea typeface="Calibri"/>
                  <a:cs typeface="Calibri"/>
                  <a:sym typeface="Calibri"/>
                </a:rPr>
                <a:t>Incidente de seguridad</a:t>
              </a:r>
              <a:endParaRPr/>
            </a:p>
          </p:txBody>
        </p:sp>
        <p:sp>
          <p:nvSpPr>
            <p:cNvPr id="358" name="Google Shape;358;p30"/>
            <p:cNvSpPr/>
            <p:nvPr/>
          </p:nvSpPr>
          <p:spPr>
            <a:xfrm>
              <a:off x="8151272" y="680844"/>
              <a:ext cx="3573511" cy="5416228"/>
            </a:xfrm>
            <a:prstGeom prst="rect">
              <a:avLst/>
            </a:prstGeom>
            <a:solidFill>
              <a:srgbClr val="FEC9C9">
                <a:alpha val="89803"/>
              </a:srgbClr>
            </a:solidFill>
            <a:ln w="12700" cap="flat" cmpd="sng">
              <a:solidFill>
                <a:srgbClr val="FEC9C9">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0"/>
            <p:cNvSpPr txBox="1"/>
            <p:nvPr/>
          </p:nvSpPr>
          <p:spPr>
            <a:xfrm>
              <a:off x="8151272" y="680844"/>
              <a:ext cx="3573511" cy="5416228"/>
            </a:xfrm>
            <a:prstGeom prst="rect">
              <a:avLst/>
            </a:prstGeom>
            <a:noFill/>
            <a:ln>
              <a:noFill/>
            </a:ln>
          </p:spPr>
          <p:txBody>
            <a:bodyPr spcFirstLastPara="1" wrap="square" lIns="106675" tIns="106675" rIns="142225" bIns="160000" anchor="t" anchorCtr="0">
              <a:noAutofit/>
            </a:bodyPr>
            <a:lstStyle/>
            <a:p>
              <a:pPr marL="228600" marR="0" lvl="1" indent="-228600" algn="l" rtl="0">
                <a:lnSpc>
                  <a:spcPct val="90000"/>
                </a:lnSpc>
                <a:spcBef>
                  <a:spcPts val="0"/>
                </a:spcBef>
                <a:spcAft>
                  <a:spcPts val="0"/>
                </a:spcAft>
                <a:buClr>
                  <a:srgbClr val="003245"/>
                </a:buClr>
                <a:buSzPts val="2000"/>
                <a:buFont typeface="Calibri"/>
                <a:buChar char="•"/>
              </a:pPr>
              <a:r>
                <a:rPr lang="es-ES" sz="2000" b="0" i="0" u="none" strike="noStrike" cap="none">
                  <a:solidFill>
                    <a:srgbClr val="003245"/>
                  </a:solidFill>
                  <a:latin typeface="Calibri"/>
                  <a:ea typeface="Calibri"/>
                  <a:cs typeface="Calibri"/>
                  <a:sym typeface="Calibri"/>
                </a:rPr>
                <a:t>Por último, el </a:t>
              </a:r>
              <a:r>
                <a:rPr lang="es-ES" sz="2000" b="1" i="0" u="none" strike="noStrike" cap="none">
                  <a:solidFill>
                    <a:srgbClr val="003245"/>
                  </a:solidFill>
                  <a:latin typeface="Calibri"/>
                  <a:ea typeface="Calibri"/>
                  <a:cs typeface="Calibri"/>
                  <a:sym typeface="Calibri"/>
                </a:rPr>
                <a:t>incidente de seguridad</a:t>
              </a:r>
              <a:r>
                <a:rPr lang="es-ES" sz="2000" b="0" i="0" u="none" strike="noStrike" cap="none">
                  <a:solidFill>
                    <a:srgbClr val="003245"/>
                  </a:solidFill>
                  <a:latin typeface="Calibri"/>
                  <a:ea typeface="Calibri"/>
                  <a:cs typeface="Calibri"/>
                  <a:sym typeface="Calibri"/>
                </a:rPr>
                <a:t> abarca el factor humano de la seguridad informática, es decir, ya no sólo tienen en cuenta el plano técnico como ocurre con el ataque, sino que también engloba al atacante o atacantes, sus motivaciones y el objetivo que persiguen con el ataque.</a:t>
              </a:r>
              <a:endParaRPr sz="20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300"/>
                </a:spcBef>
                <a:spcAft>
                  <a:spcPts val="0"/>
                </a:spcAft>
                <a:buClr>
                  <a:srgbClr val="003245"/>
                </a:buClr>
                <a:buSzPts val="2000"/>
                <a:buFont typeface="Calibri"/>
                <a:buChar char="•"/>
              </a:pPr>
              <a:r>
                <a:rPr lang="es-ES" sz="2000" b="0" i="0" u="none" strike="noStrike" cap="none">
                  <a:solidFill>
                    <a:srgbClr val="003245"/>
                  </a:solidFill>
                  <a:latin typeface="Calibri"/>
                  <a:ea typeface="Calibri"/>
                  <a:cs typeface="Calibri"/>
                  <a:sym typeface="Calibri"/>
                </a:rPr>
                <a:t>Hay que intentar minimizar la cantidad y gravedad de los incidentes de seguridad, pero sabemos que siempre ocurrirá alguno, ya que ningún sistema es 100% seguro. </a:t>
              </a:r>
              <a:endParaRPr sz="20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1"/>
          <p:cNvSpPr txBox="1">
            <a:spLocks noGrp="1"/>
          </p:cNvSpPr>
          <p:nvPr>
            <p:ph type="title"/>
          </p:nvPr>
        </p:nvSpPr>
        <p:spPr>
          <a:xfrm>
            <a:off x="693821" y="143745"/>
            <a:ext cx="10515600" cy="38564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2520"/>
              <a:buFont typeface="Calibri"/>
              <a:buNone/>
            </a:pPr>
            <a:r>
              <a:rPr lang="es-ES" sz="2520"/>
              <a:t>ejemplos</a:t>
            </a:r>
            <a:endParaRPr/>
          </a:p>
        </p:txBody>
      </p:sp>
      <p:grpSp>
        <p:nvGrpSpPr>
          <p:cNvPr id="366" name="Google Shape;366;p31"/>
          <p:cNvGrpSpPr/>
          <p:nvPr/>
        </p:nvGrpSpPr>
        <p:grpSpPr>
          <a:xfrm>
            <a:off x="1092542" y="529774"/>
            <a:ext cx="9939597" cy="5647188"/>
            <a:chOff x="254342" y="383"/>
            <a:chExt cx="9939597" cy="5647188"/>
          </a:xfrm>
        </p:grpSpPr>
        <p:sp>
          <p:nvSpPr>
            <p:cNvPr id="367" name="Google Shape;367;p31"/>
            <p:cNvSpPr/>
            <p:nvPr/>
          </p:nvSpPr>
          <p:spPr>
            <a:xfrm>
              <a:off x="3464301" y="383"/>
              <a:ext cx="6309360" cy="1453257"/>
            </a:xfrm>
            <a:prstGeom prst="rightArrow">
              <a:avLst>
                <a:gd name="adj1" fmla="val 75000"/>
                <a:gd name="adj2" fmla="val 50000"/>
              </a:avLst>
            </a:prstGeom>
            <a:solidFill>
              <a:srgbClr val="CCD3EA">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1"/>
            <p:cNvSpPr txBox="1"/>
            <p:nvPr/>
          </p:nvSpPr>
          <p:spPr>
            <a:xfrm>
              <a:off x="3464301" y="182040"/>
              <a:ext cx="5764389" cy="1089943"/>
            </a:xfrm>
            <a:prstGeom prst="rect">
              <a:avLst/>
            </a:prstGeom>
            <a:noFill/>
            <a:ln>
              <a:noFill/>
            </a:ln>
          </p:spPr>
          <p:txBody>
            <a:bodyPr spcFirstLastPara="1" wrap="square" lIns="10150" tIns="10150" rIns="10150" bIns="10150" anchor="t"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s-ES" sz="1600" b="0" i="0" u="none" strike="noStrike" cap="none">
                  <a:solidFill>
                    <a:schemeClr val="dk1"/>
                  </a:solidFill>
                  <a:latin typeface="Calibri"/>
                  <a:ea typeface="Calibri"/>
                  <a:cs typeface="Calibri"/>
                  <a:sym typeface="Calibri"/>
                </a:rPr>
                <a:t>Un servidor es escaneado para encontrar sus vulnerabilidades.</a:t>
              </a:r>
              <a:endParaRPr sz="1600" b="0" i="0" u="none" strike="noStrike" cap="none">
                <a:solidFill>
                  <a:schemeClr val="dk1"/>
                </a:solidFill>
                <a:latin typeface="Calibri"/>
                <a:ea typeface="Calibri"/>
                <a:cs typeface="Calibri"/>
                <a:sym typeface="Calibri"/>
              </a:endParaRPr>
            </a:p>
            <a:p>
              <a:pPr marL="171450" marR="0" lvl="1" indent="-171450" algn="l" rtl="0">
                <a:lnSpc>
                  <a:spcPct val="90000"/>
                </a:lnSpc>
                <a:spcBef>
                  <a:spcPts val="240"/>
                </a:spcBef>
                <a:spcAft>
                  <a:spcPts val="0"/>
                </a:spcAft>
                <a:buClr>
                  <a:schemeClr val="dk1"/>
                </a:buClr>
                <a:buSzPts val="1600"/>
                <a:buFont typeface="Calibri"/>
                <a:buChar char="•"/>
              </a:pPr>
              <a:r>
                <a:rPr lang="es-ES" sz="1600" b="0" i="0" u="none" strike="noStrike" cap="none">
                  <a:solidFill>
                    <a:schemeClr val="dk1"/>
                  </a:solidFill>
                  <a:latin typeface="Calibri"/>
                  <a:ea typeface="Calibri"/>
                  <a:cs typeface="Calibri"/>
                  <a:sym typeface="Calibri"/>
                </a:rPr>
                <a:t>Los datos de un cliente son modificados sin autorización.</a:t>
              </a:r>
              <a:endParaRPr sz="1600" b="0" i="0" u="none" strike="noStrike" cap="none">
                <a:solidFill>
                  <a:schemeClr val="dk1"/>
                </a:solidFill>
                <a:latin typeface="Calibri"/>
                <a:ea typeface="Calibri"/>
                <a:cs typeface="Calibri"/>
                <a:sym typeface="Calibri"/>
              </a:endParaRPr>
            </a:p>
            <a:p>
              <a:pPr marL="171450" marR="0" lvl="1" indent="-171450" algn="l" rtl="0">
                <a:lnSpc>
                  <a:spcPct val="90000"/>
                </a:lnSpc>
                <a:spcBef>
                  <a:spcPts val="240"/>
                </a:spcBef>
                <a:spcAft>
                  <a:spcPts val="0"/>
                </a:spcAft>
                <a:buClr>
                  <a:schemeClr val="dk1"/>
                </a:buClr>
                <a:buSzPts val="1600"/>
                <a:buFont typeface="Calibri"/>
                <a:buChar char="•"/>
              </a:pPr>
              <a:r>
                <a:rPr lang="es-ES" sz="1600" b="0" i="0" u="none" strike="noStrike" cap="none">
                  <a:solidFill>
                    <a:schemeClr val="dk1"/>
                  </a:solidFill>
                  <a:latin typeface="Calibri"/>
                  <a:ea typeface="Calibri"/>
                  <a:cs typeface="Calibri"/>
                  <a:sym typeface="Calibri"/>
                </a:rPr>
                <a:t>Un usuario es suplantado en una red social.</a:t>
              </a:r>
              <a:endParaRPr sz="1600" b="0" i="0" u="none" strike="noStrike" cap="none">
                <a:solidFill>
                  <a:schemeClr val="dk1"/>
                </a:solidFill>
                <a:latin typeface="Calibri"/>
                <a:ea typeface="Calibri"/>
                <a:cs typeface="Calibri"/>
                <a:sym typeface="Calibri"/>
              </a:endParaRPr>
            </a:p>
            <a:p>
              <a:pPr marL="171450" marR="0" lvl="1" indent="-171450" algn="l" rtl="0">
                <a:lnSpc>
                  <a:spcPct val="90000"/>
                </a:lnSpc>
                <a:spcBef>
                  <a:spcPts val="240"/>
                </a:spcBef>
                <a:spcAft>
                  <a:spcPts val="0"/>
                </a:spcAft>
                <a:buClr>
                  <a:schemeClr val="dk1"/>
                </a:buClr>
                <a:buSzPts val="1600"/>
                <a:buFont typeface="Calibri"/>
                <a:buChar char="•"/>
              </a:pPr>
              <a:r>
                <a:rPr lang="es-ES" sz="1600" b="0" i="0" u="none" strike="noStrike" cap="none">
                  <a:solidFill>
                    <a:schemeClr val="dk1"/>
                  </a:solidFill>
                  <a:latin typeface="Calibri"/>
                  <a:ea typeface="Calibri"/>
                  <a:cs typeface="Calibri"/>
                  <a:sym typeface="Calibri"/>
                </a:rPr>
                <a:t>Un proceso industrial (fabricación de un medicamento) es interrumpido.</a:t>
              </a:r>
              <a:endParaRPr sz="1600" b="0" i="0" u="none" strike="noStrike" cap="none">
                <a:solidFill>
                  <a:schemeClr val="dk1"/>
                </a:solidFill>
                <a:latin typeface="Calibri"/>
                <a:ea typeface="Calibri"/>
                <a:cs typeface="Calibri"/>
                <a:sym typeface="Calibri"/>
              </a:endParaRPr>
            </a:p>
          </p:txBody>
        </p:sp>
        <p:sp>
          <p:nvSpPr>
            <p:cNvPr id="369" name="Google Shape;369;p31"/>
            <p:cNvSpPr/>
            <p:nvPr/>
          </p:nvSpPr>
          <p:spPr>
            <a:xfrm>
              <a:off x="741938" y="80625"/>
              <a:ext cx="2722362" cy="1292773"/>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1"/>
            <p:cNvSpPr txBox="1"/>
            <p:nvPr/>
          </p:nvSpPr>
          <p:spPr>
            <a:xfrm>
              <a:off x="805046" y="143733"/>
              <a:ext cx="2596146" cy="1166557"/>
            </a:xfrm>
            <a:prstGeom prst="rect">
              <a:avLst/>
            </a:prstGeom>
            <a:noFill/>
            <a:ln>
              <a:noFill/>
            </a:ln>
          </p:spPr>
          <p:txBody>
            <a:bodyPr spcFirstLastPara="1" wrap="square" lIns="167625" tIns="83800" rIns="167625" bIns="83800" anchor="ctr" anchorCtr="0">
              <a:noAutofit/>
            </a:bodyPr>
            <a:lstStyle/>
            <a:p>
              <a:pPr marL="0" marR="0" lvl="0" indent="0" algn="ctr" rtl="0">
                <a:lnSpc>
                  <a:spcPct val="90000"/>
                </a:lnSpc>
                <a:spcBef>
                  <a:spcPts val="0"/>
                </a:spcBef>
                <a:spcAft>
                  <a:spcPts val="0"/>
                </a:spcAft>
                <a:buClr>
                  <a:schemeClr val="lt1"/>
                </a:buClr>
                <a:buSzPts val="4400"/>
                <a:buFont typeface="Calibri"/>
                <a:buNone/>
              </a:pPr>
              <a:r>
                <a:rPr lang="es-ES" sz="4400" b="1">
                  <a:solidFill>
                    <a:schemeClr val="lt1"/>
                  </a:solidFill>
                  <a:latin typeface="Calibri"/>
                  <a:ea typeface="Calibri"/>
                  <a:cs typeface="Calibri"/>
                  <a:sym typeface="Calibri"/>
                </a:rPr>
                <a:t>Eventos:</a:t>
              </a:r>
              <a:endParaRPr sz="4400">
                <a:solidFill>
                  <a:schemeClr val="lt1"/>
                </a:solidFill>
                <a:latin typeface="Calibri"/>
                <a:ea typeface="Calibri"/>
                <a:cs typeface="Calibri"/>
                <a:sym typeface="Calibri"/>
              </a:endParaRPr>
            </a:p>
          </p:txBody>
        </p:sp>
        <p:sp>
          <p:nvSpPr>
            <p:cNvPr id="371" name="Google Shape;371;p31"/>
            <p:cNvSpPr/>
            <p:nvPr/>
          </p:nvSpPr>
          <p:spPr>
            <a:xfrm>
              <a:off x="3273962" y="1598966"/>
              <a:ext cx="6687378" cy="2272545"/>
            </a:xfrm>
            <a:prstGeom prst="rightArrow">
              <a:avLst>
                <a:gd name="adj1" fmla="val 75000"/>
                <a:gd name="adj2" fmla="val 50000"/>
              </a:avLst>
            </a:prstGeom>
            <a:solidFill>
              <a:srgbClr val="CCD3EA">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1"/>
            <p:cNvSpPr txBox="1"/>
            <p:nvPr/>
          </p:nvSpPr>
          <p:spPr>
            <a:xfrm>
              <a:off x="3273962" y="1883034"/>
              <a:ext cx="5835174" cy="1704409"/>
            </a:xfrm>
            <a:prstGeom prst="rect">
              <a:avLst/>
            </a:prstGeom>
            <a:noFill/>
            <a:ln>
              <a:noFill/>
            </a:ln>
          </p:spPr>
          <p:txBody>
            <a:bodyPr spcFirstLastPara="1" wrap="square" lIns="8875" tIns="8875" rIns="8875" bIns="8875" anchor="t" anchorCtr="0">
              <a:noAutofit/>
            </a:bodyPr>
            <a:lstStyle/>
            <a:p>
              <a:pPr marL="114300" marR="0" lvl="1" indent="-114300" algn="l" rtl="0">
                <a:lnSpc>
                  <a:spcPct val="90000"/>
                </a:lnSpc>
                <a:spcBef>
                  <a:spcPts val="0"/>
                </a:spcBef>
                <a:spcAft>
                  <a:spcPts val="0"/>
                </a:spcAft>
                <a:buClr>
                  <a:schemeClr val="dk1"/>
                </a:buClr>
                <a:buSzPts val="1400"/>
                <a:buFont typeface="Calibri"/>
                <a:buChar char="•"/>
              </a:pPr>
              <a:r>
                <a:rPr lang="es-ES" sz="1400" b="0" i="0" u="none" strike="noStrike" cap="none">
                  <a:solidFill>
                    <a:schemeClr val="dk1"/>
                  </a:solidFill>
                  <a:latin typeface="Calibri"/>
                  <a:ea typeface="Calibri"/>
                  <a:cs typeface="Calibri"/>
                  <a:sym typeface="Calibri"/>
                </a:rPr>
                <a:t>Una vulnerabilidad de un sistema operativo es empleada para que un malware escale privilegios y se ejecute con permisos de administrador.</a:t>
              </a:r>
              <a:endParaRPr sz="1400" b="0" i="0" u="none" strike="noStrike" cap="none">
                <a:solidFill>
                  <a:schemeClr val="dk1"/>
                </a:solidFill>
                <a:latin typeface="Calibri"/>
                <a:ea typeface="Calibri"/>
                <a:cs typeface="Calibri"/>
                <a:sym typeface="Calibri"/>
              </a:endParaRPr>
            </a:p>
            <a:p>
              <a:pPr marL="114300" marR="0" lvl="1" indent="-114300" algn="l" rtl="0">
                <a:lnSpc>
                  <a:spcPct val="90000"/>
                </a:lnSpc>
                <a:spcBef>
                  <a:spcPts val="210"/>
                </a:spcBef>
                <a:spcAft>
                  <a:spcPts val="0"/>
                </a:spcAft>
                <a:buClr>
                  <a:schemeClr val="dk1"/>
                </a:buClr>
                <a:buSzPts val="1400"/>
                <a:buFont typeface="Calibri"/>
                <a:buChar char="•"/>
              </a:pPr>
              <a:r>
                <a:rPr lang="es-ES" sz="1400" b="0" i="0" u="none" strike="noStrike" cap="none">
                  <a:solidFill>
                    <a:schemeClr val="dk1"/>
                  </a:solidFill>
                  <a:latin typeface="Calibri"/>
                  <a:ea typeface="Calibri"/>
                  <a:cs typeface="Calibri"/>
                  <a:sym typeface="Calibri"/>
                </a:rPr>
                <a:t>Un sniffer de red es empleado para espiar el tráfico y obtener la contraseña de un usuario.</a:t>
              </a:r>
              <a:endParaRPr sz="1400" b="0" i="0" u="none" strike="noStrike" cap="none">
                <a:solidFill>
                  <a:schemeClr val="dk1"/>
                </a:solidFill>
                <a:latin typeface="Calibri"/>
                <a:ea typeface="Calibri"/>
                <a:cs typeface="Calibri"/>
                <a:sym typeface="Calibri"/>
              </a:endParaRPr>
            </a:p>
            <a:p>
              <a:pPr marL="114300" marR="0" lvl="1" indent="-114300" algn="l" rtl="0">
                <a:lnSpc>
                  <a:spcPct val="90000"/>
                </a:lnSpc>
                <a:spcBef>
                  <a:spcPts val="210"/>
                </a:spcBef>
                <a:spcAft>
                  <a:spcPts val="0"/>
                </a:spcAft>
                <a:buClr>
                  <a:schemeClr val="dk1"/>
                </a:buClr>
                <a:buSzPts val="1400"/>
                <a:buFont typeface="Calibri"/>
                <a:buChar char="•"/>
              </a:pPr>
              <a:r>
                <a:rPr lang="es-ES" sz="1400" b="0" i="0" u="none" strike="noStrike" cap="none">
                  <a:solidFill>
                    <a:schemeClr val="dk1"/>
                  </a:solidFill>
                  <a:latin typeface="Calibri"/>
                  <a:ea typeface="Calibri"/>
                  <a:cs typeface="Calibri"/>
                  <a:sym typeface="Calibri"/>
                </a:rPr>
                <a:t>Un dispositivo de electrónica de red es destruido con una herramienta contundente.</a:t>
              </a:r>
              <a:endParaRPr sz="1400" b="0" i="0" u="none" strike="noStrike" cap="none">
                <a:solidFill>
                  <a:schemeClr val="dk1"/>
                </a:solidFill>
                <a:latin typeface="Calibri"/>
                <a:ea typeface="Calibri"/>
                <a:cs typeface="Calibri"/>
                <a:sym typeface="Calibri"/>
              </a:endParaRPr>
            </a:p>
            <a:p>
              <a:pPr marL="114300" marR="0" lvl="1" indent="-114300" algn="l" rtl="0">
                <a:lnSpc>
                  <a:spcPct val="90000"/>
                </a:lnSpc>
                <a:spcBef>
                  <a:spcPts val="210"/>
                </a:spcBef>
                <a:spcAft>
                  <a:spcPts val="0"/>
                </a:spcAft>
                <a:buClr>
                  <a:schemeClr val="dk1"/>
                </a:buClr>
                <a:buSzPts val="1400"/>
                <a:buFont typeface="Calibri"/>
                <a:buChar char="•"/>
              </a:pPr>
              <a:r>
                <a:rPr lang="es-ES" sz="1400" b="0" i="0" u="none" strike="noStrike" cap="none">
                  <a:solidFill>
                    <a:schemeClr val="dk1"/>
                  </a:solidFill>
                  <a:latin typeface="Calibri"/>
                  <a:ea typeface="Calibri"/>
                  <a:cs typeface="Calibri"/>
                  <a:sym typeface="Calibri"/>
                </a:rPr>
                <a:t>Un campo de un formulario web es empleado para realizar una consulta SQL en una base de datos y descargar un fichero sin autorización.</a:t>
              </a:r>
              <a:endParaRPr sz="1400" b="0" i="0" u="none" strike="noStrike" cap="none">
                <a:solidFill>
                  <a:schemeClr val="dk1"/>
                </a:solidFill>
                <a:latin typeface="Calibri"/>
                <a:ea typeface="Calibri"/>
                <a:cs typeface="Calibri"/>
                <a:sym typeface="Calibri"/>
              </a:endParaRPr>
            </a:p>
          </p:txBody>
        </p:sp>
        <p:sp>
          <p:nvSpPr>
            <p:cNvPr id="373" name="Google Shape;373;p31"/>
            <p:cNvSpPr/>
            <p:nvPr/>
          </p:nvSpPr>
          <p:spPr>
            <a:xfrm>
              <a:off x="554258" y="2088852"/>
              <a:ext cx="2719704" cy="1292773"/>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1"/>
            <p:cNvSpPr txBox="1"/>
            <p:nvPr/>
          </p:nvSpPr>
          <p:spPr>
            <a:xfrm>
              <a:off x="617366" y="2151960"/>
              <a:ext cx="2593488" cy="1166557"/>
            </a:xfrm>
            <a:prstGeom prst="rect">
              <a:avLst/>
            </a:prstGeom>
            <a:noFill/>
            <a:ln>
              <a:noFill/>
            </a:ln>
          </p:spPr>
          <p:txBody>
            <a:bodyPr spcFirstLastPara="1" wrap="square" lIns="167625" tIns="83800" rIns="167625" bIns="83800" anchor="ctr" anchorCtr="0">
              <a:noAutofit/>
            </a:bodyPr>
            <a:lstStyle/>
            <a:p>
              <a:pPr marL="0" marR="0" lvl="0" indent="0" algn="ctr" rtl="0">
                <a:lnSpc>
                  <a:spcPct val="90000"/>
                </a:lnSpc>
                <a:spcBef>
                  <a:spcPts val="0"/>
                </a:spcBef>
                <a:spcAft>
                  <a:spcPts val="0"/>
                </a:spcAft>
                <a:buClr>
                  <a:schemeClr val="lt1"/>
                </a:buClr>
                <a:buSzPts val="4400"/>
                <a:buFont typeface="Calibri"/>
                <a:buNone/>
              </a:pPr>
              <a:r>
                <a:rPr lang="es-ES" sz="4400" b="1">
                  <a:solidFill>
                    <a:schemeClr val="lt1"/>
                  </a:solidFill>
                  <a:latin typeface="Calibri"/>
                  <a:ea typeface="Calibri"/>
                  <a:cs typeface="Calibri"/>
                  <a:sym typeface="Calibri"/>
                </a:rPr>
                <a:t>Ataques:</a:t>
              </a:r>
              <a:endParaRPr sz="4400">
                <a:solidFill>
                  <a:schemeClr val="lt1"/>
                </a:solidFill>
                <a:latin typeface="Calibri"/>
                <a:ea typeface="Calibri"/>
                <a:cs typeface="Calibri"/>
                <a:sym typeface="Calibri"/>
              </a:endParaRPr>
            </a:p>
          </p:txBody>
        </p:sp>
        <p:sp>
          <p:nvSpPr>
            <p:cNvPr id="375" name="Google Shape;375;p31"/>
            <p:cNvSpPr/>
            <p:nvPr/>
          </p:nvSpPr>
          <p:spPr>
            <a:xfrm>
              <a:off x="3890741" y="4194314"/>
              <a:ext cx="6303198" cy="1453257"/>
            </a:xfrm>
            <a:prstGeom prst="rightArrow">
              <a:avLst>
                <a:gd name="adj1" fmla="val 75000"/>
                <a:gd name="adj2" fmla="val 50000"/>
              </a:avLst>
            </a:prstGeom>
            <a:solidFill>
              <a:srgbClr val="CCD3EA">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1"/>
            <p:cNvSpPr txBox="1"/>
            <p:nvPr/>
          </p:nvSpPr>
          <p:spPr>
            <a:xfrm>
              <a:off x="3890741" y="4375971"/>
              <a:ext cx="5758227" cy="1089943"/>
            </a:xfrm>
            <a:prstGeom prst="rect">
              <a:avLst/>
            </a:prstGeom>
            <a:noFill/>
            <a:ln>
              <a:noFill/>
            </a:ln>
          </p:spPr>
          <p:txBody>
            <a:bodyPr spcFirstLastPara="1" wrap="square" lIns="9525" tIns="9525" rIns="9525" bIns="9525" anchor="t" anchorCtr="0">
              <a:noAutofit/>
            </a:bodyPr>
            <a:lstStyle/>
            <a:p>
              <a:pPr marL="114300" marR="0" lvl="1" indent="-114300" algn="l" rtl="0">
                <a:lnSpc>
                  <a:spcPct val="90000"/>
                </a:lnSpc>
                <a:spcBef>
                  <a:spcPts val="0"/>
                </a:spcBef>
                <a:spcAft>
                  <a:spcPts val="0"/>
                </a:spcAft>
                <a:buClr>
                  <a:schemeClr val="dk1"/>
                </a:buClr>
                <a:buSzPts val="1500"/>
                <a:buFont typeface="Calibri"/>
                <a:buChar char="•"/>
              </a:pPr>
              <a:r>
                <a:rPr lang="es-ES" sz="1500" b="0" i="0" u="none" strike="noStrike" cap="none">
                  <a:solidFill>
                    <a:schemeClr val="dk1"/>
                  </a:solidFill>
                  <a:latin typeface="Calibri"/>
                  <a:ea typeface="Calibri"/>
                  <a:cs typeface="Calibri"/>
                  <a:sym typeface="Calibri"/>
                </a:rPr>
                <a:t>Un terrorista manipula el sistema de control de un pozo petrolífero y genera un desastre medioambiental.</a:t>
              </a:r>
              <a:endParaRPr sz="1500" b="0" i="0" u="none" strike="noStrike" cap="none">
                <a:solidFill>
                  <a:schemeClr val="dk1"/>
                </a:solidFill>
                <a:latin typeface="Calibri"/>
                <a:ea typeface="Calibri"/>
                <a:cs typeface="Calibri"/>
                <a:sym typeface="Calibri"/>
              </a:endParaRPr>
            </a:p>
            <a:p>
              <a:pPr marL="114300" marR="0" lvl="1" indent="-114300" algn="l" rtl="0">
                <a:lnSpc>
                  <a:spcPct val="90000"/>
                </a:lnSpc>
                <a:spcBef>
                  <a:spcPts val="225"/>
                </a:spcBef>
                <a:spcAft>
                  <a:spcPts val="0"/>
                </a:spcAft>
                <a:buClr>
                  <a:schemeClr val="dk1"/>
                </a:buClr>
                <a:buSzPts val="1500"/>
                <a:buFont typeface="Calibri"/>
                <a:buChar char="•"/>
              </a:pPr>
              <a:r>
                <a:rPr lang="es-ES" sz="1500" b="0" i="0" u="none" strike="noStrike" cap="none">
                  <a:solidFill>
                    <a:schemeClr val="dk1"/>
                  </a:solidFill>
                  <a:latin typeface="Calibri"/>
                  <a:ea typeface="Calibri"/>
                  <a:cs typeface="Calibri"/>
                  <a:sym typeface="Calibri"/>
                </a:rPr>
                <a:t>Un estudiante de informática se descarga un kit de exploits e intenta realizar una denegación de servicio en la página web de su universidad.</a:t>
              </a:r>
              <a:endParaRPr sz="1500" b="0" i="0" u="none" strike="noStrike" cap="none">
                <a:solidFill>
                  <a:schemeClr val="dk1"/>
                </a:solidFill>
                <a:latin typeface="Calibri"/>
                <a:ea typeface="Calibri"/>
                <a:cs typeface="Calibri"/>
                <a:sym typeface="Calibri"/>
              </a:endParaRPr>
            </a:p>
          </p:txBody>
        </p:sp>
        <p:sp>
          <p:nvSpPr>
            <p:cNvPr id="377" name="Google Shape;377;p31"/>
            <p:cNvSpPr/>
            <p:nvPr/>
          </p:nvSpPr>
          <p:spPr>
            <a:xfrm>
              <a:off x="254342" y="4017221"/>
              <a:ext cx="3569081" cy="1630350"/>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1"/>
            <p:cNvSpPr txBox="1"/>
            <p:nvPr/>
          </p:nvSpPr>
          <p:spPr>
            <a:xfrm>
              <a:off x="333929" y="4096808"/>
              <a:ext cx="3409907" cy="1471176"/>
            </a:xfrm>
            <a:prstGeom prst="rect">
              <a:avLst/>
            </a:prstGeom>
            <a:noFill/>
            <a:ln>
              <a:noFill/>
            </a:ln>
          </p:spPr>
          <p:txBody>
            <a:bodyPr spcFirstLastPara="1" wrap="square" lIns="167625" tIns="83800" rIns="167625" bIns="83800" anchor="ctr" anchorCtr="0">
              <a:noAutofit/>
            </a:bodyPr>
            <a:lstStyle/>
            <a:p>
              <a:pPr marL="0" marR="0" lvl="0" indent="0" algn="ctr" rtl="0">
                <a:lnSpc>
                  <a:spcPct val="90000"/>
                </a:lnSpc>
                <a:spcBef>
                  <a:spcPts val="0"/>
                </a:spcBef>
                <a:spcAft>
                  <a:spcPts val="0"/>
                </a:spcAft>
                <a:buClr>
                  <a:schemeClr val="lt1"/>
                </a:buClr>
                <a:buSzPts val="4400"/>
                <a:buFont typeface="Calibri"/>
                <a:buNone/>
              </a:pPr>
              <a:r>
                <a:rPr lang="es-ES" sz="4400" b="1">
                  <a:solidFill>
                    <a:schemeClr val="lt1"/>
                  </a:solidFill>
                  <a:latin typeface="Calibri"/>
                  <a:ea typeface="Calibri"/>
                  <a:cs typeface="Calibri"/>
                  <a:sym typeface="Calibri"/>
                </a:rPr>
                <a:t>Incidentes de seguridad:</a:t>
              </a:r>
              <a:endParaRPr sz="4400">
                <a:solidFill>
                  <a:schemeClr val="lt1"/>
                </a:solidFill>
                <a:latin typeface="Calibri"/>
                <a:ea typeface="Calibri"/>
                <a:cs typeface="Calibri"/>
                <a:sym typeface="Calibri"/>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pic>
        <p:nvPicPr>
          <p:cNvPr id="383" name="Google Shape;383;p32" descr="Ciberseguridad en las empresas | Quality Devs"/>
          <p:cNvPicPr preferRelativeResize="0"/>
          <p:nvPr/>
        </p:nvPicPr>
        <p:blipFill rotWithShape="1">
          <a:blip r:embed="rId3">
            <a:alphaModFix/>
          </a:blip>
          <a:srcRect/>
          <a:stretch/>
        </p:blipFill>
        <p:spPr>
          <a:xfrm>
            <a:off x="0" y="0"/>
            <a:ext cx="12246429" cy="6858000"/>
          </a:xfrm>
          <a:prstGeom prst="rect">
            <a:avLst/>
          </a:prstGeom>
          <a:noFill/>
          <a:ln>
            <a:noFill/>
          </a:ln>
        </p:spPr>
      </p:pic>
      <p:sp>
        <p:nvSpPr>
          <p:cNvPr id="384" name="Google Shape;384;p32"/>
          <p:cNvSpPr txBox="1">
            <a:spLocks noGrp="1"/>
          </p:cNvSpPr>
          <p:nvPr>
            <p:ph type="title"/>
          </p:nvPr>
        </p:nvSpPr>
        <p:spPr>
          <a:xfrm>
            <a:off x="941832" y="-18256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6000"/>
              <a:buFont typeface="Calibri"/>
              <a:buNone/>
            </a:pPr>
            <a:r>
              <a:rPr lang="es-ES" sz="6000" b="1">
                <a:solidFill>
                  <a:schemeClr val="lt1"/>
                </a:solidFill>
              </a:rPr>
              <a:t>Tema 2: malware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3"/>
          <p:cNvSpPr txBox="1">
            <a:spLocks noGrp="1"/>
          </p:cNvSpPr>
          <p:nvPr>
            <p:ph type="title"/>
          </p:nvPr>
        </p:nvSpPr>
        <p:spPr>
          <a:xfrm>
            <a:off x="713071" y="134120"/>
            <a:ext cx="10515600" cy="546918"/>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s-ES" sz="2400"/>
              <a:t>2.1 Tipos de Malware.</a:t>
            </a:r>
            <a:br>
              <a:rPr lang="es-ES" sz="2400"/>
            </a:br>
            <a:endParaRPr sz="1050"/>
          </a:p>
        </p:txBody>
      </p:sp>
      <p:sp>
        <p:nvSpPr>
          <p:cNvPr id="390" name="Google Shape;390;p33"/>
          <p:cNvSpPr txBox="1">
            <a:spLocks noGrp="1"/>
          </p:cNvSpPr>
          <p:nvPr>
            <p:ph type="body" idx="1"/>
          </p:nvPr>
        </p:nvSpPr>
        <p:spPr>
          <a:xfrm>
            <a:off x="713071" y="1253331"/>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4D5156"/>
              </a:buClr>
              <a:buSzPts val="2800"/>
              <a:buChar char="•"/>
            </a:pPr>
            <a:r>
              <a:rPr lang="es-ES" b="0" i="0">
                <a:solidFill>
                  <a:srgbClr val="4D5156"/>
                </a:solidFill>
                <a:latin typeface="arial"/>
                <a:ea typeface="arial"/>
                <a:cs typeface="arial"/>
                <a:sym typeface="arial"/>
              </a:rPr>
              <a:t>Se llama malware, del inglés malicious software, programa malicioso, programa maligno, badware, código maligno, software maligno, software dañino o software malintencionado a cualquier tipo de software que realiza acciones dañinas en un sistema informático de forma intencionada y sin el conocimiento del usuario.​ </a:t>
            </a:r>
            <a:r>
              <a:rPr lang="es-ES" b="0" i="0" u="sng" strike="noStrike">
                <a:solidFill>
                  <a:srgbClr val="1A0DAB"/>
                </a:solidFill>
                <a:latin typeface="arial"/>
                <a:ea typeface="arial"/>
                <a:cs typeface="arial"/>
                <a:sym typeface="arial"/>
                <a:hlinkClick r:id="rId3">
                  <a:extLst>
                    <a:ext uri="{A12FA001-AC4F-418D-AE19-62706E023703}">
                      <ahyp:hlinkClr xmlns:ahyp="http://schemas.microsoft.com/office/drawing/2018/hyperlinkcolor" val="tx"/>
                    </a:ext>
                  </a:extLst>
                </a:hlinkClick>
              </a:rPr>
              <a:t>Wikipedia</a:t>
            </a:r>
            <a:endParaRPr/>
          </a:p>
        </p:txBody>
      </p:sp>
      <p:pic>
        <p:nvPicPr>
          <p:cNvPr id="391" name="Google Shape;391;p33" descr="Monstruo, Azul, Internet, Ataque"/>
          <p:cNvPicPr preferRelativeResize="0"/>
          <p:nvPr/>
        </p:nvPicPr>
        <p:blipFill rotWithShape="1">
          <a:blip r:embed="rId4">
            <a:alphaModFix/>
          </a:blip>
          <a:srcRect/>
          <a:stretch/>
        </p:blipFill>
        <p:spPr>
          <a:xfrm>
            <a:off x="4812632" y="3429000"/>
            <a:ext cx="3970171" cy="297981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4"/>
          <p:cNvSpPr txBox="1">
            <a:spLocks noGrp="1"/>
          </p:cNvSpPr>
          <p:nvPr>
            <p:ph type="title"/>
          </p:nvPr>
        </p:nvSpPr>
        <p:spPr>
          <a:xfrm>
            <a:off x="684195" y="172621"/>
            <a:ext cx="10515600" cy="61665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Ejemplo de malware</a:t>
            </a:r>
            <a:endParaRPr/>
          </a:p>
        </p:txBody>
      </p:sp>
      <p:sp>
        <p:nvSpPr>
          <p:cNvPr id="397" name="Google Shape;397;p34"/>
          <p:cNvSpPr txBox="1">
            <a:spLocks noGrp="1"/>
          </p:cNvSpPr>
          <p:nvPr>
            <p:ph type="body" idx="1"/>
          </p:nvPr>
        </p:nvSpPr>
        <p:spPr>
          <a:xfrm>
            <a:off x="838200" y="1825625"/>
            <a:ext cx="10515600" cy="4351338"/>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chemeClr val="lt1"/>
              </a:buClr>
              <a:buSzPts val="2800"/>
              <a:buFont typeface="Arial"/>
              <a:buChar char="•"/>
            </a:pPr>
            <a:r>
              <a:rPr lang="es-ES" b="1" i="0">
                <a:solidFill>
                  <a:schemeClr val="lt1"/>
                </a:solidFill>
                <a:latin typeface="arial"/>
                <a:ea typeface="arial"/>
                <a:cs typeface="arial"/>
                <a:sym typeface="arial"/>
              </a:rPr>
              <a:t>Virus. Se incorporan a los programas existentes y se activan cuando el usuario abre el programa. ...</a:t>
            </a:r>
            <a:endParaRPr/>
          </a:p>
          <a:p>
            <a:pPr marL="228600" lvl="0" indent="-228600" algn="l" rtl="0">
              <a:lnSpc>
                <a:spcPct val="80000"/>
              </a:lnSpc>
              <a:spcBef>
                <a:spcPts val="1000"/>
              </a:spcBef>
              <a:spcAft>
                <a:spcPts val="0"/>
              </a:spcAft>
              <a:buClr>
                <a:schemeClr val="lt1"/>
              </a:buClr>
              <a:buSzPts val="2800"/>
              <a:buFont typeface="Arial"/>
              <a:buChar char="•"/>
            </a:pPr>
            <a:r>
              <a:rPr lang="es-ES" b="1" i="0">
                <a:solidFill>
                  <a:schemeClr val="lt1"/>
                </a:solidFill>
                <a:latin typeface="arial"/>
                <a:ea typeface="arial"/>
                <a:cs typeface="arial"/>
                <a:sym typeface="arial"/>
              </a:rPr>
              <a:t>Gusanos. ...</a:t>
            </a:r>
            <a:endParaRPr/>
          </a:p>
          <a:p>
            <a:pPr marL="228600" lvl="0" indent="-228600" algn="l" rtl="0">
              <a:lnSpc>
                <a:spcPct val="80000"/>
              </a:lnSpc>
              <a:spcBef>
                <a:spcPts val="1000"/>
              </a:spcBef>
              <a:spcAft>
                <a:spcPts val="0"/>
              </a:spcAft>
              <a:buClr>
                <a:schemeClr val="lt1"/>
              </a:buClr>
              <a:buSzPts val="2800"/>
              <a:buFont typeface="Arial"/>
              <a:buChar char="•"/>
            </a:pPr>
            <a:r>
              <a:rPr lang="es-ES" b="1" i="0">
                <a:solidFill>
                  <a:schemeClr val="lt1"/>
                </a:solidFill>
                <a:latin typeface="arial"/>
                <a:ea typeface="arial"/>
                <a:cs typeface="arial"/>
                <a:sym typeface="arial"/>
              </a:rPr>
              <a:t>Troyanos. ...</a:t>
            </a:r>
            <a:endParaRPr/>
          </a:p>
          <a:p>
            <a:pPr marL="228600" lvl="0" indent="-228600" algn="l" rtl="0">
              <a:lnSpc>
                <a:spcPct val="80000"/>
              </a:lnSpc>
              <a:spcBef>
                <a:spcPts val="1000"/>
              </a:spcBef>
              <a:spcAft>
                <a:spcPts val="0"/>
              </a:spcAft>
              <a:buClr>
                <a:schemeClr val="lt1"/>
              </a:buClr>
              <a:buSzPts val="2800"/>
              <a:buFont typeface="Arial"/>
              <a:buChar char="•"/>
            </a:pPr>
            <a:r>
              <a:rPr lang="es-ES" b="1" i="0">
                <a:solidFill>
                  <a:schemeClr val="lt1"/>
                </a:solidFill>
                <a:latin typeface="arial"/>
                <a:ea typeface="arial"/>
                <a:cs typeface="arial"/>
                <a:sym typeface="arial"/>
              </a:rPr>
              <a:t>Spyware. ...</a:t>
            </a:r>
            <a:endParaRPr/>
          </a:p>
          <a:p>
            <a:pPr marL="228600" lvl="0" indent="-228600" algn="l" rtl="0">
              <a:lnSpc>
                <a:spcPct val="80000"/>
              </a:lnSpc>
              <a:spcBef>
                <a:spcPts val="1000"/>
              </a:spcBef>
              <a:spcAft>
                <a:spcPts val="0"/>
              </a:spcAft>
              <a:buClr>
                <a:schemeClr val="lt1"/>
              </a:buClr>
              <a:buSzPts val="2800"/>
              <a:buFont typeface="Arial"/>
              <a:buChar char="•"/>
            </a:pPr>
            <a:r>
              <a:rPr lang="es-ES" b="1" i="0">
                <a:solidFill>
                  <a:schemeClr val="lt1"/>
                </a:solidFill>
                <a:latin typeface="arial"/>
                <a:ea typeface="arial"/>
                <a:cs typeface="arial"/>
                <a:sym typeface="arial"/>
              </a:rPr>
              <a:t>Herramientas de administración remota (RAT) ...</a:t>
            </a:r>
            <a:endParaRPr/>
          </a:p>
          <a:p>
            <a:pPr marL="228600" lvl="0" indent="-228600" algn="l" rtl="0">
              <a:lnSpc>
                <a:spcPct val="80000"/>
              </a:lnSpc>
              <a:spcBef>
                <a:spcPts val="1000"/>
              </a:spcBef>
              <a:spcAft>
                <a:spcPts val="0"/>
              </a:spcAft>
              <a:buClr>
                <a:schemeClr val="lt1"/>
              </a:buClr>
              <a:buSzPts val="2800"/>
              <a:buFont typeface="Arial"/>
              <a:buChar char="•"/>
            </a:pPr>
            <a:r>
              <a:rPr lang="es-ES" b="1" i="0">
                <a:solidFill>
                  <a:schemeClr val="lt1"/>
                </a:solidFill>
                <a:latin typeface="arial"/>
                <a:ea typeface="arial"/>
                <a:cs typeface="arial"/>
                <a:sym typeface="arial"/>
              </a:rPr>
              <a:t>Ransomware. ...</a:t>
            </a:r>
            <a:endParaRPr/>
          </a:p>
          <a:p>
            <a:pPr marL="228600" lvl="0" indent="-228600" algn="l" rtl="0">
              <a:lnSpc>
                <a:spcPct val="80000"/>
              </a:lnSpc>
              <a:spcBef>
                <a:spcPts val="1000"/>
              </a:spcBef>
              <a:spcAft>
                <a:spcPts val="0"/>
              </a:spcAft>
              <a:buClr>
                <a:schemeClr val="lt1"/>
              </a:buClr>
              <a:buSzPts val="2800"/>
              <a:buFont typeface="Arial"/>
              <a:buChar char="•"/>
            </a:pPr>
            <a:r>
              <a:rPr lang="es-ES" b="1" i="0">
                <a:solidFill>
                  <a:schemeClr val="lt1"/>
                </a:solidFill>
                <a:latin typeface="arial"/>
                <a:ea typeface="arial"/>
                <a:cs typeface="arial"/>
                <a:sym typeface="arial"/>
              </a:rPr>
              <a:t>Rogueware. ...</a:t>
            </a:r>
            <a:endParaRPr/>
          </a:p>
          <a:p>
            <a:pPr marL="228600" lvl="0" indent="-228600" algn="l" rtl="0">
              <a:lnSpc>
                <a:spcPct val="80000"/>
              </a:lnSpc>
              <a:spcBef>
                <a:spcPts val="1000"/>
              </a:spcBef>
              <a:spcAft>
                <a:spcPts val="0"/>
              </a:spcAft>
              <a:buClr>
                <a:schemeClr val="lt1"/>
              </a:buClr>
              <a:buSzPts val="2800"/>
              <a:buFont typeface="Arial"/>
              <a:buChar char="•"/>
            </a:pPr>
            <a:r>
              <a:rPr lang="es-ES" b="1" i="0">
                <a:solidFill>
                  <a:schemeClr val="lt1"/>
                </a:solidFill>
                <a:latin typeface="arial"/>
                <a:ea typeface="arial"/>
                <a:cs typeface="arial"/>
                <a:sym typeface="arial"/>
              </a:rPr>
              <a:t>Malware polimórfico.</a:t>
            </a:r>
            <a:endParaRPr/>
          </a:p>
          <a:p>
            <a:pPr marL="228600" lvl="0" indent="-50800" algn="l" rtl="0">
              <a:lnSpc>
                <a:spcPct val="80000"/>
              </a:lnSpc>
              <a:spcBef>
                <a:spcPts val="1000"/>
              </a:spcBef>
              <a:spcAft>
                <a:spcPts val="0"/>
              </a:spcAft>
              <a:buClr>
                <a:schemeClr val="dk1"/>
              </a:buClr>
              <a:buSzPts val="2800"/>
              <a:buNone/>
            </a:pPr>
            <a:endParaRPr b="1"/>
          </a:p>
        </p:txBody>
      </p:sp>
      <p:pic>
        <p:nvPicPr>
          <p:cNvPr id="398" name="Google Shape;398;p34" descr="Monstruo, Azul, Internet, Ataque"/>
          <p:cNvPicPr preferRelativeResize="0"/>
          <p:nvPr/>
        </p:nvPicPr>
        <p:blipFill rotWithShape="1">
          <a:blip r:embed="rId3">
            <a:alphaModFix/>
          </a:blip>
          <a:srcRect/>
          <a:stretch/>
        </p:blipFill>
        <p:spPr>
          <a:xfrm>
            <a:off x="10335228" y="32135"/>
            <a:ext cx="1729133" cy="129780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5"/>
          <p:cNvSpPr txBox="1">
            <a:spLocks noGrp="1"/>
          </p:cNvSpPr>
          <p:nvPr>
            <p:ph type="title"/>
          </p:nvPr>
        </p:nvSpPr>
        <p:spPr>
          <a:xfrm>
            <a:off x="838200" y="35509"/>
            <a:ext cx="10515600" cy="6455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959"/>
              <a:buFont typeface="Calibri"/>
              <a:buNone/>
            </a:pPr>
            <a:r>
              <a:rPr lang="es-ES" sz="3959"/>
              <a:t>VIRUS</a:t>
            </a:r>
            <a:endParaRPr/>
          </a:p>
        </p:txBody>
      </p:sp>
      <p:sp>
        <p:nvSpPr>
          <p:cNvPr id="404" name="Google Shape;404;p35"/>
          <p:cNvSpPr txBox="1">
            <a:spLocks noGrp="1"/>
          </p:cNvSpPr>
          <p:nvPr>
            <p:ph type="body" idx="1"/>
          </p:nvPr>
        </p:nvSpPr>
        <p:spPr>
          <a:xfrm>
            <a:off x="405064" y="750771"/>
            <a:ext cx="11482136" cy="5208621"/>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1995"/>
              <a:buChar char="•"/>
            </a:pPr>
            <a:r>
              <a:rPr lang="es-ES" sz="1995" b="1" i="0">
                <a:latin typeface="Calibri"/>
                <a:ea typeface="Calibri"/>
                <a:cs typeface="Calibri"/>
                <a:sym typeface="Calibri"/>
              </a:rPr>
              <a:t>Un virus o virus informático</a:t>
            </a:r>
            <a:r>
              <a:rPr lang="es-ES" sz="1995" b="1" i="0" u="sng" strike="noStrike" baseline="30000">
                <a:solidFill>
                  <a:schemeClr val="hlink"/>
                </a:solidFill>
                <a:latin typeface="Calibri"/>
                <a:ea typeface="Calibri"/>
                <a:cs typeface="Calibri"/>
                <a:sym typeface="Calibri"/>
                <a:hlinkClick r:id="rId3"/>
              </a:rPr>
              <a:t>n. 1</a:t>
            </a:r>
            <a:r>
              <a:rPr lang="es-ES" sz="1995" b="1" i="0">
                <a:latin typeface="Calibri"/>
                <a:ea typeface="Calibri"/>
                <a:cs typeface="Calibri"/>
                <a:sym typeface="Calibri"/>
              </a:rPr>
              <a:t>​ es un </a:t>
            </a:r>
            <a:r>
              <a:rPr lang="es-ES" sz="1995" b="1" i="1" u="sng" strike="noStrike">
                <a:solidFill>
                  <a:schemeClr val="hlink"/>
                </a:solidFill>
                <a:latin typeface="Calibri"/>
                <a:ea typeface="Calibri"/>
                <a:cs typeface="Calibri"/>
                <a:sym typeface="Calibri"/>
                <a:hlinkClick r:id="rId4"/>
              </a:rPr>
              <a:t>software</a:t>
            </a:r>
            <a:r>
              <a:rPr lang="es-ES" sz="1995" b="1" i="0">
                <a:latin typeface="Calibri"/>
                <a:ea typeface="Calibri"/>
                <a:cs typeface="Calibri"/>
                <a:sym typeface="Calibri"/>
              </a:rPr>
              <a:t> que tiene por objetivo alterar el funcionamiento normal de cualquier tipo de dispositivo informático, sin el permiso o el conocimiento del usuario principalmente para lograr fines maliciosos sobre el dispositivo. Los virus, habitualmente, reemplazan </a:t>
            </a:r>
            <a:r>
              <a:rPr lang="es-ES" sz="1995" b="1" i="0" u="sng" strike="noStrike">
                <a:solidFill>
                  <a:schemeClr val="hlink"/>
                </a:solidFill>
                <a:latin typeface="Calibri"/>
                <a:ea typeface="Calibri"/>
                <a:cs typeface="Calibri"/>
                <a:sym typeface="Calibri"/>
                <a:hlinkClick r:id="rId5"/>
              </a:rPr>
              <a:t>archivos ejecutables</a:t>
            </a:r>
            <a:r>
              <a:rPr lang="es-ES" sz="1995" b="1" i="0">
                <a:latin typeface="Calibri"/>
                <a:ea typeface="Calibri"/>
                <a:cs typeface="Calibri"/>
                <a:sym typeface="Calibri"/>
              </a:rPr>
              <a:t> por otros infectados con el </a:t>
            </a:r>
            <a:r>
              <a:rPr lang="es-ES" sz="1995" b="1" i="0" u="sng" strike="noStrike">
                <a:solidFill>
                  <a:schemeClr val="hlink"/>
                </a:solidFill>
                <a:latin typeface="Calibri"/>
                <a:ea typeface="Calibri"/>
                <a:cs typeface="Calibri"/>
                <a:sym typeface="Calibri"/>
                <a:hlinkClick r:id="rId6"/>
              </a:rPr>
              <a:t>código</a:t>
            </a:r>
            <a:r>
              <a:rPr lang="es-ES" sz="1995" b="1" i="0">
                <a:latin typeface="Calibri"/>
                <a:ea typeface="Calibri"/>
                <a:cs typeface="Calibri"/>
                <a:sym typeface="Calibri"/>
              </a:rPr>
              <a:t> de este. Los virus pueden destruir, de manera intencionada, los </a:t>
            </a:r>
            <a:r>
              <a:rPr lang="es-ES" sz="1995" b="1" i="0" u="sng" strike="noStrike">
                <a:solidFill>
                  <a:schemeClr val="hlink"/>
                </a:solidFill>
                <a:latin typeface="Calibri"/>
                <a:ea typeface="Calibri"/>
                <a:cs typeface="Calibri"/>
                <a:sym typeface="Calibri"/>
                <a:hlinkClick r:id="rId7"/>
              </a:rPr>
              <a:t>datos</a:t>
            </a:r>
            <a:r>
              <a:rPr lang="es-ES" sz="1995" b="1" i="0">
                <a:latin typeface="Calibri"/>
                <a:ea typeface="Calibri"/>
                <a:cs typeface="Calibri"/>
                <a:sym typeface="Calibri"/>
              </a:rPr>
              <a:t> almacenados en una computadora, aunque también existen otros más inofensivos, que solo producen molestias o imprevistos.</a:t>
            </a:r>
            <a:endParaRPr/>
          </a:p>
          <a:p>
            <a:pPr marL="228600" lvl="0" indent="-228600" algn="l" rtl="0">
              <a:lnSpc>
                <a:spcPct val="100000"/>
              </a:lnSpc>
              <a:spcBef>
                <a:spcPts val="1000"/>
              </a:spcBef>
              <a:spcAft>
                <a:spcPts val="0"/>
              </a:spcAft>
              <a:buClr>
                <a:schemeClr val="dk1"/>
              </a:buClr>
              <a:buSzPts val="1995"/>
              <a:buChar char="•"/>
            </a:pPr>
            <a:r>
              <a:rPr lang="es-ES" sz="1995" b="1" i="0">
                <a:latin typeface="Calibri"/>
                <a:ea typeface="Calibri"/>
                <a:cs typeface="Calibri"/>
                <a:sym typeface="Calibri"/>
              </a:rPr>
              <a:t>Los virus informáticos tienen básicamente la función de propagarse a través de un </a:t>
            </a:r>
            <a:r>
              <a:rPr lang="es-ES" sz="1995" b="1" i="1" u="sng" strike="noStrike">
                <a:solidFill>
                  <a:schemeClr val="hlink"/>
                </a:solidFill>
                <a:latin typeface="Calibri"/>
                <a:ea typeface="Calibri"/>
                <a:cs typeface="Calibri"/>
                <a:sym typeface="Calibri"/>
                <a:hlinkClick r:id="rId4"/>
              </a:rPr>
              <a:t>software</a:t>
            </a:r>
            <a:r>
              <a:rPr lang="es-ES" sz="1995" b="1" i="0">
                <a:latin typeface="Calibri"/>
                <a:ea typeface="Calibri"/>
                <a:cs typeface="Calibri"/>
                <a:sym typeface="Calibri"/>
              </a:rPr>
              <a:t>, son muy nocivos y algunos contienen además una carga dañina (</a:t>
            </a:r>
            <a:r>
              <a:rPr lang="es-ES" sz="1995" b="1" i="1">
                <a:latin typeface="Calibri"/>
                <a:ea typeface="Calibri"/>
                <a:cs typeface="Calibri"/>
                <a:sym typeface="Calibri"/>
              </a:rPr>
              <a:t>payload</a:t>
            </a:r>
            <a:r>
              <a:rPr lang="es-ES" sz="1995" b="1" i="0">
                <a:latin typeface="Calibri"/>
                <a:ea typeface="Calibri"/>
                <a:cs typeface="Calibri"/>
                <a:sym typeface="Calibri"/>
              </a:rPr>
              <a:t>) con distintos objetivos, desde una simple broma hasta realizar daños importantes en los sistemas, o bloquear las </a:t>
            </a:r>
            <a:r>
              <a:rPr lang="es-ES" sz="1995" b="1" i="0" u="sng" strike="noStrike">
                <a:solidFill>
                  <a:schemeClr val="hlink"/>
                </a:solidFill>
                <a:latin typeface="Calibri"/>
                <a:ea typeface="Calibri"/>
                <a:cs typeface="Calibri"/>
                <a:sym typeface="Calibri"/>
                <a:hlinkClick r:id="rId8"/>
              </a:rPr>
              <a:t>redes informáticas</a:t>
            </a:r>
            <a:r>
              <a:rPr lang="es-ES" sz="1995" b="1" i="0">
                <a:latin typeface="Calibri"/>
                <a:ea typeface="Calibri"/>
                <a:cs typeface="Calibri"/>
                <a:sym typeface="Calibri"/>
              </a:rPr>
              <a:t> generando tráfico inútil. El funcionamiento de un virus informático es conceptualmente simple. Se ejecuta un </a:t>
            </a:r>
            <a:r>
              <a:rPr lang="es-ES" sz="1995" b="1" i="0" u="sng" strike="noStrike">
                <a:solidFill>
                  <a:schemeClr val="hlink"/>
                </a:solidFill>
                <a:latin typeface="Calibri"/>
                <a:ea typeface="Calibri"/>
                <a:cs typeface="Calibri"/>
                <a:sym typeface="Calibri"/>
                <a:hlinkClick r:id="rId9"/>
              </a:rPr>
              <a:t>programa</a:t>
            </a:r>
            <a:r>
              <a:rPr lang="es-ES" sz="1995" b="1" i="0">
                <a:latin typeface="Calibri"/>
                <a:ea typeface="Calibri"/>
                <a:cs typeface="Calibri"/>
                <a:sym typeface="Calibri"/>
              </a:rPr>
              <a:t> que está infectado, en la mayoría de las ocasiones, por desconocimiento del </a:t>
            </a:r>
            <a:r>
              <a:rPr lang="es-ES" sz="1995" b="1" i="0" u="sng" strike="noStrike">
                <a:solidFill>
                  <a:schemeClr val="hlink"/>
                </a:solidFill>
                <a:latin typeface="Calibri"/>
                <a:ea typeface="Calibri"/>
                <a:cs typeface="Calibri"/>
                <a:sym typeface="Calibri"/>
                <a:hlinkClick r:id="rId10"/>
              </a:rPr>
              <a:t>usuario</a:t>
            </a:r>
            <a:r>
              <a:rPr lang="es-ES" sz="1995" b="1" i="0">
                <a:latin typeface="Calibri"/>
                <a:ea typeface="Calibri"/>
                <a:cs typeface="Calibri"/>
                <a:sym typeface="Calibri"/>
              </a:rPr>
              <a:t>. El código del virus queda residente (alojado) en la </a:t>
            </a:r>
            <a:r>
              <a:rPr lang="es-ES" sz="1995" b="1" i="0" u="sng" strike="noStrike">
                <a:solidFill>
                  <a:schemeClr val="hlink"/>
                </a:solidFill>
                <a:latin typeface="Calibri"/>
                <a:ea typeface="Calibri"/>
                <a:cs typeface="Calibri"/>
                <a:sym typeface="Calibri"/>
                <a:hlinkClick r:id="rId11"/>
              </a:rPr>
              <a:t>memoria RAM</a:t>
            </a:r>
            <a:r>
              <a:rPr lang="es-ES" sz="1995" b="1" i="0">
                <a:latin typeface="Calibri"/>
                <a:ea typeface="Calibri"/>
                <a:cs typeface="Calibri"/>
                <a:sym typeface="Calibri"/>
              </a:rPr>
              <a:t> de la computadora, incluso cuando el programa que lo contenía haya terminado de </a:t>
            </a:r>
            <a:r>
              <a:rPr lang="es-ES" sz="1995" b="1" i="0" u="sng" strike="noStrike">
                <a:solidFill>
                  <a:schemeClr val="hlink"/>
                </a:solidFill>
                <a:latin typeface="Calibri"/>
                <a:ea typeface="Calibri"/>
                <a:cs typeface="Calibri"/>
                <a:sym typeface="Calibri"/>
                <a:hlinkClick r:id="rId12"/>
              </a:rPr>
              <a:t>ejecutar</a:t>
            </a:r>
            <a:r>
              <a:rPr lang="es-ES" sz="1995" b="1" i="0">
                <a:latin typeface="Calibri"/>
                <a:ea typeface="Calibri"/>
                <a:cs typeface="Calibri"/>
                <a:sym typeface="Calibri"/>
              </a:rPr>
              <a:t>. El virus toma entonces el control de los servicios básicos del </a:t>
            </a:r>
            <a:r>
              <a:rPr lang="es-ES" sz="1995" b="1" i="0" u="sng" strike="noStrike">
                <a:solidFill>
                  <a:schemeClr val="hlink"/>
                </a:solidFill>
                <a:latin typeface="Calibri"/>
                <a:ea typeface="Calibri"/>
                <a:cs typeface="Calibri"/>
                <a:sym typeface="Calibri"/>
                <a:hlinkClick r:id="rId13"/>
              </a:rPr>
              <a:t>sistema operativo</a:t>
            </a:r>
            <a:r>
              <a:rPr lang="es-ES" sz="1995" b="1" i="0">
                <a:latin typeface="Calibri"/>
                <a:ea typeface="Calibri"/>
                <a:cs typeface="Calibri"/>
                <a:sym typeface="Calibri"/>
              </a:rPr>
              <a:t>, infectando, de manera posterior, archivos ejecutables que sean llamados para su ejecución. Finalmente se añade el código del virus al programa infectado y se graba en el </a:t>
            </a:r>
            <a:r>
              <a:rPr lang="es-ES" sz="1995" b="1" i="0" u="sng" strike="noStrike">
                <a:solidFill>
                  <a:schemeClr val="hlink"/>
                </a:solidFill>
                <a:latin typeface="Calibri"/>
                <a:ea typeface="Calibri"/>
                <a:cs typeface="Calibri"/>
                <a:sym typeface="Calibri"/>
                <a:hlinkClick r:id="rId14"/>
              </a:rPr>
              <a:t>disco</a:t>
            </a:r>
            <a:r>
              <a:rPr lang="es-ES" sz="1995" b="1" i="0">
                <a:latin typeface="Calibri"/>
                <a:ea typeface="Calibri"/>
                <a:cs typeface="Calibri"/>
                <a:sym typeface="Calibri"/>
              </a:rPr>
              <a:t>, con lo cual el proceso de replicado se completa.</a:t>
            </a:r>
            <a:endParaRPr/>
          </a:p>
          <a:p>
            <a:pPr marL="228600" lvl="0" indent="-168275" algn="l" rtl="0">
              <a:lnSpc>
                <a:spcPct val="100000"/>
              </a:lnSpc>
              <a:spcBef>
                <a:spcPts val="1000"/>
              </a:spcBef>
              <a:spcAft>
                <a:spcPts val="0"/>
              </a:spcAft>
              <a:buClr>
                <a:schemeClr val="dk1"/>
              </a:buClr>
              <a:buSzPts val="950"/>
              <a:buNone/>
            </a:pPr>
            <a:endParaRPr sz="950"/>
          </a:p>
        </p:txBody>
      </p:sp>
      <p:pic>
        <p:nvPicPr>
          <p:cNvPr id="405" name="Google Shape;405;p35" descr="Monstruo, Azul, Internet, Ataque"/>
          <p:cNvPicPr preferRelativeResize="0"/>
          <p:nvPr/>
        </p:nvPicPr>
        <p:blipFill rotWithShape="1">
          <a:blip r:embed="rId15">
            <a:alphaModFix/>
          </a:blip>
          <a:srcRect/>
          <a:stretch/>
        </p:blipFill>
        <p:spPr>
          <a:xfrm>
            <a:off x="10571872" y="5623571"/>
            <a:ext cx="1563856" cy="117375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GUSANOS-WORMS</a:t>
            </a:r>
            <a:endParaRPr/>
          </a:p>
        </p:txBody>
      </p:sp>
      <p:sp>
        <p:nvSpPr>
          <p:cNvPr id="411" name="Google Shape;411;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4D5156"/>
              </a:buClr>
              <a:buSzPts val="2800"/>
              <a:buChar char="•"/>
            </a:pPr>
            <a:r>
              <a:rPr lang="es-ES" b="0" i="0">
                <a:solidFill>
                  <a:srgbClr val="4D5156"/>
                </a:solidFill>
                <a:latin typeface="arial"/>
                <a:ea typeface="arial"/>
                <a:cs typeface="arial"/>
                <a:sym typeface="arial"/>
              </a:rPr>
              <a:t>Un gusano informático es un malware que se replica para propagarse a otras computadoras. Este software malicioso suele utilizar una red informática para propagarse, aprovechando las fallas de seguridad en la computadora de destino para acceder a ella.</a:t>
            </a:r>
            <a:endParaRPr/>
          </a:p>
        </p:txBody>
      </p:sp>
      <p:pic>
        <p:nvPicPr>
          <p:cNvPr id="412" name="Google Shape;412;p36" descr="Gusano Hambriento, Cuchillo, Horquilla, Comer, Orugas"/>
          <p:cNvPicPr preferRelativeResize="0"/>
          <p:nvPr/>
        </p:nvPicPr>
        <p:blipFill rotWithShape="1">
          <a:blip r:embed="rId3">
            <a:alphaModFix/>
          </a:blip>
          <a:srcRect/>
          <a:stretch/>
        </p:blipFill>
        <p:spPr>
          <a:xfrm>
            <a:off x="9385256" y="3429000"/>
            <a:ext cx="2520543" cy="325815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TROYANOS</a:t>
            </a:r>
            <a:endParaRPr/>
          </a:p>
        </p:txBody>
      </p:sp>
      <p:sp>
        <p:nvSpPr>
          <p:cNvPr id="418" name="Google Shape;418;p37"/>
          <p:cNvSpPr txBox="1">
            <a:spLocks noGrp="1"/>
          </p:cNvSpPr>
          <p:nvPr>
            <p:ph type="body" idx="1"/>
          </p:nvPr>
        </p:nvSpPr>
        <p:spPr>
          <a:xfrm>
            <a:off x="838200" y="1825625"/>
            <a:ext cx="10515600" cy="1722247"/>
          </a:xfrm>
          <a:prstGeom prst="rect">
            <a:avLst/>
          </a:prstGeom>
          <a:no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rgbClr val="4D5156"/>
              </a:buClr>
              <a:buSzPts val="2380"/>
              <a:buChar char="•"/>
            </a:pPr>
            <a:r>
              <a:rPr lang="es-ES" sz="2380" b="0" i="0">
                <a:solidFill>
                  <a:srgbClr val="4D5156"/>
                </a:solidFill>
                <a:latin typeface="arial"/>
                <a:ea typeface="arial"/>
                <a:cs typeface="arial"/>
                <a:sym typeface="arial"/>
              </a:rPr>
              <a:t>En informática, se denomina caballo de Troya, o troyano, a un malware que se presenta al usuario como un programa aparentemente legítimo e inofensivo, pero que, al ejecutarlo, le brinda a un atacante acceso remoto al equipo infectado.​​ A los troyanos de acceso remoto también se les denomina </a:t>
            </a:r>
            <a:r>
              <a:rPr lang="es-ES" sz="2380" b="1">
                <a:solidFill>
                  <a:srgbClr val="003245"/>
                </a:solidFill>
                <a:latin typeface="Times New Roman"/>
                <a:ea typeface="Times New Roman"/>
                <a:cs typeface="Times New Roman"/>
                <a:sym typeface="Times New Roman"/>
              </a:rPr>
              <a:t>Backdoor o puerta trasera</a:t>
            </a:r>
            <a:endParaRPr sz="2380"/>
          </a:p>
        </p:txBody>
      </p:sp>
      <p:sp>
        <p:nvSpPr>
          <p:cNvPr id="419" name="Google Shape;419;p37"/>
          <p:cNvSpPr txBox="1"/>
          <p:nvPr/>
        </p:nvSpPr>
        <p:spPr>
          <a:xfrm>
            <a:off x="4813136" y="111964"/>
            <a:ext cx="19793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MALWARE OCULTO</a:t>
            </a:r>
            <a:endParaRPr/>
          </a:p>
        </p:txBody>
      </p:sp>
      <p:sp>
        <p:nvSpPr>
          <p:cNvPr id="420" name="Google Shape;420;p37"/>
          <p:cNvSpPr txBox="1"/>
          <p:nvPr/>
        </p:nvSpPr>
        <p:spPr>
          <a:xfrm>
            <a:off x="1025013" y="4892201"/>
            <a:ext cx="7576246" cy="1754326"/>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003245"/>
                </a:solidFill>
                <a:latin typeface="Times New Roman"/>
                <a:ea typeface="Times New Roman"/>
                <a:cs typeface="Times New Roman"/>
                <a:sym typeface="Times New Roman"/>
              </a:rPr>
              <a:t>Rootkits: </a:t>
            </a:r>
            <a:r>
              <a:rPr lang="es-ES" sz="1800">
                <a:solidFill>
                  <a:srgbClr val="003245"/>
                </a:solidFill>
                <a:latin typeface="Times New Roman"/>
                <a:ea typeface="Times New Roman"/>
                <a:cs typeface="Times New Roman"/>
                <a:sym typeface="Times New Roman"/>
              </a:rPr>
              <a:t>Conjunto de mecanismos y herramientas que proporcionan el nivel de privilegio máximo a un usuario en un sistema. Por lo tanto, permiten el control completo desde el hardware y el sistema operativo. Es el malware más peligroso por su potencial impacto y por su dificultad de detección (se diseñan para trabajar al más bajo nivel, muy cercanos al hardware).c</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21" name="Google Shape;421;p37" descr="El Caballo, Madera, Caballo, Juguete, Konik"/>
          <p:cNvPicPr preferRelativeResize="0"/>
          <p:nvPr/>
        </p:nvPicPr>
        <p:blipFill rotWithShape="1">
          <a:blip r:embed="rId3">
            <a:alphaModFix/>
          </a:blip>
          <a:srcRect/>
          <a:stretch/>
        </p:blipFill>
        <p:spPr>
          <a:xfrm>
            <a:off x="9599066" y="3254017"/>
            <a:ext cx="2592934" cy="331012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p38" descr="Casco Espartano Casco Antiguo Ilustración Aislada Guerrero Griego Contra  Soldado Troyano. Ilustraciones Vectoriales, Clip Art Vectorizado Libre De  Derechos. Image 77394851."/>
          <p:cNvPicPr preferRelativeResize="0"/>
          <p:nvPr/>
        </p:nvPicPr>
        <p:blipFill rotWithShape="1">
          <a:blip r:embed="rId3">
            <a:alphaModFix/>
          </a:blip>
          <a:srcRect/>
          <a:stretch/>
        </p:blipFill>
        <p:spPr>
          <a:xfrm>
            <a:off x="10857297" y="0"/>
            <a:ext cx="1334703" cy="1334703"/>
          </a:xfrm>
          <a:prstGeom prst="rect">
            <a:avLst/>
          </a:prstGeom>
          <a:noFill/>
          <a:ln>
            <a:noFill/>
          </a:ln>
        </p:spPr>
      </p:pic>
      <p:sp>
        <p:nvSpPr>
          <p:cNvPr id="427" name="Google Shape;427;p38"/>
          <p:cNvSpPr txBox="1">
            <a:spLocks noGrp="1"/>
          </p:cNvSpPr>
          <p:nvPr>
            <p:ph type="title"/>
          </p:nvPr>
        </p:nvSpPr>
        <p:spPr>
          <a:xfrm>
            <a:off x="3937948" y="8038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Tipos de troyanos</a:t>
            </a:r>
            <a:endParaRPr/>
          </a:p>
        </p:txBody>
      </p:sp>
      <p:sp>
        <p:nvSpPr>
          <p:cNvPr id="428" name="Google Shape;428;p38"/>
          <p:cNvSpPr txBox="1">
            <a:spLocks noGrp="1"/>
          </p:cNvSpPr>
          <p:nvPr>
            <p:ph type="body" idx="1"/>
          </p:nvPr>
        </p:nvSpPr>
        <p:spPr>
          <a:xfrm>
            <a:off x="693821" y="1219234"/>
            <a:ext cx="10515600" cy="4887877"/>
          </a:xfrm>
          <a:prstGeom prst="rect">
            <a:avLst/>
          </a:prstGeom>
          <a:noFill/>
          <a:ln>
            <a:noFill/>
          </a:ln>
        </p:spPr>
        <p:txBody>
          <a:bodyPr spcFirstLastPara="1" wrap="square" lIns="91425" tIns="45700" rIns="91425" bIns="45700" anchor="t" anchorCtr="0">
            <a:spAutoFit/>
          </a:bodyPr>
          <a:lstStyle/>
          <a:p>
            <a:pPr marL="342900" lvl="0" indent="-342900" algn="l" rtl="0">
              <a:lnSpc>
                <a:spcPct val="107000"/>
              </a:lnSpc>
              <a:spcBef>
                <a:spcPts val="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Dialers:</a:t>
            </a:r>
            <a:r>
              <a:rPr lang="es-ES" sz="1800">
                <a:solidFill>
                  <a:srgbClr val="003245"/>
                </a:solidFill>
                <a:latin typeface="Calibri"/>
                <a:ea typeface="Calibri"/>
                <a:cs typeface="Calibri"/>
                <a:sym typeface="Calibri"/>
              </a:rPr>
              <a:t> Utilizan la línea telefónica del módem con el fin de realizar llamadas a números de teléfono de pago.</a:t>
            </a:r>
            <a:endParaRPr sz="18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Troyanos Rogue Antivirus:</a:t>
            </a:r>
            <a:r>
              <a:rPr lang="es-ES" sz="1800">
                <a:solidFill>
                  <a:srgbClr val="003245"/>
                </a:solidFill>
                <a:latin typeface="Calibri"/>
                <a:ea typeface="Calibri"/>
                <a:cs typeface="Calibri"/>
                <a:sym typeface="Calibri"/>
              </a:rPr>
              <a:t> Son aplicaciones que advierten a los usuarios de infecciones que no existen con el fin de engañarles para que compren la versión "completa" de un producto anti-malware ficticio.</a:t>
            </a:r>
            <a:endParaRPr sz="1800">
              <a:latin typeface="Calibri"/>
              <a:ea typeface="Calibri"/>
              <a:cs typeface="Calibri"/>
              <a:sym typeface="Calibri"/>
            </a:endParaRPr>
          </a:p>
          <a:p>
            <a:pPr marL="228600" lvl="0" indent="-228600" algn="l" rtl="0">
              <a:lnSpc>
                <a:spcPct val="90000"/>
              </a:lnSpc>
              <a:spcBef>
                <a:spcPts val="1800"/>
              </a:spcBef>
              <a:spcAft>
                <a:spcPts val="0"/>
              </a:spcAft>
              <a:buClr>
                <a:srgbClr val="003245"/>
              </a:buClr>
              <a:buSzPts val="1800"/>
              <a:buChar char="•"/>
            </a:pPr>
            <a:r>
              <a:rPr lang="es-ES" sz="1800" b="1">
                <a:solidFill>
                  <a:srgbClr val="003245"/>
                </a:solidFill>
                <a:latin typeface="Calibri"/>
                <a:ea typeface="Calibri"/>
                <a:cs typeface="Calibri"/>
                <a:sym typeface="Calibri"/>
              </a:rPr>
              <a:t>Troyanos de destrucción de datos:</a:t>
            </a:r>
            <a:r>
              <a:rPr lang="es-ES" sz="1800">
                <a:solidFill>
                  <a:srgbClr val="003245"/>
                </a:solidFill>
                <a:latin typeface="Calibri"/>
                <a:ea typeface="Calibri"/>
                <a:cs typeface="Calibri"/>
                <a:sym typeface="Calibri"/>
              </a:rPr>
              <a:t> Están diseñados específicamente para borrar por completo o corromper los datos almacenados en el sistema, ya sean archivos del sistema operativo o datos del usuario.</a:t>
            </a:r>
            <a:endParaRPr sz="1600">
              <a:latin typeface="Calibri"/>
              <a:ea typeface="Calibri"/>
              <a:cs typeface="Calibri"/>
              <a:sym typeface="Calibri"/>
            </a:endParaRPr>
          </a:p>
          <a:p>
            <a:pPr marL="342900" lvl="0" indent="-342900" algn="l" rtl="0">
              <a:lnSpc>
                <a:spcPct val="107000"/>
              </a:lnSpc>
              <a:spcBef>
                <a:spcPts val="100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Troyanos de descarga:</a:t>
            </a:r>
            <a:r>
              <a:rPr lang="es-ES" sz="1800">
                <a:solidFill>
                  <a:srgbClr val="003245"/>
                </a:solidFill>
                <a:latin typeface="Calibri"/>
                <a:ea typeface="Calibri"/>
                <a:cs typeface="Calibri"/>
                <a:sym typeface="Calibri"/>
              </a:rPr>
              <a:t> Son aplicaciones de software que no pueden dañar al equipo anfitrión por sí mismos, si éste no se conecta a Internet. Su código de carga se conecta a Internet, y luego facilita la instalación de otras aplicaciones (exploits, por ejemplo).</a:t>
            </a:r>
            <a:endParaRPr sz="16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Desactivadores de sofware de seguridad:</a:t>
            </a:r>
            <a:r>
              <a:rPr lang="es-ES" sz="1800">
                <a:solidFill>
                  <a:srgbClr val="003245"/>
                </a:solidFill>
                <a:latin typeface="Calibri"/>
                <a:ea typeface="Calibri"/>
                <a:cs typeface="Calibri"/>
                <a:sym typeface="Calibri"/>
              </a:rPr>
              <a:t> Son troyanos que, una vez en el ordenador anfitrión, tratan de detener o de convertir en inútiles las aplicaciones antivirus o los firewalls de host sin el consentimiento del usuario.</a:t>
            </a:r>
            <a:endParaRPr sz="16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Troyanos de denegación de servicio (DoS):</a:t>
            </a:r>
            <a:r>
              <a:rPr lang="es-ES" sz="1800">
                <a:solidFill>
                  <a:srgbClr val="003245"/>
                </a:solidFill>
                <a:latin typeface="Calibri"/>
                <a:ea typeface="Calibri"/>
                <a:cs typeface="Calibri"/>
                <a:sym typeface="Calibri"/>
              </a:rPr>
              <a:t> Están diseñados para impedir o detener el funcionamiento normal de un sitio web, u otro recurso de red, inundándolo con más tráfico </a:t>
            </a:r>
            <a:r>
              <a:rPr lang="es-ES" sz="1800">
                <a:solidFill>
                  <a:srgbClr val="003245"/>
                </a:solidFill>
                <a:latin typeface="Times New Roman"/>
                <a:ea typeface="Times New Roman"/>
                <a:cs typeface="Times New Roman"/>
                <a:sym typeface="Times New Roman"/>
              </a:rPr>
              <a:t>del que es capaz de manejar.</a:t>
            </a:r>
            <a:endParaRPr sz="1600">
              <a:latin typeface="Calibri"/>
              <a:ea typeface="Calibri"/>
              <a:cs typeface="Calibri"/>
              <a:sym typeface="Calibri"/>
            </a:endParaRPr>
          </a:p>
        </p:txBody>
      </p:sp>
      <p:pic>
        <p:nvPicPr>
          <p:cNvPr id="429" name="Google Shape;429;p38" descr="Casco Espartano Casco Antiguo Ilustración Aislada Guerrero Griego Contra  Soldado Troyano. Ilustraciones Vectoriales, Clip Art Vectorizado Libre De  Derechos. Image 77394851."/>
          <p:cNvPicPr preferRelativeResize="0"/>
          <p:nvPr/>
        </p:nvPicPr>
        <p:blipFill rotWithShape="1">
          <a:blip r:embed="rId3">
            <a:alphaModFix/>
          </a:blip>
          <a:srcRect/>
          <a:stretch/>
        </p:blipFill>
        <p:spPr>
          <a:xfrm>
            <a:off x="26469" y="-1"/>
            <a:ext cx="1334703" cy="133470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4400"/>
              <a:t>Troyanos bancarios</a:t>
            </a:r>
            <a:br>
              <a:rPr lang="es-ES" sz="4400" b="1">
                <a:latin typeface="Times New Roman"/>
                <a:ea typeface="Times New Roman"/>
                <a:cs typeface="Times New Roman"/>
                <a:sym typeface="Times New Roman"/>
              </a:rPr>
            </a:br>
            <a:endParaRPr/>
          </a:p>
        </p:txBody>
      </p:sp>
      <p:sp>
        <p:nvSpPr>
          <p:cNvPr id="435" name="Google Shape;435;p39"/>
          <p:cNvSpPr txBox="1">
            <a:spLocks noGrp="1"/>
          </p:cNvSpPr>
          <p:nvPr>
            <p:ph type="body" idx="1"/>
          </p:nvPr>
        </p:nvSpPr>
        <p:spPr>
          <a:xfrm>
            <a:off x="838200" y="1796129"/>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80000"/>
              </a:lnSpc>
              <a:spcBef>
                <a:spcPts val="0"/>
              </a:spcBef>
              <a:spcAft>
                <a:spcPts val="0"/>
              </a:spcAft>
              <a:buClr>
                <a:srgbClr val="003245"/>
              </a:buClr>
              <a:buSzPts val="2400"/>
              <a:buChar char="•"/>
            </a:pPr>
            <a:r>
              <a:rPr lang="es-ES" sz="2400">
                <a:solidFill>
                  <a:srgbClr val="003245"/>
                </a:solidFill>
                <a:latin typeface="Calibri"/>
                <a:ea typeface="Calibri"/>
                <a:cs typeface="Calibri"/>
                <a:sym typeface="Calibri"/>
              </a:rPr>
              <a:t>Los troyanos bancarios son una de las especies de malware de mayor prevalencia en la actualidad. Los autores de este tipo de malware (mayoritariamente brasileños y rusos en la actualidad) tienen como objetivo mantener las infecciones vivas y sin ser detectadas durante un tiempo suficiente para que puedan </a:t>
            </a:r>
            <a:r>
              <a:rPr lang="es-ES" sz="2400" b="1">
                <a:solidFill>
                  <a:srgbClr val="003245"/>
                </a:solidFill>
                <a:latin typeface="Calibri"/>
                <a:ea typeface="Calibri"/>
                <a:cs typeface="Calibri"/>
                <a:sym typeface="Calibri"/>
              </a:rPr>
              <a:t>robar datos bancarios</a:t>
            </a:r>
            <a:r>
              <a:rPr lang="es-ES" sz="2400">
                <a:solidFill>
                  <a:srgbClr val="003245"/>
                </a:solidFill>
                <a:latin typeface="Calibri"/>
                <a:ea typeface="Calibri"/>
                <a:cs typeface="Calibri"/>
                <a:sym typeface="Calibri"/>
              </a:rPr>
              <a:t> de sistemas de banca on-line, sistemas de pago electrónico y tarjetas de débito o crédito. Todos los datos robados son </a:t>
            </a:r>
            <a:r>
              <a:rPr lang="es-ES" sz="2400" b="1">
                <a:solidFill>
                  <a:srgbClr val="003245"/>
                </a:solidFill>
                <a:latin typeface="Calibri"/>
                <a:ea typeface="Calibri"/>
                <a:cs typeface="Calibri"/>
                <a:sym typeface="Calibri"/>
              </a:rPr>
              <a:t>enviados a los atacantes mediante diferentes protocolos</a:t>
            </a:r>
            <a:r>
              <a:rPr lang="es-ES" sz="2400">
                <a:solidFill>
                  <a:srgbClr val="003245"/>
                </a:solidFill>
                <a:latin typeface="Calibri"/>
                <a:ea typeface="Calibri"/>
                <a:cs typeface="Calibri"/>
                <a:sym typeface="Calibri"/>
              </a:rPr>
              <a:t> (HTTP, FTP, IRC, etc.) y pueden ser explotados directamente por estos atacantes o vendidos en el mercado negro. Día tras día, víctimas inocentes son hackeadas y sus </a:t>
            </a:r>
            <a:r>
              <a:rPr lang="es-ES" sz="2400" b="1">
                <a:solidFill>
                  <a:srgbClr val="003245"/>
                </a:solidFill>
                <a:latin typeface="Calibri"/>
                <a:ea typeface="Calibri"/>
                <a:cs typeface="Calibri"/>
                <a:sym typeface="Calibri"/>
              </a:rPr>
              <a:t>cuentas bancarias vaciadas</a:t>
            </a:r>
            <a:r>
              <a:rPr lang="es-ES" sz="2400">
                <a:solidFill>
                  <a:srgbClr val="003245"/>
                </a:solidFill>
                <a:latin typeface="Calibri"/>
                <a:ea typeface="Calibri"/>
                <a:cs typeface="Calibri"/>
                <a:sym typeface="Calibri"/>
              </a:rPr>
              <a:t>. </a:t>
            </a:r>
            <a:endParaRPr/>
          </a:p>
          <a:p>
            <a:pPr marL="228600" lvl="0" indent="-228600" algn="l" rtl="0">
              <a:lnSpc>
                <a:spcPct val="80000"/>
              </a:lnSpc>
              <a:spcBef>
                <a:spcPts val="1000"/>
              </a:spcBef>
              <a:spcAft>
                <a:spcPts val="0"/>
              </a:spcAft>
              <a:buClr>
                <a:srgbClr val="003245"/>
              </a:buClr>
              <a:buSzPts val="2400"/>
              <a:buChar char="•"/>
            </a:pPr>
            <a:r>
              <a:rPr lang="es-ES" sz="2400">
                <a:solidFill>
                  <a:srgbClr val="003245"/>
                </a:solidFill>
                <a:latin typeface="Calibri"/>
                <a:ea typeface="Calibri"/>
                <a:cs typeface="Calibri"/>
                <a:sym typeface="Calibri"/>
              </a:rPr>
              <a:t>¿Qué técnicas emplean los troyanos para robar información bancaria? Casi siempre incorporan</a:t>
            </a:r>
            <a:r>
              <a:rPr lang="es-ES" sz="2400" b="1">
                <a:solidFill>
                  <a:srgbClr val="003245"/>
                </a:solidFill>
                <a:latin typeface="Calibri"/>
                <a:ea typeface="Calibri"/>
                <a:cs typeface="Calibri"/>
                <a:sym typeface="Calibri"/>
              </a:rPr>
              <a:t> keyloggers</a:t>
            </a:r>
            <a:r>
              <a:rPr lang="es-ES" sz="2400">
                <a:solidFill>
                  <a:srgbClr val="003245"/>
                </a:solidFill>
                <a:latin typeface="Calibri"/>
                <a:ea typeface="Calibri"/>
                <a:cs typeface="Calibri"/>
                <a:sym typeface="Calibri"/>
              </a:rPr>
              <a:t>, pero también</a:t>
            </a:r>
            <a:r>
              <a:rPr lang="es-ES" sz="2400" b="1">
                <a:solidFill>
                  <a:srgbClr val="003245"/>
                </a:solidFill>
                <a:latin typeface="Calibri"/>
                <a:ea typeface="Calibri"/>
                <a:cs typeface="Calibri"/>
                <a:sym typeface="Calibri"/>
              </a:rPr>
              <a:t> capturan formularios y pantallas</a:t>
            </a:r>
            <a:r>
              <a:rPr lang="es-ES" sz="2400">
                <a:solidFill>
                  <a:srgbClr val="003245"/>
                </a:solidFill>
                <a:latin typeface="Calibri"/>
                <a:ea typeface="Calibri"/>
                <a:cs typeface="Calibri"/>
                <a:sym typeface="Calibri"/>
              </a:rPr>
              <a:t>, realizan </a:t>
            </a:r>
            <a:r>
              <a:rPr lang="es-ES" sz="2400" b="1">
                <a:solidFill>
                  <a:srgbClr val="003245"/>
                </a:solidFill>
                <a:latin typeface="Calibri"/>
                <a:ea typeface="Calibri"/>
                <a:cs typeface="Calibri"/>
                <a:sym typeface="Calibri"/>
              </a:rPr>
              <a:t>re-direcciones</a:t>
            </a:r>
            <a:r>
              <a:rPr lang="es-ES" sz="2400">
                <a:solidFill>
                  <a:srgbClr val="003245"/>
                </a:solidFill>
                <a:latin typeface="Calibri"/>
                <a:ea typeface="Calibri"/>
                <a:cs typeface="Calibri"/>
                <a:sym typeface="Calibri"/>
              </a:rPr>
              <a:t> (a servidores controlados por los atacantes, esto se suele denominar pharming), e incluso facilitan la realización de ataques de </a:t>
            </a:r>
            <a:r>
              <a:rPr lang="es-ES" sz="2400" b="1">
                <a:solidFill>
                  <a:srgbClr val="003245"/>
                </a:solidFill>
                <a:latin typeface="Calibri"/>
                <a:ea typeface="Calibri"/>
                <a:cs typeface="Calibri"/>
                <a:sym typeface="Calibri"/>
              </a:rPr>
              <a:t>man-in-the-middle</a:t>
            </a:r>
            <a:r>
              <a:rPr lang="es-ES" sz="2400">
                <a:solidFill>
                  <a:srgbClr val="003245"/>
                </a:solidFill>
                <a:latin typeface="Calibri"/>
                <a:ea typeface="Calibri"/>
                <a:cs typeface="Calibri"/>
                <a:sym typeface="Calibri"/>
              </a:rPr>
              <a:t>. </a:t>
            </a:r>
            <a:endParaRPr sz="2400">
              <a:latin typeface="Calibri"/>
              <a:ea typeface="Calibri"/>
              <a:cs typeface="Calibri"/>
              <a:sym typeface="Calibri"/>
            </a:endParaRPr>
          </a:p>
          <a:p>
            <a:pPr marL="228600" lvl="0" indent="-50800" algn="l" rtl="0">
              <a:lnSpc>
                <a:spcPct val="80000"/>
              </a:lnSpc>
              <a:spcBef>
                <a:spcPts val="1000"/>
              </a:spcBef>
              <a:spcAft>
                <a:spcPts val="0"/>
              </a:spcAft>
              <a:buClr>
                <a:schemeClr val="dk1"/>
              </a:buClr>
              <a:buSzPts val="2800"/>
              <a:buNone/>
            </a:pPr>
            <a:endParaRPr/>
          </a:p>
        </p:txBody>
      </p:sp>
      <p:pic>
        <p:nvPicPr>
          <p:cNvPr id="436" name="Google Shape;436;p39"/>
          <p:cNvPicPr preferRelativeResize="0"/>
          <p:nvPr/>
        </p:nvPicPr>
        <p:blipFill rotWithShape="1">
          <a:blip r:embed="rId3">
            <a:alphaModFix/>
          </a:blip>
          <a:srcRect/>
          <a:stretch/>
        </p:blipFill>
        <p:spPr>
          <a:xfrm>
            <a:off x="7894689" y="0"/>
            <a:ext cx="1681931" cy="1681931"/>
          </a:xfrm>
          <a:prstGeom prst="rect">
            <a:avLst/>
          </a:prstGeom>
          <a:noFill/>
          <a:ln>
            <a:noFill/>
          </a:ln>
        </p:spPr>
      </p:pic>
      <p:pic>
        <p:nvPicPr>
          <p:cNvPr id="437" name="Google Shape;437;p39" descr="Casco Espartano Casco Antiguo Ilustración Aislada Guerrero Griego Contra  Soldado Troyano. Ilustraciones Vectoriales, Clip Art Vectorizado Libre De  Derechos. Image 77394851."/>
          <p:cNvPicPr preferRelativeResize="0"/>
          <p:nvPr/>
        </p:nvPicPr>
        <p:blipFill rotWithShape="1">
          <a:blip r:embed="rId4">
            <a:alphaModFix/>
          </a:blip>
          <a:srcRect/>
          <a:stretch/>
        </p:blipFill>
        <p:spPr>
          <a:xfrm>
            <a:off x="8268930" y="8423"/>
            <a:ext cx="924232" cy="92423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0"/>
          <p:cNvSpPr txBox="1"/>
          <p:nvPr/>
        </p:nvSpPr>
        <p:spPr>
          <a:xfrm>
            <a:off x="764727" y="111172"/>
            <a:ext cx="5633273" cy="369332"/>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s-ES" sz="1800" b="0" i="0" u="none" strike="noStrike" cap="none">
                <a:solidFill>
                  <a:schemeClr val="dk1"/>
                </a:solidFill>
                <a:latin typeface="Calibri"/>
                <a:ea typeface="Calibri"/>
                <a:cs typeface="Calibri"/>
                <a:sym typeface="Calibri"/>
              </a:rPr>
              <a:t>MALWARE PARA OBTENER BENEFICIOS ECONOMICOS</a:t>
            </a:r>
            <a:endParaRPr/>
          </a:p>
        </p:txBody>
      </p:sp>
      <p:sp>
        <p:nvSpPr>
          <p:cNvPr id="443" name="Google Shape;443;p40"/>
          <p:cNvSpPr txBox="1"/>
          <p:nvPr/>
        </p:nvSpPr>
        <p:spPr>
          <a:xfrm>
            <a:off x="764727" y="624883"/>
            <a:ext cx="9812114" cy="5427896"/>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s-ES" sz="2000" b="1">
                <a:solidFill>
                  <a:schemeClr val="lt1"/>
                </a:solidFill>
                <a:latin typeface="Calibri"/>
                <a:ea typeface="Calibri"/>
                <a:cs typeface="Calibri"/>
                <a:sym typeface="Calibri"/>
              </a:rPr>
              <a:t>Spyware</a:t>
            </a:r>
            <a:r>
              <a:rPr lang="es-ES" sz="2000">
                <a:solidFill>
                  <a:schemeClr val="lt1"/>
                </a:solidFill>
                <a:latin typeface="Calibri"/>
                <a:ea typeface="Calibri"/>
                <a:cs typeface="Calibri"/>
                <a:sym typeface="Calibri"/>
              </a:rPr>
              <a:t>: Malware cuya funcionalidad es espiar al usuario/equipo infectado. Suelen incorporar keyloggers, grabadores de escritorio, software para activar la webcam, etc.</a:t>
            </a:r>
            <a:endParaRPr sz="1800">
              <a:solidFill>
                <a:schemeClr val="lt1"/>
              </a:solidFill>
              <a:latin typeface="Calibri"/>
              <a:ea typeface="Calibri"/>
              <a:cs typeface="Calibri"/>
              <a:sym typeface="Calibri"/>
            </a:endParaRPr>
          </a:p>
          <a:p>
            <a:pPr marL="0" marR="0" lvl="0" indent="0" algn="l" rtl="0">
              <a:lnSpc>
                <a:spcPct val="107000"/>
              </a:lnSpc>
              <a:spcBef>
                <a:spcPts val="800"/>
              </a:spcBef>
              <a:spcAft>
                <a:spcPts val="0"/>
              </a:spcAft>
              <a:buNone/>
            </a:pPr>
            <a:r>
              <a:rPr lang="es-ES" sz="2000" b="1">
                <a:solidFill>
                  <a:schemeClr val="lt1"/>
                </a:solidFill>
                <a:latin typeface="Calibri"/>
                <a:ea typeface="Calibri"/>
                <a:cs typeface="Calibri"/>
                <a:sym typeface="Calibri"/>
              </a:rPr>
              <a:t>Adware</a:t>
            </a:r>
            <a:r>
              <a:rPr lang="es-ES" sz="2000">
                <a:solidFill>
                  <a:schemeClr val="lt1"/>
                </a:solidFill>
                <a:latin typeface="Calibri"/>
                <a:ea typeface="Calibri"/>
                <a:cs typeface="Calibri"/>
                <a:sym typeface="Calibri"/>
              </a:rPr>
              <a:t>: En este caso la funcionalidad es mostrar publicidad de manera agresiva.</a:t>
            </a:r>
            <a:endParaRPr sz="1800">
              <a:solidFill>
                <a:schemeClr val="lt1"/>
              </a:solidFill>
              <a:latin typeface="Calibri"/>
              <a:ea typeface="Calibri"/>
              <a:cs typeface="Calibri"/>
              <a:sym typeface="Calibri"/>
            </a:endParaRPr>
          </a:p>
          <a:p>
            <a:pPr marL="0" marR="0" lvl="0" indent="0" algn="l" rtl="0">
              <a:lnSpc>
                <a:spcPct val="107000"/>
              </a:lnSpc>
              <a:spcBef>
                <a:spcPts val="800"/>
              </a:spcBef>
              <a:spcAft>
                <a:spcPts val="0"/>
              </a:spcAft>
              <a:buNone/>
            </a:pPr>
            <a:r>
              <a:rPr lang="es-ES" sz="2000" b="1">
                <a:solidFill>
                  <a:schemeClr val="lt1"/>
                </a:solidFill>
                <a:latin typeface="Calibri"/>
                <a:ea typeface="Calibri"/>
                <a:cs typeface="Calibri"/>
                <a:sym typeface="Calibri"/>
              </a:rPr>
              <a:t>Keyloggers</a:t>
            </a:r>
            <a:r>
              <a:rPr lang="es-ES" sz="2000">
                <a:solidFill>
                  <a:schemeClr val="lt1"/>
                </a:solidFill>
                <a:latin typeface="Calibri"/>
                <a:ea typeface="Calibri"/>
                <a:cs typeface="Calibri"/>
                <a:sym typeface="Calibri"/>
              </a:rPr>
              <a:t>: Se trata de un malware que se encarga de registrar las pulsaciones en el teclado permitiendo el acceso a contraseñas u otro tipo de información privada (cualquiera que el usuario introduzca desde el teclado).</a:t>
            </a:r>
            <a:endParaRPr sz="1800">
              <a:solidFill>
                <a:schemeClr val="lt1"/>
              </a:solidFill>
              <a:latin typeface="Calibri"/>
              <a:ea typeface="Calibri"/>
              <a:cs typeface="Calibri"/>
              <a:sym typeface="Calibri"/>
            </a:endParaRPr>
          </a:p>
          <a:p>
            <a:pPr marL="0" marR="0" lvl="0" indent="0" algn="l" rtl="0">
              <a:lnSpc>
                <a:spcPct val="107000"/>
              </a:lnSpc>
              <a:spcBef>
                <a:spcPts val="800"/>
              </a:spcBef>
              <a:spcAft>
                <a:spcPts val="0"/>
              </a:spcAft>
              <a:buNone/>
            </a:pPr>
            <a:r>
              <a:rPr lang="es-ES" sz="2000" b="1">
                <a:solidFill>
                  <a:schemeClr val="lt1"/>
                </a:solidFill>
                <a:latin typeface="Calibri"/>
                <a:ea typeface="Calibri"/>
                <a:cs typeface="Calibri"/>
                <a:sym typeface="Calibri"/>
              </a:rPr>
              <a:t>Stealers:</a:t>
            </a:r>
            <a:r>
              <a:rPr lang="es-ES" sz="2000">
                <a:solidFill>
                  <a:schemeClr val="lt1"/>
                </a:solidFill>
                <a:latin typeface="Calibri"/>
                <a:ea typeface="Calibri"/>
                <a:cs typeface="Calibri"/>
                <a:sym typeface="Calibri"/>
              </a:rPr>
              <a:t> Los stealers roban la información privada que se  encuentra guardada en el equipo. Al ejecutarse comprueban los programas instalados en el  equipo y si tienen contraseñas o credenciales almacenadas, por ejemplo en los navegadores web o en clientes de mensajería  instantánea, descifran esa información y la envían al atacante.</a:t>
            </a:r>
            <a:endParaRPr sz="1800">
              <a:solidFill>
                <a:schemeClr val="lt1"/>
              </a:solidFill>
              <a:latin typeface="Calibri"/>
              <a:ea typeface="Calibri"/>
              <a:cs typeface="Calibri"/>
              <a:sym typeface="Calibri"/>
            </a:endParaRPr>
          </a:p>
          <a:p>
            <a:pPr marL="0" marR="0" lvl="0" indent="0" algn="l" rtl="0">
              <a:lnSpc>
                <a:spcPct val="107000"/>
              </a:lnSpc>
              <a:spcBef>
                <a:spcPts val="800"/>
              </a:spcBef>
              <a:spcAft>
                <a:spcPts val="0"/>
              </a:spcAft>
              <a:buNone/>
            </a:pPr>
            <a:r>
              <a:rPr lang="es-ES" sz="2000" b="1">
                <a:solidFill>
                  <a:schemeClr val="lt1"/>
                </a:solidFill>
                <a:latin typeface="Calibri"/>
                <a:ea typeface="Calibri"/>
                <a:cs typeface="Calibri"/>
                <a:sym typeface="Calibri"/>
              </a:rPr>
              <a:t>Ransomware:</a:t>
            </a:r>
            <a:r>
              <a:rPr lang="es-ES" sz="2000">
                <a:solidFill>
                  <a:schemeClr val="lt1"/>
                </a:solidFill>
                <a:latin typeface="Calibri"/>
                <a:ea typeface="Calibri"/>
                <a:cs typeface="Calibri"/>
                <a:sym typeface="Calibri"/>
              </a:rPr>
              <a:t> Conocido como malware "secuestrador" ha supuesto una verdadera plaga en el último año. Se trata de malware que hace inaccesibles archivos de utilidad para el usuario, se habla de ransomware criptográfico cuando para ello se cifran estos archivos. Se pide un rescate para poder liberar/desencriptar los archivos, de los que en muchos casos, por desgracia, no se tiene copia de seguridad actualizada.  c</a:t>
            </a:r>
            <a:endParaRPr sz="1800">
              <a:solidFill>
                <a:schemeClr val="lt1"/>
              </a:solidFill>
              <a:latin typeface="Calibri"/>
              <a:ea typeface="Calibri"/>
              <a:cs typeface="Calibri"/>
              <a:sym typeface="Calibri"/>
            </a:endParaRPr>
          </a:p>
        </p:txBody>
      </p:sp>
      <p:pic>
        <p:nvPicPr>
          <p:cNvPr id="444" name="Google Shape;444;p40" descr="Qué hacer si roban una foto o un contenido de mi blog | Receta de Sergio"/>
          <p:cNvPicPr preferRelativeResize="0"/>
          <p:nvPr/>
        </p:nvPicPr>
        <p:blipFill rotWithShape="1">
          <a:blip r:embed="rId3">
            <a:alphaModFix/>
          </a:blip>
          <a:srcRect/>
          <a:stretch/>
        </p:blipFill>
        <p:spPr>
          <a:xfrm>
            <a:off x="10576841" y="4148488"/>
            <a:ext cx="1598892" cy="230856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41" descr="Los 10 ransomware más peligrosos de los últimos años | noticias.ltda"/>
          <p:cNvPicPr preferRelativeResize="0"/>
          <p:nvPr/>
        </p:nvPicPr>
        <p:blipFill rotWithShape="1">
          <a:blip r:embed="rId3">
            <a:alphaModFix/>
          </a:blip>
          <a:srcRect/>
          <a:stretch/>
        </p:blipFill>
        <p:spPr>
          <a:xfrm>
            <a:off x="1761423" y="463949"/>
            <a:ext cx="7375396" cy="558071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2"/>
          <p:cNvSpPr txBox="1">
            <a:spLocks noGrp="1"/>
          </p:cNvSpPr>
          <p:nvPr>
            <p:ph type="title"/>
          </p:nvPr>
        </p:nvSpPr>
        <p:spPr>
          <a:xfrm>
            <a:off x="838200" y="77003"/>
            <a:ext cx="10515600" cy="8251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Rogue ware</a:t>
            </a:r>
            <a:endParaRPr/>
          </a:p>
        </p:txBody>
      </p:sp>
      <p:sp>
        <p:nvSpPr>
          <p:cNvPr id="455" name="Google Shape;455;p42"/>
          <p:cNvSpPr txBox="1">
            <a:spLocks noGrp="1"/>
          </p:cNvSpPr>
          <p:nvPr>
            <p:ph type="body" idx="1"/>
          </p:nvPr>
        </p:nvSpPr>
        <p:spPr>
          <a:xfrm>
            <a:off x="838200" y="1636295"/>
            <a:ext cx="5504848" cy="454066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4D5156"/>
              </a:buClr>
              <a:buSzPts val="2800"/>
              <a:buChar char="•"/>
            </a:pPr>
            <a:r>
              <a:rPr lang="es-ES" b="0" i="0">
                <a:solidFill>
                  <a:srgbClr val="4D5156"/>
                </a:solidFill>
                <a:latin typeface="arial"/>
                <a:ea typeface="arial"/>
                <a:cs typeface="arial"/>
                <a:sym typeface="arial"/>
              </a:rPr>
              <a:t>Rogue software es un tipo de programa informático malicioso cuya principal finalidad es la de hacer creer que una computadora es infectada por algún tipo de virus, haciendo pagar gran suma de dinero al usuario</a:t>
            </a:r>
            <a:endParaRPr/>
          </a:p>
        </p:txBody>
      </p:sp>
      <p:pic>
        <p:nvPicPr>
          <p:cNvPr id="456" name="Google Shape;456;p42" descr="Qué es el rogueware - Gestion.Org"/>
          <p:cNvPicPr preferRelativeResize="0"/>
          <p:nvPr/>
        </p:nvPicPr>
        <p:blipFill rotWithShape="1">
          <a:blip r:embed="rId3">
            <a:alphaModFix/>
          </a:blip>
          <a:srcRect/>
          <a:stretch/>
        </p:blipFill>
        <p:spPr>
          <a:xfrm>
            <a:off x="6673266" y="1636295"/>
            <a:ext cx="4524375" cy="36099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43"/>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CODIGO POLIMORFICO</a:t>
            </a:r>
            <a:endParaRPr/>
          </a:p>
        </p:txBody>
      </p:sp>
      <p:sp>
        <p:nvSpPr>
          <p:cNvPr id="462" name="Google Shape;462;p43"/>
          <p:cNvSpPr txBox="1">
            <a:spLocks noGrp="1"/>
          </p:cNvSpPr>
          <p:nvPr>
            <p:ph type="body" idx="1"/>
          </p:nvPr>
        </p:nvSpPr>
        <p:spPr>
          <a:xfrm>
            <a:off x="664945" y="109410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3245"/>
              </a:buClr>
              <a:buSzPts val="2400"/>
              <a:buChar char="•"/>
            </a:pPr>
            <a:r>
              <a:rPr lang="es-ES" sz="2400">
                <a:solidFill>
                  <a:srgbClr val="003245"/>
                </a:solidFill>
                <a:latin typeface="Calibri"/>
                <a:ea typeface="Calibri"/>
                <a:cs typeface="Calibri"/>
                <a:sym typeface="Calibri"/>
              </a:rPr>
              <a:t>Un </a:t>
            </a:r>
            <a:r>
              <a:rPr lang="es-ES" sz="2400" b="1">
                <a:solidFill>
                  <a:srgbClr val="003245"/>
                </a:solidFill>
                <a:latin typeface="Calibri"/>
                <a:ea typeface="Calibri"/>
                <a:cs typeface="Calibri"/>
                <a:sym typeface="Calibri"/>
              </a:rPr>
              <a:t>código polimórfico</a:t>
            </a:r>
            <a:r>
              <a:rPr lang="es-ES" sz="2400">
                <a:solidFill>
                  <a:srgbClr val="003245"/>
                </a:solidFill>
                <a:latin typeface="Calibri"/>
                <a:ea typeface="Calibri"/>
                <a:cs typeface="Calibri"/>
                <a:sym typeface="Calibri"/>
              </a:rPr>
              <a:t> es aquel que sirve para </a:t>
            </a:r>
            <a:r>
              <a:rPr lang="es-ES" sz="2400" b="1">
                <a:solidFill>
                  <a:srgbClr val="003245"/>
                </a:solidFill>
                <a:latin typeface="Calibri"/>
                <a:ea typeface="Calibri"/>
                <a:cs typeface="Calibri"/>
                <a:sym typeface="Calibri"/>
              </a:rPr>
              <a:t>mutarse a si mismo</a:t>
            </a:r>
            <a:r>
              <a:rPr lang="es-ES" sz="2400">
                <a:solidFill>
                  <a:srgbClr val="003245"/>
                </a:solidFill>
                <a:latin typeface="Calibri"/>
                <a:ea typeface="Calibri"/>
                <a:cs typeface="Calibri"/>
                <a:sym typeface="Calibri"/>
              </a:rPr>
              <a:t> mientras mantiene su funcionalidad original intacta. Esta técnica es usada por el malware para ocultar su presencia. Muchas soluciones anti-malware o de detección de </a:t>
            </a:r>
            <a:r>
              <a:rPr lang="es-ES" sz="4800">
                <a:solidFill>
                  <a:srgbClr val="003245"/>
                </a:solidFill>
                <a:latin typeface="Calibri"/>
                <a:ea typeface="Calibri"/>
                <a:cs typeface="Calibri"/>
                <a:sym typeface="Calibri"/>
              </a:rPr>
              <a:t>intrusiones</a:t>
            </a:r>
            <a:r>
              <a:rPr lang="es-ES" sz="2400">
                <a:solidFill>
                  <a:srgbClr val="003245"/>
                </a:solidFill>
                <a:latin typeface="Calibri"/>
                <a:ea typeface="Calibri"/>
                <a:cs typeface="Calibri"/>
                <a:sym typeface="Calibri"/>
              </a:rPr>
              <a:t> buscan una serie de patrones o firmas en los distintos archivos del sistema y si encuentran dicho patrón o firma, detectan la potencial amenaza y proceden a neutralizarla. Los algoritmos polimórficos que incorporan algunas piezas de malware hacen más difícil esta detección basada en  patrones o firmas</a:t>
            </a:r>
            <a:r>
              <a:rPr lang="es-ES" sz="2400" b="1">
                <a:solidFill>
                  <a:srgbClr val="003245"/>
                </a:solidFill>
                <a:latin typeface="Calibri"/>
                <a:ea typeface="Calibri"/>
                <a:cs typeface="Calibri"/>
                <a:sym typeface="Calibri"/>
              </a:rPr>
              <a:t> modificando el código continuamente</a:t>
            </a:r>
            <a:r>
              <a:rPr lang="es-ES" sz="2400">
                <a:solidFill>
                  <a:srgbClr val="003245"/>
                </a:solidFill>
                <a:latin typeface="Calibri"/>
                <a:ea typeface="Calibri"/>
                <a:cs typeface="Calibri"/>
                <a:sym typeface="Calibri"/>
              </a:rPr>
              <a:t>. Una forma sencilla de conseguir polimorfismo es utilizar encriptación variable, aunque existen otros muchos mecanismos: insertar código muerto, </a:t>
            </a:r>
            <a:endParaRPr sz="3600">
              <a:latin typeface="Calibri"/>
              <a:ea typeface="Calibri"/>
              <a:cs typeface="Calibri"/>
              <a:sym typeface="Calibri"/>
            </a:endParaRPr>
          </a:p>
        </p:txBody>
      </p:sp>
      <p:pic>
        <p:nvPicPr>
          <p:cNvPr id="463" name="Google Shape;463;p43" descr="Malware complejo: metamorfismo, polimorfismo y EPO | Teoria y ejemplos  practicos – reversecoder"/>
          <p:cNvPicPr preferRelativeResize="0"/>
          <p:nvPr/>
        </p:nvPicPr>
        <p:blipFill rotWithShape="1">
          <a:blip r:embed="rId3">
            <a:alphaModFix/>
          </a:blip>
          <a:srcRect/>
          <a:stretch/>
        </p:blipFill>
        <p:spPr>
          <a:xfrm>
            <a:off x="4471086" y="5020945"/>
            <a:ext cx="3076575" cy="14859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4"/>
          <p:cNvSpPr txBox="1">
            <a:spLocks noGrp="1"/>
          </p:cNvSpPr>
          <p:nvPr>
            <p:ph type="title"/>
          </p:nvPr>
        </p:nvSpPr>
        <p:spPr>
          <a:xfrm>
            <a:off x="992204" y="105244"/>
            <a:ext cx="10515600" cy="31591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2160"/>
              <a:buFont typeface="Calibri"/>
              <a:buNone/>
            </a:pPr>
            <a:r>
              <a:rPr lang="es-ES" sz="2160"/>
              <a:t>2.1 HISTORIA DE LOS VIRUS</a:t>
            </a:r>
            <a:endParaRPr/>
          </a:p>
        </p:txBody>
      </p:sp>
      <p:sp>
        <p:nvSpPr>
          <p:cNvPr id="469" name="Google Shape;469;p44"/>
          <p:cNvSpPr txBox="1">
            <a:spLocks noGrp="1"/>
          </p:cNvSpPr>
          <p:nvPr>
            <p:ph type="body" idx="1"/>
          </p:nvPr>
        </p:nvSpPr>
        <p:spPr>
          <a:xfrm>
            <a:off x="462815" y="497338"/>
            <a:ext cx="10515600" cy="6360661"/>
          </a:xfrm>
          <a:prstGeom prst="rect">
            <a:avLst/>
          </a:prstGeom>
          <a:solidFill>
            <a:srgbClr val="FFFFCC"/>
          </a:solid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3245"/>
              </a:buClr>
              <a:buSzPts val="1800"/>
              <a:buChar char="•"/>
            </a:pPr>
            <a:r>
              <a:rPr lang="es-ES" sz="1800">
                <a:solidFill>
                  <a:srgbClr val="003245"/>
                </a:solidFill>
                <a:latin typeface="Calibri"/>
                <a:ea typeface="Calibri"/>
                <a:cs typeface="Calibri"/>
                <a:sym typeface="Calibri"/>
              </a:rPr>
              <a:t>Muchos investigadores consideran que el punto de partida del malware fue el trabajo de John von Neumann en sus estudios sobre un autómata capaz de reproducirse, famoso en los años 40 del siglo XX. En </a:t>
            </a:r>
            <a:r>
              <a:rPr lang="es-ES" sz="1800" b="1">
                <a:solidFill>
                  <a:srgbClr val="003245"/>
                </a:solidFill>
                <a:latin typeface="Calibri"/>
                <a:ea typeface="Calibri"/>
                <a:cs typeface="Calibri"/>
                <a:sym typeface="Calibri"/>
              </a:rPr>
              <a:t>1951</a:t>
            </a:r>
            <a:r>
              <a:rPr lang="es-ES" sz="1800">
                <a:solidFill>
                  <a:srgbClr val="003245"/>
                </a:solidFill>
                <a:latin typeface="Calibri"/>
                <a:ea typeface="Calibri"/>
                <a:cs typeface="Calibri"/>
                <a:sym typeface="Calibri"/>
              </a:rPr>
              <a:t>, </a:t>
            </a:r>
            <a:r>
              <a:rPr lang="es-ES" sz="1800" b="1">
                <a:solidFill>
                  <a:srgbClr val="003245"/>
                </a:solidFill>
                <a:latin typeface="Calibri"/>
                <a:ea typeface="Calibri"/>
                <a:cs typeface="Calibri"/>
                <a:sym typeface="Calibri"/>
              </a:rPr>
              <a:t>Neumann</a:t>
            </a:r>
            <a:r>
              <a:rPr lang="es-ES" sz="1800">
                <a:solidFill>
                  <a:srgbClr val="003245"/>
                </a:solidFill>
                <a:latin typeface="Calibri"/>
                <a:ea typeface="Calibri"/>
                <a:cs typeface="Calibri"/>
                <a:sym typeface="Calibri"/>
              </a:rPr>
              <a:t> ya había propuesto métodos para demostrar cómo crear ese autómata.</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1970</a:t>
            </a:r>
            <a:r>
              <a:rPr lang="es-ES" sz="1800">
                <a:solidFill>
                  <a:srgbClr val="003245"/>
                </a:solidFill>
                <a:latin typeface="Calibri"/>
                <a:ea typeface="Calibri"/>
                <a:cs typeface="Calibri"/>
                <a:sym typeface="Calibri"/>
              </a:rPr>
              <a:t> el gusano </a:t>
            </a:r>
            <a:r>
              <a:rPr lang="es-ES" sz="1800" b="1">
                <a:solidFill>
                  <a:srgbClr val="003245"/>
                </a:solidFill>
                <a:latin typeface="Calibri"/>
                <a:ea typeface="Calibri"/>
                <a:cs typeface="Calibri"/>
                <a:sym typeface="Calibri"/>
              </a:rPr>
              <a:t>Creeper</a:t>
            </a:r>
            <a:r>
              <a:rPr lang="es-ES" sz="1800">
                <a:solidFill>
                  <a:srgbClr val="003245"/>
                </a:solidFill>
                <a:latin typeface="Calibri"/>
                <a:ea typeface="Calibri"/>
                <a:cs typeface="Calibri"/>
                <a:sym typeface="Calibri"/>
              </a:rPr>
              <a:t> aparece en ARPANET. Una vez que estaba infectado un ordenador, se mostraba un mensaje corto al usuario incitándole a atreverse a capturar "The Creeper": “I’m the Creeper. Catch me if you can!” . Creado como un experimento, The Creeper no causó daños pero hizo predecir el futuro de malware con su rápida propagación. Reaper fue creado para cazar y destruir Creeper, uno de los primeros ejemplos de un programa antivirus.</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1974</a:t>
            </a:r>
            <a:r>
              <a:rPr lang="es-ES" sz="1800">
                <a:solidFill>
                  <a:srgbClr val="003245"/>
                </a:solidFill>
                <a:latin typeface="Calibri"/>
                <a:ea typeface="Calibri"/>
                <a:cs typeface="Calibri"/>
                <a:sym typeface="Calibri"/>
              </a:rPr>
              <a:t> aparece el virus </a:t>
            </a:r>
            <a:r>
              <a:rPr lang="es-ES" sz="1800" b="1">
                <a:solidFill>
                  <a:srgbClr val="003245"/>
                </a:solidFill>
                <a:latin typeface="Calibri"/>
                <a:ea typeface="Calibri"/>
                <a:cs typeface="Calibri"/>
                <a:sym typeface="Calibri"/>
              </a:rPr>
              <a:t>Dubbed Rabbit</a:t>
            </a:r>
            <a:r>
              <a:rPr lang="es-ES" sz="1800">
                <a:solidFill>
                  <a:srgbClr val="003245"/>
                </a:solidFill>
                <a:latin typeface="Calibri"/>
                <a:ea typeface="Calibri"/>
                <a:cs typeface="Calibri"/>
                <a:sym typeface="Calibri"/>
              </a:rPr>
              <a:t>: se llamaba Rabbit porque no hacía nada más que multiplicarse y extenderse hacia otras máquinas. El nombre tenía que ver con la velocidad con la cual el programa se multiplicaba e inundaba el sistema con copias de sí mismo, reduciendo su velocidad. Una vez que la cantidad de virus alcanzaba cierto nivel, el ordenador dejaba de funcionar.</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1975</a:t>
            </a:r>
            <a:r>
              <a:rPr lang="es-ES" sz="1800">
                <a:solidFill>
                  <a:srgbClr val="003245"/>
                </a:solidFill>
                <a:latin typeface="Calibri"/>
                <a:ea typeface="Calibri"/>
                <a:cs typeface="Calibri"/>
                <a:sym typeface="Calibri"/>
              </a:rPr>
              <a:t> comenzó la </a:t>
            </a:r>
            <a:r>
              <a:rPr lang="es-ES" sz="1800" b="1">
                <a:solidFill>
                  <a:srgbClr val="003245"/>
                </a:solidFill>
                <a:latin typeface="Calibri"/>
                <a:ea typeface="Calibri"/>
                <a:cs typeface="Calibri"/>
                <a:sym typeface="Calibri"/>
              </a:rPr>
              <a:t>era de los troyanos</a:t>
            </a:r>
            <a:r>
              <a:rPr lang="es-ES" sz="1800">
                <a:solidFill>
                  <a:srgbClr val="003245"/>
                </a:solidFill>
                <a:latin typeface="Calibri"/>
                <a:ea typeface="Calibri"/>
                <a:cs typeface="Calibri"/>
                <a:sym typeface="Calibri"/>
              </a:rPr>
              <a:t> con el Pervading Animal escrito para el UNIVAC 1108. Mientras el programa plantea un juego al usuario, tratando de adivinar en qué animal está pensando, el programa malicioso crea una copia de sí mismo en cada uno de los directorios a los que el usuario tiene acceso. No se trata de un programa dañino en el sentido de que fue escrito cuidadosamente para evitar daños a las estructuras de archivos y directorios existentes, así como evitar copiarse a sí mismo si no existían los permisos adecuados.</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1980 Jurgen Kraus</a:t>
            </a:r>
            <a:r>
              <a:rPr lang="es-ES" sz="1800">
                <a:solidFill>
                  <a:srgbClr val="003245"/>
                </a:solidFill>
                <a:latin typeface="Calibri"/>
                <a:ea typeface="Calibri"/>
                <a:cs typeface="Calibri"/>
                <a:sym typeface="Calibri"/>
              </a:rPr>
              <a:t> escribió su tesis doctoral Self-reproduction of programs.</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1982</a:t>
            </a:r>
            <a:r>
              <a:rPr lang="es-ES" sz="1800">
                <a:solidFill>
                  <a:srgbClr val="003245"/>
                </a:solidFill>
                <a:latin typeface="Calibri"/>
                <a:ea typeface="Calibri"/>
                <a:cs typeface="Calibri"/>
                <a:sym typeface="Calibri"/>
              </a:rPr>
              <a:t> aparece el virus </a:t>
            </a:r>
            <a:r>
              <a:rPr lang="es-ES" sz="1800" b="1">
                <a:solidFill>
                  <a:srgbClr val="003245"/>
                </a:solidFill>
                <a:latin typeface="Calibri"/>
                <a:ea typeface="Calibri"/>
                <a:cs typeface="Calibri"/>
                <a:sym typeface="Calibri"/>
              </a:rPr>
              <a:t>Elk Cloner</a:t>
            </a:r>
            <a:r>
              <a:rPr lang="es-ES" sz="1800">
                <a:solidFill>
                  <a:srgbClr val="003245"/>
                </a:solidFill>
                <a:latin typeface="Calibri"/>
                <a:ea typeface="Calibri"/>
                <a:cs typeface="Calibri"/>
                <a:sym typeface="Calibri"/>
              </a:rPr>
              <a:t>. Escrito para los sistemas Apple II, particularmente vulnerables debido al almacenamiento del sistema operativo en floppy disks. Su diseño, así como la ignorancia existente sobre lo que era el malware y cómo protegerse contra él, convierten a Elk Cloner en el primer virus a gran escala de la historia. El virus Elk Cloner incluía imágenes que rotaban, textos borrosos y mensajes en broma:</a:t>
            </a:r>
            <a:endParaRPr sz="1800">
              <a:latin typeface="Calibri"/>
              <a:ea typeface="Calibri"/>
              <a:cs typeface="Calibri"/>
              <a:sym typeface="Calibri"/>
            </a:endParaRPr>
          </a:p>
          <a:p>
            <a:pPr marL="228600" lvl="0" indent="-101600" algn="l" rtl="0">
              <a:lnSpc>
                <a:spcPct val="90000"/>
              </a:lnSpc>
              <a:spcBef>
                <a:spcPts val="1000"/>
              </a:spcBef>
              <a:spcAft>
                <a:spcPts val="0"/>
              </a:spcAft>
              <a:buClr>
                <a:schemeClr val="dk1"/>
              </a:buClr>
              <a:buSzPts val="2000"/>
              <a:buNone/>
            </a:pPr>
            <a:endParaRPr sz="2000">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45"/>
          <p:cNvSpPr txBox="1">
            <a:spLocks noGrp="1"/>
          </p:cNvSpPr>
          <p:nvPr>
            <p:ph type="body" idx="1"/>
          </p:nvPr>
        </p:nvSpPr>
        <p:spPr>
          <a:xfrm>
            <a:off x="838200" y="1825625"/>
            <a:ext cx="10515600" cy="4351338"/>
          </a:xfrm>
          <a:prstGeom prst="rect">
            <a:avLst/>
          </a:prstGeom>
          <a:solidFill>
            <a:schemeClr val="dk1"/>
          </a:solid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590"/>
              <a:buChar char="•"/>
            </a:pPr>
            <a:r>
              <a:rPr lang="es-ES" sz="2590" i="1">
                <a:solidFill>
                  <a:schemeClr val="lt1"/>
                </a:solidFill>
                <a:latin typeface="Calibri"/>
                <a:ea typeface="Calibri"/>
                <a:cs typeface="Calibri"/>
                <a:sym typeface="Calibri"/>
              </a:rPr>
              <a:t>ELK CLONER:</a:t>
            </a:r>
            <a:endParaRPr sz="2590">
              <a:solidFill>
                <a:schemeClr val="lt1"/>
              </a:solidFill>
              <a:latin typeface="Calibri"/>
              <a:ea typeface="Calibri"/>
              <a:cs typeface="Calibri"/>
              <a:sym typeface="Calibri"/>
            </a:endParaRPr>
          </a:p>
          <a:p>
            <a:pPr marL="228600" lvl="0" indent="-228600" algn="l" rtl="0">
              <a:lnSpc>
                <a:spcPct val="90000"/>
              </a:lnSpc>
              <a:spcBef>
                <a:spcPts val="1000"/>
              </a:spcBef>
              <a:spcAft>
                <a:spcPts val="0"/>
              </a:spcAft>
              <a:buClr>
                <a:schemeClr val="lt1"/>
              </a:buClr>
              <a:buSzPts val="2590"/>
              <a:buChar char="•"/>
            </a:pPr>
            <a:r>
              <a:rPr lang="es-ES" sz="2590" i="1">
                <a:solidFill>
                  <a:schemeClr val="lt1"/>
                </a:solidFill>
                <a:latin typeface="Calibri"/>
                <a:ea typeface="Calibri"/>
                <a:cs typeface="Calibri"/>
                <a:sym typeface="Calibri"/>
              </a:rPr>
              <a:t>THE PROGRAM WITH A PERSONALITY (UN PROGRAMA CON PERSONALIDAD)</a:t>
            </a:r>
            <a:endParaRPr sz="2590">
              <a:solidFill>
                <a:schemeClr val="lt1"/>
              </a:solidFill>
              <a:latin typeface="Calibri"/>
              <a:ea typeface="Calibri"/>
              <a:cs typeface="Calibri"/>
              <a:sym typeface="Calibri"/>
            </a:endParaRPr>
          </a:p>
          <a:p>
            <a:pPr marL="228600" lvl="0" indent="-228600" algn="l" rtl="0">
              <a:lnSpc>
                <a:spcPct val="90000"/>
              </a:lnSpc>
              <a:spcBef>
                <a:spcPts val="1000"/>
              </a:spcBef>
              <a:spcAft>
                <a:spcPts val="0"/>
              </a:spcAft>
              <a:buClr>
                <a:schemeClr val="lt1"/>
              </a:buClr>
              <a:buSzPts val="2590"/>
              <a:buChar char="•"/>
            </a:pPr>
            <a:r>
              <a:rPr lang="es-ES" sz="2590" i="1">
                <a:solidFill>
                  <a:schemeClr val="lt1"/>
                </a:solidFill>
                <a:latin typeface="Calibri"/>
                <a:ea typeface="Calibri"/>
                <a:cs typeface="Calibri"/>
                <a:sym typeface="Calibri"/>
              </a:rPr>
              <a:t>IT WILL GET ON ALL YOUR DISKS (LLEGARÁ A TODOS SUS DISCOS)</a:t>
            </a:r>
            <a:endParaRPr sz="2590">
              <a:solidFill>
                <a:schemeClr val="lt1"/>
              </a:solidFill>
              <a:latin typeface="Calibri"/>
              <a:ea typeface="Calibri"/>
              <a:cs typeface="Calibri"/>
              <a:sym typeface="Calibri"/>
            </a:endParaRPr>
          </a:p>
          <a:p>
            <a:pPr marL="228600" lvl="0" indent="-228600" algn="l" rtl="0">
              <a:lnSpc>
                <a:spcPct val="90000"/>
              </a:lnSpc>
              <a:spcBef>
                <a:spcPts val="1000"/>
              </a:spcBef>
              <a:spcAft>
                <a:spcPts val="0"/>
              </a:spcAft>
              <a:buClr>
                <a:schemeClr val="lt1"/>
              </a:buClr>
              <a:buSzPts val="2590"/>
              <a:buChar char="•"/>
            </a:pPr>
            <a:r>
              <a:rPr lang="es-ES" sz="2590" i="1">
                <a:solidFill>
                  <a:schemeClr val="lt1"/>
                </a:solidFill>
                <a:latin typeface="Calibri"/>
                <a:ea typeface="Calibri"/>
                <a:cs typeface="Calibri"/>
                <a:sym typeface="Calibri"/>
              </a:rPr>
              <a:t>IT WILL INFILTRATE YOUR CHIPS (SE INFILTRARÁ EN SUS CHIPS)</a:t>
            </a:r>
            <a:endParaRPr sz="2590">
              <a:solidFill>
                <a:schemeClr val="lt1"/>
              </a:solidFill>
              <a:latin typeface="Calibri"/>
              <a:ea typeface="Calibri"/>
              <a:cs typeface="Calibri"/>
              <a:sym typeface="Calibri"/>
            </a:endParaRPr>
          </a:p>
          <a:p>
            <a:pPr marL="228600" lvl="0" indent="-228600" algn="l" rtl="0">
              <a:lnSpc>
                <a:spcPct val="90000"/>
              </a:lnSpc>
              <a:spcBef>
                <a:spcPts val="1000"/>
              </a:spcBef>
              <a:spcAft>
                <a:spcPts val="0"/>
              </a:spcAft>
              <a:buClr>
                <a:schemeClr val="lt1"/>
              </a:buClr>
              <a:buSzPts val="2590"/>
              <a:buChar char="•"/>
            </a:pPr>
            <a:r>
              <a:rPr lang="es-ES" sz="2590" i="1">
                <a:solidFill>
                  <a:schemeClr val="lt1"/>
                </a:solidFill>
                <a:latin typeface="Calibri"/>
                <a:ea typeface="Calibri"/>
                <a:cs typeface="Calibri"/>
                <a:sym typeface="Calibri"/>
              </a:rPr>
              <a:t>YES, IT'S CLONER (SI, ES CLONER)</a:t>
            </a:r>
            <a:endParaRPr sz="2590">
              <a:solidFill>
                <a:schemeClr val="lt1"/>
              </a:solidFill>
              <a:latin typeface="Calibri"/>
              <a:ea typeface="Calibri"/>
              <a:cs typeface="Calibri"/>
              <a:sym typeface="Calibri"/>
            </a:endParaRPr>
          </a:p>
          <a:p>
            <a:pPr marL="228600" lvl="0" indent="-228600" algn="l" rtl="0">
              <a:lnSpc>
                <a:spcPct val="90000"/>
              </a:lnSpc>
              <a:spcBef>
                <a:spcPts val="1000"/>
              </a:spcBef>
              <a:spcAft>
                <a:spcPts val="0"/>
              </a:spcAft>
              <a:buClr>
                <a:schemeClr val="lt1"/>
              </a:buClr>
              <a:buSzPts val="2590"/>
              <a:buChar char="•"/>
            </a:pPr>
            <a:r>
              <a:rPr lang="es-ES" sz="2590" i="1">
                <a:solidFill>
                  <a:schemeClr val="lt1"/>
                </a:solidFill>
                <a:latin typeface="Calibri"/>
                <a:ea typeface="Calibri"/>
                <a:cs typeface="Calibri"/>
                <a:sym typeface="Calibri"/>
              </a:rPr>
              <a:t>IT WILL STICK TO YOU LIKE GLUE (SE LE PEGARÁ COMO LA GOMA DE PEGAR)</a:t>
            </a:r>
            <a:endParaRPr sz="2590">
              <a:solidFill>
                <a:schemeClr val="lt1"/>
              </a:solidFill>
              <a:latin typeface="Calibri"/>
              <a:ea typeface="Calibri"/>
              <a:cs typeface="Calibri"/>
              <a:sym typeface="Calibri"/>
            </a:endParaRPr>
          </a:p>
          <a:p>
            <a:pPr marL="228600" lvl="0" indent="-228600" algn="l" rtl="0">
              <a:lnSpc>
                <a:spcPct val="90000"/>
              </a:lnSpc>
              <a:spcBef>
                <a:spcPts val="1000"/>
              </a:spcBef>
              <a:spcAft>
                <a:spcPts val="0"/>
              </a:spcAft>
              <a:buClr>
                <a:schemeClr val="lt1"/>
              </a:buClr>
              <a:buSzPts val="2590"/>
              <a:buChar char="•"/>
            </a:pPr>
            <a:r>
              <a:rPr lang="es-ES" sz="2590" i="1">
                <a:solidFill>
                  <a:schemeClr val="lt1"/>
                </a:solidFill>
                <a:latin typeface="Calibri"/>
                <a:ea typeface="Calibri"/>
                <a:cs typeface="Calibri"/>
                <a:sym typeface="Calibri"/>
              </a:rPr>
              <a:t>IT WILL MODIFY RAM, TOO (MODIFICARÁ EL RAM TAMBIÉN)</a:t>
            </a:r>
            <a:endParaRPr sz="2590">
              <a:solidFill>
                <a:schemeClr val="lt1"/>
              </a:solidFill>
              <a:latin typeface="Calibri"/>
              <a:ea typeface="Calibri"/>
              <a:cs typeface="Calibri"/>
              <a:sym typeface="Calibri"/>
            </a:endParaRPr>
          </a:p>
          <a:p>
            <a:pPr marL="228600" lvl="0" indent="-228600" algn="l" rtl="0">
              <a:lnSpc>
                <a:spcPct val="90000"/>
              </a:lnSpc>
              <a:spcBef>
                <a:spcPts val="1000"/>
              </a:spcBef>
              <a:spcAft>
                <a:spcPts val="0"/>
              </a:spcAft>
              <a:buClr>
                <a:schemeClr val="lt1"/>
              </a:buClr>
              <a:buSzPts val="2590"/>
              <a:buChar char="•"/>
            </a:pPr>
            <a:r>
              <a:rPr lang="es-ES" sz="2590" i="1">
                <a:solidFill>
                  <a:schemeClr val="lt1"/>
                </a:solidFill>
                <a:latin typeface="Calibri"/>
                <a:ea typeface="Calibri"/>
                <a:cs typeface="Calibri"/>
                <a:sym typeface="Calibri"/>
              </a:rPr>
              <a:t>SEND IN THE CLONER! (¡ENVÍE EL CLONER!)</a:t>
            </a:r>
            <a:endParaRPr sz="2590">
              <a:solidFill>
                <a:schemeClr val="lt1"/>
              </a:solidFill>
              <a:latin typeface="Calibri"/>
              <a:ea typeface="Calibri"/>
              <a:cs typeface="Calibri"/>
              <a:sym typeface="Calibri"/>
            </a:endParaRPr>
          </a:p>
          <a:p>
            <a:pPr marL="228600" lvl="0" indent="-64135" algn="l" rtl="0">
              <a:lnSpc>
                <a:spcPct val="90000"/>
              </a:lnSpc>
              <a:spcBef>
                <a:spcPts val="1000"/>
              </a:spcBef>
              <a:spcAft>
                <a:spcPts val="0"/>
              </a:spcAft>
              <a:buClr>
                <a:schemeClr val="dk1"/>
              </a:buClr>
              <a:buSzPts val="2590"/>
              <a:buNone/>
            </a:pPr>
            <a:endParaRPr sz="2590">
              <a:solidFill>
                <a:schemeClr val="lt1"/>
              </a:solidFill>
            </a:endParaRPr>
          </a:p>
        </p:txBody>
      </p:sp>
      <p:pic>
        <p:nvPicPr>
          <p:cNvPr id="475" name="Google Shape;475;p45" descr="Monstruo, Azul, Internet, Ataque"/>
          <p:cNvPicPr preferRelativeResize="0"/>
          <p:nvPr/>
        </p:nvPicPr>
        <p:blipFill rotWithShape="1">
          <a:blip r:embed="rId3">
            <a:alphaModFix/>
          </a:blip>
          <a:srcRect/>
          <a:stretch/>
        </p:blipFill>
        <p:spPr>
          <a:xfrm>
            <a:off x="10978414" y="1"/>
            <a:ext cx="1257701" cy="94397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6"/>
          <p:cNvSpPr txBox="1">
            <a:spLocks noGrp="1"/>
          </p:cNvSpPr>
          <p:nvPr>
            <p:ph type="body" idx="1"/>
          </p:nvPr>
        </p:nvSpPr>
        <p:spPr>
          <a:xfrm>
            <a:off x="385011" y="943971"/>
            <a:ext cx="10968789" cy="5570571"/>
          </a:xfrm>
          <a:prstGeom prst="rect">
            <a:avLst/>
          </a:prstGeom>
          <a:solidFill>
            <a:srgbClr val="FFFFCC"/>
          </a:solid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rgbClr val="003245"/>
              </a:buClr>
              <a:buSzPts val="2220"/>
              <a:buChar char="•"/>
            </a:pPr>
            <a:r>
              <a:rPr lang="es-ES" sz="2220">
                <a:solidFill>
                  <a:srgbClr val="003245"/>
                </a:solidFill>
                <a:latin typeface="Calibri"/>
                <a:ea typeface="Calibri"/>
                <a:cs typeface="Calibri"/>
                <a:sym typeface="Calibri"/>
              </a:rPr>
              <a:t>No sería hasta el año </a:t>
            </a:r>
            <a:r>
              <a:rPr lang="es-ES" sz="2220" b="1">
                <a:solidFill>
                  <a:srgbClr val="003245"/>
                </a:solidFill>
                <a:latin typeface="Calibri"/>
                <a:ea typeface="Calibri"/>
                <a:cs typeface="Calibri"/>
                <a:sym typeface="Calibri"/>
              </a:rPr>
              <a:t>1983</a:t>
            </a:r>
            <a:r>
              <a:rPr lang="es-ES" sz="2220">
                <a:solidFill>
                  <a:srgbClr val="003245"/>
                </a:solidFill>
                <a:latin typeface="Calibri"/>
                <a:ea typeface="Calibri"/>
                <a:cs typeface="Calibri"/>
                <a:sym typeface="Calibri"/>
              </a:rPr>
              <a:t> cuando se establece por primera vez el término </a:t>
            </a:r>
            <a:r>
              <a:rPr lang="es-ES" sz="2220" b="1">
                <a:solidFill>
                  <a:srgbClr val="003245"/>
                </a:solidFill>
                <a:latin typeface="Calibri"/>
                <a:ea typeface="Calibri"/>
                <a:cs typeface="Calibri"/>
                <a:sym typeface="Calibri"/>
              </a:rPr>
              <a:t>virus</a:t>
            </a:r>
            <a:r>
              <a:rPr lang="es-ES" sz="2220">
                <a:solidFill>
                  <a:srgbClr val="003245"/>
                </a:solidFill>
                <a:latin typeface="Calibri"/>
                <a:ea typeface="Calibri"/>
                <a:cs typeface="Calibri"/>
                <a:sym typeface="Calibri"/>
              </a:rPr>
              <a:t> (acuñado por Frederick Cohen).</a:t>
            </a:r>
            <a:endParaRPr sz="2220">
              <a:latin typeface="Calibri"/>
              <a:ea typeface="Calibri"/>
              <a:cs typeface="Calibri"/>
              <a:sym typeface="Calibri"/>
            </a:endParaRPr>
          </a:p>
          <a:p>
            <a:pPr marL="228600" lvl="0" indent="-228600" algn="l" rtl="0">
              <a:lnSpc>
                <a:spcPct val="80000"/>
              </a:lnSpc>
              <a:spcBef>
                <a:spcPts val="2200"/>
              </a:spcBef>
              <a:spcAft>
                <a:spcPts val="0"/>
              </a:spcAft>
              <a:buClr>
                <a:srgbClr val="003245"/>
              </a:buClr>
              <a:buSzPts val="2220"/>
              <a:buChar char="•"/>
            </a:pPr>
            <a:r>
              <a:rPr lang="es-ES" sz="2220">
                <a:solidFill>
                  <a:srgbClr val="003245"/>
                </a:solidFill>
                <a:latin typeface="Calibri"/>
                <a:ea typeface="Calibri"/>
                <a:cs typeface="Calibri"/>
                <a:sym typeface="Calibri"/>
              </a:rPr>
              <a:t>En </a:t>
            </a:r>
            <a:r>
              <a:rPr lang="es-ES" sz="2220" b="1">
                <a:solidFill>
                  <a:srgbClr val="003245"/>
                </a:solidFill>
                <a:latin typeface="Calibri"/>
                <a:ea typeface="Calibri"/>
                <a:cs typeface="Calibri"/>
                <a:sym typeface="Calibri"/>
              </a:rPr>
              <a:t>1986</a:t>
            </a:r>
            <a:r>
              <a:rPr lang="es-ES" sz="2220">
                <a:solidFill>
                  <a:srgbClr val="003245"/>
                </a:solidFill>
                <a:latin typeface="Calibri"/>
                <a:ea typeface="Calibri"/>
                <a:cs typeface="Calibri"/>
                <a:sym typeface="Calibri"/>
              </a:rPr>
              <a:t> aparece </a:t>
            </a:r>
            <a:r>
              <a:rPr lang="es-ES" sz="2220" b="1">
                <a:solidFill>
                  <a:srgbClr val="003245"/>
                </a:solidFill>
                <a:latin typeface="Calibri"/>
                <a:ea typeface="Calibri"/>
                <a:cs typeface="Calibri"/>
                <a:sym typeface="Calibri"/>
              </a:rPr>
              <a:t>The brain Boot Sector</a:t>
            </a:r>
            <a:r>
              <a:rPr lang="es-ES" sz="2220">
                <a:solidFill>
                  <a:srgbClr val="003245"/>
                </a:solidFill>
                <a:latin typeface="Calibri"/>
                <a:ea typeface="Calibri"/>
                <a:cs typeface="Calibri"/>
                <a:sym typeface="Calibri"/>
              </a:rPr>
              <a:t> virus. Está considerado como el responsable de la primera epidemia de virus para IBM PC.</a:t>
            </a:r>
            <a:endParaRPr sz="2220">
              <a:latin typeface="Calibri"/>
              <a:ea typeface="Calibri"/>
              <a:cs typeface="Calibri"/>
              <a:sym typeface="Calibri"/>
            </a:endParaRPr>
          </a:p>
          <a:p>
            <a:pPr marL="228600" lvl="0" indent="-228600" algn="l" rtl="0">
              <a:lnSpc>
                <a:spcPct val="80000"/>
              </a:lnSpc>
              <a:spcBef>
                <a:spcPts val="1000"/>
              </a:spcBef>
              <a:spcAft>
                <a:spcPts val="0"/>
              </a:spcAft>
              <a:buClr>
                <a:srgbClr val="003245"/>
              </a:buClr>
              <a:buSzPts val="2220"/>
              <a:buChar char="•"/>
            </a:pPr>
            <a:r>
              <a:rPr lang="es-ES" sz="2220">
                <a:solidFill>
                  <a:srgbClr val="003245"/>
                </a:solidFill>
                <a:latin typeface="Calibri"/>
                <a:ea typeface="Calibri"/>
                <a:cs typeface="Calibri"/>
                <a:sym typeface="Calibri"/>
              </a:rPr>
              <a:t>En </a:t>
            </a:r>
            <a:r>
              <a:rPr lang="es-ES" sz="2220" b="1">
                <a:solidFill>
                  <a:srgbClr val="003245"/>
                </a:solidFill>
                <a:latin typeface="Calibri"/>
                <a:ea typeface="Calibri"/>
                <a:cs typeface="Calibri"/>
                <a:sym typeface="Calibri"/>
              </a:rPr>
              <a:t>1987 Ralf Burger</a:t>
            </a:r>
            <a:r>
              <a:rPr lang="es-ES" sz="2220">
                <a:solidFill>
                  <a:srgbClr val="003245"/>
                </a:solidFill>
                <a:latin typeface="Calibri"/>
                <a:ea typeface="Calibri"/>
                <a:cs typeface="Calibri"/>
                <a:sym typeface="Calibri"/>
              </a:rPr>
              <a:t> publica la biblia para todos los interesados en el mundo de los virus: </a:t>
            </a:r>
            <a:r>
              <a:rPr lang="es-ES" sz="2220" u="sng">
                <a:solidFill>
                  <a:srgbClr val="00324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Computer Viruses, the disease of high technology</a:t>
            </a:r>
            <a:r>
              <a:rPr lang="es-ES" sz="2220">
                <a:solidFill>
                  <a:srgbClr val="003245"/>
                </a:solidFill>
                <a:latin typeface="Calibri"/>
                <a:ea typeface="Calibri"/>
                <a:cs typeface="Calibri"/>
                <a:sym typeface="Calibri"/>
              </a:rPr>
              <a:t>.</a:t>
            </a:r>
            <a:endParaRPr sz="2220">
              <a:latin typeface="Calibri"/>
              <a:ea typeface="Calibri"/>
              <a:cs typeface="Calibri"/>
              <a:sym typeface="Calibri"/>
            </a:endParaRPr>
          </a:p>
          <a:p>
            <a:pPr marL="228600" lvl="0" indent="-228600" algn="l" rtl="0">
              <a:lnSpc>
                <a:spcPct val="80000"/>
              </a:lnSpc>
              <a:spcBef>
                <a:spcPts val="1000"/>
              </a:spcBef>
              <a:spcAft>
                <a:spcPts val="0"/>
              </a:spcAft>
              <a:buClr>
                <a:srgbClr val="003245"/>
              </a:buClr>
              <a:buSzPts val="2220"/>
              <a:buChar char="•"/>
            </a:pPr>
            <a:r>
              <a:rPr lang="es-ES" sz="2220">
                <a:solidFill>
                  <a:srgbClr val="003245"/>
                </a:solidFill>
                <a:latin typeface="Calibri"/>
                <a:ea typeface="Calibri"/>
                <a:cs typeface="Calibri"/>
                <a:sym typeface="Calibri"/>
              </a:rPr>
              <a:t>En </a:t>
            </a:r>
            <a:r>
              <a:rPr lang="es-ES" sz="2220" b="1">
                <a:solidFill>
                  <a:srgbClr val="003245"/>
                </a:solidFill>
                <a:latin typeface="Calibri"/>
                <a:ea typeface="Calibri"/>
                <a:cs typeface="Calibri"/>
                <a:sym typeface="Calibri"/>
              </a:rPr>
              <a:t>1988 Morris</a:t>
            </a:r>
            <a:r>
              <a:rPr lang="es-ES" sz="2220">
                <a:solidFill>
                  <a:srgbClr val="003245"/>
                </a:solidFill>
                <a:latin typeface="Calibri"/>
                <a:ea typeface="Calibri"/>
                <a:cs typeface="Calibri"/>
                <a:sym typeface="Calibri"/>
              </a:rPr>
              <a:t> se convierte en el primer gusano ampliamente extendido explotando las vulnerabilidades </a:t>
            </a:r>
            <a:r>
              <a:rPr lang="es-ES" sz="2220" b="1">
                <a:solidFill>
                  <a:srgbClr val="003245"/>
                </a:solidFill>
                <a:latin typeface="Calibri"/>
                <a:ea typeface="Calibri"/>
                <a:cs typeface="Calibri"/>
                <a:sym typeface="Calibri"/>
              </a:rPr>
              <a:t>buffer over run</a:t>
            </a:r>
            <a:r>
              <a:rPr lang="es-ES" sz="2220">
                <a:solidFill>
                  <a:srgbClr val="003245"/>
                </a:solidFill>
                <a:latin typeface="Calibri"/>
                <a:ea typeface="Calibri"/>
                <a:cs typeface="Calibri"/>
                <a:sym typeface="Calibri"/>
              </a:rPr>
              <a:t>. Infectó el 10% de todos los servidores de Internet disponibles en ese momento.</a:t>
            </a:r>
            <a:endParaRPr sz="2220">
              <a:latin typeface="Calibri"/>
              <a:ea typeface="Calibri"/>
              <a:cs typeface="Calibri"/>
              <a:sym typeface="Calibri"/>
            </a:endParaRPr>
          </a:p>
          <a:p>
            <a:pPr marL="228600" lvl="0" indent="-228600" algn="l" rtl="0">
              <a:lnSpc>
                <a:spcPct val="80000"/>
              </a:lnSpc>
              <a:spcBef>
                <a:spcPts val="1000"/>
              </a:spcBef>
              <a:spcAft>
                <a:spcPts val="0"/>
              </a:spcAft>
              <a:buClr>
                <a:srgbClr val="003245"/>
              </a:buClr>
              <a:buSzPts val="2220"/>
              <a:buChar char="•"/>
            </a:pPr>
            <a:r>
              <a:rPr lang="es-ES" sz="2220">
                <a:solidFill>
                  <a:srgbClr val="003245"/>
                </a:solidFill>
                <a:latin typeface="Calibri"/>
                <a:ea typeface="Calibri"/>
                <a:cs typeface="Calibri"/>
                <a:sym typeface="Calibri"/>
              </a:rPr>
              <a:t>En </a:t>
            </a:r>
            <a:r>
              <a:rPr lang="es-ES" sz="2220" b="1">
                <a:solidFill>
                  <a:srgbClr val="003245"/>
                </a:solidFill>
                <a:latin typeface="Calibri"/>
                <a:ea typeface="Calibri"/>
                <a:cs typeface="Calibri"/>
                <a:sym typeface="Calibri"/>
              </a:rPr>
              <a:t>1989</a:t>
            </a:r>
            <a:r>
              <a:rPr lang="es-ES" sz="2220">
                <a:solidFill>
                  <a:srgbClr val="003245"/>
                </a:solidFill>
                <a:latin typeface="Calibri"/>
                <a:ea typeface="Calibri"/>
                <a:cs typeface="Calibri"/>
                <a:sym typeface="Calibri"/>
              </a:rPr>
              <a:t> Fridrik Skúlason descubre </a:t>
            </a:r>
            <a:r>
              <a:rPr lang="es-ES" sz="2220" b="1">
                <a:solidFill>
                  <a:srgbClr val="003245"/>
                </a:solidFill>
                <a:latin typeface="Calibri"/>
                <a:ea typeface="Calibri"/>
                <a:cs typeface="Calibri"/>
                <a:sym typeface="Calibri"/>
              </a:rPr>
              <a:t>Ghostball</a:t>
            </a:r>
            <a:r>
              <a:rPr lang="es-ES" sz="2220">
                <a:solidFill>
                  <a:srgbClr val="003245"/>
                </a:solidFill>
                <a:latin typeface="Calibri"/>
                <a:ea typeface="Calibri"/>
                <a:cs typeface="Calibri"/>
                <a:sym typeface="Calibri"/>
              </a:rPr>
              <a:t>, el primer virus multi-participativo.</a:t>
            </a:r>
            <a:endParaRPr sz="2220">
              <a:latin typeface="Calibri"/>
              <a:ea typeface="Calibri"/>
              <a:cs typeface="Calibri"/>
              <a:sym typeface="Calibri"/>
            </a:endParaRPr>
          </a:p>
          <a:p>
            <a:pPr marL="228600" lvl="0" indent="-228600" algn="l" rtl="0">
              <a:lnSpc>
                <a:spcPct val="80000"/>
              </a:lnSpc>
              <a:spcBef>
                <a:spcPts val="1000"/>
              </a:spcBef>
              <a:spcAft>
                <a:spcPts val="0"/>
              </a:spcAft>
              <a:buClr>
                <a:srgbClr val="003245"/>
              </a:buClr>
              <a:buSzPts val="2220"/>
              <a:buChar char="•"/>
            </a:pPr>
            <a:r>
              <a:rPr lang="es-ES" sz="2220">
                <a:solidFill>
                  <a:srgbClr val="003245"/>
                </a:solidFill>
                <a:latin typeface="Calibri"/>
                <a:ea typeface="Calibri"/>
                <a:cs typeface="Calibri"/>
                <a:sym typeface="Calibri"/>
              </a:rPr>
              <a:t>En </a:t>
            </a:r>
            <a:r>
              <a:rPr lang="es-ES" sz="2220" b="1">
                <a:solidFill>
                  <a:srgbClr val="003245"/>
                </a:solidFill>
                <a:latin typeface="Calibri"/>
                <a:ea typeface="Calibri"/>
                <a:cs typeface="Calibri"/>
                <a:sym typeface="Calibri"/>
              </a:rPr>
              <a:t>1990</a:t>
            </a:r>
            <a:r>
              <a:rPr lang="es-ES" sz="2220">
                <a:solidFill>
                  <a:srgbClr val="003245"/>
                </a:solidFill>
                <a:latin typeface="Calibri"/>
                <a:ea typeface="Calibri"/>
                <a:cs typeface="Calibri"/>
                <a:sym typeface="Calibri"/>
              </a:rPr>
              <a:t> Mark Washburn y Ralf Burger desarrollan la primera familia de virus polimórficos: </a:t>
            </a:r>
            <a:r>
              <a:rPr lang="es-ES" sz="2220" b="1">
                <a:solidFill>
                  <a:srgbClr val="003245"/>
                </a:solidFill>
                <a:latin typeface="Calibri"/>
                <a:ea typeface="Calibri"/>
                <a:cs typeface="Calibri"/>
                <a:sym typeface="Calibri"/>
              </a:rPr>
              <a:t>The Chamaleon</a:t>
            </a:r>
            <a:r>
              <a:rPr lang="es-ES" sz="2220">
                <a:solidFill>
                  <a:srgbClr val="003245"/>
                </a:solidFill>
                <a:latin typeface="Calibri"/>
                <a:ea typeface="Calibri"/>
                <a:cs typeface="Calibri"/>
                <a:sym typeface="Calibri"/>
              </a:rPr>
              <a:t>.</a:t>
            </a:r>
            <a:endParaRPr sz="2220">
              <a:latin typeface="Calibri"/>
              <a:ea typeface="Calibri"/>
              <a:cs typeface="Calibri"/>
              <a:sym typeface="Calibri"/>
            </a:endParaRPr>
          </a:p>
          <a:p>
            <a:pPr marL="228600" lvl="0" indent="-228600" algn="l" rtl="0">
              <a:lnSpc>
                <a:spcPct val="80000"/>
              </a:lnSpc>
              <a:spcBef>
                <a:spcPts val="1000"/>
              </a:spcBef>
              <a:spcAft>
                <a:spcPts val="0"/>
              </a:spcAft>
              <a:buClr>
                <a:srgbClr val="003245"/>
              </a:buClr>
              <a:buSzPts val="2220"/>
              <a:buChar char="•"/>
            </a:pPr>
            <a:r>
              <a:rPr lang="es-ES" sz="2220">
                <a:solidFill>
                  <a:srgbClr val="003245"/>
                </a:solidFill>
                <a:latin typeface="Calibri"/>
                <a:ea typeface="Calibri"/>
                <a:cs typeface="Calibri"/>
                <a:sym typeface="Calibri"/>
              </a:rPr>
              <a:t>En </a:t>
            </a:r>
            <a:r>
              <a:rPr lang="es-ES" sz="2220" b="1">
                <a:solidFill>
                  <a:srgbClr val="003245"/>
                </a:solidFill>
                <a:latin typeface="Calibri"/>
                <a:ea typeface="Calibri"/>
                <a:cs typeface="Calibri"/>
                <a:sym typeface="Calibri"/>
              </a:rPr>
              <a:t>1992</a:t>
            </a:r>
            <a:r>
              <a:rPr lang="es-ES" sz="2220">
                <a:solidFill>
                  <a:srgbClr val="003245"/>
                </a:solidFill>
                <a:latin typeface="Calibri"/>
                <a:ea typeface="Calibri"/>
                <a:cs typeface="Calibri"/>
                <a:sym typeface="Calibri"/>
              </a:rPr>
              <a:t> el virus </a:t>
            </a:r>
            <a:r>
              <a:rPr lang="es-ES" sz="2220" b="1">
                <a:solidFill>
                  <a:srgbClr val="003245"/>
                </a:solidFill>
                <a:latin typeface="Calibri"/>
                <a:ea typeface="Calibri"/>
                <a:cs typeface="Calibri"/>
                <a:sym typeface="Calibri"/>
              </a:rPr>
              <a:t>Michelangelo</a:t>
            </a:r>
            <a:r>
              <a:rPr lang="es-ES" sz="2220">
                <a:solidFill>
                  <a:srgbClr val="003245"/>
                </a:solidFill>
                <a:latin typeface="Calibri"/>
                <a:ea typeface="Calibri"/>
                <a:cs typeface="Calibri"/>
                <a:sym typeface="Calibri"/>
              </a:rPr>
              <a:t> permanece “dormido” en los sistemas infectados, despertando y siendo dañino únicamente el 6 de Marzo, fecha del nacimiento del artista. Aunque algunos expertos predijeron que más de 5 millones de máquinas serían infectadas, solamente unos pocos miles fueron realmente afectadas.</a:t>
            </a:r>
            <a:endParaRPr sz="2220">
              <a:latin typeface="Calibri"/>
              <a:ea typeface="Calibri"/>
              <a:cs typeface="Calibri"/>
              <a:sym typeface="Calibri"/>
            </a:endParaRPr>
          </a:p>
          <a:p>
            <a:pPr marL="228600" lvl="0" indent="-64135" algn="l" rtl="0">
              <a:lnSpc>
                <a:spcPct val="80000"/>
              </a:lnSpc>
              <a:spcBef>
                <a:spcPts val="1000"/>
              </a:spcBef>
              <a:spcAft>
                <a:spcPts val="0"/>
              </a:spcAft>
              <a:buClr>
                <a:schemeClr val="dk1"/>
              </a:buClr>
              <a:buSzPts val="2590"/>
              <a:buNone/>
            </a:pPr>
            <a:endParaRPr sz="2590">
              <a:latin typeface="Calibri"/>
              <a:ea typeface="Calibri"/>
              <a:cs typeface="Calibri"/>
              <a:sym typeface="Calibri"/>
            </a:endParaRPr>
          </a:p>
        </p:txBody>
      </p:sp>
      <p:sp>
        <p:nvSpPr>
          <p:cNvPr id="481" name="Google Shape;481;p46"/>
          <p:cNvSpPr txBox="1">
            <a:spLocks noGrp="1"/>
          </p:cNvSpPr>
          <p:nvPr>
            <p:ph type="title"/>
          </p:nvPr>
        </p:nvSpPr>
        <p:spPr>
          <a:xfrm>
            <a:off x="992204" y="105244"/>
            <a:ext cx="10515600" cy="31591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2160"/>
              <a:buFont typeface="Calibri"/>
              <a:buNone/>
            </a:pPr>
            <a:r>
              <a:rPr lang="es-ES" sz="2160"/>
              <a:t>2.1 HISTORIA DE LOS VIRUS</a:t>
            </a:r>
            <a:endParaRPr/>
          </a:p>
        </p:txBody>
      </p:sp>
      <p:pic>
        <p:nvPicPr>
          <p:cNvPr id="482" name="Google Shape;482;p46" descr="Monstruo, Azul, Internet, Ataque"/>
          <p:cNvPicPr preferRelativeResize="0"/>
          <p:nvPr/>
        </p:nvPicPr>
        <p:blipFill rotWithShape="1">
          <a:blip r:embed="rId4">
            <a:alphaModFix/>
          </a:blip>
          <a:srcRect/>
          <a:stretch/>
        </p:blipFill>
        <p:spPr>
          <a:xfrm>
            <a:off x="10978414" y="1"/>
            <a:ext cx="1257701" cy="94397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47"/>
          <p:cNvSpPr txBox="1">
            <a:spLocks noGrp="1"/>
          </p:cNvSpPr>
          <p:nvPr>
            <p:ph type="title"/>
          </p:nvPr>
        </p:nvSpPr>
        <p:spPr>
          <a:xfrm>
            <a:off x="838200" y="76367"/>
            <a:ext cx="10515600" cy="3952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Calibri"/>
              <a:buNone/>
            </a:pPr>
            <a:r>
              <a:rPr lang="es-ES" sz="2000"/>
              <a:t>2.1 HISTORIA DE LOS VIRUS</a:t>
            </a:r>
            <a:endParaRPr/>
          </a:p>
        </p:txBody>
      </p:sp>
      <p:sp>
        <p:nvSpPr>
          <p:cNvPr id="488" name="Google Shape;488;p47"/>
          <p:cNvSpPr txBox="1">
            <a:spLocks noGrp="1"/>
          </p:cNvSpPr>
          <p:nvPr>
            <p:ph type="body" idx="1"/>
          </p:nvPr>
        </p:nvSpPr>
        <p:spPr>
          <a:xfrm>
            <a:off x="761197" y="682758"/>
            <a:ext cx="10515600" cy="5727667"/>
          </a:xfrm>
          <a:prstGeom prst="rect">
            <a:avLst/>
          </a:prstGeom>
          <a:solidFill>
            <a:srgbClr val="FFFFCC"/>
          </a:solid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1994</a:t>
            </a:r>
            <a:r>
              <a:rPr lang="es-ES" sz="1800">
                <a:solidFill>
                  <a:srgbClr val="003245"/>
                </a:solidFill>
                <a:latin typeface="Calibri"/>
                <a:ea typeface="Calibri"/>
                <a:cs typeface="Calibri"/>
                <a:sym typeface="Calibri"/>
              </a:rPr>
              <a:t> los medios extraíbles desencadenan la mayor parte de los problemas de seguridad del año.</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1995</a:t>
            </a:r>
            <a:r>
              <a:rPr lang="es-ES" sz="1800">
                <a:solidFill>
                  <a:srgbClr val="003245"/>
                </a:solidFill>
                <a:latin typeface="Calibri"/>
                <a:ea typeface="Calibri"/>
                <a:cs typeface="Calibri"/>
                <a:sym typeface="Calibri"/>
              </a:rPr>
              <a:t> se crea </a:t>
            </a:r>
            <a:r>
              <a:rPr lang="es-ES" sz="1800" b="1">
                <a:solidFill>
                  <a:srgbClr val="003245"/>
                </a:solidFill>
                <a:latin typeface="Calibri"/>
                <a:ea typeface="Calibri"/>
                <a:cs typeface="Calibri"/>
                <a:sym typeface="Calibri"/>
              </a:rPr>
              <a:t>Concept</a:t>
            </a:r>
            <a:r>
              <a:rPr lang="es-ES" sz="1800">
                <a:solidFill>
                  <a:srgbClr val="003245"/>
                </a:solidFill>
                <a:latin typeface="Calibri"/>
                <a:ea typeface="Calibri"/>
                <a:cs typeface="Calibri"/>
                <a:sym typeface="Calibri"/>
              </a:rPr>
              <a:t>, el primer macro virus.</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1996</a:t>
            </a:r>
            <a:r>
              <a:rPr lang="es-ES" sz="1800">
                <a:solidFill>
                  <a:srgbClr val="003245"/>
                </a:solidFill>
                <a:latin typeface="Calibri"/>
                <a:ea typeface="Calibri"/>
                <a:cs typeface="Calibri"/>
                <a:sym typeface="Calibri"/>
              </a:rPr>
              <a:t>, </a:t>
            </a:r>
            <a:r>
              <a:rPr lang="es-ES" sz="1800" b="1">
                <a:solidFill>
                  <a:srgbClr val="003245"/>
                </a:solidFill>
                <a:latin typeface="Calibri"/>
                <a:ea typeface="Calibri"/>
                <a:cs typeface="Calibri"/>
                <a:sym typeface="Calibri"/>
              </a:rPr>
              <a:t>Ply</a:t>
            </a:r>
            <a:r>
              <a:rPr lang="es-ES" sz="1800">
                <a:solidFill>
                  <a:srgbClr val="003245"/>
                </a:solidFill>
                <a:latin typeface="Calibri"/>
                <a:ea typeface="Calibri"/>
                <a:cs typeface="Calibri"/>
                <a:sym typeface="Calibri"/>
              </a:rPr>
              <a:t> el virus polimórfico aparece con capacidad de permutación. </a:t>
            </a:r>
            <a:r>
              <a:rPr lang="es-ES" sz="1800" b="1">
                <a:solidFill>
                  <a:srgbClr val="003245"/>
                </a:solidFill>
                <a:latin typeface="Calibri"/>
                <a:ea typeface="Calibri"/>
                <a:cs typeface="Calibri"/>
                <a:sym typeface="Calibri"/>
              </a:rPr>
              <a:t>Staog</a:t>
            </a:r>
            <a:r>
              <a:rPr lang="es-ES" sz="1800">
                <a:solidFill>
                  <a:srgbClr val="003245"/>
                </a:solidFill>
                <a:latin typeface="Calibri"/>
                <a:ea typeface="Calibri"/>
                <a:cs typeface="Calibri"/>
                <a:sym typeface="Calibri"/>
              </a:rPr>
              <a:t>, el primer virus para Linux ataca.</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1998</a:t>
            </a:r>
            <a:r>
              <a:rPr lang="es-ES" sz="1800">
                <a:solidFill>
                  <a:srgbClr val="003245"/>
                </a:solidFill>
                <a:latin typeface="Calibri"/>
                <a:ea typeface="Calibri"/>
                <a:cs typeface="Calibri"/>
                <a:sym typeface="Calibri"/>
              </a:rPr>
              <a:t> aparece la primera versión del virus </a:t>
            </a:r>
            <a:r>
              <a:rPr lang="es-ES" sz="1800" b="1">
                <a:solidFill>
                  <a:srgbClr val="003245"/>
                </a:solidFill>
                <a:latin typeface="Calibri"/>
                <a:ea typeface="Calibri"/>
                <a:cs typeface="Calibri"/>
                <a:sym typeface="Calibri"/>
              </a:rPr>
              <a:t>CIH</a:t>
            </a:r>
            <a:r>
              <a:rPr lang="es-ES" sz="1800">
                <a:solidFill>
                  <a:srgbClr val="003245"/>
                </a:solidFill>
                <a:latin typeface="Calibri"/>
                <a:ea typeface="Calibri"/>
                <a:cs typeface="Calibri"/>
                <a:sym typeface="Calibri"/>
              </a:rPr>
              <a:t> (también conocido como Chernobyl73). Es el primer virus conocido capaz de borrar contenido de la memoria ROM BIOS.</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el año </a:t>
            </a:r>
            <a:r>
              <a:rPr lang="es-ES" sz="1800" b="1">
                <a:solidFill>
                  <a:srgbClr val="003245"/>
                </a:solidFill>
                <a:latin typeface="Calibri"/>
                <a:ea typeface="Calibri"/>
                <a:cs typeface="Calibri"/>
                <a:sym typeface="Calibri"/>
              </a:rPr>
              <a:t>2000</a:t>
            </a:r>
            <a:r>
              <a:rPr lang="es-ES" sz="1800">
                <a:solidFill>
                  <a:srgbClr val="003245"/>
                </a:solidFill>
                <a:latin typeface="Calibri"/>
                <a:ea typeface="Calibri"/>
                <a:cs typeface="Calibri"/>
                <a:sym typeface="Calibri"/>
              </a:rPr>
              <a:t> aparece uno de los gusanos más destructivos de la historia, </a:t>
            </a:r>
            <a:r>
              <a:rPr lang="es-ES" sz="1800" b="1">
                <a:solidFill>
                  <a:srgbClr val="003245"/>
                </a:solidFill>
                <a:latin typeface="Calibri"/>
                <a:ea typeface="Calibri"/>
                <a:cs typeface="Calibri"/>
                <a:sym typeface="Calibri"/>
              </a:rPr>
              <a:t>ILOVEYOU</a:t>
            </a:r>
            <a:r>
              <a:rPr lang="es-ES" sz="1800">
                <a:solidFill>
                  <a:srgbClr val="003245"/>
                </a:solidFill>
                <a:latin typeface="Calibri"/>
                <a:ea typeface="Calibri"/>
                <a:cs typeface="Calibri"/>
                <a:sym typeface="Calibri"/>
              </a:rPr>
              <a:t>. Desde entonces ha causado al menos 10 billones de pérdidas.</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2001</a:t>
            </a:r>
            <a:r>
              <a:rPr lang="es-ES" sz="1800">
                <a:solidFill>
                  <a:srgbClr val="003245"/>
                </a:solidFill>
                <a:latin typeface="Calibri"/>
                <a:ea typeface="Calibri"/>
                <a:cs typeface="Calibri"/>
                <a:sym typeface="Calibri"/>
              </a:rPr>
              <a:t> es el turno de </a:t>
            </a:r>
            <a:r>
              <a:rPr lang="es-ES" sz="1800" b="1">
                <a:solidFill>
                  <a:srgbClr val="003245"/>
                </a:solidFill>
                <a:latin typeface="Calibri"/>
                <a:ea typeface="Calibri"/>
                <a:cs typeface="Calibri"/>
                <a:sym typeface="Calibri"/>
              </a:rPr>
              <a:t>Simile</a:t>
            </a:r>
            <a:r>
              <a:rPr lang="es-ES" sz="1800">
                <a:solidFill>
                  <a:srgbClr val="003245"/>
                </a:solidFill>
                <a:latin typeface="Calibri"/>
                <a:ea typeface="Calibri"/>
                <a:cs typeface="Calibri"/>
                <a:sym typeface="Calibri"/>
              </a:rPr>
              <a:t>, un virus metamórfico multi-sistema operativo y escrito en lenguaje ensamblador. </a:t>
            </a:r>
            <a:r>
              <a:rPr lang="es-ES" sz="1800" b="1">
                <a:solidFill>
                  <a:srgbClr val="003245"/>
                </a:solidFill>
                <a:latin typeface="Calibri"/>
                <a:ea typeface="Calibri"/>
                <a:cs typeface="Calibri"/>
                <a:sym typeface="Calibri"/>
              </a:rPr>
              <a:t>Code Red I</a:t>
            </a:r>
            <a:r>
              <a:rPr lang="es-ES" sz="1800">
                <a:solidFill>
                  <a:srgbClr val="003245"/>
                </a:solidFill>
                <a:latin typeface="Calibri"/>
                <a:ea typeface="Calibri"/>
                <a:cs typeface="Calibri"/>
                <a:sym typeface="Calibri"/>
              </a:rPr>
              <a:t> es considerado como el primer gusano de la historia: </a:t>
            </a:r>
            <a:r>
              <a:rPr lang="es-ES" sz="1800" b="1">
                <a:solidFill>
                  <a:srgbClr val="003245"/>
                </a:solidFill>
                <a:latin typeface="Calibri"/>
                <a:ea typeface="Calibri"/>
                <a:cs typeface="Calibri"/>
                <a:sym typeface="Calibri"/>
              </a:rPr>
              <a:t>buffer overflow</a:t>
            </a:r>
            <a:r>
              <a:rPr lang="es-ES" sz="1800">
                <a:solidFill>
                  <a:srgbClr val="003245"/>
                </a:solidFill>
                <a:latin typeface="Calibri"/>
                <a:ea typeface="Calibri"/>
                <a:cs typeface="Calibri"/>
                <a:sym typeface="Calibri"/>
              </a:rPr>
              <a:t> en servicios de información de Internet de Microsoft (IIS). Este gusano se propaga entre el 1 y el 20 de cada mes y ataca desde el día 21 hasta el final del mes. El ataque se realiza encontrando nuevos objetivos por medio de un escaneo aleatorio en el espacio de direcciones IP, sin embargo, el creador del virus olvidó aleatorizar la semilla del generador de número aleatorios por lo que cada copia del gusano escaneaba el mismo conjunto de direcciones. El ataque consistía en modificar los sitios web con “HELLO! Welcome to http://www.worm.com! Hacked by Chinese!”</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el año </a:t>
            </a:r>
            <a:r>
              <a:rPr lang="es-ES" sz="1800" b="1">
                <a:solidFill>
                  <a:srgbClr val="003245"/>
                </a:solidFill>
                <a:latin typeface="Calibri"/>
                <a:ea typeface="Calibri"/>
                <a:cs typeface="Calibri"/>
                <a:sym typeface="Calibri"/>
              </a:rPr>
              <a:t>2002</a:t>
            </a:r>
            <a:r>
              <a:rPr lang="es-ES" sz="1800">
                <a:solidFill>
                  <a:srgbClr val="003245"/>
                </a:solidFill>
                <a:latin typeface="Calibri"/>
                <a:ea typeface="Calibri"/>
                <a:cs typeface="Calibri"/>
                <a:sym typeface="Calibri"/>
              </a:rPr>
              <a:t>  ocurrieron 12 epidemias virales muy importantes y 34 menos serias. El gusano </a:t>
            </a:r>
            <a:r>
              <a:rPr lang="es-ES" sz="1800" b="1">
                <a:solidFill>
                  <a:srgbClr val="003245"/>
                </a:solidFill>
                <a:latin typeface="Calibri"/>
                <a:ea typeface="Calibri"/>
                <a:cs typeface="Calibri"/>
                <a:sym typeface="Calibri"/>
              </a:rPr>
              <a:t>Slapper</a:t>
            </a:r>
            <a:r>
              <a:rPr lang="es-ES" sz="1800">
                <a:solidFill>
                  <a:srgbClr val="003245"/>
                </a:solidFill>
                <a:latin typeface="Calibri"/>
                <a:ea typeface="Calibri"/>
                <a:cs typeface="Calibri"/>
                <a:sym typeface="Calibri"/>
              </a:rPr>
              <a:t> convenció a los escépticos de que los sistemas Linux también eran susceptibles de sufrir ataques.</a:t>
            </a:r>
            <a:endParaRPr sz="1800">
              <a:latin typeface="Calibri"/>
              <a:ea typeface="Calibri"/>
              <a:cs typeface="Calibri"/>
              <a:sym typeface="Calibri"/>
            </a:endParaRPr>
          </a:p>
          <a:p>
            <a:pPr marL="228600" lvl="0" indent="-114300" algn="l" rtl="0">
              <a:lnSpc>
                <a:spcPct val="90000"/>
              </a:lnSpc>
              <a:spcBef>
                <a:spcPts val="1000"/>
              </a:spcBef>
              <a:spcAft>
                <a:spcPts val="0"/>
              </a:spcAft>
              <a:buClr>
                <a:schemeClr val="dk1"/>
              </a:buClr>
              <a:buSzPts val="1800"/>
              <a:buNone/>
            </a:pPr>
            <a:endParaRPr sz="1800"/>
          </a:p>
        </p:txBody>
      </p:sp>
      <p:pic>
        <p:nvPicPr>
          <p:cNvPr id="489" name="Google Shape;489;p47" descr="Monstruo, Azul, Internet, Ataque"/>
          <p:cNvPicPr preferRelativeResize="0"/>
          <p:nvPr/>
        </p:nvPicPr>
        <p:blipFill rotWithShape="1">
          <a:blip r:embed="rId3">
            <a:alphaModFix/>
          </a:blip>
          <a:srcRect/>
          <a:stretch/>
        </p:blipFill>
        <p:spPr>
          <a:xfrm>
            <a:off x="10978414" y="1"/>
            <a:ext cx="1257701" cy="94397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8"/>
          <p:cNvSpPr txBox="1">
            <a:spLocks noGrp="1"/>
          </p:cNvSpPr>
          <p:nvPr>
            <p:ph type="title"/>
          </p:nvPr>
        </p:nvSpPr>
        <p:spPr>
          <a:xfrm>
            <a:off x="838200" y="0"/>
            <a:ext cx="10515600" cy="42414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libri"/>
              <a:buNone/>
            </a:pPr>
            <a:r>
              <a:rPr lang="es-ES" sz="2400"/>
              <a:t>2.1 HISTORIA DE LOS VIRUS</a:t>
            </a:r>
            <a:endParaRPr/>
          </a:p>
        </p:txBody>
      </p:sp>
      <p:sp>
        <p:nvSpPr>
          <p:cNvPr id="495" name="Google Shape;495;p48"/>
          <p:cNvSpPr txBox="1">
            <a:spLocks noGrp="1"/>
          </p:cNvSpPr>
          <p:nvPr>
            <p:ph type="body" idx="1"/>
          </p:nvPr>
        </p:nvSpPr>
        <p:spPr>
          <a:xfrm>
            <a:off x="318436" y="603217"/>
            <a:ext cx="11597640" cy="5961212"/>
          </a:xfrm>
          <a:prstGeom prst="rect">
            <a:avLst/>
          </a:prstGeom>
          <a:solidFill>
            <a:srgbClr val="FFFFCC"/>
          </a:solid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2003</a:t>
            </a:r>
            <a:r>
              <a:rPr lang="es-ES" sz="1800">
                <a:solidFill>
                  <a:srgbClr val="003245"/>
                </a:solidFill>
                <a:latin typeface="Calibri"/>
                <a:ea typeface="Calibri"/>
                <a:cs typeface="Calibri"/>
                <a:sym typeface="Calibri"/>
              </a:rPr>
              <a:t>, los gusanos </a:t>
            </a:r>
            <a:r>
              <a:rPr lang="es-ES" sz="1800" b="1">
                <a:solidFill>
                  <a:srgbClr val="003245"/>
                </a:solidFill>
                <a:latin typeface="Calibri"/>
                <a:ea typeface="Calibri"/>
                <a:cs typeface="Calibri"/>
                <a:sym typeface="Calibri"/>
              </a:rPr>
              <a:t>SQL Slammer, Sobig y Blaster</a:t>
            </a:r>
            <a:r>
              <a:rPr lang="es-ES" sz="1800">
                <a:solidFill>
                  <a:srgbClr val="003245"/>
                </a:solidFill>
                <a:latin typeface="Calibri"/>
                <a:ea typeface="Calibri"/>
                <a:cs typeface="Calibri"/>
                <a:sym typeface="Calibri"/>
              </a:rPr>
              <a:t> son usados en el primer intento organizado de crear botnets (redes de equipos "zombies" controlados a través de algún tipo de malware para enviar spam, para lanzar ataques de denegación de servicio, para proporcionar anonimato, etc.) a gran escala. Las dos figuras anteriores muestran la velocidad de propagación de estos gusanos el 25 de Enero de 2003. La primera figura que tienes arriba corresponde a las 05:29:00 UTC., del día 25 de Enero del 2003. La segunda figura refleja la situación 30 minutos más tarde. El impacto económico de Slammer fue de 1.25 billones de dólares. Temporalmente bloqueó elementos críticos tales como: la red del Bank of America ATM, la red telefónica de Corea del Sur, el software de tratamiento de billetes de Continental Airlines. Normalmente, los gusanos se propagan estableciendo conexiones TCP y, si tienen éxito, enviando una copia de sí mismos. Sin embargo, el secreto de la velocidad de Slammer radica en que se trata de un gusano sin conexión en el siguiente sentido: no se establece una conexión, simplemente se envía un mensaje para la generación aleatoria de direcciones IP. Los paquetes Slammer permanecieron en la red años después de 2003.</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2004</a:t>
            </a:r>
            <a:r>
              <a:rPr lang="es-ES" sz="1800">
                <a:solidFill>
                  <a:srgbClr val="003245"/>
                </a:solidFill>
                <a:latin typeface="Calibri"/>
                <a:ea typeface="Calibri"/>
                <a:cs typeface="Calibri"/>
                <a:sym typeface="Calibri"/>
              </a:rPr>
              <a:t>, aparece </a:t>
            </a:r>
            <a:r>
              <a:rPr lang="es-ES" sz="1800" b="1">
                <a:solidFill>
                  <a:srgbClr val="003245"/>
                </a:solidFill>
                <a:latin typeface="Calibri"/>
                <a:ea typeface="Calibri"/>
                <a:cs typeface="Calibri"/>
                <a:sym typeface="Calibri"/>
              </a:rPr>
              <a:t>MyDoom</a:t>
            </a:r>
            <a:r>
              <a:rPr lang="es-ES" sz="1800">
                <a:solidFill>
                  <a:srgbClr val="003245"/>
                </a:solidFill>
                <a:latin typeface="Calibri"/>
                <a:ea typeface="Calibri"/>
                <a:cs typeface="Calibri"/>
                <a:sym typeface="Calibri"/>
              </a:rPr>
              <a:t>, el gusano más rápidamente contagiado, se propagaba por </a:t>
            </a:r>
            <a:r>
              <a:rPr lang="es-ES" sz="1800" b="1">
                <a:solidFill>
                  <a:srgbClr val="003245"/>
                </a:solidFill>
                <a:latin typeface="Calibri"/>
                <a:ea typeface="Calibri"/>
                <a:cs typeface="Calibri"/>
                <a:sym typeface="Calibri"/>
              </a:rPr>
              <a:t>email</a:t>
            </a:r>
            <a:r>
              <a:rPr lang="es-ES" sz="1800">
                <a:solidFill>
                  <a:srgbClr val="003245"/>
                </a:solidFill>
                <a:latin typeface="Calibri"/>
                <a:ea typeface="Calibri"/>
                <a:cs typeface="Calibri"/>
                <a:sym typeface="Calibri"/>
              </a:rPr>
              <a:t>.</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2005</a:t>
            </a:r>
            <a:r>
              <a:rPr lang="es-ES" sz="1800">
                <a:solidFill>
                  <a:srgbClr val="003245"/>
                </a:solidFill>
                <a:latin typeface="Calibri"/>
                <a:ea typeface="Calibri"/>
                <a:cs typeface="Calibri"/>
                <a:sym typeface="Calibri"/>
              </a:rPr>
              <a:t> los gusanos </a:t>
            </a:r>
            <a:r>
              <a:rPr lang="es-ES" sz="1800" b="1">
                <a:solidFill>
                  <a:srgbClr val="003245"/>
                </a:solidFill>
                <a:latin typeface="Calibri"/>
                <a:ea typeface="Calibri"/>
                <a:cs typeface="Calibri"/>
                <a:sym typeface="Calibri"/>
              </a:rPr>
              <a:t>Zotob</a:t>
            </a:r>
            <a:r>
              <a:rPr lang="es-ES" sz="1800">
                <a:solidFill>
                  <a:srgbClr val="003245"/>
                </a:solidFill>
                <a:latin typeface="Calibri"/>
                <a:ea typeface="Calibri"/>
                <a:cs typeface="Calibri"/>
                <a:sym typeface="Calibri"/>
              </a:rPr>
              <a:t> y </a:t>
            </a:r>
            <a:r>
              <a:rPr lang="es-ES" sz="1800" b="1">
                <a:solidFill>
                  <a:srgbClr val="003245"/>
                </a:solidFill>
                <a:latin typeface="Calibri"/>
                <a:ea typeface="Calibri"/>
                <a:cs typeface="Calibri"/>
                <a:sym typeface="Calibri"/>
              </a:rPr>
              <a:t>Samy XSS</a:t>
            </a:r>
            <a:r>
              <a:rPr lang="es-ES" sz="1800">
                <a:solidFill>
                  <a:srgbClr val="003245"/>
                </a:solidFill>
                <a:latin typeface="Calibri"/>
                <a:ea typeface="Calibri"/>
                <a:cs typeface="Calibri"/>
                <a:sym typeface="Calibri"/>
              </a:rPr>
              <a:t> infectan </a:t>
            </a:r>
            <a:r>
              <a:rPr lang="es-ES" sz="1800" b="1">
                <a:solidFill>
                  <a:srgbClr val="003245"/>
                </a:solidFill>
                <a:latin typeface="Calibri"/>
                <a:ea typeface="Calibri"/>
                <a:cs typeface="Calibri"/>
                <a:sym typeface="Calibri"/>
              </a:rPr>
              <a:t>CDs de música</a:t>
            </a:r>
            <a:r>
              <a:rPr lang="es-ES" sz="1800">
                <a:solidFill>
                  <a:srgbClr val="003245"/>
                </a:solidFill>
                <a:latin typeface="Calibri"/>
                <a:ea typeface="Calibri"/>
                <a:cs typeface="Calibri"/>
                <a:sym typeface="Calibri"/>
              </a:rPr>
              <a:t> con rootkits.</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2006</a:t>
            </a:r>
            <a:r>
              <a:rPr lang="es-ES" sz="1800">
                <a:solidFill>
                  <a:srgbClr val="003245"/>
                </a:solidFill>
                <a:latin typeface="Calibri"/>
                <a:ea typeface="Calibri"/>
                <a:cs typeface="Calibri"/>
                <a:sym typeface="Calibri"/>
              </a:rPr>
              <a:t>, aparecen </a:t>
            </a:r>
            <a:r>
              <a:rPr lang="es-ES" sz="1800" b="1">
                <a:solidFill>
                  <a:srgbClr val="003245"/>
                </a:solidFill>
                <a:latin typeface="Calibri"/>
                <a:ea typeface="Calibri"/>
                <a:cs typeface="Calibri"/>
                <a:sym typeface="Calibri"/>
              </a:rPr>
              <a:t>OSX/Leap-A y OSX/Oompa-A</a:t>
            </a:r>
            <a:r>
              <a:rPr lang="es-ES" sz="1800">
                <a:solidFill>
                  <a:srgbClr val="003245"/>
                </a:solidFill>
                <a:latin typeface="Calibri"/>
                <a:ea typeface="Calibri"/>
                <a:cs typeface="Calibri"/>
                <a:sym typeface="Calibri"/>
              </a:rPr>
              <a:t>, los primeros malware para el sistema operativo </a:t>
            </a:r>
            <a:r>
              <a:rPr lang="es-ES" sz="1800" b="1">
                <a:solidFill>
                  <a:srgbClr val="003245"/>
                </a:solidFill>
                <a:latin typeface="Calibri"/>
                <a:ea typeface="Calibri"/>
                <a:cs typeface="Calibri"/>
                <a:sym typeface="Calibri"/>
              </a:rPr>
              <a:t>Mac OS X</a:t>
            </a:r>
            <a:r>
              <a:rPr lang="es-ES" sz="1800">
                <a:solidFill>
                  <a:srgbClr val="003245"/>
                </a:solidFill>
                <a:latin typeface="Calibri"/>
                <a:ea typeface="Calibri"/>
                <a:cs typeface="Calibri"/>
                <a:sym typeface="Calibri"/>
              </a:rPr>
              <a:t>.</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el año </a:t>
            </a:r>
            <a:r>
              <a:rPr lang="es-ES" sz="1800" b="1">
                <a:solidFill>
                  <a:srgbClr val="003245"/>
                </a:solidFill>
                <a:latin typeface="Calibri"/>
                <a:ea typeface="Calibri"/>
                <a:cs typeface="Calibri"/>
                <a:sym typeface="Calibri"/>
              </a:rPr>
              <a:t>2007</a:t>
            </a:r>
            <a:r>
              <a:rPr lang="es-ES" sz="1800">
                <a:solidFill>
                  <a:srgbClr val="003245"/>
                </a:solidFill>
                <a:latin typeface="Calibri"/>
                <a:ea typeface="Calibri"/>
                <a:cs typeface="Calibri"/>
                <a:sym typeface="Calibri"/>
              </a:rPr>
              <a:t> el gusano </a:t>
            </a:r>
            <a:r>
              <a:rPr lang="es-ES" sz="1800" b="1">
                <a:solidFill>
                  <a:srgbClr val="003245"/>
                </a:solidFill>
                <a:latin typeface="Calibri"/>
                <a:ea typeface="Calibri"/>
                <a:cs typeface="Calibri"/>
                <a:sym typeface="Calibri"/>
              </a:rPr>
              <a:t>Storm</a:t>
            </a:r>
            <a:r>
              <a:rPr lang="es-ES" sz="1800">
                <a:solidFill>
                  <a:srgbClr val="003245"/>
                </a:solidFill>
                <a:latin typeface="Calibri"/>
                <a:ea typeface="Calibri"/>
                <a:cs typeface="Calibri"/>
                <a:sym typeface="Calibri"/>
              </a:rPr>
              <a:t> creó uno de los </a:t>
            </a:r>
            <a:r>
              <a:rPr lang="es-ES" sz="1800" b="1">
                <a:solidFill>
                  <a:srgbClr val="003245"/>
                </a:solidFill>
                <a:latin typeface="Calibri"/>
                <a:ea typeface="Calibri"/>
                <a:cs typeface="Calibri"/>
                <a:sym typeface="Calibri"/>
              </a:rPr>
              <a:t>primeros botnets</a:t>
            </a:r>
            <a:r>
              <a:rPr lang="es-ES" sz="1800">
                <a:solidFill>
                  <a:srgbClr val="003245"/>
                </a:solidFill>
                <a:latin typeface="Calibri"/>
                <a:ea typeface="Calibri"/>
                <a:cs typeface="Calibri"/>
                <a:sym typeface="Calibri"/>
              </a:rPr>
              <a:t> de la historia actual, también propagado por email. Una vez que se abre, instala un troyano (wincom32) como un rootkit, uniendo a la víctima con el botnet. Se infectaron entre 1 y 5 millones de computadores. Hay que tener en cuenta que 2007 fue un punto de inflexión, sólo en este año se creó el mismo número de nuevas familias de malware que en los 20 años anteriores.</a:t>
            </a:r>
            <a:endParaRPr sz="1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1800"/>
              <a:buChar char="•"/>
            </a:pPr>
            <a:r>
              <a:rPr lang="es-ES" sz="1800">
                <a:solidFill>
                  <a:srgbClr val="003245"/>
                </a:solidFill>
                <a:latin typeface="Calibri"/>
                <a:ea typeface="Calibri"/>
                <a:cs typeface="Calibri"/>
                <a:sym typeface="Calibri"/>
              </a:rPr>
              <a:t>En </a:t>
            </a:r>
            <a:r>
              <a:rPr lang="es-ES" sz="1800" b="1">
                <a:solidFill>
                  <a:srgbClr val="003245"/>
                </a:solidFill>
                <a:latin typeface="Calibri"/>
                <a:ea typeface="Calibri"/>
                <a:cs typeface="Calibri"/>
                <a:sym typeface="Calibri"/>
              </a:rPr>
              <a:t>2008 Koobface</a:t>
            </a:r>
            <a:r>
              <a:rPr lang="es-ES" sz="1800">
                <a:solidFill>
                  <a:srgbClr val="003245"/>
                </a:solidFill>
                <a:latin typeface="Calibri"/>
                <a:ea typeface="Calibri"/>
                <a:cs typeface="Calibri"/>
                <a:sym typeface="Calibri"/>
              </a:rPr>
              <a:t> ataca </a:t>
            </a:r>
            <a:r>
              <a:rPr lang="es-ES" sz="1800" b="1">
                <a:solidFill>
                  <a:srgbClr val="003245"/>
                </a:solidFill>
                <a:latin typeface="Calibri"/>
                <a:ea typeface="Calibri"/>
                <a:cs typeface="Calibri"/>
                <a:sym typeface="Calibri"/>
              </a:rPr>
              <a:t>Facebook y Twitter</a:t>
            </a:r>
            <a:r>
              <a:rPr lang="es-ES" sz="1800">
                <a:solidFill>
                  <a:srgbClr val="003245"/>
                </a:solidFill>
                <a:latin typeface="Calibri"/>
                <a:ea typeface="Calibri"/>
                <a:cs typeface="Calibri"/>
                <a:sym typeface="Calibri"/>
              </a:rPr>
              <a:t>. En el mismo año aparece un troyano de puerta de atrás </a:t>
            </a:r>
            <a:r>
              <a:rPr lang="es-ES" sz="1800" b="1">
                <a:solidFill>
                  <a:srgbClr val="003245"/>
                </a:solidFill>
                <a:latin typeface="Calibri"/>
                <a:ea typeface="Calibri"/>
                <a:cs typeface="Calibri"/>
                <a:sym typeface="Calibri"/>
              </a:rPr>
              <a:t>Rustock</a:t>
            </a:r>
            <a:r>
              <a:rPr lang="es-ES" sz="1800">
                <a:solidFill>
                  <a:srgbClr val="003245"/>
                </a:solidFill>
                <a:latin typeface="Calibri"/>
                <a:ea typeface="Calibri"/>
                <a:cs typeface="Calibri"/>
                <a:sym typeface="Calibri"/>
              </a:rPr>
              <a:t> con capacidades de rootkit. En este año las soluciones Rogue AV se hacen muy populares.</a:t>
            </a:r>
            <a:endParaRPr sz="1800">
              <a:latin typeface="Calibri"/>
              <a:ea typeface="Calibri"/>
              <a:cs typeface="Calibri"/>
              <a:sym typeface="Calibri"/>
            </a:endParaRPr>
          </a:p>
          <a:p>
            <a:pPr marL="0" lvl="0" indent="0" algn="l" rtl="0">
              <a:lnSpc>
                <a:spcPct val="90000"/>
              </a:lnSpc>
              <a:spcBef>
                <a:spcPts val="1000"/>
              </a:spcBef>
              <a:spcAft>
                <a:spcPts val="0"/>
              </a:spcAft>
              <a:buClr>
                <a:schemeClr val="dk1"/>
              </a:buClr>
              <a:buSzPts val="3200"/>
              <a:buNone/>
            </a:pPr>
            <a:endParaRPr sz="3200"/>
          </a:p>
        </p:txBody>
      </p:sp>
      <p:pic>
        <p:nvPicPr>
          <p:cNvPr id="496" name="Google Shape;496;p48" descr="Monstruo, Azul, Internet, Ataque"/>
          <p:cNvPicPr preferRelativeResize="0"/>
          <p:nvPr/>
        </p:nvPicPr>
        <p:blipFill rotWithShape="1">
          <a:blip r:embed="rId3">
            <a:alphaModFix/>
          </a:blip>
          <a:srcRect/>
          <a:stretch/>
        </p:blipFill>
        <p:spPr>
          <a:xfrm>
            <a:off x="11353800" y="18049"/>
            <a:ext cx="844618" cy="63393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49"/>
          <p:cNvSpPr txBox="1">
            <a:spLocks noGrp="1"/>
          </p:cNvSpPr>
          <p:nvPr>
            <p:ph type="body" idx="1"/>
          </p:nvPr>
        </p:nvSpPr>
        <p:spPr>
          <a:xfrm>
            <a:off x="202131" y="510139"/>
            <a:ext cx="11829448" cy="6347861"/>
          </a:xfrm>
          <a:prstGeom prst="rect">
            <a:avLst/>
          </a:prstGeom>
          <a:solidFill>
            <a:srgbClr val="FFFFCC"/>
          </a:solidFill>
          <a:ln>
            <a:noFill/>
          </a:ln>
        </p:spPr>
        <p:txBody>
          <a:bodyPr spcFirstLastPara="1" wrap="square" lIns="91425" tIns="45700" rIns="91425" bIns="45700" anchor="t" anchorCtr="0">
            <a:normAutofit/>
          </a:bodyPr>
          <a:lstStyle/>
          <a:p>
            <a:pPr marL="228600" lvl="0" indent="-228600" algn="l" rtl="0">
              <a:lnSpc>
                <a:spcPct val="70000"/>
              </a:lnSpc>
              <a:spcBef>
                <a:spcPts val="0"/>
              </a:spcBef>
              <a:spcAft>
                <a:spcPts val="0"/>
              </a:spcAft>
              <a:buClr>
                <a:srgbClr val="003245"/>
              </a:buClr>
              <a:buSzPts val="1960"/>
              <a:buChar char="•"/>
            </a:pPr>
            <a:r>
              <a:rPr lang="es-ES" sz="1960">
                <a:solidFill>
                  <a:srgbClr val="003245"/>
                </a:solidFill>
                <a:latin typeface="Calibri"/>
                <a:ea typeface="Calibri"/>
                <a:cs typeface="Calibri"/>
                <a:sym typeface="Calibri"/>
              </a:rPr>
              <a:t>En </a:t>
            </a:r>
            <a:r>
              <a:rPr lang="es-ES" sz="1960" b="1">
                <a:solidFill>
                  <a:srgbClr val="003245"/>
                </a:solidFill>
                <a:latin typeface="Calibri"/>
                <a:ea typeface="Calibri"/>
                <a:cs typeface="Calibri"/>
                <a:sym typeface="Calibri"/>
              </a:rPr>
              <a:t>2009</a:t>
            </a:r>
            <a:r>
              <a:rPr lang="es-ES" sz="1960">
                <a:solidFill>
                  <a:srgbClr val="003245"/>
                </a:solidFill>
                <a:latin typeface="Calibri"/>
                <a:ea typeface="Calibri"/>
                <a:cs typeface="Calibri"/>
                <a:sym typeface="Calibri"/>
              </a:rPr>
              <a:t> millones de sistemas XP son infectados por </a:t>
            </a:r>
            <a:r>
              <a:rPr lang="es-ES" sz="1960" b="1">
                <a:solidFill>
                  <a:srgbClr val="003245"/>
                </a:solidFill>
                <a:latin typeface="Calibri"/>
                <a:ea typeface="Calibri"/>
                <a:cs typeface="Calibri"/>
                <a:sym typeface="Calibri"/>
              </a:rPr>
              <a:t>Downadup</a:t>
            </a:r>
            <a:r>
              <a:rPr lang="es-ES" sz="1960">
                <a:solidFill>
                  <a:srgbClr val="003245"/>
                </a:solidFill>
                <a:latin typeface="Calibri"/>
                <a:ea typeface="Calibri"/>
                <a:cs typeface="Calibri"/>
                <a:sym typeface="Calibri"/>
              </a:rPr>
              <a:t> (también conocido como Kido o Conficker). </a:t>
            </a:r>
            <a:r>
              <a:rPr lang="es-ES" sz="1960" b="1">
                <a:solidFill>
                  <a:srgbClr val="003245"/>
                </a:solidFill>
                <a:latin typeface="Calibri"/>
                <a:ea typeface="Calibri"/>
                <a:cs typeface="Calibri"/>
                <a:sym typeface="Calibri"/>
              </a:rPr>
              <a:t>Conficker</a:t>
            </a:r>
            <a:r>
              <a:rPr lang="es-ES" sz="1960">
                <a:solidFill>
                  <a:srgbClr val="003245"/>
                </a:solidFill>
                <a:latin typeface="Calibri"/>
                <a:ea typeface="Calibri"/>
                <a:cs typeface="Calibri"/>
                <a:sym typeface="Calibri"/>
              </a:rPr>
              <a:t> es considerado como una plataforma masiva para la distribución arbitraria de ficheros binarios a través de un mecanismo dinámico de command-and-control (C2) difícil de bloquear. Explota una vulnerabilidad de buffer overflow en los servidores Windows. Entre 4 y 15 millones de infecciones, entre ellos los sistemas de buques de guerra y submarinos de la Royal Navy o el hospital de Sheffield. Uno de los principales vectores de propagación de Conficker son los USB, copiándose a sí mismo como autorun.inf. El usuario ejecuta el gusano cada vez que el dispositivo USB se inserta dentro del sistema. Conficker ha tenido varias versiones, llegando en Abril de 2009 a la versión Conficker.E.</a:t>
            </a:r>
            <a:endParaRPr sz="1960">
              <a:latin typeface="Calibri"/>
              <a:ea typeface="Calibri"/>
              <a:cs typeface="Calibri"/>
              <a:sym typeface="Calibri"/>
            </a:endParaRPr>
          </a:p>
          <a:p>
            <a:pPr marL="228600" lvl="0" indent="-228600" algn="l" rtl="0">
              <a:lnSpc>
                <a:spcPct val="70000"/>
              </a:lnSpc>
              <a:spcBef>
                <a:spcPts val="1000"/>
              </a:spcBef>
              <a:spcAft>
                <a:spcPts val="0"/>
              </a:spcAft>
              <a:buClr>
                <a:srgbClr val="003245"/>
              </a:buClr>
              <a:buSzPts val="1960"/>
              <a:buChar char="•"/>
            </a:pPr>
            <a:r>
              <a:rPr lang="es-ES" sz="1960">
                <a:solidFill>
                  <a:srgbClr val="003245"/>
                </a:solidFill>
                <a:latin typeface="Calibri"/>
                <a:ea typeface="Calibri"/>
                <a:cs typeface="Calibri"/>
                <a:sym typeface="Calibri"/>
              </a:rPr>
              <a:t>En </a:t>
            </a:r>
            <a:r>
              <a:rPr lang="es-ES" sz="1960" b="1">
                <a:solidFill>
                  <a:srgbClr val="003245"/>
                </a:solidFill>
                <a:latin typeface="Calibri"/>
                <a:ea typeface="Calibri"/>
                <a:cs typeface="Calibri"/>
                <a:sym typeface="Calibri"/>
              </a:rPr>
              <a:t>2010</a:t>
            </a:r>
            <a:r>
              <a:rPr lang="es-ES" sz="1960">
                <a:solidFill>
                  <a:srgbClr val="003245"/>
                </a:solidFill>
                <a:latin typeface="Calibri"/>
                <a:ea typeface="Calibri"/>
                <a:cs typeface="Calibri"/>
                <a:sym typeface="Calibri"/>
              </a:rPr>
              <a:t> llega </a:t>
            </a:r>
            <a:r>
              <a:rPr lang="es-ES" sz="1960" b="1">
                <a:solidFill>
                  <a:srgbClr val="003245"/>
                </a:solidFill>
                <a:latin typeface="Calibri"/>
                <a:ea typeface="Calibri"/>
                <a:cs typeface="Calibri"/>
                <a:sym typeface="Calibri"/>
              </a:rPr>
              <a:t>SMS.AndroidOS.FakePlayer</a:t>
            </a:r>
            <a:r>
              <a:rPr lang="es-ES" sz="1960">
                <a:solidFill>
                  <a:srgbClr val="003245"/>
                </a:solidFill>
                <a:latin typeface="Calibri"/>
                <a:ea typeface="Calibri"/>
                <a:cs typeface="Calibri"/>
                <a:sym typeface="Calibri"/>
              </a:rPr>
              <a:t>, el primer malware para </a:t>
            </a:r>
            <a:r>
              <a:rPr lang="es-ES" sz="1960" b="1">
                <a:solidFill>
                  <a:srgbClr val="003245"/>
                </a:solidFill>
                <a:latin typeface="Calibri"/>
                <a:ea typeface="Calibri"/>
                <a:cs typeface="Calibri"/>
                <a:sym typeface="Calibri"/>
              </a:rPr>
              <a:t>Android</a:t>
            </a:r>
            <a:r>
              <a:rPr lang="es-ES" sz="1960">
                <a:solidFill>
                  <a:srgbClr val="003245"/>
                </a:solidFill>
                <a:latin typeface="Calibri"/>
                <a:ea typeface="Calibri"/>
                <a:cs typeface="Calibri"/>
                <a:sym typeface="Calibri"/>
              </a:rPr>
              <a:t>.  Los troyanos bancarios se hacen muy populares. Aparece </a:t>
            </a:r>
            <a:r>
              <a:rPr lang="es-ES" sz="1960" b="1">
                <a:solidFill>
                  <a:srgbClr val="003245"/>
                </a:solidFill>
                <a:latin typeface="Calibri"/>
                <a:ea typeface="Calibri"/>
                <a:cs typeface="Calibri"/>
                <a:sym typeface="Calibri"/>
              </a:rPr>
              <a:t>Stuxnet</a:t>
            </a:r>
            <a:r>
              <a:rPr lang="es-ES" sz="1960">
                <a:solidFill>
                  <a:srgbClr val="003245"/>
                </a:solidFill>
                <a:latin typeface="Calibri"/>
                <a:ea typeface="Calibri"/>
                <a:cs typeface="Calibri"/>
                <a:sym typeface="Calibri"/>
              </a:rPr>
              <a:t>, acusado de haberse dirigido contra las instalaciones nucleares iraníes. Es ampliamente considerado como la forma más avanzada de malware jamás creado: "un prototipo funcional y aterrador de un arma cibernética que conducirá a la creación de una nueva carrera armamentística mundial", según la compañía de seguridad digital Kaspersky Lab.</a:t>
            </a:r>
            <a:endParaRPr sz="1960">
              <a:latin typeface="Calibri"/>
              <a:ea typeface="Calibri"/>
              <a:cs typeface="Calibri"/>
              <a:sym typeface="Calibri"/>
            </a:endParaRPr>
          </a:p>
          <a:p>
            <a:pPr marL="228600" lvl="0" indent="-228600" algn="l" rtl="0">
              <a:lnSpc>
                <a:spcPct val="70000"/>
              </a:lnSpc>
              <a:spcBef>
                <a:spcPts val="1000"/>
              </a:spcBef>
              <a:spcAft>
                <a:spcPts val="0"/>
              </a:spcAft>
              <a:buClr>
                <a:srgbClr val="003245"/>
              </a:buClr>
              <a:buSzPts val="1960"/>
              <a:buChar char="•"/>
            </a:pPr>
            <a:r>
              <a:rPr lang="es-ES" sz="1960">
                <a:solidFill>
                  <a:srgbClr val="003245"/>
                </a:solidFill>
                <a:latin typeface="Calibri"/>
                <a:ea typeface="Calibri"/>
                <a:cs typeface="Calibri"/>
                <a:sym typeface="Calibri"/>
              </a:rPr>
              <a:t>En </a:t>
            </a:r>
            <a:r>
              <a:rPr lang="es-ES" sz="1960" b="1">
                <a:solidFill>
                  <a:srgbClr val="003245"/>
                </a:solidFill>
                <a:latin typeface="Calibri"/>
                <a:ea typeface="Calibri"/>
                <a:cs typeface="Calibri"/>
                <a:sym typeface="Calibri"/>
              </a:rPr>
              <a:t>2011 Android.NickiBot</a:t>
            </a:r>
            <a:r>
              <a:rPr lang="es-ES" sz="1960">
                <a:solidFill>
                  <a:srgbClr val="003245"/>
                </a:solidFill>
                <a:latin typeface="Calibri"/>
                <a:ea typeface="Calibri"/>
                <a:cs typeface="Calibri"/>
                <a:sym typeface="Calibri"/>
              </a:rPr>
              <a:t> lleva la actividad botnet a los </a:t>
            </a:r>
            <a:r>
              <a:rPr lang="es-ES" sz="1960" b="1">
                <a:solidFill>
                  <a:srgbClr val="003245"/>
                </a:solidFill>
                <a:latin typeface="Calibri"/>
                <a:ea typeface="Calibri"/>
                <a:cs typeface="Calibri"/>
                <a:sym typeface="Calibri"/>
              </a:rPr>
              <a:t>dispositivos móviles</a:t>
            </a:r>
            <a:r>
              <a:rPr lang="es-ES" sz="1960">
                <a:solidFill>
                  <a:srgbClr val="003245"/>
                </a:solidFill>
                <a:latin typeface="Calibri"/>
                <a:ea typeface="Calibri"/>
                <a:cs typeface="Calibri"/>
                <a:sym typeface="Calibri"/>
              </a:rPr>
              <a:t>. Es el año de la explosión definitiva del malware para móviles.</a:t>
            </a:r>
            <a:endParaRPr sz="1960">
              <a:latin typeface="Calibri"/>
              <a:ea typeface="Calibri"/>
              <a:cs typeface="Calibri"/>
              <a:sym typeface="Calibri"/>
            </a:endParaRPr>
          </a:p>
          <a:p>
            <a:pPr marL="228600" lvl="0" indent="-228600" algn="l" rtl="0">
              <a:lnSpc>
                <a:spcPct val="70000"/>
              </a:lnSpc>
              <a:spcBef>
                <a:spcPts val="1000"/>
              </a:spcBef>
              <a:spcAft>
                <a:spcPts val="0"/>
              </a:spcAft>
              <a:buClr>
                <a:srgbClr val="003245"/>
              </a:buClr>
              <a:buSzPts val="1960"/>
              <a:buChar char="•"/>
            </a:pPr>
            <a:r>
              <a:rPr lang="es-ES" sz="1960">
                <a:solidFill>
                  <a:srgbClr val="003245"/>
                </a:solidFill>
                <a:latin typeface="Calibri"/>
                <a:ea typeface="Calibri"/>
                <a:cs typeface="Calibri"/>
                <a:sym typeface="Calibri"/>
              </a:rPr>
              <a:t>En </a:t>
            </a:r>
            <a:r>
              <a:rPr lang="es-ES" sz="1960" b="1">
                <a:solidFill>
                  <a:srgbClr val="003245"/>
                </a:solidFill>
                <a:latin typeface="Calibri"/>
                <a:ea typeface="Calibri"/>
                <a:cs typeface="Calibri"/>
                <a:sym typeface="Calibri"/>
              </a:rPr>
              <a:t>2013</a:t>
            </a:r>
            <a:r>
              <a:rPr lang="es-ES" sz="1960">
                <a:solidFill>
                  <a:srgbClr val="003245"/>
                </a:solidFill>
                <a:latin typeface="Calibri"/>
                <a:ea typeface="Calibri"/>
                <a:cs typeface="Calibri"/>
                <a:sym typeface="Calibri"/>
              </a:rPr>
              <a:t>, el botnet </a:t>
            </a:r>
            <a:r>
              <a:rPr lang="es-ES" sz="1960" b="1">
                <a:solidFill>
                  <a:srgbClr val="003245"/>
                </a:solidFill>
                <a:latin typeface="Calibri"/>
                <a:ea typeface="Calibri"/>
                <a:cs typeface="Calibri"/>
                <a:sym typeface="Calibri"/>
              </a:rPr>
              <a:t>ZeroAccess</a:t>
            </a:r>
            <a:r>
              <a:rPr lang="es-ES" sz="1960">
                <a:solidFill>
                  <a:srgbClr val="003245"/>
                </a:solidFill>
                <a:latin typeface="Calibri"/>
                <a:ea typeface="Calibri"/>
                <a:cs typeface="Calibri"/>
                <a:sym typeface="Calibri"/>
              </a:rPr>
              <a:t> infectó a 1.9 millones de máquinas y se empleó para tareas de bitcoin mining. Y comienzan las campañas masivas de ransomware que todavía estamos sufriendo en la actualidad.</a:t>
            </a:r>
            <a:endParaRPr sz="1960">
              <a:latin typeface="Calibri"/>
              <a:ea typeface="Calibri"/>
              <a:cs typeface="Calibri"/>
              <a:sym typeface="Calibri"/>
            </a:endParaRPr>
          </a:p>
          <a:p>
            <a:pPr marL="228600" lvl="0" indent="-228600" algn="l" rtl="0">
              <a:lnSpc>
                <a:spcPct val="70000"/>
              </a:lnSpc>
              <a:spcBef>
                <a:spcPts val="1000"/>
              </a:spcBef>
              <a:spcAft>
                <a:spcPts val="0"/>
              </a:spcAft>
              <a:buClr>
                <a:srgbClr val="003245"/>
              </a:buClr>
              <a:buSzPts val="1960"/>
              <a:buChar char="•"/>
            </a:pPr>
            <a:r>
              <a:rPr lang="es-ES" sz="1960">
                <a:solidFill>
                  <a:srgbClr val="003245"/>
                </a:solidFill>
                <a:latin typeface="Calibri"/>
                <a:ea typeface="Calibri"/>
                <a:cs typeface="Calibri"/>
                <a:sym typeface="Calibri"/>
              </a:rPr>
              <a:t>En </a:t>
            </a:r>
            <a:r>
              <a:rPr lang="es-ES" sz="1960" b="1">
                <a:solidFill>
                  <a:srgbClr val="003245"/>
                </a:solidFill>
                <a:latin typeface="Calibri"/>
                <a:ea typeface="Calibri"/>
                <a:cs typeface="Calibri"/>
                <a:sym typeface="Calibri"/>
              </a:rPr>
              <a:t>2014</a:t>
            </a:r>
            <a:r>
              <a:rPr lang="es-ES" sz="1960">
                <a:solidFill>
                  <a:srgbClr val="003245"/>
                </a:solidFill>
                <a:latin typeface="Calibri"/>
                <a:ea typeface="Calibri"/>
                <a:cs typeface="Calibri"/>
                <a:sym typeface="Calibri"/>
              </a:rPr>
              <a:t>, Edward Snowden nos mostró que ningún método de encriptado es suficiente para protegernos de los todopoderosos “ojos” del gobierno de los Estados Unidos, que en muchos casos utiliza el malware como herramienta de espionaje masivo o dirigido.</a:t>
            </a:r>
            <a:endParaRPr sz="1960">
              <a:latin typeface="Calibri"/>
              <a:ea typeface="Calibri"/>
              <a:cs typeface="Calibri"/>
              <a:sym typeface="Calibri"/>
            </a:endParaRPr>
          </a:p>
          <a:p>
            <a:pPr marL="228600" lvl="0" indent="-228600" algn="l" rtl="0">
              <a:lnSpc>
                <a:spcPct val="70000"/>
              </a:lnSpc>
              <a:spcBef>
                <a:spcPts val="1000"/>
              </a:spcBef>
              <a:spcAft>
                <a:spcPts val="0"/>
              </a:spcAft>
              <a:buClr>
                <a:srgbClr val="003245"/>
              </a:buClr>
              <a:buSzPts val="1960"/>
              <a:buChar char="•"/>
            </a:pPr>
            <a:r>
              <a:rPr lang="es-ES" sz="1960">
                <a:solidFill>
                  <a:srgbClr val="003245"/>
                </a:solidFill>
                <a:latin typeface="Calibri"/>
                <a:ea typeface="Calibri"/>
                <a:cs typeface="Calibri"/>
                <a:sym typeface="Calibri"/>
              </a:rPr>
              <a:t>Desde entonces hemos visto el uso de troyanos relacionados con pornografía en Facebook, el caso del malware utilizado por los partidarios del presidente sirio durante la guerra en ese país, el auge del malware para dispositivos móviles y que afecta a los sistemas operativos de Apple, la aparición del malware sin malware o sin fichero que se sirve de herramientas de gestión o administración pre-existentes en el sistema y que no levantan sospechas, etc.</a:t>
            </a:r>
            <a:endParaRPr sz="1960">
              <a:latin typeface="Calibri"/>
              <a:ea typeface="Calibri"/>
              <a:cs typeface="Calibri"/>
              <a:sym typeface="Calibri"/>
            </a:endParaRPr>
          </a:p>
          <a:p>
            <a:pPr marL="228600" lvl="0" indent="-104140" algn="l" rtl="0">
              <a:lnSpc>
                <a:spcPct val="70000"/>
              </a:lnSpc>
              <a:spcBef>
                <a:spcPts val="2200"/>
              </a:spcBef>
              <a:spcAft>
                <a:spcPts val="0"/>
              </a:spcAft>
              <a:buClr>
                <a:schemeClr val="dk1"/>
              </a:buClr>
              <a:buSzPts val="1960"/>
              <a:buNone/>
            </a:pPr>
            <a:endParaRPr sz="1960"/>
          </a:p>
        </p:txBody>
      </p:sp>
      <p:sp>
        <p:nvSpPr>
          <p:cNvPr id="502" name="Google Shape;502;p49"/>
          <p:cNvSpPr txBox="1">
            <a:spLocks noGrp="1"/>
          </p:cNvSpPr>
          <p:nvPr>
            <p:ph type="title"/>
          </p:nvPr>
        </p:nvSpPr>
        <p:spPr>
          <a:xfrm>
            <a:off x="992204" y="105244"/>
            <a:ext cx="10515600" cy="31591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2160"/>
              <a:buFont typeface="Calibri"/>
              <a:buNone/>
            </a:pPr>
            <a:r>
              <a:rPr lang="es-ES" sz="2160"/>
              <a:t>2.1 HISTORIA DE LOS VIRUS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BOTNETS-sistema de control hacker</a:t>
            </a:r>
            <a:endParaRPr/>
          </a:p>
        </p:txBody>
      </p:sp>
      <p:sp>
        <p:nvSpPr>
          <p:cNvPr id="508" name="Google Shape;508;p5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4D5156"/>
              </a:buClr>
              <a:buSzPts val="2800"/>
              <a:buChar char="•"/>
            </a:pPr>
            <a:r>
              <a:rPr lang="es-ES" b="0" i="0">
                <a:solidFill>
                  <a:srgbClr val="4D5156"/>
                </a:solidFill>
                <a:latin typeface="arial"/>
                <a:ea typeface="arial"/>
                <a:cs typeface="arial"/>
                <a:sym typeface="arial"/>
              </a:rPr>
              <a:t>Botnet es un término que hace referencia a un conjunto o red de robots informáticos o bots, que se ejecutan de manera autónoma y automática.​ El artífice de la botnet puede controlar todos los ordenadores/servidores infectados de forma remota.</a:t>
            </a:r>
            <a:endParaRPr/>
          </a:p>
        </p:txBody>
      </p:sp>
      <p:pic>
        <p:nvPicPr>
          <p:cNvPr id="509" name="Google Shape;509;p50" descr="El Gobierno de España no tiene un plan contra el apocalipsis zombi porque  es &quot;de dudosa probabilidad que se produzca&quot;"/>
          <p:cNvPicPr preferRelativeResize="0"/>
          <p:nvPr/>
        </p:nvPicPr>
        <p:blipFill rotWithShape="1">
          <a:blip r:embed="rId3">
            <a:alphaModFix/>
          </a:blip>
          <a:srcRect/>
          <a:stretch/>
        </p:blipFill>
        <p:spPr>
          <a:xfrm>
            <a:off x="4321743" y="3575951"/>
            <a:ext cx="4383356" cy="291692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pic>
        <p:nvPicPr>
          <p:cNvPr id="514" name="Google Shape;514;p51" descr="Ciberseguridad en las empresas | Quality Devs"/>
          <p:cNvPicPr preferRelativeResize="0"/>
          <p:nvPr/>
        </p:nvPicPr>
        <p:blipFill rotWithShape="1">
          <a:blip r:embed="rId3">
            <a:alphaModFix/>
          </a:blip>
          <a:srcRect/>
          <a:stretch/>
        </p:blipFill>
        <p:spPr>
          <a:xfrm>
            <a:off x="0" y="0"/>
            <a:ext cx="12246429" cy="6858000"/>
          </a:xfrm>
          <a:prstGeom prst="rect">
            <a:avLst/>
          </a:prstGeom>
          <a:noFill/>
          <a:ln>
            <a:noFill/>
          </a:ln>
        </p:spPr>
      </p:pic>
      <p:sp>
        <p:nvSpPr>
          <p:cNvPr id="515" name="Google Shape;515;p51"/>
          <p:cNvSpPr txBox="1">
            <a:spLocks noGrp="1"/>
          </p:cNvSpPr>
          <p:nvPr>
            <p:ph type="title"/>
          </p:nvPr>
        </p:nvSpPr>
        <p:spPr>
          <a:xfrm>
            <a:off x="941832" y="-18256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alibri"/>
              <a:buNone/>
            </a:pPr>
            <a:r>
              <a:rPr lang="es-ES" sz="4800" b="1">
                <a:solidFill>
                  <a:schemeClr val="lt1"/>
                </a:solidFill>
              </a:rPr>
              <a:t>Tema 3: introducción a las redes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pic>
        <p:nvPicPr>
          <p:cNvPr id="520" name="Google Shape;520;p52" descr="ReDeS: DIFERENCIA ENTRE DIRECCION IP Y MAC ADDRESS"/>
          <p:cNvPicPr preferRelativeResize="0">
            <a:picLocks noGrp="1"/>
          </p:cNvPicPr>
          <p:nvPr>
            <p:ph type="body" idx="1"/>
          </p:nvPr>
        </p:nvPicPr>
        <p:blipFill rotWithShape="1">
          <a:blip r:embed="rId3">
            <a:alphaModFix/>
          </a:blip>
          <a:srcRect/>
          <a:stretch/>
        </p:blipFill>
        <p:spPr>
          <a:xfrm>
            <a:off x="2185416" y="1146419"/>
            <a:ext cx="7196328" cy="5253594"/>
          </a:xfrm>
          <a:prstGeom prst="rect">
            <a:avLst/>
          </a:prstGeom>
          <a:noFill/>
          <a:ln>
            <a:noFill/>
          </a:ln>
        </p:spPr>
      </p:pic>
      <p:sp>
        <p:nvSpPr>
          <p:cNvPr id="521" name="Google Shape;521;p52"/>
          <p:cNvSpPr txBox="1"/>
          <p:nvPr/>
        </p:nvSpPr>
        <p:spPr>
          <a:xfrm>
            <a:off x="472440" y="273321"/>
            <a:ext cx="6097604" cy="369332"/>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s-ES" sz="1800" b="0" i="0" u="none" strike="noStrike" cap="none">
                <a:solidFill>
                  <a:schemeClr val="dk1"/>
                </a:solidFill>
                <a:latin typeface="Calibri"/>
                <a:ea typeface="Calibri"/>
                <a:cs typeface="Calibri"/>
                <a:sym typeface="Calibri"/>
              </a:rPr>
              <a:t>3.1 Aspectos básicos.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53"/>
          <p:cNvSpPr txBox="1">
            <a:spLocks noGrp="1"/>
          </p:cNvSpPr>
          <p:nvPr>
            <p:ph type="title"/>
          </p:nvPr>
        </p:nvSpPr>
        <p:spPr>
          <a:xfrm>
            <a:off x="684196" y="105243"/>
            <a:ext cx="10515600" cy="36639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2160"/>
              <a:buFont typeface="Calibri"/>
              <a:buNone/>
            </a:pPr>
            <a:r>
              <a:rPr lang="es-ES" sz="2160"/>
              <a:t>VOCABULARIO DE REDES</a:t>
            </a:r>
            <a:endParaRPr/>
          </a:p>
        </p:txBody>
      </p:sp>
      <p:sp>
        <p:nvSpPr>
          <p:cNvPr id="528" name="Google Shape;528;p53"/>
          <p:cNvSpPr txBox="1"/>
          <p:nvPr/>
        </p:nvSpPr>
        <p:spPr>
          <a:xfrm>
            <a:off x="394235" y="1109170"/>
            <a:ext cx="6097604"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202124"/>
                </a:solidFill>
                <a:latin typeface="arial"/>
                <a:ea typeface="arial"/>
                <a:cs typeface="arial"/>
                <a:sym typeface="arial"/>
              </a:rPr>
              <a:t>Un </a:t>
            </a:r>
            <a:r>
              <a:rPr lang="es-ES" sz="1800" b="1" i="0">
                <a:solidFill>
                  <a:srgbClr val="202124"/>
                </a:solidFill>
                <a:latin typeface="arial"/>
                <a:ea typeface="arial"/>
                <a:cs typeface="arial"/>
                <a:sym typeface="arial"/>
              </a:rPr>
              <a:t>host</a:t>
            </a:r>
            <a:r>
              <a:rPr lang="es-ES" sz="1800" b="0" i="0">
                <a:solidFill>
                  <a:srgbClr val="202124"/>
                </a:solidFill>
                <a:latin typeface="arial"/>
                <a:ea typeface="arial"/>
                <a:cs typeface="arial"/>
                <a:sym typeface="arial"/>
              </a:rPr>
              <a:t> o anfitrión es un ordenador que funciona como el punto de inicio y final de las transferencias de datos. Más comunmente descrito como el lugar donde reside un sitio web. Un </a:t>
            </a:r>
            <a:r>
              <a:rPr lang="es-ES" sz="1800" b="1" i="0">
                <a:solidFill>
                  <a:srgbClr val="202124"/>
                </a:solidFill>
                <a:latin typeface="arial"/>
                <a:ea typeface="arial"/>
                <a:cs typeface="arial"/>
                <a:sym typeface="arial"/>
              </a:rPr>
              <a:t>host</a:t>
            </a:r>
            <a:r>
              <a:rPr lang="es-ES" sz="1800" b="0" i="0">
                <a:solidFill>
                  <a:srgbClr val="202124"/>
                </a:solidFill>
                <a:latin typeface="arial"/>
                <a:ea typeface="arial"/>
                <a:cs typeface="arial"/>
                <a:sym typeface="arial"/>
              </a:rPr>
              <a:t> de Internet tiene una dirección de Internet única (direción IP) y un nombre de dominio único o nombre de </a:t>
            </a:r>
            <a:r>
              <a:rPr lang="es-ES" sz="1800" b="1" i="0">
                <a:solidFill>
                  <a:srgbClr val="202124"/>
                </a:solidFill>
                <a:latin typeface="arial"/>
                <a:ea typeface="arial"/>
                <a:cs typeface="arial"/>
                <a:sym typeface="arial"/>
              </a:rPr>
              <a:t>host</a:t>
            </a:r>
            <a:r>
              <a:rPr lang="es-ES" sz="1800" b="0" i="0">
                <a:solidFill>
                  <a:srgbClr val="202124"/>
                </a:solidFill>
                <a:latin typeface="arial"/>
                <a:ea typeface="arial"/>
                <a:cs typeface="arial"/>
                <a:sym typeface="arial"/>
              </a:rPr>
              <a:t>.</a:t>
            </a:r>
            <a:endParaRPr sz="1800">
              <a:solidFill>
                <a:schemeClr val="dk1"/>
              </a:solidFill>
              <a:latin typeface="Calibri"/>
              <a:ea typeface="Calibri"/>
              <a:cs typeface="Calibri"/>
              <a:sym typeface="Calibri"/>
            </a:endParaRPr>
          </a:p>
        </p:txBody>
      </p:sp>
      <p:sp>
        <p:nvSpPr>
          <p:cNvPr id="529" name="Google Shape;529;p53"/>
          <p:cNvSpPr txBox="1"/>
          <p:nvPr/>
        </p:nvSpPr>
        <p:spPr>
          <a:xfrm>
            <a:off x="6355080" y="1279197"/>
            <a:ext cx="609760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rgbClr val="202124"/>
                </a:solidFill>
                <a:latin typeface="arial"/>
                <a:ea typeface="arial"/>
                <a:cs typeface="arial"/>
                <a:sym typeface="arial"/>
              </a:rPr>
              <a:t>DNS</a:t>
            </a:r>
            <a:r>
              <a:rPr lang="es-ES" sz="1800" b="0" i="0">
                <a:solidFill>
                  <a:srgbClr val="202124"/>
                </a:solidFill>
                <a:latin typeface="arial"/>
                <a:ea typeface="arial"/>
                <a:cs typeface="arial"/>
                <a:sym typeface="arial"/>
              </a:rPr>
              <a:t> es el acrónimo para “Domain Name System” (sistema de nombre de dominio). </a:t>
            </a:r>
            <a:r>
              <a:rPr lang="es-ES" sz="1800" b="1" i="0">
                <a:solidFill>
                  <a:srgbClr val="202124"/>
                </a:solidFill>
                <a:latin typeface="arial"/>
                <a:ea typeface="arial"/>
                <a:cs typeface="arial"/>
                <a:sym typeface="arial"/>
              </a:rPr>
              <a:t>DNS</a:t>
            </a:r>
            <a:r>
              <a:rPr lang="es-ES" sz="1800" b="0" i="0">
                <a:solidFill>
                  <a:srgbClr val="202124"/>
                </a:solidFill>
                <a:latin typeface="arial"/>
                <a:ea typeface="arial"/>
                <a:cs typeface="arial"/>
                <a:sym typeface="arial"/>
              </a:rPr>
              <a:t> es un servicio </a:t>
            </a:r>
            <a:r>
              <a:rPr lang="es-ES" sz="1800" b="1" i="0">
                <a:solidFill>
                  <a:srgbClr val="202124"/>
                </a:solidFill>
                <a:latin typeface="arial"/>
                <a:ea typeface="arial"/>
                <a:cs typeface="arial"/>
                <a:sym typeface="arial"/>
              </a:rPr>
              <a:t>que</a:t>
            </a:r>
            <a:r>
              <a:rPr lang="es-ES" sz="1800" b="0" i="0">
                <a:solidFill>
                  <a:srgbClr val="202124"/>
                </a:solidFill>
                <a:latin typeface="arial"/>
                <a:ea typeface="arial"/>
                <a:cs typeface="arial"/>
                <a:sym typeface="arial"/>
              </a:rPr>
              <a:t> habilita un enlace entre nombres de dominio y direcciones IP con la </a:t>
            </a:r>
            <a:r>
              <a:rPr lang="es-ES" sz="1800" b="1" i="0">
                <a:solidFill>
                  <a:srgbClr val="202124"/>
                </a:solidFill>
                <a:latin typeface="arial"/>
                <a:ea typeface="arial"/>
                <a:cs typeface="arial"/>
                <a:sym typeface="arial"/>
              </a:rPr>
              <a:t>que</a:t>
            </a:r>
            <a:r>
              <a:rPr lang="es-ES" sz="1800" b="0" i="0">
                <a:solidFill>
                  <a:srgbClr val="202124"/>
                </a:solidFill>
                <a:latin typeface="arial"/>
                <a:ea typeface="arial"/>
                <a:cs typeface="arial"/>
                <a:sym typeface="arial"/>
              </a:rPr>
              <a:t> están asociados.</a:t>
            </a:r>
            <a:endParaRPr sz="1800">
              <a:solidFill>
                <a:schemeClr val="dk1"/>
              </a:solidFill>
              <a:latin typeface="Calibri"/>
              <a:ea typeface="Calibri"/>
              <a:cs typeface="Calibri"/>
              <a:sym typeface="Calibri"/>
            </a:endParaRPr>
          </a:p>
        </p:txBody>
      </p:sp>
      <p:sp>
        <p:nvSpPr>
          <p:cNvPr id="530" name="Google Shape;530;p53"/>
          <p:cNvSpPr txBox="1"/>
          <p:nvPr/>
        </p:nvSpPr>
        <p:spPr>
          <a:xfrm>
            <a:off x="257476" y="3224463"/>
            <a:ext cx="6097604"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202124"/>
                </a:solidFill>
                <a:latin typeface="arial"/>
                <a:ea typeface="arial"/>
                <a:cs typeface="arial"/>
                <a:sym typeface="arial"/>
              </a:rPr>
              <a:t>Una dirección </a:t>
            </a:r>
            <a:r>
              <a:rPr lang="es-ES" sz="1800" b="1" i="0">
                <a:solidFill>
                  <a:srgbClr val="202124"/>
                </a:solidFill>
                <a:latin typeface="arial"/>
                <a:ea typeface="arial"/>
                <a:cs typeface="arial"/>
                <a:sym typeface="arial"/>
              </a:rPr>
              <a:t>IP</a:t>
            </a:r>
            <a:r>
              <a:rPr lang="es-ES" sz="1800" b="0" i="0">
                <a:solidFill>
                  <a:srgbClr val="202124"/>
                </a:solidFill>
                <a:latin typeface="arial"/>
                <a:ea typeface="arial"/>
                <a:cs typeface="arial"/>
                <a:sym typeface="arial"/>
              </a:rPr>
              <a:t> es un número que identifica de forma única a una interfaz en red de cualquier dispositivo conectado a ella que utilice el protocolo </a:t>
            </a:r>
            <a:r>
              <a:rPr lang="es-ES" sz="1800" b="1" i="0">
                <a:solidFill>
                  <a:srgbClr val="202124"/>
                </a:solidFill>
                <a:latin typeface="arial"/>
                <a:ea typeface="arial"/>
                <a:cs typeface="arial"/>
                <a:sym typeface="arial"/>
              </a:rPr>
              <a:t>IP</a:t>
            </a:r>
            <a:r>
              <a:rPr lang="es-ES" sz="1800" b="0" i="0">
                <a:solidFill>
                  <a:srgbClr val="202124"/>
                </a:solidFill>
                <a:latin typeface="arial"/>
                <a:ea typeface="arial"/>
                <a:cs typeface="arial"/>
                <a:sym typeface="arial"/>
              </a:rPr>
              <a:t> (Internet Protocol), que corresponde al nivel de red del modelo TCP/</a:t>
            </a:r>
            <a:r>
              <a:rPr lang="es-ES" sz="1800" b="1" i="0">
                <a:solidFill>
                  <a:srgbClr val="202124"/>
                </a:solidFill>
                <a:latin typeface="arial"/>
                <a:ea typeface="arial"/>
                <a:cs typeface="arial"/>
                <a:sym typeface="arial"/>
              </a:rPr>
              <a:t>IP</a:t>
            </a:r>
            <a:r>
              <a:rPr lang="es-ES" sz="1800" b="0" i="0">
                <a:solidFill>
                  <a:srgbClr val="202124"/>
                </a:solidFill>
                <a:latin typeface="arial"/>
                <a:ea typeface="arial"/>
                <a:cs typeface="arial"/>
                <a:sym typeface="arial"/>
              </a:rPr>
              <a:t>.</a:t>
            </a:r>
            <a:endParaRPr sz="1800">
              <a:solidFill>
                <a:schemeClr val="dk1"/>
              </a:solidFill>
              <a:latin typeface="Calibri"/>
              <a:ea typeface="Calibri"/>
              <a:cs typeface="Calibri"/>
              <a:sym typeface="Calibri"/>
            </a:endParaRPr>
          </a:p>
        </p:txBody>
      </p:sp>
      <p:sp>
        <p:nvSpPr>
          <p:cNvPr id="531" name="Google Shape;531;p53"/>
          <p:cNvSpPr txBox="1"/>
          <p:nvPr/>
        </p:nvSpPr>
        <p:spPr>
          <a:xfrm>
            <a:off x="6201878" y="22384"/>
            <a:ext cx="609760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rgbClr val="202124"/>
                </a:solidFill>
                <a:latin typeface="arial"/>
                <a:ea typeface="arial"/>
                <a:cs typeface="arial"/>
                <a:sym typeface="arial"/>
              </a:rPr>
              <a:t>TCP</a:t>
            </a:r>
            <a:r>
              <a:rPr lang="es-ES" sz="1800" b="0" i="0">
                <a:solidFill>
                  <a:srgbClr val="202124"/>
                </a:solidFill>
                <a:latin typeface="arial"/>
                <a:ea typeface="arial"/>
                <a:cs typeface="arial"/>
                <a:sym typeface="arial"/>
              </a:rPr>
              <a:t>/</a:t>
            </a:r>
            <a:r>
              <a:rPr lang="es-ES" sz="1800" b="1" i="0">
                <a:solidFill>
                  <a:srgbClr val="202124"/>
                </a:solidFill>
                <a:latin typeface="arial"/>
                <a:ea typeface="arial"/>
                <a:cs typeface="arial"/>
                <a:sym typeface="arial"/>
              </a:rPr>
              <a:t>IP</a:t>
            </a:r>
            <a:r>
              <a:rPr lang="es-ES" sz="1800" b="0" i="0">
                <a:solidFill>
                  <a:srgbClr val="202124"/>
                </a:solidFill>
                <a:latin typeface="arial"/>
                <a:ea typeface="arial"/>
                <a:cs typeface="arial"/>
                <a:sym typeface="arial"/>
              </a:rPr>
              <a:t> es un conjunto de protocolos </a:t>
            </a:r>
            <a:r>
              <a:rPr lang="es-ES" sz="1800" b="1" i="0">
                <a:solidFill>
                  <a:srgbClr val="202124"/>
                </a:solidFill>
                <a:latin typeface="arial"/>
                <a:ea typeface="arial"/>
                <a:cs typeface="arial"/>
                <a:sym typeface="arial"/>
              </a:rPr>
              <a:t>que</a:t>
            </a:r>
            <a:r>
              <a:rPr lang="es-ES" sz="1800" b="0" i="0">
                <a:solidFill>
                  <a:srgbClr val="202124"/>
                </a:solidFill>
                <a:latin typeface="arial"/>
                <a:ea typeface="arial"/>
                <a:cs typeface="arial"/>
                <a:sym typeface="arial"/>
              </a:rPr>
              <a:t> permiten la comunicación entre los ordenadores pertenecientes a una red. </a:t>
            </a:r>
            <a:r>
              <a:rPr lang="es-ES" sz="1800" b="1" i="0">
                <a:solidFill>
                  <a:srgbClr val="202124"/>
                </a:solidFill>
                <a:latin typeface="arial"/>
                <a:ea typeface="arial"/>
                <a:cs typeface="arial"/>
                <a:sym typeface="arial"/>
              </a:rPr>
              <a:t>La sigla TCP</a:t>
            </a:r>
            <a:r>
              <a:rPr lang="es-ES" sz="1800" b="0" i="0">
                <a:solidFill>
                  <a:srgbClr val="202124"/>
                </a:solidFill>
                <a:latin typeface="arial"/>
                <a:ea typeface="arial"/>
                <a:cs typeface="arial"/>
                <a:sym typeface="arial"/>
              </a:rPr>
              <a:t>/</a:t>
            </a:r>
            <a:r>
              <a:rPr lang="es-ES" sz="1800" b="1" i="0">
                <a:solidFill>
                  <a:srgbClr val="202124"/>
                </a:solidFill>
                <a:latin typeface="arial"/>
                <a:ea typeface="arial"/>
                <a:cs typeface="arial"/>
                <a:sym typeface="arial"/>
              </a:rPr>
              <a:t>IP significa</a:t>
            </a:r>
            <a:r>
              <a:rPr lang="es-ES" sz="1800" b="0" i="0">
                <a:solidFill>
                  <a:srgbClr val="202124"/>
                </a:solidFill>
                <a:latin typeface="arial"/>
                <a:ea typeface="arial"/>
                <a:cs typeface="arial"/>
                <a:sym typeface="arial"/>
              </a:rPr>
              <a:t> Protocolo de control de transmisión/Protocolo de Internet </a:t>
            </a:r>
            <a:endParaRPr sz="1800">
              <a:solidFill>
                <a:schemeClr val="dk1"/>
              </a:solidFill>
              <a:latin typeface="Calibri"/>
              <a:ea typeface="Calibri"/>
              <a:cs typeface="Calibri"/>
              <a:sym typeface="Calibri"/>
            </a:endParaRPr>
          </a:p>
        </p:txBody>
      </p:sp>
      <p:sp>
        <p:nvSpPr>
          <p:cNvPr id="532" name="Google Shape;532;p53"/>
          <p:cNvSpPr txBox="1"/>
          <p:nvPr/>
        </p:nvSpPr>
        <p:spPr>
          <a:xfrm>
            <a:off x="5941996" y="4593302"/>
            <a:ext cx="6097604"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202124"/>
                </a:solidFill>
                <a:latin typeface="arial"/>
                <a:ea typeface="arial"/>
                <a:cs typeface="arial"/>
                <a:sym typeface="arial"/>
              </a:rPr>
              <a:t>La </a:t>
            </a:r>
            <a:r>
              <a:rPr lang="es-ES" sz="1800" b="1" i="0">
                <a:solidFill>
                  <a:srgbClr val="202124"/>
                </a:solidFill>
                <a:latin typeface="arial"/>
                <a:ea typeface="arial"/>
                <a:cs typeface="arial"/>
                <a:sym typeface="arial"/>
              </a:rPr>
              <a:t>dirección MAC</a:t>
            </a:r>
            <a:r>
              <a:rPr lang="es-ES" sz="1800" b="0" i="0">
                <a:solidFill>
                  <a:srgbClr val="202124"/>
                </a:solidFill>
                <a:latin typeface="arial"/>
                <a:ea typeface="arial"/>
                <a:cs typeface="arial"/>
                <a:sym typeface="arial"/>
              </a:rPr>
              <a:t> es un identificador único hexadecimal de 48 bits que se utiliza </a:t>
            </a:r>
            <a:r>
              <a:rPr lang="es-ES" sz="1800" b="1" i="0">
                <a:solidFill>
                  <a:srgbClr val="202124"/>
                </a:solidFill>
                <a:latin typeface="arial"/>
                <a:ea typeface="arial"/>
                <a:cs typeface="arial"/>
                <a:sym typeface="arial"/>
              </a:rPr>
              <a:t>para</a:t>
            </a:r>
            <a:r>
              <a:rPr lang="es-ES" sz="1800" b="0" i="0">
                <a:solidFill>
                  <a:srgbClr val="202124"/>
                </a:solidFill>
                <a:latin typeface="arial"/>
                <a:ea typeface="arial"/>
                <a:cs typeface="arial"/>
                <a:sym typeface="arial"/>
              </a:rPr>
              <a:t> identificar de forma inequívoca a un determinado dispositivo de red. ... Cualquier dispositivo que contenga una tarjeta de red </a:t>
            </a:r>
            <a:r>
              <a:rPr lang="es-ES" sz="1800" b="1" i="0">
                <a:solidFill>
                  <a:srgbClr val="202124"/>
                </a:solidFill>
                <a:latin typeface="arial"/>
                <a:ea typeface="arial"/>
                <a:cs typeface="arial"/>
                <a:sym typeface="arial"/>
              </a:rPr>
              <a:t>para</a:t>
            </a:r>
            <a:r>
              <a:rPr lang="es-ES" sz="1800" b="0" i="0">
                <a:solidFill>
                  <a:srgbClr val="202124"/>
                </a:solidFill>
                <a:latin typeface="arial"/>
                <a:ea typeface="arial"/>
                <a:cs typeface="arial"/>
                <a:sym typeface="arial"/>
              </a:rPr>
              <a:t> conectarse mediante Wi-Fi o Ethernet cuenta con una </a:t>
            </a:r>
            <a:r>
              <a:rPr lang="es-ES" sz="1800" b="1" i="0">
                <a:solidFill>
                  <a:srgbClr val="202124"/>
                </a:solidFill>
                <a:latin typeface="arial"/>
                <a:ea typeface="arial"/>
                <a:cs typeface="arial"/>
                <a:sym typeface="arial"/>
              </a:rPr>
              <a:t>dirección MAC</a:t>
            </a:r>
            <a:r>
              <a:rPr lang="es-ES" sz="1800" b="0" i="0">
                <a:solidFill>
                  <a:srgbClr val="202124"/>
                </a:solidFill>
                <a:latin typeface="arial"/>
                <a:ea typeface="arial"/>
                <a:cs typeface="arial"/>
                <a:sym typeface="arial"/>
              </a:rPr>
              <a:t> única.</a:t>
            </a:r>
            <a:r>
              <a:rPr lang="es-ES" sz="1800" b="0" i="0">
                <a:solidFill>
                  <a:srgbClr val="70757A"/>
                </a:solidFill>
                <a:latin typeface="arial"/>
                <a:ea typeface="arial"/>
                <a:cs typeface="arial"/>
                <a:sym typeface="arial"/>
              </a:rPr>
              <a:t>2</a:t>
            </a:r>
            <a:endParaRPr sz="1800">
              <a:solidFill>
                <a:schemeClr val="dk1"/>
              </a:solidFill>
              <a:latin typeface="Calibri"/>
              <a:ea typeface="Calibri"/>
              <a:cs typeface="Calibri"/>
              <a:sym typeface="Calibri"/>
            </a:endParaRPr>
          </a:p>
        </p:txBody>
      </p:sp>
      <p:sp>
        <p:nvSpPr>
          <p:cNvPr id="533" name="Google Shape;533;p53"/>
          <p:cNvSpPr txBox="1"/>
          <p:nvPr/>
        </p:nvSpPr>
        <p:spPr>
          <a:xfrm>
            <a:off x="257476" y="4869867"/>
            <a:ext cx="544068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rgbClr val="202124"/>
                </a:solidFill>
                <a:latin typeface="arial"/>
                <a:ea typeface="arial"/>
                <a:cs typeface="arial"/>
                <a:sym typeface="arial"/>
              </a:rPr>
              <a:t>Pv6</a:t>
            </a:r>
            <a:r>
              <a:rPr lang="es-ES" sz="1800" b="0" i="0">
                <a:solidFill>
                  <a:srgbClr val="202124"/>
                </a:solidFill>
                <a:latin typeface="arial"/>
                <a:ea typeface="arial"/>
                <a:cs typeface="arial"/>
                <a:sym typeface="arial"/>
              </a:rPr>
              <a:t> es la versión 6 del Protocolo de Internet (IP por sus siglas en inglés, Internet Protocol), es el encargado de dirigir y encaminar los paquetes en la red, fue diseñado en los años 70 con el objetivo de interconectar redes. ... </a:t>
            </a:r>
            <a:r>
              <a:rPr lang="es-ES" sz="1800" b="1" i="0">
                <a:solidFill>
                  <a:srgbClr val="202124"/>
                </a:solidFill>
                <a:latin typeface="arial"/>
                <a:ea typeface="arial"/>
                <a:cs typeface="arial"/>
                <a:sym typeface="arial"/>
              </a:rPr>
              <a:t>IPv6</a:t>
            </a:r>
            <a:r>
              <a:rPr lang="es-ES" sz="1800" b="0" i="0">
                <a:solidFill>
                  <a:srgbClr val="202124"/>
                </a:solidFill>
                <a:latin typeface="arial"/>
                <a:ea typeface="arial"/>
                <a:cs typeface="arial"/>
                <a:sym typeface="arial"/>
              </a:rPr>
              <a:t> también se conoce por “IP Next Generation” o “IPng”</a:t>
            </a:r>
            <a:endParaRPr sz="1800">
              <a:solidFill>
                <a:schemeClr val="dk1"/>
              </a:solidFill>
              <a:latin typeface="Calibri"/>
              <a:ea typeface="Calibri"/>
              <a:cs typeface="Calibri"/>
              <a:sym typeface="Calibri"/>
            </a:endParaRPr>
          </a:p>
        </p:txBody>
      </p:sp>
      <p:sp>
        <p:nvSpPr>
          <p:cNvPr id="534" name="Google Shape;534;p53"/>
          <p:cNvSpPr txBox="1"/>
          <p:nvPr/>
        </p:nvSpPr>
        <p:spPr>
          <a:xfrm>
            <a:off x="6096000" y="2638340"/>
            <a:ext cx="6189044"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202124"/>
                </a:solidFill>
                <a:latin typeface="arial"/>
                <a:ea typeface="arial"/>
                <a:cs typeface="arial"/>
                <a:sym typeface="arial"/>
              </a:rPr>
              <a:t>Una </a:t>
            </a:r>
            <a:r>
              <a:rPr lang="es-ES" sz="1800" b="1" i="0">
                <a:solidFill>
                  <a:srgbClr val="202124"/>
                </a:solidFill>
                <a:latin typeface="arial"/>
                <a:ea typeface="arial"/>
                <a:cs typeface="arial"/>
                <a:sym typeface="arial"/>
              </a:rPr>
              <a:t>máscara de subred</a:t>
            </a:r>
            <a:r>
              <a:rPr lang="es-ES" sz="1800" b="0" i="0">
                <a:solidFill>
                  <a:srgbClr val="202124"/>
                </a:solidFill>
                <a:latin typeface="arial"/>
                <a:ea typeface="arial"/>
                <a:cs typeface="arial"/>
                <a:sym typeface="arial"/>
              </a:rPr>
              <a:t> es un número que define un rango de Direcciones IP disponible dentro de un red. ... Los sistemas dentro de la misma </a:t>
            </a:r>
            <a:r>
              <a:rPr lang="es-ES" sz="1800" b="1" i="0">
                <a:solidFill>
                  <a:srgbClr val="202124"/>
                </a:solidFill>
                <a:latin typeface="arial"/>
                <a:ea typeface="arial"/>
                <a:cs typeface="arial"/>
                <a:sym typeface="arial"/>
              </a:rPr>
              <a:t>subred</a:t>
            </a:r>
            <a:r>
              <a:rPr lang="es-ES" sz="1800" b="0" i="0">
                <a:solidFill>
                  <a:srgbClr val="202124"/>
                </a:solidFill>
                <a:latin typeface="arial"/>
                <a:ea typeface="arial"/>
                <a:cs typeface="arial"/>
                <a:sym typeface="arial"/>
              </a:rPr>
              <a:t> pueden comunicarse directamente entre sí, mientras que los sistemas en </a:t>
            </a:r>
            <a:r>
              <a:rPr lang="es-ES" sz="1800" b="1" i="0">
                <a:solidFill>
                  <a:srgbClr val="202124"/>
                </a:solidFill>
                <a:latin typeface="arial"/>
                <a:ea typeface="arial"/>
                <a:cs typeface="arial"/>
                <a:sym typeface="arial"/>
              </a:rPr>
              <a:t>subredes</a:t>
            </a:r>
            <a:r>
              <a:rPr lang="es-ES" sz="1800" b="0" i="0">
                <a:solidFill>
                  <a:srgbClr val="202124"/>
                </a:solidFill>
                <a:latin typeface="arial"/>
                <a:ea typeface="arial"/>
                <a:cs typeface="arial"/>
                <a:sym typeface="arial"/>
              </a:rPr>
              <a:t> diferentes deben comunicarse a través de un enrutador</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539" name="Google Shape;539;p54"/>
          <p:cNvPicPr preferRelativeResize="0"/>
          <p:nvPr/>
        </p:nvPicPr>
        <p:blipFill rotWithShape="1">
          <a:blip r:embed="rId3">
            <a:alphaModFix/>
          </a:blip>
          <a:srcRect/>
          <a:stretch/>
        </p:blipFill>
        <p:spPr>
          <a:xfrm>
            <a:off x="224912" y="959518"/>
            <a:ext cx="3457575" cy="4457700"/>
          </a:xfrm>
          <a:prstGeom prst="rect">
            <a:avLst/>
          </a:prstGeom>
          <a:noFill/>
          <a:ln>
            <a:noFill/>
          </a:ln>
        </p:spPr>
      </p:pic>
      <p:sp>
        <p:nvSpPr>
          <p:cNvPr id="540" name="Google Shape;540;p54"/>
          <p:cNvSpPr txBox="1"/>
          <p:nvPr/>
        </p:nvSpPr>
        <p:spPr>
          <a:xfrm>
            <a:off x="981776" y="262744"/>
            <a:ext cx="32212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Opciones de red en Windows 10</a:t>
            </a:r>
            <a:endParaRPr sz="1800">
              <a:solidFill>
                <a:schemeClr val="dk1"/>
              </a:solidFill>
              <a:latin typeface="Calibri"/>
              <a:ea typeface="Calibri"/>
              <a:cs typeface="Calibri"/>
              <a:sym typeface="Calibri"/>
            </a:endParaRPr>
          </a:p>
        </p:txBody>
      </p:sp>
      <p:pic>
        <p:nvPicPr>
          <p:cNvPr id="541" name="Google Shape;541;p54"/>
          <p:cNvPicPr preferRelativeResize="0"/>
          <p:nvPr/>
        </p:nvPicPr>
        <p:blipFill rotWithShape="1">
          <a:blip r:embed="rId4">
            <a:alphaModFix/>
          </a:blip>
          <a:srcRect l="47289" t="15590" r="40394" b="40932"/>
          <a:stretch/>
        </p:blipFill>
        <p:spPr>
          <a:xfrm>
            <a:off x="4639376" y="743553"/>
            <a:ext cx="4109987" cy="4768636"/>
          </a:xfrm>
          <a:prstGeom prst="rect">
            <a:avLst/>
          </a:prstGeom>
          <a:noFill/>
          <a:ln>
            <a:noFill/>
          </a:ln>
        </p:spPr>
      </p:pic>
      <p:sp>
        <p:nvSpPr>
          <p:cNvPr id="542" name="Google Shape;542;p54"/>
          <p:cNvSpPr/>
          <p:nvPr/>
        </p:nvSpPr>
        <p:spPr>
          <a:xfrm>
            <a:off x="3780733" y="3051208"/>
            <a:ext cx="760396" cy="471638"/>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5"/>
          <p:cNvSpPr txBox="1">
            <a:spLocks noGrp="1"/>
          </p:cNvSpPr>
          <p:nvPr>
            <p:ph type="title"/>
          </p:nvPr>
        </p:nvSpPr>
        <p:spPr>
          <a:xfrm>
            <a:off x="953703" y="0"/>
            <a:ext cx="10515600" cy="5396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3959"/>
              <a:buFont typeface="Calibri"/>
              <a:buNone/>
            </a:pPr>
            <a:r>
              <a:rPr lang="es-ES" sz="3959"/>
              <a:t>IP FIJAS E IP DINAMICAS</a:t>
            </a:r>
            <a:endParaRPr/>
          </a:p>
        </p:txBody>
      </p:sp>
      <p:sp>
        <p:nvSpPr>
          <p:cNvPr id="548" name="Google Shape;548;p55"/>
          <p:cNvSpPr txBox="1">
            <a:spLocks noGrp="1"/>
          </p:cNvSpPr>
          <p:nvPr>
            <p:ph type="body" idx="1"/>
          </p:nvPr>
        </p:nvSpPr>
        <p:spPr>
          <a:xfrm>
            <a:off x="150797" y="824596"/>
            <a:ext cx="5613936" cy="544144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444444"/>
              </a:buClr>
              <a:buSzPts val="2220"/>
              <a:buChar char="•"/>
            </a:pPr>
            <a:r>
              <a:rPr lang="es-ES" sz="2220" b="0" i="0" u="sng">
                <a:solidFill>
                  <a:srgbClr val="444444"/>
                </a:solidFill>
                <a:latin typeface="Arial"/>
                <a:ea typeface="Arial"/>
                <a:cs typeface="Arial"/>
                <a:sym typeface="Arial"/>
              </a:rPr>
              <a:t>Ventajas y desventajas de una IP fija</a:t>
            </a:r>
            <a:endParaRPr sz="2220" b="0" i="0">
              <a:solidFill>
                <a:srgbClr val="444444"/>
              </a:solidFill>
              <a:latin typeface="Arial"/>
              <a:ea typeface="Arial"/>
              <a:cs typeface="Arial"/>
              <a:sym typeface="Arial"/>
            </a:endParaRPr>
          </a:p>
          <a:p>
            <a:pPr marL="228600" lvl="0" indent="-228600" algn="l" rtl="0">
              <a:lnSpc>
                <a:spcPct val="90000"/>
              </a:lnSpc>
              <a:spcBef>
                <a:spcPts val="1000"/>
              </a:spcBef>
              <a:spcAft>
                <a:spcPts val="0"/>
              </a:spcAft>
              <a:buClr>
                <a:srgbClr val="444444"/>
              </a:buClr>
              <a:buSzPts val="2220"/>
              <a:buChar char="•"/>
            </a:pPr>
            <a:r>
              <a:rPr lang="es-ES" sz="2220" b="0" i="0">
                <a:solidFill>
                  <a:srgbClr val="444444"/>
                </a:solidFill>
                <a:latin typeface="Arial"/>
                <a:ea typeface="Arial"/>
                <a:cs typeface="Arial"/>
                <a:sym typeface="Arial"/>
              </a:rPr>
              <a:t>El equipo o dispositivo </a:t>
            </a:r>
            <a:r>
              <a:rPr lang="es-ES" sz="2220" b="1" i="0">
                <a:solidFill>
                  <a:srgbClr val="444444"/>
                </a:solidFill>
                <a:latin typeface="Arial"/>
                <a:ea typeface="Arial"/>
                <a:cs typeface="Arial"/>
                <a:sym typeface="Arial"/>
              </a:rPr>
              <a:t>siempre tiene la misma dirección IP</a:t>
            </a:r>
            <a:r>
              <a:rPr lang="es-ES" sz="2220" b="0" i="0">
                <a:solidFill>
                  <a:srgbClr val="444444"/>
                </a:solidFill>
                <a:latin typeface="Arial"/>
                <a:ea typeface="Arial"/>
                <a:cs typeface="Arial"/>
                <a:sym typeface="Arial"/>
              </a:rPr>
              <a:t>, y ésta puede ser pública o privada (red doméstica o empresarial).</a:t>
            </a:r>
            <a:endParaRPr/>
          </a:p>
          <a:p>
            <a:pPr marL="228600" lvl="0" indent="-228600" algn="l" rtl="0">
              <a:lnSpc>
                <a:spcPct val="90000"/>
              </a:lnSpc>
              <a:spcBef>
                <a:spcPts val="1000"/>
              </a:spcBef>
              <a:spcAft>
                <a:spcPts val="0"/>
              </a:spcAft>
              <a:buClr>
                <a:srgbClr val="444444"/>
              </a:buClr>
              <a:buSzPts val="2220"/>
              <a:buFont typeface="Arial"/>
              <a:buChar char="•"/>
            </a:pPr>
            <a:r>
              <a:rPr lang="es-ES" sz="2220" b="0" i="0">
                <a:solidFill>
                  <a:srgbClr val="444444"/>
                </a:solidFill>
                <a:latin typeface="Arial"/>
                <a:ea typeface="Arial"/>
                <a:cs typeface="Arial"/>
                <a:sym typeface="Arial"/>
              </a:rPr>
              <a:t>Mayor </a:t>
            </a:r>
            <a:r>
              <a:rPr lang="es-ES" sz="2220" b="1" i="0">
                <a:solidFill>
                  <a:srgbClr val="444444"/>
                </a:solidFill>
                <a:latin typeface="Arial"/>
                <a:ea typeface="Arial"/>
                <a:cs typeface="Arial"/>
                <a:sym typeface="Arial"/>
              </a:rPr>
              <a:t>velocidad</a:t>
            </a:r>
            <a:r>
              <a:rPr lang="es-ES" sz="2220" b="0" i="0">
                <a:solidFill>
                  <a:srgbClr val="444444"/>
                </a:solidFill>
                <a:latin typeface="Arial"/>
                <a:ea typeface="Arial"/>
                <a:cs typeface="Arial"/>
                <a:sym typeface="Arial"/>
              </a:rPr>
              <a:t> de carga y descarga.</a:t>
            </a:r>
            <a:endParaRPr/>
          </a:p>
          <a:p>
            <a:pPr marL="228600" lvl="0" indent="-228600" algn="l" rtl="0">
              <a:lnSpc>
                <a:spcPct val="90000"/>
              </a:lnSpc>
              <a:spcBef>
                <a:spcPts val="1000"/>
              </a:spcBef>
              <a:spcAft>
                <a:spcPts val="0"/>
              </a:spcAft>
              <a:buClr>
                <a:srgbClr val="444444"/>
              </a:buClr>
              <a:buSzPts val="2220"/>
              <a:buFont typeface="Arial"/>
              <a:buChar char="•"/>
            </a:pPr>
            <a:r>
              <a:rPr lang="es-ES" sz="2220" b="0" i="0">
                <a:solidFill>
                  <a:srgbClr val="444444"/>
                </a:solidFill>
                <a:latin typeface="Arial"/>
                <a:ea typeface="Arial"/>
                <a:cs typeface="Arial"/>
                <a:sym typeface="Arial"/>
              </a:rPr>
              <a:t>La </a:t>
            </a:r>
            <a:r>
              <a:rPr lang="es-ES" sz="2220" b="1" i="0">
                <a:solidFill>
                  <a:srgbClr val="444444"/>
                </a:solidFill>
                <a:latin typeface="Arial"/>
                <a:ea typeface="Arial"/>
                <a:cs typeface="Arial"/>
                <a:sym typeface="Arial"/>
              </a:rPr>
              <a:t>conexión</a:t>
            </a:r>
            <a:r>
              <a:rPr lang="es-ES" sz="2220" b="0" i="0">
                <a:solidFill>
                  <a:srgbClr val="444444"/>
                </a:solidFill>
                <a:latin typeface="Arial"/>
                <a:ea typeface="Arial"/>
                <a:cs typeface="Arial"/>
                <a:sym typeface="Arial"/>
              </a:rPr>
              <a:t> suele ser más fiable y estable.</a:t>
            </a:r>
            <a:endParaRPr/>
          </a:p>
          <a:p>
            <a:pPr marL="228600" lvl="0" indent="-228600" algn="l" rtl="0">
              <a:lnSpc>
                <a:spcPct val="90000"/>
              </a:lnSpc>
              <a:spcBef>
                <a:spcPts val="1000"/>
              </a:spcBef>
              <a:spcAft>
                <a:spcPts val="0"/>
              </a:spcAft>
              <a:buClr>
                <a:srgbClr val="444444"/>
              </a:buClr>
              <a:buSzPts val="2220"/>
              <a:buFont typeface="Arial"/>
              <a:buChar char="•"/>
            </a:pPr>
            <a:r>
              <a:rPr lang="es-ES" sz="2220" b="0" i="0">
                <a:solidFill>
                  <a:srgbClr val="444444"/>
                </a:solidFill>
                <a:latin typeface="Arial"/>
                <a:ea typeface="Arial"/>
                <a:cs typeface="Arial"/>
                <a:sym typeface="Arial"/>
              </a:rPr>
              <a:t>Generalmente hay que configurarlas </a:t>
            </a:r>
            <a:r>
              <a:rPr lang="es-ES" sz="2220" b="1" i="0">
                <a:solidFill>
                  <a:srgbClr val="444444"/>
                </a:solidFill>
                <a:latin typeface="Arial"/>
                <a:ea typeface="Arial"/>
                <a:cs typeface="Arial"/>
                <a:sym typeface="Arial"/>
              </a:rPr>
              <a:t>a mano</a:t>
            </a:r>
            <a:r>
              <a:rPr lang="es-ES" sz="2220" b="0" i="0">
                <a:solidFill>
                  <a:srgbClr val="444444"/>
                </a:solidFill>
                <a:latin typeface="Arial"/>
                <a:ea typeface="Arial"/>
                <a:cs typeface="Arial"/>
                <a:sym typeface="Arial"/>
              </a:rPr>
              <a:t> y además suelen suponer un coste adicional, son más caras.</a:t>
            </a:r>
            <a:endParaRPr/>
          </a:p>
          <a:p>
            <a:pPr marL="228600" lvl="0" indent="-228600" algn="l" rtl="0">
              <a:lnSpc>
                <a:spcPct val="90000"/>
              </a:lnSpc>
              <a:spcBef>
                <a:spcPts val="1000"/>
              </a:spcBef>
              <a:spcAft>
                <a:spcPts val="0"/>
              </a:spcAft>
              <a:buClr>
                <a:srgbClr val="444444"/>
              </a:buClr>
              <a:buSzPts val="2220"/>
              <a:buFont typeface="Arial"/>
              <a:buChar char="•"/>
            </a:pPr>
            <a:r>
              <a:rPr lang="es-ES" sz="2220" b="1" i="0">
                <a:solidFill>
                  <a:srgbClr val="444444"/>
                </a:solidFill>
                <a:latin typeface="Arial"/>
                <a:ea typeface="Arial"/>
                <a:cs typeface="Arial"/>
                <a:sym typeface="Arial"/>
              </a:rPr>
              <a:t>Mayor </a:t>
            </a:r>
            <a:r>
              <a:rPr lang="es-ES" sz="2590" b="1" i="0">
                <a:solidFill>
                  <a:srgbClr val="444444"/>
                </a:solidFill>
                <a:latin typeface="Arial"/>
                <a:ea typeface="Arial"/>
                <a:cs typeface="Arial"/>
                <a:sym typeface="Arial"/>
              </a:rPr>
              <a:t>control</a:t>
            </a:r>
            <a:r>
              <a:rPr lang="es-ES" sz="2220" b="0" i="0">
                <a:solidFill>
                  <a:srgbClr val="444444"/>
                </a:solidFill>
                <a:latin typeface="Arial"/>
                <a:ea typeface="Arial"/>
                <a:cs typeface="Arial"/>
                <a:sym typeface="Arial"/>
              </a:rPr>
              <a:t> sobre la dirección IP, nadie más puede usarla.</a:t>
            </a:r>
            <a:endParaRPr/>
          </a:p>
          <a:p>
            <a:pPr marL="228600" lvl="0" indent="-228600" algn="l" rtl="0">
              <a:lnSpc>
                <a:spcPct val="90000"/>
              </a:lnSpc>
              <a:spcBef>
                <a:spcPts val="1000"/>
              </a:spcBef>
              <a:spcAft>
                <a:spcPts val="0"/>
              </a:spcAft>
              <a:buClr>
                <a:srgbClr val="444444"/>
              </a:buClr>
              <a:buSzPts val="2220"/>
              <a:buFont typeface="Arial"/>
              <a:buChar char="•"/>
            </a:pPr>
            <a:r>
              <a:rPr lang="es-ES" sz="2220" b="0" i="0">
                <a:solidFill>
                  <a:srgbClr val="444444"/>
                </a:solidFill>
                <a:latin typeface="Arial"/>
                <a:ea typeface="Arial"/>
                <a:cs typeface="Arial"/>
                <a:sym typeface="Arial"/>
              </a:rPr>
              <a:t>Es necesario tomar </a:t>
            </a:r>
            <a:r>
              <a:rPr lang="es-ES" sz="2220" b="1" i="0">
                <a:solidFill>
                  <a:srgbClr val="444444"/>
                </a:solidFill>
                <a:latin typeface="Arial"/>
                <a:ea typeface="Arial"/>
                <a:cs typeface="Arial"/>
                <a:sym typeface="Arial"/>
              </a:rPr>
              <a:t>más medidas de seguridad</a:t>
            </a:r>
            <a:r>
              <a:rPr lang="es-ES" sz="2220" b="0" i="0">
                <a:solidFill>
                  <a:srgbClr val="444444"/>
                </a:solidFill>
                <a:latin typeface="Arial"/>
                <a:ea typeface="Arial"/>
                <a:cs typeface="Arial"/>
                <a:sym typeface="Arial"/>
              </a:rPr>
              <a:t> porque son más vulnerables de ser atacadas.</a:t>
            </a:r>
            <a:endParaRPr/>
          </a:p>
          <a:p>
            <a:pPr marL="228600" lvl="0" indent="-87629" algn="l" rtl="0">
              <a:lnSpc>
                <a:spcPct val="90000"/>
              </a:lnSpc>
              <a:spcBef>
                <a:spcPts val="1000"/>
              </a:spcBef>
              <a:spcAft>
                <a:spcPts val="0"/>
              </a:spcAft>
              <a:buClr>
                <a:schemeClr val="dk1"/>
              </a:buClr>
              <a:buSzPts val="2220"/>
              <a:buNone/>
            </a:pPr>
            <a:endParaRPr sz="2220"/>
          </a:p>
        </p:txBody>
      </p:sp>
      <p:sp>
        <p:nvSpPr>
          <p:cNvPr id="549" name="Google Shape;549;p55"/>
          <p:cNvSpPr txBox="1"/>
          <p:nvPr/>
        </p:nvSpPr>
        <p:spPr>
          <a:xfrm>
            <a:off x="6331016" y="737969"/>
            <a:ext cx="5613936"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0" i="0" u="sng">
                <a:solidFill>
                  <a:srgbClr val="444444"/>
                </a:solidFill>
                <a:latin typeface="Arial"/>
                <a:ea typeface="Arial"/>
                <a:cs typeface="Arial"/>
                <a:sym typeface="Arial"/>
              </a:rPr>
              <a:t>Ventajas y desventajas de una IP dinámica</a:t>
            </a:r>
            <a:endParaRPr sz="2400" b="0" i="0">
              <a:solidFill>
                <a:srgbClr val="444444"/>
              </a:solidFill>
              <a:latin typeface="Arial"/>
              <a:ea typeface="Arial"/>
              <a:cs typeface="Arial"/>
              <a:sym typeface="Arial"/>
            </a:endParaRPr>
          </a:p>
          <a:p>
            <a:pPr marL="0" marR="0" lvl="0" indent="0" algn="l" rtl="0">
              <a:spcBef>
                <a:spcPts val="0"/>
              </a:spcBef>
              <a:spcAft>
                <a:spcPts val="0"/>
              </a:spcAft>
              <a:buNone/>
            </a:pPr>
            <a:r>
              <a:rPr lang="es-ES" sz="2400" b="0" i="0">
                <a:solidFill>
                  <a:srgbClr val="444444"/>
                </a:solidFill>
                <a:latin typeface="Arial"/>
                <a:ea typeface="Arial"/>
                <a:cs typeface="Arial"/>
                <a:sym typeface="Arial"/>
              </a:rPr>
              <a:t>Por el contrario, </a:t>
            </a:r>
            <a:r>
              <a:rPr lang="es-ES" sz="2400" b="1" i="0">
                <a:solidFill>
                  <a:srgbClr val="444444"/>
                </a:solidFill>
                <a:latin typeface="Arial"/>
                <a:ea typeface="Arial"/>
                <a:cs typeface="Arial"/>
                <a:sym typeface="Arial"/>
              </a:rPr>
              <a:t>una IP dinámica va cambiando</a:t>
            </a:r>
            <a:r>
              <a:rPr lang="es-ES" sz="2400" b="0" i="0">
                <a:solidFill>
                  <a:srgbClr val="444444"/>
                </a:solidFill>
                <a:latin typeface="Arial"/>
                <a:ea typeface="Arial"/>
                <a:cs typeface="Arial"/>
                <a:sym typeface="Arial"/>
              </a:rPr>
              <a:t>, no es siempre la misma, pero tampoco hay una frecuencia fija para el cambio de dicha dirección.</a:t>
            </a:r>
            <a:endParaRPr/>
          </a:p>
          <a:p>
            <a:pPr marL="0" marR="0" lvl="0" indent="-152400" algn="l" rtl="0">
              <a:spcBef>
                <a:spcPts val="0"/>
              </a:spcBef>
              <a:spcAft>
                <a:spcPts val="0"/>
              </a:spcAft>
              <a:buClr>
                <a:srgbClr val="444444"/>
              </a:buClr>
              <a:buSzPts val="2400"/>
              <a:buFont typeface="Arial"/>
              <a:buChar char="•"/>
            </a:pPr>
            <a:r>
              <a:rPr lang="es-ES" sz="2400" b="0" i="0">
                <a:solidFill>
                  <a:srgbClr val="444444"/>
                </a:solidFill>
                <a:latin typeface="Arial"/>
                <a:ea typeface="Arial"/>
                <a:cs typeface="Arial"/>
                <a:sym typeface="Arial"/>
              </a:rPr>
              <a:t>Son </a:t>
            </a:r>
            <a:r>
              <a:rPr lang="es-ES" sz="2400" b="1" i="0">
                <a:solidFill>
                  <a:srgbClr val="444444"/>
                </a:solidFill>
                <a:latin typeface="Arial"/>
                <a:ea typeface="Arial"/>
                <a:cs typeface="Arial"/>
                <a:sym typeface="Arial"/>
              </a:rPr>
              <a:t>más seguras</a:t>
            </a:r>
            <a:r>
              <a:rPr lang="es-ES" sz="2400" b="0" i="0">
                <a:solidFill>
                  <a:srgbClr val="444444"/>
                </a:solidFill>
                <a:latin typeface="Arial"/>
                <a:ea typeface="Arial"/>
                <a:cs typeface="Arial"/>
                <a:sym typeface="Arial"/>
              </a:rPr>
              <a:t> que las IP fijas.</a:t>
            </a:r>
            <a:endParaRPr/>
          </a:p>
          <a:p>
            <a:pPr marL="0" marR="0" lvl="0" indent="-152400" algn="l" rtl="0">
              <a:spcBef>
                <a:spcPts val="0"/>
              </a:spcBef>
              <a:spcAft>
                <a:spcPts val="0"/>
              </a:spcAft>
              <a:buClr>
                <a:srgbClr val="444444"/>
              </a:buClr>
              <a:buSzPts val="2400"/>
              <a:buFont typeface="Arial"/>
              <a:buChar char="•"/>
            </a:pPr>
            <a:r>
              <a:rPr lang="es-ES" sz="2400" b="0" i="0">
                <a:solidFill>
                  <a:srgbClr val="444444"/>
                </a:solidFill>
                <a:latin typeface="Arial"/>
                <a:ea typeface="Arial"/>
                <a:cs typeface="Arial"/>
                <a:sym typeface="Arial"/>
              </a:rPr>
              <a:t>La conexión es menos estable.</a:t>
            </a:r>
            <a:endParaRPr/>
          </a:p>
          <a:p>
            <a:pPr marL="0" marR="0" lvl="0" indent="-152400" algn="l" rtl="0">
              <a:spcBef>
                <a:spcPts val="0"/>
              </a:spcBef>
              <a:spcAft>
                <a:spcPts val="0"/>
              </a:spcAft>
              <a:buClr>
                <a:srgbClr val="444444"/>
              </a:buClr>
              <a:buSzPts val="2400"/>
              <a:buFont typeface="Arial"/>
              <a:buChar char="•"/>
            </a:pPr>
            <a:r>
              <a:rPr lang="es-ES" sz="2400" b="0" i="0">
                <a:solidFill>
                  <a:srgbClr val="444444"/>
                </a:solidFill>
                <a:latin typeface="Arial"/>
                <a:ea typeface="Arial"/>
                <a:cs typeface="Arial"/>
                <a:sym typeface="Arial"/>
              </a:rPr>
              <a:t>Son </a:t>
            </a:r>
            <a:r>
              <a:rPr lang="es-ES" sz="2400" b="1" i="0">
                <a:solidFill>
                  <a:srgbClr val="444444"/>
                </a:solidFill>
                <a:latin typeface="Arial"/>
                <a:ea typeface="Arial"/>
                <a:cs typeface="Arial"/>
                <a:sym typeface="Arial"/>
              </a:rPr>
              <a:t>más asequibles</a:t>
            </a:r>
            <a:r>
              <a:rPr lang="es-ES" sz="2400" b="0" i="0">
                <a:solidFill>
                  <a:srgbClr val="444444"/>
                </a:solidFill>
                <a:latin typeface="Arial"/>
                <a:ea typeface="Arial"/>
                <a:cs typeface="Arial"/>
                <a:sym typeface="Arial"/>
              </a:rPr>
              <a:t> porque la mayoría de proveedores de Internet asignan a sus clientes este tipo de direcciones IP.</a:t>
            </a:r>
            <a:endParaRPr/>
          </a:p>
          <a:p>
            <a:pPr marL="0" marR="0" lvl="0" indent="-152400" algn="l" rtl="0">
              <a:spcBef>
                <a:spcPts val="0"/>
              </a:spcBef>
              <a:spcAft>
                <a:spcPts val="0"/>
              </a:spcAft>
              <a:buClr>
                <a:srgbClr val="444444"/>
              </a:buClr>
              <a:buSzPts val="2400"/>
              <a:buFont typeface="Arial"/>
              <a:buChar char="•"/>
            </a:pPr>
            <a:r>
              <a:rPr lang="es-ES" sz="2400" b="0" i="0">
                <a:solidFill>
                  <a:srgbClr val="444444"/>
                </a:solidFill>
                <a:latin typeface="Arial"/>
                <a:ea typeface="Arial"/>
                <a:cs typeface="Arial"/>
                <a:sym typeface="Arial"/>
              </a:rPr>
              <a:t>Nos dan </a:t>
            </a:r>
            <a:r>
              <a:rPr lang="es-ES" sz="2400" b="1" i="0">
                <a:solidFill>
                  <a:srgbClr val="444444"/>
                </a:solidFill>
                <a:latin typeface="Arial"/>
                <a:ea typeface="Arial"/>
                <a:cs typeface="Arial"/>
                <a:sym typeface="Arial"/>
              </a:rPr>
              <a:t>mayor privacidad</a:t>
            </a:r>
            <a:r>
              <a:rPr lang="es-ES" sz="2400" b="0" i="0">
                <a:solidFill>
                  <a:srgbClr val="444444"/>
                </a:solidFill>
                <a:latin typeface="Arial"/>
                <a:ea typeface="Arial"/>
                <a:cs typeface="Arial"/>
                <a:sym typeface="Arial"/>
              </a:rPr>
              <a:t> porque dificultamos que nos rastreen (analítica web) al ir cambiando la IP.</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pic>
        <p:nvPicPr>
          <p:cNvPr id="554" name="Google Shape;554;p56" descr="2. tipos de redes"/>
          <p:cNvPicPr preferRelativeResize="0">
            <a:picLocks noGrp="1"/>
          </p:cNvPicPr>
          <p:nvPr>
            <p:ph type="body" idx="1"/>
          </p:nvPr>
        </p:nvPicPr>
        <p:blipFill rotWithShape="1">
          <a:blip r:embed="rId3">
            <a:alphaModFix/>
          </a:blip>
          <a:srcRect/>
          <a:stretch/>
        </p:blipFill>
        <p:spPr>
          <a:xfrm>
            <a:off x="1511968" y="-136860"/>
            <a:ext cx="9508958" cy="7131719"/>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560" name="Google Shape;560;p57" descr="MAC e IP - CCNA V6.0"/>
          <p:cNvPicPr preferRelativeResize="0">
            <a:picLocks noGrp="1"/>
          </p:cNvPicPr>
          <p:nvPr>
            <p:ph type="body" idx="1"/>
          </p:nvPr>
        </p:nvPicPr>
        <p:blipFill rotWithShape="1">
          <a:blip r:embed="rId3">
            <a:alphaModFix/>
          </a:blip>
          <a:srcRect/>
          <a:stretch/>
        </p:blipFill>
        <p:spPr>
          <a:xfrm>
            <a:off x="585216" y="178672"/>
            <a:ext cx="10030968" cy="695810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pic>
        <p:nvPicPr>
          <p:cNvPr id="565" name="Google Shape;565;p58" descr="Ingeniería Systems: Dirección MAC de broadcast y Multicast - CCNA1 V5 -  CISCO C5"/>
          <p:cNvPicPr preferRelativeResize="0"/>
          <p:nvPr/>
        </p:nvPicPr>
        <p:blipFill rotWithShape="1">
          <a:blip r:embed="rId3">
            <a:alphaModFix/>
          </a:blip>
          <a:srcRect/>
          <a:stretch/>
        </p:blipFill>
        <p:spPr>
          <a:xfrm>
            <a:off x="1709929" y="227764"/>
            <a:ext cx="8903780" cy="663023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grpSp>
        <p:nvGrpSpPr>
          <p:cNvPr id="570" name="Google Shape;570;p59"/>
          <p:cNvGrpSpPr/>
          <p:nvPr/>
        </p:nvGrpSpPr>
        <p:grpSpPr>
          <a:xfrm>
            <a:off x="843462" y="1825625"/>
            <a:ext cx="10505074" cy="4351338"/>
            <a:chOff x="5262" y="0"/>
            <a:chExt cx="10505074" cy="4351338"/>
          </a:xfrm>
        </p:grpSpPr>
        <p:sp>
          <p:nvSpPr>
            <p:cNvPr id="571" name="Google Shape;571;p59"/>
            <p:cNvSpPr/>
            <p:nvPr/>
          </p:nvSpPr>
          <p:spPr>
            <a:xfrm>
              <a:off x="788669" y="0"/>
              <a:ext cx="8938260" cy="4351338"/>
            </a:xfrm>
            <a:prstGeom prst="rightArrow">
              <a:avLst>
                <a:gd name="adj1" fmla="val 50000"/>
                <a:gd name="adj2" fmla="val 5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9"/>
            <p:cNvSpPr/>
            <p:nvPr/>
          </p:nvSpPr>
          <p:spPr>
            <a:xfrm>
              <a:off x="5262" y="1305401"/>
              <a:ext cx="2531343" cy="1740535"/>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9"/>
            <p:cNvSpPr txBox="1"/>
            <p:nvPr/>
          </p:nvSpPr>
          <p:spPr>
            <a:xfrm>
              <a:off x="90228" y="1390367"/>
              <a:ext cx="2361411" cy="1570603"/>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Calibri"/>
                <a:buNone/>
              </a:pPr>
              <a:r>
                <a:rPr lang="es-ES" sz="2400">
                  <a:solidFill>
                    <a:schemeClr val="lt1"/>
                  </a:solidFill>
                  <a:latin typeface="Calibri"/>
                  <a:ea typeface="Calibri"/>
                  <a:cs typeface="Calibri"/>
                  <a:sym typeface="Calibri"/>
                </a:rPr>
                <a:t>NOMBRE DE DOMINIO (URL)</a:t>
              </a:r>
              <a:endParaRPr/>
            </a:p>
          </p:txBody>
        </p:sp>
        <p:sp>
          <p:nvSpPr>
            <p:cNvPr id="574" name="Google Shape;574;p59"/>
            <p:cNvSpPr/>
            <p:nvPr/>
          </p:nvSpPr>
          <p:spPr>
            <a:xfrm>
              <a:off x="2663173" y="1305401"/>
              <a:ext cx="2531343" cy="1740535"/>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9"/>
            <p:cNvSpPr txBox="1"/>
            <p:nvPr/>
          </p:nvSpPr>
          <p:spPr>
            <a:xfrm>
              <a:off x="2748139" y="1390367"/>
              <a:ext cx="2361411" cy="1570603"/>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Calibri"/>
                <a:buNone/>
              </a:pPr>
              <a:r>
                <a:rPr lang="es-ES" sz="2400">
                  <a:solidFill>
                    <a:schemeClr val="lt1"/>
                  </a:solidFill>
                  <a:latin typeface="Calibri"/>
                  <a:ea typeface="Calibri"/>
                  <a:cs typeface="Calibri"/>
                  <a:sym typeface="Calibri"/>
                </a:rPr>
                <a:t>DIRECCION IP (CAPA DE RED)</a:t>
              </a:r>
              <a:endParaRPr/>
            </a:p>
          </p:txBody>
        </p:sp>
        <p:sp>
          <p:nvSpPr>
            <p:cNvPr id="576" name="Google Shape;576;p59"/>
            <p:cNvSpPr/>
            <p:nvPr/>
          </p:nvSpPr>
          <p:spPr>
            <a:xfrm>
              <a:off x="5321083" y="1305401"/>
              <a:ext cx="2531343" cy="1740535"/>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9"/>
            <p:cNvSpPr txBox="1"/>
            <p:nvPr/>
          </p:nvSpPr>
          <p:spPr>
            <a:xfrm>
              <a:off x="5406049" y="1390367"/>
              <a:ext cx="2361411" cy="1570603"/>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Calibri"/>
                <a:buNone/>
              </a:pPr>
              <a:r>
                <a:rPr lang="es-ES" sz="2400">
                  <a:solidFill>
                    <a:schemeClr val="lt1"/>
                  </a:solidFill>
                  <a:latin typeface="Calibri"/>
                  <a:ea typeface="Calibri"/>
                  <a:cs typeface="Calibri"/>
                  <a:sym typeface="Calibri"/>
                </a:rPr>
                <a:t>DIRECCION MAC(EN LA CAPA DE ENLACE DE DATOS)</a:t>
              </a:r>
              <a:endParaRPr/>
            </a:p>
          </p:txBody>
        </p:sp>
        <p:sp>
          <p:nvSpPr>
            <p:cNvPr id="578" name="Google Shape;578;p59"/>
            <p:cNvSpPr/>
            <p:nvPr/>
          </p:nvSpPr>
          <p:spPr>
            <a:xfrm>
              <a:off x="7978993" y="1305401"/>
              <a:ext cx="2531343" cy="1740535"/>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59"/>
            <p:cNvSpPr txBox="1"/>
            <p:nvPr/>
          </p:nvSpPr>
          <p:spPr>
            <a:xfrm>
              <a:off x="8063959" y="1390367"/>
              <a:ext cx="2361411" cy="1570603"/>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chemeClr val="lt1"/>
                </a:buClr>
                <a:buSzPts val="2400"/>
                <a:buFont typeface="Calibri"/>
                <a:buNone/>
              </a:pPr>
              <a:r>
                <a:rPr lang="es-ES" sz="2400">
                  <a:solidFill>
                    <a:schemeClr val="lt1"/>
                  </a:solidFill>
                  <a:latin typeface="Calibri"/>
                  <a:ea typeface="Calibri"/>
                  <a:cs typeface="Calibri"/>
                  <a:sym typeface="Calibri"/>
                </a:rPr>
                <a:t>ARP (TRADUCE LA DIRECCION IP A DIRECCION MAC)</a:t>
              </a:r>
              <a:endParaRPr/>
            </a:p>
          </p:txBody>
        </p:sp>
      </p:grpSp>
      <p:sp>
        <p:nvSpPr>
          <p:cNvPr id="580" name="Google Shape;580;p59"/>
          <p:cNvSpPr txBox="1"/>
          <p:nvPr/>
        </p:nvSpPr>
        <p:spPr>
          <a:xfrm>
            <a:off x="4764505" y="5021212"/>
            <a:ext cx="20995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ACCESO A INTERNET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60"/>
          <p:cNvSpPr txBox="1">
            <a:spLocks noGrp="1"/>
          </p:cNvSpPr>
          <p:nvPr>
            <p:ph type="title"/>
          </p:nvPr>
        </p:nvSpPr>
        <p:spPr>
          <a:xfrm>
            <a:off x="751573" y="-7763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Recogida de informacion</a:t>
            </a:r>
            <a:endParaRPr/>
          </a:p>
        </p:txBody>
      </p:sp>
      <p:sp>
        <p:nvSpPr>
          <p:cNvPr id="586" name="Google Shape;586;p60"/>
          <p:cNvSpPr txBox="1">
            <a:spLocks noGrp="1"/>
          </p:cNvSpPr>
          <p:nvPr>
            <p:ph type="body" idx="1"/>
          </p:nvPr>
        </p:nvSpPr>
        <p:spPr>
          <a:xfrm>
            <a:off x="424315" y="1901152"/>
            <a:ext cx="10515600" cy="4351338"/>
          </a:xfrm>
          <a:prstGeom prst="rect">
            <a:avLst/>
          </a:prstGeom>
          <a:solidFill>
            <a:srgbClr val="E8E6E6"/>
          </a:solid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3245"/>
              </a:buClr>
              <a:buSzPts val="2220"/>
              <a:buChar char="•"/>
            </a:pPr>
            <a:r>
              <a:rPr lang="es-ES" sz="2220">
                <a:solidFill>
                  <a:srgbClr val="003245"/>
                </a:solidFill>
                <a:latin typeface="Calibri"/>
                <a:ea typeface="Calibri"/>
                <a:cs typeface="Calibri"/>
                <a:sym typeface="Calibri"/>
              </a:rPr>
              <a:t>El </a:t>
            </a:r>
            <a:r>
              <a:rPr lang="es-ES" sz="2220" b="1">
                <a:solidFill>
                  <a:srgbClr val="003245"/>
                </a:solidFill>
                <a:latin typeface="Calibri"/>
                <a:ea typeface="Calibri"/>
                <a:cs typeface="Calibri"/>
                <a:sym typeface="Calibri"/>
              </a:rPr>
              <a:t>sniffing</a:t>
            </a:r>
            <a:r>
              <a:rPr lang="es-ES" sz="2220">
                <a:solidFill>
                  <a:srgbClr val="003245"/>
                </a:solidFill>
                <a:latin typeface="Calibri"/>
                <a:ea typeface="Calibri"/>
                <a:cs typeface="Calibri"/>
                <a:sym typeface="Calibri"/>
              </a:rPr>
              <a:t> es una técnica que permite capturar todos los datos que circulan por una red de área local (no es necesariamente una técnica maliciosa, se utiliza en muchos casos para administrar la red, mejorar su rendimiento, analizar cuellos de botella, etc.). Para su realización se utilizan herramientas específicas, los sniffers. Este tipo de software configura las tarjetas de red para que trabajen en modo promiscuo. Es decir, para que </a:t>
            </a:r>
            <a:r>
              <a:rPr lang="es-ES" sz="2220" b="1">
                <a:solidFill>
                  <a:srgbClr val="003245"/>
                </a:solidFill>
                <a:latin typeface="Calibri"/>
                <a:ea typeface="Calibri"/>
                <a:cs typeface="Calibri"/>
                <a:sym typeface="Calibri"/>
              </a:rPr>
              <a:t>capturen y procesen todo el tráfico</a:t>
            </a:r>
            <a:r>
              <a:rPr lang="es-ES" sz="2220">
                <a:solidFill>
                  <a:srgbClr val="003245"/>
                </a:solidFill>
                <a:latin typeface="Calibri"/>
                <a:ea typeface="Calibri"/>
                <a:cs typeface="Calibri"/>
                <a:sym typeface="Calibri"/>
              </a:rPr>
              <a:t> aunque no vaya dirigido específicamente a ellas.</a:t>
            </a:r>
            <a:endParaRPr sz="222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2220"/>
              <a:buChar char="•"/>
            </a:pPr>
            <a:r>
              <a:rPr lang="es-ES" sz="2220">
                <a:solidFill>
                  <a:srgbClr val="003245"/>
                </a:solidFill>
                <a:latin typeface="Calibri"/>
                <a:ea typeface="Calibri"/>
                <a:cs typeface="Calibri"/>
                <a:sym typeface="Calibri"/>
              </a:rPr>
              <a:t>El </a:t>
            </a:r>
            <a:r>
              <a:rPr lang="es-ES" sz="2220" b="1">
                <a:solidFill>
                  <a:srgbClr val="003245"/>
                </a:solidFill>
                <a:latin typeface="Calibri"/>
                <a:ea typeface="Calibri"/>
                <a:cs typeface="Calibri"/>
                <a:sym typeface="Calibri"/>
              </a:rPr>
              <a:t>scanning</a:t>
            </a:r>
            <a:r>
              <a:rPr lang="es-ES" sz="2220">
                <a:solidFill>
                  <a:srgbClr val="003245"/>
                </a:solidFill>
                <a:latin typeface="Calibri"/>
                <a:ea typeface="Calibri"/>
                <a:cs typeface="Calibri"/>
                <a:sym typeface="Calibri"/>
              </a:rPr>
              <a:t> trata de analizar a través de diferentes herramientas el </a:t>
            </a:r>
            <a:r>
              <a:rPr lang="es-ES" sz="2220" b="1">
                <a:solidFill>
                  <a:srgbClr val="003245"/>
                </a:solidFill>
                <a:latin typeface="Calibri"/>
                <a:ea typeface="Calibri"/>
                <a:cs typeface="Calibri"/>
                <a:sym typeface="Calibri"/>
              </a:rPr>
              <a:t>estado de una determinada red</a:t>
            </a:r>
            <a:r>
              <a:rPr lang="es-ES" sz="2220">
                <a:solidFill>
                  <a:srgbClr val="003245"/>
                </a:solidFill>
                <a:latin typeface="Calibri"/>
                <a:ea typeface="Calibri"/>
                <a:cs typeface="Calibri"/>
                <a:sym typeface="Calibri"/>
              </a:rPr>
              <a:t> y de los dispositivos ubicados en ella. Se pueden diferenciar diferentes tipos de escáneres dependiendo del nivel de profundidad y del objetivo de este análisis. Los más habituales son los </a:t>
            </a:r>
            <a:r>
              <a:rPr lang="es-ES" sz="2220" b="1">
                <a:solidFill>
                  <a:srgbClr val="003245"/>
                </a:solidFill>
                <a:latin typeface="Calibri"/>
                <a:ea typeface="Calibri"/>
                <a:cs typeface="Calibri"/>
                <a:sym typeface="Calibri"/>
              </a:rPr>
              <a:t>escáneres de puertos</a:t>
            </a:r>
            <a:r>
              <a:rPr lang="es-ES" sz="2220">
                <a:solidFill>
                  <a:srgbClr val="003245"/>
                </a:solidFill>
                <a:latin typeface="Calibri"/>
                <a:ea typeface="Calibri"/>
                <a:cs typeface="Calibri"/>
                <a:sym typeface="Calibri"/>
              </a:rPr>
              <a:t> para saber qué puertos están abiertos en los diferentes equipos que forman parte de una red y los </a:t>
            </a:r>
            <a:r>
              <a:rPr lang="es-ES" sz="2220" b="1">
                <a:solidFill>
                  <a:srgbClr val="003245"/>
                </a:solidFill>
                <a:latin typeface="Calibri"/>
                <a:ea typeface="Calibri"/>
                <a:cs typeface="Calibri"/>
                <a:sym typeface="Calibri"/>
              </a:rPr>
              <a:t>escáneres de vulnerabilidades</a:t>
            </a:r>
            <a:r>
              <a:rPr lang="es-ES" sz="2220">
                <a:solidFill>
                  <a:srgbClr val="003245"/>
                </a:solidFill>
                <a:latin typeface="Calibri"/>
                <a:ea typeface="Calibri"/>
                <a:cs typeface="Calibri"/>
                <a:sym typeface="Calibri"/>
              </a:rPr>
              <a:t> para saber qué vulnerabilidades presentan en función de su sistema operativo o software instalado, versión y grado de actualización.</a:t>
            </a:r>
            <a:endParaRPr sz="2220">
              <a:latin typeface="Calibri"/>
              <a:ea typeface="Calibri"/>
              <a:cs typeface="Calibri"/>
              <a:sym typeface="Calibri"/>
            </a:endParaRPr>
          </a:p>
        </p:txBody>
      </p:sp>
      <p:pic>
        <p:nvPicPr>
          <p:cNvPr id="587" name="Google Shape;587;p60" descr="Correo Electrónico, Correo De Propaganda"/>
          <p:cNvPicPr preferRelativeResize="0"/>
          <p:nvPr/>
        </p:nvPicPr>
        <p:blipFill rotWithShape="1">
          <a:blip r:embed="rId3">
            <a:alphaModFix/>
          </a:blip>
          <a:srcRect/>
          <a:stretch/>
        </p:blipFill>
        <p:spPr>
          <a:xfrm>
            <a:off x="9413507" y="0"/>
            <a:ext cx="2692366" cy="182351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61"/>
          <p:cNvSpPr txBox="1">
            <a:spLocks noGrp="1"/>
          </p:cNvSpPr>
          <p:nvPr>
            <p:ph type="title"/>
          </p:nvPr>
        </p:nvSpPr>
        <p:spPr>
          <a:xfrm>
            <a:off x="838200" y="124494"/>
            <a:ext cx="10515600" cy="62627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Aplicaciones </a:t>
            </a:r>
            <a:endParaRPr/>
          </a:p>
        </p:txBody>
      </p:sp>
      <p:grpSp>
        <p:nvGrpSpPr>
          <p:cNvPr id="593" name="Google Shape;593;p61"/>
          <p:cNvGrpSpPr/>
          <p:nvPr/>
        </p:nvGrpSpPr>
        <p:grpSpPr>
          <a:xfrm>
            <a:off x="2032000" y="720327"/>
            <a:ext cx="8127999" cy="5417343"/>
            <a:chOff x="0" y="661"/>
            <a:chExt cx="8127999" cy="5417343"/>
          </a:xfrm>
        </p:grpSpPr>
        <p:sp>
          <p:nvSpPr>
            <p:cNvPr id="594" name="Google Shape;594;p61"/>
            <p:cNvSpPr/>
            <p:nvPr/>
          </p:nvSpPr>
          <p:spPr>
            <a:xfrm>
              <a:off x="3251199" y="661"/>
              <a:ext cx="4876800" cy="2579687"/>
            </a:xfrm>
            <a:prstGeom prst="rightArrow">
              <a:avLst>
                <a:gd name="adj1" fmla="val 75000"/>
                <a:gd name="adj2" fmla="val 50000"/>
              </a:avLst>
            </a:prstGeom>
            <a:solidFill>
              <a:srgbClr val="F7D5CB">
                <a:alpha val="89803"/>
              </a:srgbClr>
            </a:solidFill>
            <a:ln w="12700"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61"/>
            <p:cNvSpPr txBox="1"/>
            <p:nvPr/>
          </p:nvSpPr>
          <p:spPr>
            <a:xfrm>
              <a:off x="3251199" y="323122"/>
              <a:ext cx="3909417" cy="1934765"/>
            </a:xfrm>
            <a:prstGeom prst="rect">
              <a:avLst/>
            </a:prstGeom>
            <a:noFill/>
            <a:ln>
              <a:noFill/>
            </a:ln>
          </p:spPr>
          <p:txBody>
            <a:bodyPr spcFirstLastPara="1" wrap="square" lIns="15225" tIns="15225" rIns="15225" bIns="15225" anchor="t" anchorCtr="0">
              <a:noAutofit/>
            </a:bodyPr>
            <a:lstStyle/>
            <a:p>
              <a:pPr marL="228600" marR="0" lvl="1" indent="-228600" algn="l" rtl="0">
                <a:lnSpc>
                  <a:spcPct val="90000"/>
                </a:lnSpc>
                <a:spcBef>
                  <a:spcPts val="0"/>
                </a:spcBef>
                <a:spcAft>
                  <a:spcPts val="0"/>
                </a:spcAft>
                <a:buClr>
                  <a:schemeClr val="dk1"/>
                </a:buClr>
                <a:buSzPts val="2400"/>
                <a:buFont typeface="Calibri"/>
                <a:buChar char="•"/>
              </a:pPr>
              <a:r>
                <a:rPr lang="es-ES" sz="2400" b="1" i="0" u="none" strike="noStrike" cap="none">
                  <a:solidFill>
                    <a:schemeClr val="dk1"/>
                  </a:solidFill>
                  <a:latin typeface="Calibri"/>
                  <a:ea typeface="Calibri"/>
                  <a:cs typeface="Calibri"/>
                  <a:sym typeface="Calibri"/>
                </a:rPr>
                <a:t>Wireshark</a:t>
              </a:r>
              <a:endParaRPr sz="2400" b="0" i="0" u="none" strike="noStrike" cap="none">
                <a:solidFill>
                  <a:schemeClr val="dk1"/>
                </a:solidFill>
                <a:latin typeface="Times New Roman"/>
                <a:ea typeface="Times New Roman"/>
                <a:cs typeface="Times New Roman"/>
                <a:sym typeface="Times New Roman"/>
              </a:endParaRPr>
            </a:p>
            <a:p>
              <a:pPr marL="228600" marR="0" lvl="1" indent="-228600" algn="l" rtl="0">
                <a:lnSpc>
                  <a:spcPct val="90000"/>
                </a:lnSpc>
                <a:spcBef>
                  <a:spcPts val="360"/>
                </a:spcBef>
                <a:spcAft>
                  <a:spcPts val="0"/>
                </a:spcAft>
                <a:buClr>
                  <a:schemeClr val="dk1"/>
                </a:buClr>
                <a:buSzPts val="2400"/>
                <a:buFont typeface="Calibri"/>
                <a:buChar char="•"/>
              </a:pPr>
              <a:r>
                <a:rPr lang="es-ES" sz="2400" b="1" i="0" u="none" strike="noStrike" cap="none">
                  <a:solidFill>
                    <a:schemeClr val="dk1"/>
                  </a:solidFill>
                  <a:latin typeface="Calibri"/>
                  <a:ea typeface="Calibri"/>
                  <a:cs typeface="Calibri"/>
                  <a:sym typeface="Calibri"/>
                </a:rPr>
                <a:t>Microsoft Message Analyzer</a:t>
              </a:r>
              <a:endParaRPr sz="2400" b="0" i="0" u="none" strike="noStrike" cap="none">
                <a:solidFill>
                  <a:schemeClr val="dk1"/>
                </a:solidFill>
                <a:latin typeface="Times New Roman"/>
                <a:ea typeface="Times New Roman"/>
                <a:cs typeface="Times New Roman"/>
                <a:sym typeface="Times New Roman"/>
              </a:endParaRPr>
            </a:p>
            <a:p>
              <a:pPr marL="228600" marR="0" lvl="1" indent="-228600" algn="l" rtl="0">
                <a:lnSpc>
                  <a:spcPct val="90000"/>
                </a:lnSpc>
                <a:spcBef>
                  <a:spcPts val="360"/>
                </a:spcBef>
                <a:spcAft>
                  <a:spcPts val="0"/>
                </a:spcAft>
                <a:buClr>
                  <a:schemeClr val="dk1"/>
                </a:buClr>
                <a:buSzPts val="2400"/>
                <a:buFont typeface="Calibri"/>
                <a:buChar char="•"/>
              </a:pPr>
              <a:r>
                <a:rPr lang="es-ES" sz="2400" b="1" i="0" u="none" strike="noStrike" cap="none">
                  <a:solidFill>
                    <a:schemeClr val="dk1"/>
                  </a:solidFill>
                  <a:latin typeface="Calibri"/>
                  <a:ea typeface="Calibri"/>
                  <a:cs typeface="Calibri"/>
                  <a:sym typeface="Calibri"/>
                </a:rPr>
                <a:t>Tcpdump</a:t>
              </a:r>
              <a:endParaRPr sz="2400" b="0" i="0" u="none" strike="noStrike" cap="none">
                <a:solidFill>
                  <a:schemeClr val="dk1"/>
                </a:solidFill>
                <a:latin typeface="Times New Roman"/>
                <a:ea typeface="Times New Roman"/>
                <a:cs typeface="Times New Roman"/>
                <a:sym typeface="Times New Roman"/>
              </a:endParaRPr>
            </a:p>
            <a:p>
              <a:pPr marL="228600" marR="0" lvl="1" indent="-228600" algn="l" rtl="0">
                <a:lnSpc>
                  <a:spcPct val="90000"/>
                </a:lnSpc>
                <a:spcBef>
                  <a:spcPts val="360"/>
                </a:spcBef>
                <a:spcAft>
                  <a:spcPts val="0"/>
                </a:spcAft>
                <a:buClr>
                  <a:schemeClr val="dk1"/>
                </a:buClr>
                <a:buSzPts val="2400"/>
                <a:buFont typeface="Calibri"/>
                <a:buChar char="•"/>
              </a:pPr>
              <a:r>
                <a:rPr lang="es-ES" sz="2400" b="1" i="0" u="none" strike="noStrike" cap="none">
                  <a:solidFill>
                    <a:schemeClr val="dk1"/>
                  </a:solidFill>
                  <a:latin typeface="Calibri"/>
                  <a:ea typeface="Calibri"/>
                  <a:cs typeface="Calibri"/>
                  <a:sym typeface="Calibri"/>
                </a:rPr>
                <a:t>Windump</a:t>
              </a:r>
              <a:endParaRPr sz="2400" b="0" i="0" u="none" strike="noStrike" cap="none">
                <a:solidFill>
                  <a:schemeClr val="dk1"/>
                </a:solidFill>
                <a:latin typeface="Times New Roman"/>
                <a:ea typeface="Times New Roman"/>
                <a:cs typeface="Times New Roman"/>
                <a:sym typeface="Times New Roman"/>
              </a:endParaRPr>
            </a:p>
          </p:txBody>
        </p:sp>
        <p:sp>
          <p:nvSpPr>
            <p:cNvPr id="596" name="Google Shape;596;p61"/>
            <p:cNvSpPr/>
            <p:nvPr/>
          </p:nvSpPr>
          <p:spPr>
            <a:xfrm>
              <a:off x="0" y="661"/>
              <a:ext cx="3251200" cy="2579687"/>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61"/>
            <p:cNvSpPr txBox="1"/>
            <p:nvPr/>
          </p:nvSpPr>
          <p:spPr>
            <a:xfrm>
              <a:off x="125930" y="126591"/>
              <a:ext cx="2999340" cy="2327827"/>
            </a:xfrm>
            <a:prstGeom prst="rect">
              <a:avLst/>
            </a:prstGeom>
            <a:noFill/>
            <a:ln>
              <a:noFill/>
            </a:ln>
          </p:spPr>
          <p:txBody>
            <a:bodyPr spcFirstLastPara="1" wrap="square" lIns="190500" tIns="95250" rIns="190500" bIns="95250" anchor="ctr" anchorCtr="0">
              <a:noAutofit/>
            </a:bodyPr>
            <a:lstStyle/>
            <a:p>
              <a:pPr marL="0" marR="0" lvl="0" indent="0" algn="ctr" rtl="0">
                <a:lnSpc>
                  <a:spcPct val="90000"/>
                </a:lnSpc>
                <a:spcBef>
                  <a:spcPts val="0"/>
                </a:spcBef>
                <a:spcAft>
                  <a:spcPts val="0"/>
                </a:spcAft>
                <a:buClr>
                  <a:schemeClr val="lt1"/>
                </a:buClr>
                <a:buSzPts val="5000"/>
                <a:buFont typeface="Times New Roman"/>
                <a:buNone/>
              </a:pPr>
              <a:r>
                <a:rPr lang="es-ES" sz="5000" b="1">
                  <a:solidFill>
                    <a:schemeClr val="lt1"/>
                  </a:solidFill>
                  <a:latin typeface="Times New Roman"/>
                  <a:ea typeface="Times New Roman"/>
                  <a:cs typeface="Times New Roman"/>
                  <a:sym typeface="Times New Roman"/>
                </a:rPr>
                <a:t>Sniffing</a:t>
              </a:r>
              <a:r>
                <a:rPr lang="es-ES" sz="5000">
                  <a:solidFill>
                    <a:schemeClr val="lt1"/>
                  </a:solidFill>
                  <a:latin typeface="Times New Roman"/>
                  <a:ea typeface="Times New Roman"/>
                  <a:cs typeface="Times New Roman"/>
                  <a:sym typeface="Times New Roman"/>
                </a:rPr>
                <a:t>.</a:t>
              </a:r>
              <a:endParaRPr/>
            </a:p>
          </p:txBody>
        </p:sp>
        <p:sp>
          <p:nvSpPr>
            <p:cNvPr id="598" name="Google Shape;598;p61"/>
            <p:cNvSpPr/>
            <p:nvPr/>
          </p:nvSpPr>
          <p:spPr>
            <a:xfrm>
              <a:off x="3251199" y="2838317"/>
              <a:ext cx="4876800" cy="2579687"/>
            </a:xfrm>
            <a:prstGeom prst="rightArrow">
              <a:avLst>
                <a:gd name="adj1" fmla="val 75000"/>
                <a:gd name="adj2" fmla="val 50000"/>
              </a:avLst>
            </a:prstGeom>
            <a:solidFill>
              <a:srgbClr val="DFDFDF">
                <a:alpha val="89803"/>
              </a:srgbClr>
            </a:solidFill>
            <a:ln w="12700" cap="flat" cmpd="sng">
              <a:solidFill>
                <a:srgbClr val="DFDFDF">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61"/>
            <p:cNvSpPr txBox="1"/>
            <p:nvPr/>
          </p:nvSpPr>
          <p:spPr>
            <a:xfrm>
              <a:off x="3251199" y="3160778"/>
              <a:ext cx="3909417" cy="1934765"/>
            </a:xfrm>
            <a:prstGeom prst="rect">
              <a:avLst/>
            </a:prstGeom>
            <a:noFill/>
            <a:ln>
              <a:noFill/>
            </a:ln>
          </p:spPr>
          <p:txBody>
            <a:bodyPr spcFirstLastPara="1" wrap="square" lIns="15225" tIns="15225" rIns="15225" bIns="15225" anchor="t" anchorCtr="0">
              <a:noAutofit/>
            </a:bodyPr>
            <a:lstStyle/>
            <a:p>
              <a:pPr marL="228600" marR="0" lvl="1" indent="-228600" algn="l" rtl="0">
                <a:lnSpc>
                  <a:spcPct val="90000"/>
                </a:lnSpc>
                <a:spcBef>
                  <a:spcPts val="0"/>
                </a:spcBef>
                <a:spcAft>
                  <a:spcPts val="0"/>
                </a:spcAft>
                <a:buClr>
                  <a:schemeClr val="dk1"/>
                </a:buClr>
                <a:buSzPts val="2400"/>
                <a:buFont typeface="Calibri"/>
                <a:buChar char="•"/>
              </a:pPr>
              <a:r>
                <a:rPr lang="es-ES" sz="2400" b="0" i="0" u="sng" strike="noStrike" cap="non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NetSpot</a:t>
              </a:r>
              <a:endParaRPr sz="2400" b="0" i="0" u="none" strike="noStrike" cap="none">
                <a:solidFill>
                  <a:schemeClr val="dk1"/>
                </a:solidFill>
                <a:latin typeface="Times New Roman"/>
                <a:ea typeface="Times New Roman"/>
                <a:cs typeface="Times New Roman"/>
                <a:sym typeface="Times New Roman"/>
              </a:endParaRPr>
            </a:p>
            <a:p>
              <a:pPr marL="228600" marR="0" lvl="1" indent="-228600" algn="l" rtl="0">
                <a:lnSpc>
                  <a:spcPct val="90000"/>
                </a:lnSpc>
                <a:spcBef>
                  <a:spcPts val="360"/>
                </a:spcBef>
                <a:spcAft>
                  <a:spcPts val="0"/>
                </a:spcAft>
                <a:buClr>
                  <a:schemeClr val="dk1"/>
                </a:buClr>
                <a:buSzPts val="2400"/>
                <a:buFont typeface="Calibri"/>
                <a:buAutoNum type="arabicPeriod"/>
              </a:pPr>
              <a:r>
                <a:rPr lang="es-ES" sz="2400" b="0" i="0" u="sng" strike="noStrike" cap="non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inSSIDer</a:t>
              </a:r>
              <a:endParaRPr sz="24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360"/>
                </a:spcBef>
                <a:spcAft>
                  <a:spcPts val="0"/>
                </a:spcAft>
                <a:buClr>
                  <a:schemeClr val="dk1"/>
                </a:buClr>
                <a:buSzPts val="2400"/>
                <a:buFont typeface="Calibri"/>
                <a:buAutoNum type="arabicPeriod"/>
              </a:pPr>
              <a:r>
                <a:rPr lang="es-ES" sz="2400" b="0" i="0" u="sng" strike="noStrike" cap="non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Xirrus Wi-Fi Inspector</a:t>
              </a:r>
              <a:endParaRPr sz="24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360"/>
                </a:spcBef>
                <a:spcAft>
                  <a:spcPts val="0"/>
                </a:spcAft>
                <a:buClr>
                  <a:schemeClr val="dk1"/>
                </a:buClr>
                <a:buSzPts val="2400"/>
                <a:buFont typeface="Calibri"/>
                <a:buAutoNum type="arabicPeriod"/>
              </a:pPr>
              <a:r>
                <a:rPr lang="es-ES" sz="2400" b="0" i="0" u="sng" strike="noStrike" cap="non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WifiInfoView</a:t>
              </a:r>
              <a:endParaRPr sz="24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360"/>
                </a:spcBef>
                <a:spcAft>
                  <a:spcPts val="0"/>
                </a:spcAft>
                <a:buClr>
                  <a:schemeClr val="dk1"/>
                </a:buClr>
                <a:buSzPts val="2400"/>
                <a:buFont typeface="Calibri"/>
                <a:buAutoNum type="arabicPeriod"/>
              </a:pPr>
              <a:r>
                <a:rPr lang="es-ES" sz="2400" b="0" i="0" u="sng" strike="noStrike" cap="none">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WiFi Scanner</a:t>
              </a:r>
              <a:endParaRPr sz="2400" b="0" i="0" u="none" strike="noStrike" cap="none">
                <a:solidFill>
                  <a:schemeClr val="dk1"/>
                </a:solidFill>
                <a:latin typeface="Calibri"/>
                <a:ea typeface="Calibri"/>
                <a:cs typeface="Calibri"/>
                <a:sym typeface="Calibri"/>
              </a:endParaRPr>
            </a:p>
          </p:txBody>
        </p:sp>
        <p:sp>
          <p:nvSpPr>
            <p:cNvPr id="600" name="Google Shape;600;p61"/>
            <p:cNvSpPr/>
            <p:nvPr/>
          </p:nvSpPr>
          <p:spPr>
            <a:xfrm>
              <a:off x="0" y="2838317"/>
              <a:ext cx="3251200" cy="2579687"/>
            </a:xfrm>
            <a:prstGeom prst="roundRect">
              <a:avLst>
                <a:gd name="adj" fmla="val 16667"/>
              </a:avLst>
            </a:prstGeom>
            <a:solidFill>
              <a:srgbClr val="A4A4A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1"/>
            <p:cNvSpPr txBox="1"/>
            <p:nvPr/>
          </p:nvSpPr>
          <p:spPr>
            <a:xfrm>
              <a:off x="125930" y="2964247"/>
              <a:ext cx="2999340" cy="2327827"/>
            </a:xfrm>
            <a:prstGeom prst="rect">
              <a:avLst/>
            </a:prstGeom>
            <a:noFill/>
            <a:ln>
              <a:noFill/>
            </a:ln>
          </p:spPr>
          <p:txBody>
            <a:bodyPr spcFirstLastPara="1" wrap="square" lIns="190500" tIns="95250" rIns="190500" bIns="95250" anchor="ctr" anchorCtr="0">
              <a:noAutofit/>
            </a:bodyPr>
            <a:lstStyle/>
            <a:p>
              <a:pPr marL="0" marR="0" lvl="0" indent="0" algn="ctr" rtl="0">
                <a:lnSpc>
                  <a:spcPct val="90000"/>
                </a:lnSpc>
                <a:spcBef>
                  <a:spcPts val="0"/>
                </a:spcBef>
                <a:spcAft>
                  <a:spcPts val="0"/>
                </a:spcAft>
                <a:buClr>
                  <a:schemeClr val="lt1"/>
                </a:buClr>
                <a:buSzPts val="5000"/>
                <a:buFont typeface="Times New Roman"/>
                <a:buNone/>
              </a:pPr>
              <a:r>
                <a:rPr lang="es-ES" sz="5000" b="1">
                  <a:solidFill>
                    <a:schemeClr val="lt1"/>
                  </a:solidFill>
                  <a:latin typeface="Times New Roman"/>
                  <a:ea typeface="Times New Roman"/>
                  <a:cs typeface="Times New Roman"/>
                  <a:sym typeface="Times New Roman"/>
                </a:rPr>
                <a:t>Scanning</a:t>
              </a:r>
              <a:endParaRPr sz="50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62"/>
          <p:cNvSpPr txBox="1">
            <a:spLocks noGrp="1"/>
          </p:cNvSpPr>
          <p:nvPr>
            <p:ph type="title"/>
          </p:nvPr>
        </p:nvSpPr>
        <p:spPr>
          <a:xfrm>
            <a:off x="838200" y="76367"/>
            <a:ext cx="10515600" cy="7032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s-ES"/>
              <a:t>INTRANET</a:t>
            </a:r>
            <a:endParaRPr/>
          </a:p>
        </p:txBody>
      </p:sp>
      <p:sp>
        <p:nvSpPr>
          <p:cNvPr id="607" name="Google Shape;607;p62"/>
          <p:cNvSpPr txBox="1"/>
          <p:nvPr/>
        </p:nvSpPr>
        <p:spPr>
          <a:xfrm>
            <a:off x="344103" y="1355723"/>
            <a:ext cx="509417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chemeClr val="dk1"/>
                </a:solidFill>
                <a:latin typeface="Arial"/>
                <a:ea typeface="Arial"/>
                <a:cs typeface="Arial"/>
                <a:sym typeface="Arial"/>
              </a:rPr>
              <a:t>Una Intranet </a:t>
            </a:r>
            <a:r>
              <a:rPr lang="es-ES" sz="1800" b="1" i="0">
                <a:solidFill>
                  <a:schemeClr val="dk1"/>
                </a:solidFill>
                <a:latin typeface="Arial"/>
                <a:ea typeface="Arial"/>
                <a:cs typeface="Arial"/>
                <a:sym typeface="Arial"/>
              </a:rPr>
              <a:t>es un sistema de red privado que permite compartir recursos entre sus miembros.</a:t>
            </a:r>
            <a:endParaRPr sz="1800">
              <a:solidFill>
                <a:schemeClr val="dk1"/>
              </a:solidFill>
              <a:latin typeface="Calibri"/>
              <a:ea typeface="Calibri"/>
              <a:cs typeface="Calibri"/>
              <a:sym typeface="Calibri"/>
            </a:endParaRPr>
          </a:p>
        </p:txBody>
      </p:sp>
      <p:sp>
        <p:nvSpPr>
          <p:cNvPr id="608" name="Google Shape;608;p62"/>
          <p:cNvSpPr txBox="1"/>
          <p:nvPr/>
        </p:nvSpPr>
        <p:spPr>
          <a:xfrm>
            <a:off x="344103" y="3224464"/>
            <a:ext cx="6097604"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chemeClr val="dk1"/>
                </a:solidFill>
                <a:latin typeface="Arial"/>
                <a:ea typeface="Arial"/>
                <a:cs typeface="Arial"/>
                <a:sym typeface="Arial"/>
              </a:rPr>
              <a:t>Las empresas usan las Intranets para que los empleados de los diferentes departamentos accedan la información necesaria para el desarrollo de su actividad.</a:t>
            </a:r>
            <a:endParaRPr sz="1800" b="0" i="0">
              <a:solidFill>
                <a:schemeClr val="dk1"/>
              </a:solidFill>
              <a:latin typeface="Arial"/>
              <a:ea typeface="Arial"/>
              <a:cs typeface="Arial"/>
              <a:sym typeface="Arial"/>
            </a:endParaRPr>
          </a:p>
          <a:p>
            <a:pPr marL="0" marR="0" lvl="0" indent="0" algn="l" rtl="0">
              <a:spcBef>
                <a:spcPts val="0"/>
              </a:spcBef>
              <a:spcAft>
                <a:spcPts val="0"/>
              </a:spcAft>
              <a:buNone/>
            </a:pPr>
            <a:r>
              <a:rPr lang="es-ES" sz="1800" b="0" i="0">
                <a:solidFill>
                  <a:schemeClr val="dk1"/>
                </a:solidFill>
                <a:latin typeface="Arial"/>
                <a:ea typeface="Arial"/>
                <a:cs typeface="Arial"/>
                <a:sym typeface="Arial"/>
              </a:rPr>
              <a:t>La información compartida puede variar según la empresa, son muy habituales las redes para compartir documentos y bases de datos de gestión. Muchas aplicaciones corporativas pueden considerarse dentro de esta definición.</a:t>
            </a:r>
            <a:endParaRPr/>
          </a:p>
        </p:txBody>
      </p:sp>
      <p:pic>
        <p:nvPicPr>
          <p:cNvPr id="609" name="Google Shape;609;p62" descr="Red Intranet con equipos conectados a servidores."/>
          <p:cNvPicPr preferRelativeResize="0"/>
          <p:nvPr/>
        </p:nvPicPr>
        <p:blipFill rotWithShape="1">
          <a:blip r:embed="rId3">
            <a:alphaModFix/>
          </a:blip>
          <a:srcRect/>
          <a:stretch/>
        </p:blipFill>
        <p:spPr>
          <a:xfrm>
            <a:off x="7016817" y="1678888"/>
            <a:ext cx="4519696" cy="31185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63"/>
          <p:cNvSpPr txBox="1">
            <a:spLocks noGrp="1"/>
          </p:cNvSpPr>
          <p:nvPr>
            <p:ph type="title"/>
          </p:nvPr>
        </p:nvSpPr>
        <p:spPr>
          <a:xfrm>
            <a:off x="838200" y="0"/>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TIPOS DE INTRANET</a:t>
            </a:r>
            <a:endParaRPr/>
          </a:p>
        </p:txBody>
      </p:sp>
      <p:sp>
        <p:nvSpPr>
          <p:cNvPr id="616" name="Google Shape;616;p63"/>
          <p:cNvSpPr txBox="1">
            <a:spLocks noGrp="1"/>
          </p:cNvSpPr>
          <p:nvPr>
            <p:ph type="body" idx="1"/>
          </p:nvPr>
        </p:nvSpPr>
        <p:spPr>
          <a:xfrm>
            <a:off x="4706754" y="1134780"/>
            <a:ext cx="7246813" cy="3949799"/>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1800"/>
              <a:buChar char="•"/>
            </a:pPr>
            <a:r>
              <a:rPr lang="es-ES" sz="1800" b="1">
                <a:solidFill>
                  <a:schemeClr val="lt1"/>
                </a:solidFill>
                <a:latin typeface="Arial"/>
                <a:ea typeface="Arial"/>
                <a:cs typeface="Arial"/>
                <a:sym typeface="Arial"/>
              </a:rPr>
              <a:t>Con el paso del tiempo y el Cloud Computing, las Intranets basadas en web están pasando a  un segundo plano porque la gestión de los archivos es bastante rudimentaria.</a:t>
            </a:r>
            <a:endParaRPr/>
          </a:p>
          <a:p>
            <a:pPr marL="0" lvl="0" indent="0" algn="l" rtl="0">
              <a:lnSpc>
                <a:spcPct val="90000"/>
              </a:lnSpc>
              <a:spcBef>
                <a:spcPts val="1000"/>
              </a:spcBef>
              <a:spcAft>
                <a:spcPts val="0"/>
              </a:spcAft>
              <a:buClr>
                <a:schemeClr val="lt1"/>
              </a:buClr>
              <a:buSzPts val="1800"/>
              <a:buChar char="•"/>
            </a:pPr>
            <a:r>
              <a:rPr lang="es-ES" sz="1800" b="1">
                <a:solidFill>
                  <a:schemeClr val="lt1"/>
                </a:solidFill>
                <a:latin typeface="Arial"/>
                <a:ea typeface="Arial"/>
                <a:cs typeface="Arial"/>
                <a:sym typeface="Arial"/>
              </a:rPr>
              <a:t>El manejo de los archivos en la empresa requiere de cierta agilidad que una Intranet basada en web de ninguna manera puede proporcionar. El motivo es su propia tecnología, ya que al estar basadas en el formato web los archivos han de ser subidos y descargados continuamente. Esta tecnología tiene serias limitaciones y no es posible disponer de mecanismos que permitan operaciones con los archivos en el ordenador del usuario que se conecta.</a:t>
            </a:r>
            <a:endParaRPr/>
          </a:p>
          <a:p>
            <a:pPr marL="0" lvl="0" indent="0" algn="l" rtl="0">
              <a:lnSpc>
                <a:spcPct val="90000"/>
              </a:lnSpc>
              <a:spcBef>
                <a:spcPts val="1000"/>
              </a:spcBef>
              <a:spcAft>
                <a:spcPts val="0"/>
              </a:spcAft>
              <a:buClr>
                <a:schemeClr val="lt1"/>
              </a:buClr>
              <a:buSzPts val="1800"/>
              <a:buChar char="•"/>
            </a:pPr>
            <a:r>
              <a:rPr lang="es-ES" sz="1800" b="1">
                <a:solidFill>
                  <a:schemeClr val="lt1"/>
                </a:solidFill>
                <a:latin typeface="Arial"/>
                <a:ea typeface="Arial"/>
                <a:cs typeface="Arial"/>
                <a:sym typeface="Arial"/>
              </a:rPr>
              <a:t>En nuestros días las Intranets se basan en la disruptiva tecnología Cloud y son aplicaciones que usan estas tecnologías.</a:t>
            </a:r>
            <a:endParaRPr/>
          </a:p>
        </p:txBody>
      </p:sp>
      <p:sp>
        <p:nvSpPr>
          <p:cNvPr id="617" name="Google Shape;617;p63"/>
          <p:cNvSpPr txBox="1"/>
          <p:nvPr/>
        </p:nvSpPr>
        <p:spPr>
          <a:xfrm>
            <a:off x="88490" y="1362895"/>
            <a:ext cx="4434349" cy="3139321"/>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chemeClr val="lt1"/>
                </a:solidFill>
                <a:latin typeface="Arial"/>
                <a:ea typeface="Arial"/>
                <a:cs typeface="Arial"/>
                <a:sym typeface="Arial"/>
              </a:rPr>
              <a:t>Un modelo de Intranet que ha tenido mucho éxito en los últimos años aunque ya ha quedado obsoleto es el de la Intranet basada en Web</a:t>
            </a:r>
            <a:r>
              <a:rPr lang="es-ES" sz="1800" b="0" i="0">
                <a:solidFill>
                  <a:schemeClr val="lt1"/>
                </a:solidFill>
                <a:latin typeface="Arial"/>
                <a:ea typeface="Arial"/>
                <a:cs typeface="Arial"/>
                <a:sym typeface="Arial"/>
              </a:rPr>
              <a:t>, caracterizada por que se trata de un sitio web interno, diseñado para ser utilizado dentro de los límites de la compañía.</a:t>
            </a:r>
            <a:endParaRPr/>
          </a:p>
          <a:p>
            <a:pPr marL="0" marR="0" lvl="0" indent="0" algn="l" rtl="0">
              <a:spcBef>
                <a:spcPts val="0"/>
              </a:spcBef>
              <a:spcAft>
                <a:spcPts val="0"/>
              </a:spcAft>
              <a:buNone/>
            </a:pPr>
            <a:r>
              <a:rPr lang="es-ES" sz="1800" b="0" i="0">
                <a:solidFill>
                  <a:schemeClr val="lt1"/>
                </a:solidFill>
                <a:latin typeface="Arial"/>
                <a:ea typeface="Arial"/>
                <a:cs typeface="Arial"/>
                <a:sym typeface="Arial"/>
              </a:rPr>
              <a:t>Lo que distingue una Intranet de un sitio de Internet es que la Intranet es privada. En ella la información que se almacena tiene como objetivo asistir a los trabajadores de la empresa.</a:t>
            </a:r>
            <a:endParaRPr/>
          </a:p>
        </p:txBody>
      </p:sp>
      <p:sp>
        <p:nvSpPr>
          <p:cNvPr id="618" name="Google Shape;618;p63"/>
          <p:cNvSpPr txBox="1"/>
          <p:nvPr/>
        </p:nvSpPr>
        <p:spPr>
          <a:xfrm>
            <a:off x="238433" y="694475"/>
            <a:ext cx="4284406"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b="1" i="0">
                <a:solidFill>
                  <a:srgbClr val="3F3F3F"/>
                </a:solidFill>
                <a:latin typeface="Arial"/>
                <a:ea typeface="Arial"/>
                <a:cs typeface="Arial"/>
                <a:sym typeface="Arial"/>
              </a:rPr>
              <a:t>La Intranet basada en Web</a:t>
            </a:r>
            <a:endParaRPr/>
          </a:p>
        </p:txBody>
      </p:sp>
      <p:sp>
        <p:nvSpPr>
          <p:cNvPr id="619" name="Google Shape;619;p63"/>
          <p:cNvSpPr txBox="1"/>
          <p:nvPr/>
        </p:nvSpPr>
        <p:spPr>
          <a:xfrm>
            <a:off x="5641414" y="595601"/>
            <a:ext cx="833775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b="1" i="0">
                <a:solidFill>
                  <a:srgbClr val="3F3F3F"/>
                </a:solidFill>
                <a:latin typeface="Arial"/>
                <a:ea typeface="Arial"/>
                <a:cs typeface="Arial"/>
                <a:sym typeface="Arial"/>
              </a:rPr>
              <a:t>La Intranet basada en </a:t>
            </a:r>
            <a:r>
              <a:rPr lang="es-ES" sz="2800" b="1">
                <a:solidFill>
                  <a:srgbClr val="3F3F3F"/>
                </a:solidFill>
                <a:latin typeface="Arial"/>
                <a:ea typeface="Arial"/>
                <a:cs typeface="Arial"/>
                <a:sym typeface="Arial"/>
              </a:rPr>
              <a:t>Cloud computing</a:t>
            </a:r>
            <a:endParaRPr sz="2800" b="1" i="0">
              <a:solidFill>
                <a:srgbClr val="3F3F3F"/>
              </a:solidFill>
              <a:latin typeface="Arial"/>
              <a:ea typeface="Arial"/>
              <a:cs typeface="Arial"/>
              <a:sym typeface="Arial"/>
            </a:endParaRPr>
          </a:p>
        </p:txBody>
      </p:sp>
      <p:sp>
        <p:nvSpPr>
          <p:cNvPr id="620" name="Google Shape;620;p63"/>
          <p:cNvSpPr txBox="1"/>
          <p:nvPr/>
        </p:nvSpPr>
        <p:spPr>
          <a:xfrm>
            <a:off x="238433" y="694475"/>
            <a:ext cx="833775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b="1" i="0">
                <a:solidFill>
                  <a:srgbClr val="3F3F3F"/>
                </a:solidFill>
                <a:latin typeface="Arial"/>
                <a:ea typeface="Arial"/>
                <a:cs typeface="Arial"/>
                <a:sym typeface="Arial"/>
              </a:rPr>
              <a:t>La Intranet basada en Web</a:t>
            </a:r>
            <a:endParaRPr/>
          </a:p>
        </p:txBody>
      </p:sp>
      <p:sp>
        <p:nvSpPr>
          <p:cNvPr id="621" name="Google Shape;621;p63"/>
          <p:cNvSpPr txBox="1"/>
          <p:nvPr/>
        </p:nvSpPr>
        <p:spPr>
          <a:xfrm>
            <a:off x="4058057" y="4511455"/>
            <a:ext cx="833775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b="1" i="0">
                <a:solidFill>
                  <a:srgbClr val="3F3F3F"/>
                </a:solidFill>
                <a:latin typeface="Arial"/>
                <a:ea typeface="Arial"/>
                <a:cs typeface="Arial"/>
                <a:sym typeface="Arial"/>
              </a:rPr>
              <a:t>La Intranet de documentos</a:t>
            </a:r>
            <a:endParaRPr/>
          </a:p>
        </p:txBody>
      </p:sp>
      <p:sp>
        <p:nvSpPr>
          <p:cNvPr id="622" name="Google Shape;622;p63"/>
          <p:cNvSpPr txBox="1"/>
          <p:nvPr/>
        </p:nvSpPr>
        <p:spPr>
          <a:xfrm>
            <a:off x="88490" y="4970886"/>
            <a:ext cx="12202971" cy="1754326"/>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chemeClr val="lt1"/>
                </a:solidFill>
                <a:latin typeface="Arial"/>
                <a:ea typeface="Arial"/>
                <a:cs typeface="Arial"/>
                <a:sym typeface="Arial"/>
              </a:rPr>
              <a:t>Las organizaciones consumen gran cantidad de información para dar soporte a su operativa diaria.</a:t>
            </a:r>
            <a:endParaRPr/>
          </a:p>
          <a:p>
            <a:pPr marL="0" marR="0" lvl="0" indent="0" algn="l" rtl="0">
              <a:spcBef>
                <a:spcPts val="0"/>
              </a:spcBef>
              <a:spcAft>
                <a:spcPts val="0"/>
              </a:spcAft>
              <a:buNone/>
            </a:pPr>
            <a:r>
              <a:rPr lang="es-ES" sz="1800" b="1" i="0">
                <a:solidFill>
                  <a:schemeClr val="lt1"/>
                </a:solidFill>
                <a:latin typeface="Arial"/>
                <a:ea typeface="Arial"/>
                <a:cs typeface="Arial"/>
                <a:sym typeface="Arial"/>
              </a:rPr>
              <a:t>Si la información NO está organizada, relacionada y distribuida de forma apropiada produce una ineficacia operativa.</a:t>
            </a:r>
            <a:r>
              <a:rPr lang="es-ES" sz="1800" b="0" i="0">
                <a:solidFill>
                  <a:schemeClr val="lt1"/>
                </a:solidFill>
                <a:latin typeface="Arial"/>
                <a:ea typeface="Arial"/>
                <a:cs typeface="Arial"/>
                <a:sym typeface="Arial"/>
              </a:rPr>
              <a:t> Una </a:t>
            </a:r>
            <a:r>
              <a:rPr lang="es-ES" sz="1800" b="0" i="0" u="sng">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Intranet corporativa</a:t>
            </a:r>
            <a:r>
              <a:rPr lang="es-ES" sz="1800" b="0" i="0">
                <a:solidFill>
                  <a:schemeClr val="lt1"/>
                </a:solidFill>
                <a:latin typeface="Arial"/>
                <a:ea typeface="Arial"/>
                <a:cs typeface="Arial"/>
                <a:sym typeface="Arial"/>
              </a:rPr>
              <a:t> pone a disposición esta información a lo largo y ancho de la empresa, las 24 horas del día, los 365 días del año, trabajando en la oficina, estando de viaje o desde la casa haciendo trabajo remoto. Todo bajo un esquema de </a:t>
            </a:r>
            <a:r>
              <a:rPr lang="es-ES" sz="1800" b="1" i="0">
                <a:solidFill>
                  <a:schemeClr val="lt1"/>
                </a:solidFill>
                <a:latin typeface="Arial"/>
                <a:ea typeface="Arial"/>
                <a:cs typeface="Arial"/>
                <a:sym typeface="Arial"/>
              </a:rPr>
              <a:t>seguridad y control de acceso que asegura que cada persona puede ver únicamente lo que le corresponde</a:t>
            </a:r>
            <a:r>
              <a:rPr lang="es-ES" sz="1800" b="0" i="0">
                <a:solidFill>
                  <a:schemeClr val="lt1"/>
                </a:solidFill>
                <a:latin typeface="Arial"/>
                <a:ea typeface="Arial"/>
                <a:cs typeface="Arial"/>
                <a:sym typeface="Arial"/>
              </a:rPr>
              <a:t>.</a:t>
            </a:r>
            <a:endParaRPr/>
          </a:p>
          <a:p>
            <a:pPr marL="0" marR="0" lvl="0" indent="0" algn="l" rtl="0">
              <a:spcBef>
                <a:spcPts val="0"/>
              </a:spcBef>
              <a:spcAft>
                <a:spcPts val="0"/>
              </a:spcAft>
              <a:buNone/>
            </a:pPr>
            <a:r>
              <a:rPr lang="es-ES" sz="1800" b="0" i="0">
                <a:solidFill>
                  <a:schemeClr val="lt1"/>
                </a:solidFill>
                <a:latin typeface="Arial"/>
                <a:ea typeface="Arial"/>
                <a:cs typeface="Arial"/>
                <a:sym typeface="Arial"/>
              </a:rPr>
              <a:t>Un tipo de Intranet ampliamente extendido es el que proporciona acceso a los documentos de la empresa.</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64"/>
          <p:cNvSpPr txBox="1">
            <a:spLocks noGrp="1"/>
          </p:cNvSpPr>
          <p:nvPr>
            <p:ph type="title"/>
          </p:nvPr>
        </p:nvSpPr>
        <p:spPr>
          <a:xfrm>
            <a:off x="838200" y="76367"/>
            <a:ext cx="10515600" cy="7032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s-ES"/>
              <a:t>EXTRANET</a:t>
            </a:r>
            <a:endParaRPr/>
          </a:p>
        </p:txBody>
      </p:sp>
      <p:sp>
        <p:nvSpPr>
          <p:cNvPr id="629" name="Google Shape;629;p64"/>
          <p:cNvSpPr txBox="1"/>
          <p:nvPr/>
        </p:nvSpPr>
        <p:spPr>
          <a:xfrm>
            <a:off x="0" y="681037"/>
            <a:ext cx="1229146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3C3C3C"/>
                </a:solidFill>
                <a:latin typeface="Open Sans"/>
                <a:ea typeface="Open Sans"/>
                <a:cs typeface="Open Sans"/>
                <a:sym typeface="Open Sans"/>
              </a:rPr>
              <a:t>La palabra extranet resulta de la combinación entre el vocablo latino “extra” (fuera) y “net” (red), designando así a una </a:t>
            </a:r>
            <a:r>
              <a:rPr lang="es-ES" sz="1800" b="1" i="0">
                <a:solidFill>
                  <a:srgbClr val="3C3C3C"/>
                </a:solidFill>
                <a:latin typeface="Open Sans"/>
                <a:ea typeface="Open Sans"/>
                <a:cs typeface="Open Sans"/>
                <a:sym typeface="Open Sans"/>
              </a:rPr>
              <a:t>red privada y controlada de ordenadores</a:t>
            </a:r>
            <a:r>
              <a:rPr lang="es-ES" sz="1800" b="0" i="0">
                <a:solidFill>
                  <a:srgbClr val="3C3C3C"/>
                </a:solidFill>
                <a:latin typeface="Open Sans"/>
                <a:ea typeface="Open Sans"/>
                <a:cs typeface="Open Sans"/>
                <a:sym typeface="Open Sans"/>
              </a:rPr>
              <a:t> que utiliza la tecnología de Internet para conectar entre sí a un grupo definido de usuarios externos y otorgarles acceso a la red. Una extranet se utiliza para poner ciertos recursos a disposición de un </a:t>
            </a:r>
            <a:r>
              <a:rPr lang="es-ES" sz="1800" b="1" i="0">
                <a:solidFill>
                  <a:srgbClr val="3C3C3C"/>
                </a:solidFill>
                <a:latin typeface="Open Sans"/>
                <a:ea typeface="Open Sans"/>
                <a:cs typeface="Open Sans"/>
                <a:sym typeface="Open Sans"/>
              </a:rPr>
              <a:t>círculo autorizado,</a:t>
            </a:r>
            <a:r>
              <a:rPr lang="es-ES" sz="1800" b="0" i="0">
                <a:solidFill>
                  <a:srgbClr val="3C3C3C"/>
                </a:solidFill>
                <a:latin typeface="Open Sans"/>
                <a:ea typeface="Open Sans"/>
                <a:cs typeface="Open Sans"/>
                <a:sym typeface="Open Sans"/>
              </a:rPr>
              <a:t> pero no al público general. Algunos posibles usuarios externos son los socios comerciales, los proveedores y algunos clientes. La implantación de una extranet facilita el intercambio de información más allá de los límites de la empresa, en especial la comunicación entre los empleados de la misma y personas externas.</a:t>
            </a:r>
            <a:endParaRPr sz="1800">
              <a:solidFill>
                <a:schemeClr val="dk1"/>
              </a:solidFill>
              <a:latin typeface="Calibri"/>
              <a:ea typeface="Calibri"/>
              <a:cs typeface="Calibri"/>
              <a:sym typeface="Calibri"/>
            </a:endParaRPr>
          </a:p>
        </p:txBody>
      </p:sp>
      <p:sp>
        <p:nvSpPr>
          <p:cNvPr id="630" name="Google Shape;630;p64"/>
          <p:cNvSpPr txBox="1"/>
          <p:nvPr/>
        </p:nvSpPr>
        <p:spPr>
          <a:xfrm>
            <a:off x="0" y="2435363"/>
            <a:ext cx="12031579"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3C3C3C"/>
                </a:solidFill>
                <a:latin typeface="Open Sans"/>
                <a:ea typeface="Open Sans"/>
                <a:cs typeface="Open Sans"/>
                <a:sym typeface="Open Sans"/>
              </a:rPr>
              <a:t>Con la implantación de una extranet en una empresa privada, en una organización, en una universidad o en una asociación, se construye una red integral de información que puede integrarse en los procesos corporativos de diversas formas:</a:t>
            </a:r>
            <a:endParaRPr/>
          </a:p>
          <a:p>
            <a:pPr marL="0" marR="0" lvl="0" indent="-114300" algn="l" rtl="0">
              <a:spcBef>
                <a:spcPts val="0"/>
              </a:spcBef>
              <a:spcAft>
                <a:spcPts val="0"/>
              </a:spcAft>
              <a:buClr>
                <a:srgbClr val="3C3C3C"/>
              </a:buClr>
              <a:buSzPts val="1800"/>
              <a:buFont typeface="Arial"/>
              <a:buChar char="•"/>
            </a:pPr>
            <a:r>
              <a:rPr lang="es-ES" sz="1800" b="1" i="0">
                <a:solidFill>
                  <a:srgbClr val="3C3C3C"/>
                </a:solidFill>
                <a:latin typeface="Open Sans"/>
                <a:ea typeface="Open Sans"/>
                <a:cs typeface="Open Sans"/>
                <a:sym typeface="Open Sans"/>
              </a:rPr>
              <a:t>Tráfico de datos</a:t>
            </a:r>
            <a:r>
              <a:rPr lang="es-ES" sz="1800" b="0" i="0">
                <a:solidFill>
                  <a:srgbClr val="3C3C3C"/>
                </a:solidFill>
                <a:latin typeface="Open Sans"/>
                <a:ea typeface="Open Sans"/>
                <a:cs typeface="Open Sans"/>
                <a:sym typeface="Open Sans"/>
              </a:rPr>
              <a:t>: una extranet facilita el intercambio electrónico de datos, a menudo referido como EDI por las siglas en inglés de Electronic Data Interchange, en los documentos (formularios de pedido, albaranes de entrega) que se envían los socios comerciales. Con esto, los datos pueden compartirse más allá de los límites de la empresa y procesarse sin necesidad de editarlos manualmente. De este modo, los datos pueden enviarse sin depender de sistemas de gestión de mercancías.</a:t>
            </a:r>
            <a:br>
              <a:rPr lang="es-ES" sz="1800" b="0" i="0">
                <a:solidFill>
                  <a:srgbClr val="3C3C3C"/>
                </a:solidFill>
                <a:latin typeface="Open Sans"/>
                <a:ea typeface="Open Sans"/>
                <a:cs typeface="Open Sans"/>
                <a:sym typeface="Open Sans"/>
              </a:rPr>
            </a:br>
            <a:r>
              <a:rPr lang="es-ES" sz="1800" b="0" i="0">
                <a:solidFill>
                  <a:srgbClr val="3C3C3C"/>
                </a:solidFill>
                <a:latin typeface="Open Sans"/>
                <a:ea typeface="Open Sans"/>
                <a:cs typeface="Open Sans"/>
                <a:sym typeface="Open Sans"/>
              </a:rPr>
              <a:t> </a:t>
            </a:r>
            <a:endParaRPr/>
          </a:p>
          <a:p>
            <a:pPr marL="0" marR="0" lvl="0" indent="-114300" algn="l" rtl="0">
              <a:spcBef>
                <a:spcPts val="0"/>
              </a:spcBef>
              <a:spcAft>
                <a:spcPts val="0"/>
              </a:spcAft>
              <a:buClr>
                <a:srgbClr val="3C3C3C"/>
              </a:buClr>
              <a:buSzPts val="1800"/>
              <a:buFont typeface="Arial"/>
              <a:buChar char="•"/>
            </a:pPr>
            <a:r>
              <a:rPr lang="es-ES" sz="1800" b="1" i="0">
                <a:solidFill>
                  <a:srgbClr val="3C3C3C"/>
                </a:solidFill>
                <a:latin typeface="Open Sans"/>
                <a:ea typeface="Open Sans"/>
                <a:cs typeface="Open Sans"/>
                <a:sym typeface="Open Sans"/>
              </a:rPr>
              <a:t>Gestión de datos</a:t>
            </a:r>
            <a:r>
              <a:rPr lang="es-ES" sz="1800" b="0" i="0">
                <a:solidFill>
                  <a:srgbClr val="3C3C3C"/>
                </a:solidFill>
                <a:latin typeface="Open Sans"/>
                <a:ea typeface="Open Sans"/>
                <a:cs typeface="Open Sans"/>
                <a:sym typeface="Open Sans"/>
              </a:rPr>
              <a:t>: en una red de este tipo los datos pueden actualizarse con rapidez y ponerse a disposición de los usuarios autorizados, lo que garantiza la actualidad y la transparencia del procesamiento de los datos.</a:t>
            </a:r>
            <a:br>
              <a:rPr lang="es-ES" sz="1800" b="0" i="0">
                <a:solidFill>
                  <a:srgbClr val="3C3C3C"/>
                </a:solidFill>
                <a:latin typeface="Open Sans"/>
                <a:ea typeface="Open Sans"/>
                <a:cs typeface="Open Sans"/>
                <a:sym typeface="Open Sans"/>
              </a:rPr>
            </a:br>
            <a:r>
              <a:rPr lang="es-ES" sz="1800" b="0" i="0">
                <a:solidFill>
                  <a:srgbClr val="3C3C3C"/>
                </a:solidFill>
                <a:latin typeface="Open Sans"/>
                <a:ea typeface="Open Sans"/>
                <a:cs typeface="Open Sans"/>
                <a:sym typeface="Open Sans"/>
              </a:rPr>
              <a:t> </a:t>
            </a:r>
            <a:endParaRPr/>
          </a:p>
          <a:p>
            <a:pPr marL="0" marR="0" lvl="0" indent="-114300" algn="l" rtl="0">
              <a:spcBef>
                <a:spcPts val="0"/>
              </a:spcBef>
              <a:spcAft>
                <a:spcPts val="0"/>
              </a:spcAft>
              <a:buClr>
                <a:srgbClr val="3C3C3C"/>
              </a:buClr>
              <a:buSzPts val="1800"/>
              <a:buFont typeface="Arial"/>
              <a:buChar char="•"/>
            </a:pPr>
            <a:r>
              <a:rPr lang="es-ES" sz="1800" b="1" i="0">
                <a:solidFill>
                  <a:srgbClr val="3C3C3C"/>
                </a:solidFill>
                <a:latin typeface="Open Sans"/>
                <a:ea typeface="Open Sans"/>
                <a:cs typeface="Open Sans"/>
                <a:sym typeface="Open Sans"/>
              </a:rPr>
              <a:t>Cooperación</a:t>
            </a:r>
            <a:r>
              <a:rPr lang="es-ES" sz="1800" b="0" i="0">
                <a:solidFill>
                  <a:srgbClr val="3C3C3C"/>
                </a:solidFill>
                <a:latin typeface="Open Sans"/>
                <a:ea typeface="Open Sans"/>
                <a:cs typeface="Open Sans"/>
                <a:sym typeface="Open Sans"/>
              </a:rPr>
              <a:t>: una extranet facilita el uso común de aplicaciones de software y con ello la colaboración con otras empresas.</a:t>
            </a:r>
            <a:br>
              <a:rPr lang="es-ES" sz="1800" b="0" i="0">
                <a:solidFill>
                  <a:srgbClr val="3C3C3C"/>
                </a:solidFill>
                <a:latin typeface="Open Sans"/>
                <a:ea typeface="Open Sans"/>
                <a:cs typeface="Open Sans"/>
                <a:sym typeface="Open Sans"/>
              </a:rPr>
            </a:br>
            <a:r>
              <a:rPr lang="es-ES" sz="1800" b="0" i="0">
                <a:solidFill>
                  <a:srgbClr val="3C3C3C"/>
                </a:solidFill>
                <a:latin typeface="Open Sans"/>
                <a:ea typeface="Open Sans"/>
                <a:cs typeface="Open Sans"/>
                <a:sym typeface="Open Sans"/>
              </a:rPr>
              <a:t> </a:t>
            </a:r>
            <a:endParaRPr/>
          </a:p>
          <a:p>
            <a:pPr marL="0" marR="0" lvl="0" indent="-114300" algn="l" rtl="0">
              <a:spcBef>
                <a:spcPts val="0"/>
              </a:spcBef>
              <a:spcAft>
                <a:spcPts val="0"/>
              </a:spcAft>
              <a:buClr>
                <a:srgbClr val="3C3C3C"/>
              </a:buClr>
              <a:buSzPts val="1800"/>
              <a:buFont typeface="Arial"/>
              <a:buChar char="•"/>
            </a:pPr>
            <a:r>
              <a:rPr lang="es-ES" sz="1800" b="1" i="0">
                <a:solidFill>
                  <a:srgbClr val="3C3C3C"/>
                </a:solidFill>
                <a:latin typeface="Open Sans"/>
                <a:ea typeface="Open Sans"/>
                <a:cs typeface="Open Sans"/>
                <a:sym typeface="Open Sans"/>
              </a:rPr>
              <a:t>Comunicación de información</a:t>
            </a:r>
            <a:r>
              <a:rPr lang="es-ES" sz="1800" b="0" i="0">
                <a:solidFill>
                  <a:srgbClr val="3C3C3C"/>
                </a:solidFill>
                <a:latin typeface="Open Sans"/>
                <a:ea typeface="Open Sans"/>
                <a:cs typeface="Open Sans"/>
                <a:sym typeface="Open Sans"/>
              </a:rPr>
              <a:t>: de esta forma pueden anunciarse novedades de interés para ciertos usuarios.</a:t>
            </a:r>
            <a:br>
              <a:rPr lang="es-ES" sz="1800" b="0" i="0">
                <a:solidFill>
                  <a:srgbClr val="3C3C3C"/>
                </a:solidFill>
                <a:latin typeface="Open Sans"/>
                <a:ea typeface="Open Sans"/>
                <a:cs typeface="Open Sans"/>
                <a:sym typeface="Open Sans"/>
              </a:rPr>
            </a:br>
            <a:r>
              <a:rPr lang="es-ES" sz="1800" b="0" i="0">
                <a:solidFill>
                  <a:srgbClr val="3C3C3C"/>
                </a:solidFill>
                <a:latin typeface="Open Sans"/>
                <a:ea typeface="Open Sans"/>
                <a:cs typeface="Open Sans"/>
                <a:sym typeface="Open Sans"/>
              </a:rPr>
              <a:t> </a:t>
            </a:r>
            <a:endParaRPr/>
          </a:p>
          <a:p>
            <a:pPr marL="0" marR="0" lvl="0" indent="-114300" algn="l" rtl="0">
              <a:spcBef>
                <a:spcPts val="0"/>
              </a:spcBef>
              <a:spcAft>
                <a:spcPts val="0"/>
              </a:spcAft>
              <a:buClr>
                <a:srgbClr val="3C3C3C"/>
              </a:buClr>
              <a:buSzPts val="1800"/>
              <a:buFont typeface="Arial"/>
              <a:buChar char="•"/>
            </a:pPr>
            <a:r>
              <a:rPr lang="es-ES" sz="1800" b="1" i="0">
                <a:solidFill>
                  <a:srgbClr val="3C3C3C"/>
                </a:solidFill>
                <a:latin typeface="Open Sans"/>
                <a:ea typeface="Open Sans"/>
                <a:cs typeface="Open Sans"/>
                <a:sym typeface="Open Sans"/>
              </a:rPr>
              <a:t>Gestión del conocimiento</a:t>
            </a:r>
            <a:r>
              <a:rPr lang="es-ES" sz="1800" b="0" i="0">
                <a:solidFill>
                  <a:srgbClr val="3C3C3C"/>
                </a:solidFill>
                <a:latin typeface="Open Sans"/>
                <a:ea typeface="Open Sans"/>
                <a:cs typeface="Open Sans"/>
                <a:sym typeface="Open Sans"/>
              </a:rPr>
              <a:t>: los socios pueden compartir el uso de programas de formación o desarrollar aplicaciones en común.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Ventajas y desventajas de una extranet</a:t>
            </a:r>
            <a:endParaRPr/>
          </a:p>
        </p:txBody>
      </p:sp>
      <p:graphicFrame>
        <p:nvGraphicFramePr>
          <p:cNvPr id="636" name="Google Shape;636;p65"/>
          <p:cNvGraphicFramePr/>
          <p:nvPr/>
        </p:nvGraphicFramePr>
        <p:xfrm>
          <a:off x="2860070" y="1825625"/>
          <a:ext cx="6471850" cy="4864645"/>
        </p:xfrm>
        <a:graphic>
          <a:graphicData uri="http://schemas.openxmlformats.org/drawingml/2006/table">
            <a:tbl>
              <a:tblPr>
                <a:noFill/>
                <a:tableStyleId>{43D96A67-930E-4795-971D-6FC2E729DFA4}</a:tableStyleId>
              </a:tblPr>
              <a:tblGrid>
                <a:gridCol w="3235925">
                  <a:extLst>
                    <a:ext uri="{9D8B030D-6E8A-4147-A177-3AD203B41FA5}">
                      <a16:colId xmlns:a16="http://schemas.microsoft.com/office/drawing/2014/main" val="20000"/>
                    </a:ext>
                  </a:extLst>
                </a:gridCol>
                <a:gridCol w="3235925">
                  <a:extLst>
                    <a:ext uri="{9D8B030D-6E8A-4147-A177-3AD203B41FA5}">
                      <a16:colId xmlns:a16="http://schemas.microsoft.com/office/drawing/2014/main" val="20001"/>
                    </a:ext>
                  </a:extLst>
                </a:gridCol>
              </a:tblGrid>
              <a:tr h="443125">
                <a:tc>
                  <a:txBody>
                    <a:bodyPr/>
                    <a:lstStyle/>
                    <a:p>
                      <a:pPr marL="0" marR="0" lvl="0" indent="0" algn="l" rtl="0">
                        <a:spcBef>
                          <a:spcPts val="0"/>
                        </a:spcBef>
                        <a:spcAft>
                          <a:spcPts val="0"/>
                        </a:spcAft>
                        <a:buNone/>
                      </a:pPr>
                      <a:r>
                        <a:rPr lang="es-ES" sz="1700" b="0" u="none" strike="noStrike" cap="none"/>
                        <a:t>Ventajas</a:t>
                      </a:r>
                      <a:endParaRPr/>
                    </a:p>
                  </a:txBody>
                  <a:tcPr marL="90800" marR="90800" marT="90800" marB="9080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tc>
                  <a:txBody>
                    <a:bodyPr/>
                    <a:lstStyle/>
                    <a:p>
                      <a:pPr marL="0" marR="0" lvl="0" indent="0" algn="l" rtl="0">
                        <a:spcBef>
                          <a:spcPts val="0"/>
                        </a:spcBef>
                        <a:spcAft>
                          <a:spcPts val="0"/>
                        </a:spcAft>
                        <a:buNone/>
                      </a:pPr>
                      <a:r>
                        <a:rPr lang="es-ES" sz="1700" b="0" u="none" strike="noStrike" cap="none"/>
                        <a:t>Inconvenientes</a:t>
                      </a:r>
                      <a:endParaRPr/>
                    </a:p>
                  </a:txBody>
                  <a:tcPr marL="90800" marR="90800" marT="90800" marB="9080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extLst>
                  <a:ext uri="{0D108BD9-81ED-4DB2-BD59-A6C34878D82A}">
                    <a16:rowId xmlns:a16="http://schemas.microsoft.com/office/drawing/2014/main" val="10000"/>
                  </a:ext>
                </a:extLst>
              </a:tr>
              <a:tr h="595675">
                <a:tc>
                  <a:txBody>
                    <a:bodyPr/>
                    <a:lstStyle/>
                    <a:p>
                      <a:pPr marL="0" marR="0" lvl="0" indent="0" algn="l" rtl="0">
                        <a:spcBef>
                          <a:spcPts val="0"/>
                        </a:spcBef>
                        <a:spcAft>
                          <a:spcPts val="0"/>
                        </a:spcAft>
                        <a:buNone/>
                      </a:pPr>
                      <a:r>
                        <a:rPr lang="es-ES" sz="1700" u="none" strike="noStrike" cap="none"/>
                        <a:t>✔ Rapidez en el intercambio de datos</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s-ES" sz="1700" u="none" strike="noStrike" cap="none"/>
                        <a:t>✘ Gastos de adquisición y mantenimiento</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34150">
                <a:tc>
                  <a:txBody>
                    <a:bodyPr/>
                    <a:lstStyle/>
                    <a:p>
                      <a:pPr marL="0" marR="0" lvl="0" indent="0" algn="l" rtl="0">
                        <a:spcBef>
                          <a:spcPts val="0"/>
                        </a:spcBef>
                        <a:spcAft>
                          <a:spcPts val="0"/>
                        </a:spcAft>
                        <a:buNone/>
                      </a:pPr>
                      <a:r>
                        <a:rPr lang="es-ES" sz="1700" u="none" strike="noStrike" cap="none"/>
                        <a:t>✔ Incremento de la productividad</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tc>
                  <a:txBody>
                    <a:bodyPr/>
                    <a:lstStyle/>
                    <a:p>
                      <a:pPr marL="0" marR="0" lvl="0" indent="0" algn="l" rtl="0">
                        <a:spcBef>
                          <a:spcPts val="0"/>
                        </a:spcBef>
                        <a:spcAft>
                          <a:spcPts val="0"/>
                        </a:spcAft>
                        <a:buNone/>
                      </a:pPr>
                      <a:r>
                        <a:rPr lang="es-ES" sz="1700" u="none" strike="noStrike" cap="none"/>
                        <a:t>✘ Requiere formar a la plantilla</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None/>
                      </a:pPr>
                      <a:r>
                        <a:rPr lang="es-ES" sz="1700" u="none" strike="noStrike" cap="none"/>
                        <a:t>✔ Ahorro de tiempo y costes</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s-ES" sz="1700" u="none" strike="noStrike" cap="none"/>
                        <a:t>✘ Criterios elevados de seguridad</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857200">
                <a:tc>
                  <a:txBody>
                    <a:bodyPr/>
                    <a:lstStyle/>
                    <a:p>
                      <a:pPr marL="0" marR="0" lvl="0" indent="0" algn="l" rtl="0">
                        <a:spcBef>
                          <a:spcPts val="0"/>
                        </a:spcBef>
                        <a:spcAft>
                          <a:spcPts val="0"/>
                        </a:spcAft>
                        <a:buNone/>
                      </a:pPr>
                      <a:r>
                        <a:rPr lang="es-ES" sz="1700" u="none" strike="noStrike" cap="none"/>
                        <a:t>✔ La información es actual porque el mantenimiento de los datos es sencillo</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tc>
                  <a:txBody>
                    <a:bodyPr/>
                    <a:lstStyle/>
                    <a:p>
                      <a:pPr marL="0" marR="0" lvl="0" indent="0" algn="l" rtl="0">
                        <a:spcBef>
                          <a:spcPts val="0"/>
                        </a:spcBef>
                        <a:spcAft>
                          <a:spcPts val="0"/>
                        </a:spcAft>
                        <a:buNone/>
                      </a:pPr>
                      <a:r>
                        <a:rPr lang="es-ES" sz="1700" u="none" strike="noStrike" cap="none"/>
                        <a:t> </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extLst>
                  <a:ext uri="{0D108BD9-81ED-4DB2-BD59-A6C34878D82A}">
                    <a16:rowId xmlns:a16="http://schemas.microsoft.com/office/drawing/2014/main" val="10004"/>
                  </a:ext>
                </a:extLst>
              </a:tr>
              <a:tr h="595675">
                <a:tc>
                  <a:txBody>
                    <a:bodyPr/>
                    <a:lstStyle/>
                    <a:p>
                      <a:pPr marL="0" marR="0" lvl="0" indent="0" algn="l" rtl="0">
                        <a:spcBef>
                          <a:spcPts val="0"/>
                        </a:spcBef>
                        <a:spcAft>
                          <a:spcPts val="0"/>
                        </a:spcAft>
                        <a:buNone/>
                      </a:pPr>
                      <a:r>
                        <a:rPr lang="es-ES" sz="1700" u="none" strike="noStrike" cap="none"/>
                        <a:t>✔ La comunicación con los socios se optimiza</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s-ES" sz="1700" u="none" strike="noStrike" cap="none"/>
                        <a:t> </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595675">
                <a:tc>
                  <a:txBody>
                    <a:bodyPr/>
                    <a:lstStyle/>
                    <a:p>
                      <a:pPr marL="0" marR="0" lvl="0" indent="0" algn="l" rtl="0">
                        <a:spcBef>
                          <a:spcPts val="0"/>
                        </a:spcBef>
                        <a:spcAft>
                          <a:spcPts val="0"/>
                        </a:spcAft>
                        <a:buNone/>
                      </a:pPr>
                      <a:r>
                        <a:rPr lang="es-ES" sz="1700" u="none" strike="noStrike" cap="none"/>
                        <a:t>✔ El trabajo cooperativo se simplifica</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tc>
                  <a:txBody>
                    <a:bodyPr/>
                    <a:lstStyle/>
                    <a:p>
                      <a:pPr marL="0" marR="0" lvl="0" indent="0" algn="l" rtl="0">
                        <a:spcBef>
                          <a:spcPts val="0"/>
                        </a:spcBef>
                        <a:spcAft>
                          <a:spcPts val="0"/>
                        </a:spcAft>
                        <a:buNone/>
                      </a:pPr>
                      <a:r>
                        <a:rPr lang="es-ES" sz="1700" u="none" strike="noStrike" cap="none"/>
                        <a:t> </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extLst>
                  <a:ext uri="{0D108BD9-81ED-4DB2-BD59-A6C34878D82A}">
                    <a16:rowId xmlns:a16="http://schemas.microsoft.com/office/drawing/2014/main" val="10006"/>
                  </a:ext>
                </a:extLst>
              </a:tr>
              <a:tr h="595675">
                <a:tc>
                  <a:txBody>
                    <a:bodyPr/>
                    <a:lstStyle/>
                    <a:p>
                      <a:pPr marL="0" marR="0" lvl="0" indent="0" algn="l" rtl="0">
                        <a:spcBef>
                          <a:spcPts val="0"/>
                        </a:spcBef>
                        <a:spcAft>
                          <a:spcPts val="0"/>
                        </a:spcAft>
                        <a:buNone/>
                      </a:pPr>
                      <a:r>
                        <a:rPr lang="es-ES" sz="1700" u="none" strike="noStrike" cap="none"/>
                        <a:t>✔ Mejora la gestión del conocimiento</a:t>
                      </a:r>
                      <a:endParaRPr/>
                    </a:p>
                  </a:txBody>
                  <a:tcPr marL="36325" marR="36325" marT="36325" marB="363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endParaRPr sz="1700"/>
                    </a:p>
                  </a:txBody>
                  <a:tcPr marL="87175" marR="87175" marT="43575" marB="43575">
                    <a:lnL w="9525" cap="flat" cmpd="sng">
                      <a:solidFill>
                        <a:srgbClr val="000000">
                          <a:alpha val="0"/>
                        </a:srgbClr>
                      </a:solidFill>
                      <a:prstDash val="solid"/>
                      <a:round/>
                      <a:headEnd type="none" w="sm" len="sm"/>
                      <a:tailEnd type="none" w="sm" len="sm"/>
                    </a:lnL>
                    <a:lnT w="9525" cap="flat" cmpd="sng">
                      <a:solidFill>
                        <a:srgbClr val="000000">
                          <a:alpha val="0"/>
                        </a:srgbClr>
                      </a:solidFill>
                      <a:prstDash val="solid"/>
                      <a:round/>
                      <a:headEnd type="none" w="sm" len="sm"/>
                      <a:tailEnd type="none" w="sm" len="sm"/>
                    </a:lnT>
                  </a:tcPr>
                </a:tc>
                <a:extLst>
                  <a:ext uri="{0D108BD9-81ED-4DB2-BD59-A6C34878D82A}">
                    <a16:rowId xmlns:a16="http://schemas.microsoft.com/office/drawing/2014/main" val="10007"/>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66"/>
          <p:cNvSpPr txBox="1">
            <a:spLocks noGrp="1"/>
          </p:cNvSpPr>
          <p:nvPr>
            <p:ph type="title"/>
          </p:nvPr>
        </p:nvSpPr>
        <p:spPr>
          <a:xfrm>
            <a:off x="838200" y="-1016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REDES PRIVADAS VIRTUALES VPN</a:t>
            </a:r>
            <a:endParaRPr/>
          </a:p>
        </p:txBody>
      </p:sp>
      <p:sp>
        <p:nvSpPr>
          <p:cNvPr id="643" name="Google Shape;643;p66"/>
          <p:cNvSpPr txBox="1">
            <a:spLocks noGrp="1"/>
          </p:cNvSpPr>
          <p:nvPr>
            <p:ph type="body" idx="1"/>
          </p:nvPr>
        </p:nvSpPr>
        <p:spPr>
          <a:xfrm>
            <a:off x="590550" y="787399"/>
            <a:ext cx="10515600" cy="5356225"/>
          </a:xfrm>
          <a:prstGeom prst="rect">
            <a:avLst/>
          </a:prstGeom>
          <a:noFill/>
          <a:ln>
            <a:noFill/>
          </a:ln>
        </p:spPr>
        <p:txBody>
          <a:bodyPr spcFirstLastPara="1" wrap="square" lIns="91425" tIns="45700" rIns="91425" bIns="45700" anchor="t" anchorCtr="0">
            <a:normAutofit/>
          </a:bodyPr>
          <a:lstStyle/>
          <a:p>
            <a:pPr marL="0" lvl="0" indent="0" algn="l" rtl="0">
              <a:lnSpc>
                <a:spcPct val="107000"/>
              </a:lnSpc>
              <a:spcBef>
                <a:spcPts val="0"/>
              </a:spcBef>
              <a:spcAft>
                <a:spcPts val="0"/>
              </a:spcAft>
              <a:buClr>
                <a:srgbClr val="003245"/>
              </a:buClr>
              <a:buSzPts val="1800"/>
              <a:buNone/>
            </a:pPr>
            <a:r>
              <a:rPr lang="es-ES" sz="1800">
                <a:solidFill>
                  <a:srgbClr val="003245"/>
                </a:solidFill>
                <a:latin typeface="Calibri"/>
                <a:ea typeface="Calibri"/>
                <a:cs typeface="Calibri"/>
                <a:sym typeface="Calibri"/>
              </a:rPr>
              <a:t>Desplegar y mantener una red cuando una organización tiene varias sedes es complejo y caro, y si a esto se le suman los agentes comerciales que necesitan acceder a la red en movilidad, o los empleados que tele-trabajan desde su domicilio, está claro que hay que proporcionar un acceso remoto seguro a nuestra red corporativa. Por ello surgió el concepto de red privada virtual (VPN), que es un servicio que proporciona una comunicación segura sobre una red insegura como Internet, creando un túnel de extremo a extremo para proporcionar confidencialidad, autenticación e integridad de los datos.</a:t>
            </a:r>
            <a:endParaRPr sz="1800">
              <a:latin typeface="Calibri"/>
              <a:ea typeface="Calibri"/>
              <a:cs typeface="Calibri"/>
              <a:sym typeface="Calibri"/>
            </a:endParaRPr>
          </a:p>
          <a:p>
            <a:pPr marL="228600" lvl="0" indent="-228600" algn="l" rtl="0">
              <a:lnSpc>
                <a:spcPct val="107000"/>
              </a:lnSpc>
              <a:spcBef>
                <a:spcPts val="2200"/>
              </a:spcBef>
              <a:spcAft>
                <a:spcPts val="0"/>
              </a:spcAft>
              <a:buClr>
                <a:srgbClr val="003245"/>
              </a:buClr>
              <a:buSzPts val="1800"/>
              <a:buChar char="•"/>
            </a:pPr>
            <a:r>
              <a:rPr lang="es-ES" sz="1800">
                <a:solidFill>
                  <a:srgbClr val="003245"/>
                </a:solidFill>
                <a:latin typeface="Calibri"/>
                <a:ea typeface="Calibri"/>
                <a:cs typeface="Calibri"/>
                <a:sym typeface="Calibri"/>
              </a:rPr>
              <a:t>Hay tres tipos de implementaciones de una VPN:</a:t>
            </a:r>
            <a:endParaRPr sz="1800">
              <a:latin typeface="Calibri"/>
              <a:ea typeface="Calibri"/>
              <a:cs typeface="Calibri"/>
              <a:sym typeface="Calibri"/>
            </a:endParaRPr>
          </a:p>
          <a:p>
            <a:pPr marL="342900" lvl="0" indent="-342900" algn="l" rtl="0">
              <a:lnSpc>
                <a:spcPct val="107000"/>
              </a:lnSpc>
              <a:spcBef>
                <a:spcPts val="220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VPN de acceso remoto</a:t>
            </a:r>
            <a:r>
              <a:rPr lang="es-ES" sz="1800">
                <a:solidFill>
                  <a:srgbClr val="003245"/>
                </a:solidFill>
                <a:latin typeface="Calibri"/>
                <a:ea typeface="Calibri"/>
                <a:cs typeface="Calibri"/>
                <a:sym typeface="Calibri"/>
              </a:rPr>
              <a:t>: Por ejemplo, para personal de la empresa que necesita acceder de forma segura a recursos de la red corporativa desde fuera de esta, normalmente a través de Internet.</a:t>
            </a:r>
            <a:endParaRPr sz="18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VPN intranet</a:t>
            </a:r>
            <a:r>
              <a:rPr lang="es-ES" sz="1800">
                <a:solidFill>
                  <a:srgbClr val="003245"/>
                </a:solidFill>
                <a:latin typeface="Calibri"/>
                <a:ea typeface="Calibri"/>
                <a:cs typeface="Calibri"/>
                <a:sym typeface="Calibri"/>
              </a:rPr>
              <a:t>: Para conectar de forma segura, por ejemplo, distintas sedes de la empresa, aprovechando Internet como red más económica.</a:t>
            </a:r>
            <a:endParaRPr sz="18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1800" b="1">
                <a:solidFill>
                  <a:srgbClr val="003245"/>
                </a:solidFill>
                <a:latin typeface="Calibri"/>
                <a:ea typeface="Calibri"/>
                <a:cs typeface="Calibri"/>
                <a:sym typeface="Calibri"/>
              </a:rPr>
              <a:t>VPN extranet</a:t>
            </a:r>
            <a:r>
              <a:rPr lang="es-ES" sz="1800">
                <a:solidFill>
                  <a:srgbClr val="003245"/>
                </a:solidFill>
                <a:latin typeface="Calibri"/>
                <a:ea typeface="Calibri"/>
                <a:cs typeface="Calibri"/>
                <a:sym typeface="Calibri"/>
              </a:rPr>
              <a:t>: Para dar acceso de forma segura a terceros, como un proveedor o un cliente, a nuestra red corporativa.</a:t>
            </a:r>
            <a:endParaRPr sz="1800">
              <a:latin typeface="Calibri"/>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67"/>
          <p:cNvSpPr txBox="1">
            <a:spLocks noGrp="1"/>
          </p:cNvSpPr>
          <p:nvPr>
            <p:ph type="title"/>
          </p:nvPr>
        </p:nvSpPr>
        <p:spPr>
          <a:xfrm>
            <a:off x="722697" y="143745"/>
            <a:ext cx="10515600" cy="43377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Seguridad en la web</a:t>
            </a:r>
            <a:endParaRPr/>
          </a:p>
        </p:txBody>
      </p:sp>
      <p:grpSp>
        <p:nvGrpSpPr>
          <p:cNvPr id="649" name="Google Shape;649;p67"/>
          <p:cNvGrpSpPr/>
          <p:nvPr/>
        </p:nvGrpSpPr>
        <p:grpSpPr>
          <a:xfrm>
            <a:off x="240632" y="1370558"/>
            <a:ext cx="11951368" cy="5343697"/>
            <a:chOff x="0" y="0"/>
            <a:chExt cx="3251200" cy="1693333"/>
          </a:xfrm>
        </p:grpSpPr>
        <p:sp>
          <p:nvSpPr>
            <p:cNvPr id="650" name="Google Shape;650;p67"/>
            <p:cNvSpPr/>
            <p:nvPr/>
          </p:nvSpPr>
          <p:spPr>
            <a:xfrm>
              <a:off x="0" y="0"/>
              <a:ext cx="3251200" cy="1693333"/>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67"/>
            <p:cNvSpPr txBox="1"/>
            <p:nvPr/>
          </p:nvSpPr>
          <p:spPr>
            <a:xfrm>
              <a:off x="82662" y="82662"/>
              <a:ext cx="3085876" cy="1528009"/>
            </a:xfrm>
            <a:prstGeom prst="rect">
              <a:avLst/>
            </a:prstGeom>
            <a:noFill/>
            <a:ln>
              <a:noFill/>
            </a:ln>
          </p:spPr>
          <p:txBody>
            <a:bodyPr spcFirstLastPara="1" wrap="square" lIns="26650" tIns="13325" rIns="26650" bIns="13325" anchor="ctr" anchorCtr="0">
              <a:noAutofit/>
            </a:bodyPr>
            <a:lstStyle/>
            <a:p>
              <a:pPr marL="0" marR="0" lvl="0" indent="0" algn="ctr" rtl="0">
                <a:lnSpc>
                  <a:spcPct val="90000"/>
                </a:lnSpc>
                <a:spcBef>
                  <a:spcPts val="0"/>
                </a:spcBef>
                <a:spcAft>
                  <a:spcPts val="0"/>
                </a:spcAft>
                <a:buClr>
                  <a:schemeClr val="lt1"/>
                </a:buClr>
                <a:buSzPts val="2400"/>
                <a:buFont typeface="Calibri"/>
                <a:buNone/>
              </a:pPr>
              <a:r>
                <a:rPr lang="es-ES" sz="2400" b="0" i="0">
                  <a:solidFill>
                    <a:schemeClr val="lt1"/>
                  </a:solidFill>
                  <a:latin typeface="Calibri"/>
                  <a:ea typeface="Calibri"/>
                  <a:cs typeface="Calibri"/>
                  <a:sym typeface="Calibri"/>
                </a:rPr>
                <a:t>SSL es el acrónimo de Secure Sockets Layer (capa de sockets seguros), la tecnología estándar para mantener segura una conexión a Internet, así como para proteger cualquier información confidencial que se envía entre dos sistemas e impedir que los delincuentes lean y modifiquen cualquier dato que se transfiera, incluida información que pudiera considerarse personal. Los dos sistemas pueden ser un servidor y un cliente (por ejemplo, un sitio web de compras y un navegador) o de servidor a servidor (por ejemplo, una aplicación con información que puede identificarse como personal o con datos de nóminas). Esto lo lleva a cabo asegurándose de que todos los datos que se transfieren entre usuarios y sitios web o entre dos sistemas sean imposibles de leer. Utiliza algoritmos de cifrado para codificar los datos que se transmiten e impedir que los hackers los lean al enviarlos a través de la conexión. Esta información podría ser cualquier dato confidencial o personal, por ejemplo, números de tarjeta de crédito y otros datos bancarios, nombres y direcciones.</a:t>
              </a:r>
              <a:endParaRPr sz="2400">
                <a:solidFill>
                  <a:schemeClr val="lt1"/>
                </a:solidFill>
                <a:latin typeface="Calibri"/>
                <a:ea typeface="Calibri"/>
                <a:cs typeface="Calibri"/>
                <a:sym typeface="Calibri"/>
              </a:endParaRPr>
            </a:p>
          </p:txBody>
        </p:sp>
      </p:grpSp>
      <p:sp>
        <p:nvSpPr>
          <p:cNvPr id="652" name="Google Shape;652;p67"/>
          <p:cNvSpPr/>
          <p:nvPr/>
        </p:nvSpPr>
        <p:spPr>
          <a:xfrm>
            <a:off x="5231594" y="447228"/>
            <a:ext cx="1132041"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5400" b="1">
                <a:solidFill>
                  <a:schemeClr val="dk1"/>
                </a:solidFill>
                <a:latin typeface="Calibri"/>
                <a:ea typeface="Calibri"/>
                <a:cs typeface="Calibri"/>
                <a:sym typeface="Calibri"/>
              </a:rPr>
              <a:t>SSL</a:t>
            </a:r>
            <a:endParaRPr sz="5400" b="1" cap="non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grpSp>
        <p:nvGrpSpPr>
          <p:cNvPr id="657" name="Google Shape;657;p68"/>
          <p:cNvGrpSpPr/>
          <p:nvPr/>
        </p:nvGrpSpPr>
        <p:grpSpPr>
          <a:xfrm>
            <a:off x="384788" y="1598481"/>
            <a:ext cx="11021149" cy="2954268"/>
            <a:chOff x="0" y="1862666"/>
            <a:chExt cx="3251200" cy="1693333"/>
          </a:xfrm>
        </p:grpSpPr>
        <p:sp>
          <p:nvSpPr>
            <p:cNvPr id="658" name="Google Shape;658;p68"/>
            <p:cNvSpPr/>
            <p:nvPr/>
          </p:nvSpPr>
          <p:spPr>
            <a:xfrm>
              <a:off x="0" y="1862666"/>
              <a:ext cx="3251200" cy="1693333"/>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68"/>
            <p:cNvSpPr txBox="1"/>
            <p:nvPr/>
          </p:nvSpPr>
          <p:spPr>
            <a:xfrm>
              <a:off x="82662" y="1945328"/>
              <a:ext cx="3085876" cy="1528009"/>
            </a:xfrm>
            <a:prstGeom prst="rect">
              <a:avLst/>
            </a:prstGeom>
            <a:noFill/>
            <a:ln>
              <a:noFill/>
            </a:ln>
          </p:spPr>
          <p:txBody>
            <a:bodyPr spcFirstLastPara="1" wrap="square" lIns="26650" tIns="13325" rIns="26650" bIns="13325" anchor="ctr" anchorCtr="0">
              <a:noAutofit/>
            </a:bodyPr>
            <a:lstStyle/>
            <a:p>
              <a:pPr marL="0" marR="0" lvl="0" indent="0" algn="ctr" rtl="0">
                <a:lnSpc>
                  <a:spcPct val="90000"/>
                </a:lnSpc>
                <a:spcBef>
                  <a:spcPts val="0"/>
                </a:spcBef>
                <a:spcAft>
                  <a:spcPts val="0"/>
                </a:spcAft>
                <a:buClr>
                  <a:schemeClr val="lt1"/>
                </a:buClr>
                <a:buSzPts val="2800"/>
                <a:buFont typeface="Calibri"/>
                <a:buNone/>
              </a:pPr>
              <a:r>
                <a:rPr lang="es-ES" sz="2800" b="0" i="0">
                  <a:solidFill>
                    <a:schemeClr val="lt1"/>
                  </a:solidFill>
                  <a:latin typeface="Calibri"/>
                  <a:ea typeface="Calibri"/>
                  <a:cs typeface="Calibri"/>
                  <a:sym typeface="Calibri"/>
                </a:rPr>
                <a:t>El protocolo TLS (Transport Layer Security, seguridad de la capa de transporte) es solo una versión actualizada y más segura de SSL. Si bien aún denominamos a nuestros certificados de seguridad SSL porque es un término más común</a:t>
              </a:r>
              <a:endParaRPr/>
            </a:p>
          </p:txBody>
        </p:sp>
      </p:grpSp>
      <p:sp>
        <p:nvSpPr>
          <p:cNvPr id="660" name="Google Shape;660;p68"/>
          <p:cNvSpPr/>
          <p:nvPr/>
        </p:nvSpPr>
        <p:spPr>
          <a:xfrm>
            <a:off x="4835824" y="577517"/>
            <a:ext cx="1144673"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5400" b="1">
                <a:solidFill>
                  <a:schemeClr val="dk1"/>
                </a:solidFill>
                <a:latin typeface="Calibri"/>
                <a:ea typeface="Calibri"/>
                <a:cs typeface="Calibri"/>
                <a:sym typeface="Calibri"/>
              </a:rPr>
              <a:t>TSL</a:t>
            </a:r>
            <a:endParaRPr sz="5400" b="1" cap="none">
              <a:solidFill>
                <a:schemeClr val="dk1"/>
              </a:solidFill>
              <a:latin typeface="Calibri"/>
              <a:ea typeface="Calibri"/>
              <a:cs typeface="Calibri"/>
              <a:sym typeface="Calibri"/>
            </a:endParaRPr>
          </a:p>
        </p:txBody>
      </p:sp>
      <p:sp>
        <p:nvSpPr>
          <p:cNvPr id="661" name="Google Shape;661;p68"/>
          <p:cNvSpPr txBox="1">
            <a:spLocks noGrp="1"/>
          </p:cNvSpPr>
          <p:nvPr>
            <p:ph type="title"/>
          </p:nvPr>
        </p:nvSpPr>
        <p:spPr>
          <a:xfrm>
            <a:off x="722697" y="143745"/>
            <a:ext cx="10515600" cy="43377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Seguridad en la web</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grpSp>
        <p:nvGrpSpPr>
          <p:cNvPr id="666" name="Google Shape;666;p69"/>
          <p:cNvGrpSpPr/>
          <p:nvPr/>
        </p:nvGrpSpPr>
        <p:grpSpPr>
          <a:xfrm>
            <a:off x="453769" y="1567704"/>
            <a:ext cx="11115797" cy="4733242"/>
            <a:chOff x="0" y="3725333"/>
            <a:chExt cx="3251200" cy="1693333"/>
          </a:xfrm>
        </p:grpSpPr>
        <p:sp>
          <p:nvSpPr>
            <p:cNvPr id="667" name="Google Shape;667;p69"/>
            <p:cNvSpPr/>
            <p:nvPr/>
          </p:nvSpPr>
          <p:spPr>
            <a:xfrm>
              <a:off x="0" y="3725333"/>
              <a:ext cx="3251200" cy="1693333"/>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69"/>
            <p:cNvSpPr txBox="1"/>
            <p:nvPr/>
          </p:nvSpPr>
          <p:spPr>
            <a:xfrm>
              <a:off x="82662" y="3807995"/>
              <a:ext cx="3085876" cy="1528009"/>
            </a:xfrm>
            <a:prstGeom prst="rect">
              <a:avLst/>
            </a:prstGeom>
            <a:noFill/>
            <a:ln>
              <a:noFill/>
            </a:ln>
          </p:spPr>
          <p:txBody>
            <a:bodyPr spcFirstLastPara="1" wrap="square" lIns="26650" tIns="13325" rIns="26650" bIns="13325" anchor="ctr" anchorCtr="0">
              <a:noAutofit/>
            </a:bodyPr>
            <a:lstStyle/>
            <a:p>
              <a:pPr marL="0" marR="0" lvl="0" indent="0" algn="ctr" rtl="0">
                <a:lnSpc>
                  <a:spcPct val="90000"/>
                </a:lnSpc>
                <a:spcBef>
                  <a:spcPts val="0"/>
                </a:spcBef>
                <a:spcAft>
                  <a:spcPts val="0"/>
                </a:spcAft>
                <a:buClr>
                  <a:schemeClr val="lt1"/>
                </a:buClr>
                <a:buSzPts val="3200"/>
                <a:buFont typeface="Calibri"/>
                <a:buNone/>
              </a:pPr>
              <a:r>
                <a:rPr lang="es-ES" sz="3200" b="0" i="0">
                  <a:solidFill>
                    <a:schemeClr val="lt1"/>
                  </a:solidFill>
                  <a:latin typeface="Calibri"/>
                  <a:ea typeface="Calibri"/>
                  <a:cs typeface="Calibri"/>
                  <a:sym typeface="Calibri"/>
                </a:rPr>
                <a:t>HTTPS (Hyper Text Transfer Protocol Secure o protocolo seguro de transferencia de hipertexto) aparece en la dirección URL cuando un sitio web está protegido por un certificado SSL. Los detalles del certificado, por ejemplo la entidad emisora y el nombre corporativo del propietario del sitio web, se pueden ver haciendo clic en el símbolo de candado de la barra del navegador.</a:t>
              </a:r>
              <a:endParaRPr/>
            </a:p>
          </p:txBody>
        </p:sp>
      </p:grpSp>
      <p:sp>
        <p:nvSpPr>
          <p:cNvPr id="669" name="Google Shape;669;p69"/>
          <p:cNvSpPr/>
          <p:nvPr/>
        </p:nvSpPr>
        <p:spPr>
          <a:xfrm>
            <a:off x="4821168" y="557053"/>
            <a:ext cx="2012539"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5400" b="1">
                <a:solidFill>
                  <a:schemeClr val="dk1"/>
                </a:solidFill>
                <a:latin typeface="Calibri"/>
                <a:ea typeface="Calibri"/>
                <a:cs typeface="Calibri"/>
                <a:sym typeface="Calibri"/>
              </a:rPr>
              <a:t>HTTPS</a:t>
            </a:r>
            <a:endParaRPr sz="5400" b="1" cap="none">
              <a:solidFill>
                <a:schemeClr val="dk1"/>
              </a:solidFill>
              <a:latin typeface="Calibri"/>
              <a:ea typeface="Calibri"/>
              <a:cs typeface="Calibri"/>
              <a:sym typeface="Calibri"/>
            </a:endParaRPr>
          </a:p>
        </p:txBody>
      </p:sp>
      <p:sp>
        <p:nvSpPr>
          <p:cNvPr id="670" name="Google Shape;670;p69"/>
          <p:cNvSpPr txBox="1">
            <a:spLocks noGrp="1"/>
          </p:cNvSpPr>
          <p:nvPr>
            <p:ph type="title"/>
          </p:nvPr>
        </p:nvSpPr>
        <p:spPr>
          <a:xfrm>
            <a:off x="722697" y="143745"/>
            <a:ext cx="10515600" cy="43377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Seguridad en la web</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pic>
        <p:nvPicPr>
          <p:cNvPr id="675" name="Google Shape;675;p70"/>
          <p:cNvPicPr preferRelativeResize="0"/>
          <p:nvPr/>
        </p:nvPicPr>
        <p:blipFill rotWithShape="1">
          <a:blip r:embed="rId3">
            <a:alphaModFix/>
          </a:blip>
          <a:srcRect/>
          <a:stretch/>
        </p:blipFill>
        <p:spPr>
          <a:xfrm>
            <a:off x="3137836" y="85356"/>
            <a:ext cx="5197642" cy="640467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71"/>
          <p:cNvSpPr txBox="1">
            <a:spLocks noGrp="1"/>
          </p:cNvSpPr>
          <p:nvPr>
            <p:ph type="title"/>
          </p:nvPr>
        </p:nvSpPr>
        <p:spPr>
          <a:xfrm>
            <a:off x="838200" y="-9998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ROUTER</a:t>
            </a:r>
            <a:endParaRPr/>
          </a:p>
        </p:txBody>
      </p:sp>
      <p:sp>
        <p:nvSpPr>
          <p:cNvPr id="681" name="Google Shape;681;p71"/>
          <p:cNvSpPr txBox="1">
            <a:spLocks noGrp="1"/>
          </p:cNvSpPr>
          <p:nvPr>
            <p:ph type="body" idx="1"/>
          </p:nvPr>
        </p:nvSpPr>
        <p:spPr>
          <a:xfrm>
            <a:off x="838200" y="1056262"/>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02124"/>
              </a:buClr>
              <a:buSzPts val="2800"/>
              <a:buChar char="•"/>
            </a:pPr>
            <a:r>
              <a:rPr lang="es-ES" b="0" i="0">
                <a:solidFill>
                  <a:srgbClr val="202124"/>
                </a:solidFill>
                <a:latin typeface="arial"/>
                <a:ea typeface="arial"/>
                <a:cs typeface="arial"/>
                <a:sym typeface="arial"/>
              </a:rPr>
              <a:t>Un rúter,​ enrutador,​ (del inglés </a:t>
            </a:r>
            <a:r>
              <a:rPr lang="es-ES" b="1" i="0">
                <a:solidFill>
                  <a:srgbClr val="202124"/>
                </a:solidFill>
                <a:latin typeface="arial"/>
                <a:ea typeface="arial"/>
                <a:cs typeface="arial"/>
                <a:sym typeface="arial"/>
              </a:rPr>
              <a:t>router</a:t>
            </a:r>
            <a:r>
              <a:rPr lang="es-ES" b="0" i="0">
                <a:solidFill>
                  <a:srgbClr val="202124"/>
                </a:solidFill>
                <a:latin typeface="arial"/>
                <a:ea typeface="arial"/>
                <a:cs typeface="arial"/>
                <a:sym typeface="arial"/>
              </a:rPr>
              <a:t>) o encaminador,​ es un dispositivo que permite interconectar computadoras que funcionan en el marco de una red. Su función: se encarga de establecer la ruta que destinará a cada paquete de datos dentro de una red informática.</a:t>
            </a:r>
            <a:endParaRPr/>
          </a:p>
        </p:txBody>
      </p:sp>
      <p:pic>
        <p:nvPicPr>
          <p:cNvPr id="682" name="Google Shape;682;p71"/>
          <p:cNvPicPr preferRelativeResize="0"/>
          <p:nvPr/>
        </p:nvPicPr>
        <p:blipFill rotWithShape="1">
          <a:blip r:embed="rId3">
            <a:alphaModFix/>
          </a:blip>
          <a:srcRect/>
          <a:stretch/>
        </p:blipFill>
        <p:spPr>
          <a:xfrm>
            <a:off x="1279634" y="3573715"/>
            <a:ext cx="2286000" cy="2286000"/>
          </a:xfrm>
          <a:prstGeom prst="rect">
            <a:avLst/>
          </a:prstGeom>
          <a:noFill/>
          <a:ln>
            <a:noFill/>
          </a:ln>
        </p:spPr>
      </p:pic>
      <p:sp>
        <p:nvSpPr>
          <p:cNvPr id="683" name="Google Shape;683;p71"/>
          <p:cNvSpPr txBox="1"/>
          <p:nvPr/>
        </p:nvSpPr>
        <p:spPr>
          <a:xfrm>
            <a:off x="4413031" y="3730860"/>
            <a:ext cx="6093372"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202124"/>
                </a:solidFill>
                <a:latin typeface="arial"/>
                <a:ea typeface="arial"/>
                <a:cs typeface="arial"/>
                <a:sym typeface="arial"/>
              </a:rPr>
              <a:t>Todos los </a:t>
            </a:r>
            <a:r>
              <a:rPr lang="es-ES" sz="1800" b="1" i="0">
                <a:solidFill>
                  <a:srgbClr val="202124"/>
                </a:solidFill>
                <a:latin typeface="arial"/>
                <a:ea typeface="arial"/>
                <a:cs typeface="arial"/>
                <a:sym typeface="arial"/>
              </a:rPr>
              <a:t>routers</a:t>
            </a:r>
            <a:r>
              <a:rPr lang="es-ES" sz="1800" b="0" i="0">
                <a:solidFill>
                  <a:srgbClr val="202124"/>
                </a:solidFill>
                <a:latin typeface="arial"/>
                <a:ea typeface="arial"/>
                <a:cs typeface="arial"/>
                <a:sym typeface="arial"/>
              </a:rPr>
              <a:t> tienen 65.536 </a:t>
            </a:r>
            <a:r>
              <a:rPr lang="es-ES" sz="1800" b="1" i="0">
                <a:solidFill>
                  <a:srgbClr val="202124"/>
                </a:solidFill>
                <a:latin typeface="arial"/>
                <a:ea typeface="arial"/>
                <a:cs typeface="arial"/>
                <a:sym typeface="arial"/>
              </a:rPr>
              <a:t>puertos</a:t>
            </a:r>
            <a:r>
              <a:rPr lang="es-ES" sz="1800" b="0" i="0">
                <a:solidFill>
                  <a:srgbClr val="202124"/>
                </a:solidFill>
                <a:latin typeface="arial"/>
                <a:ea typeface="arial"/>
                <a:cs typeface="arial"/>
                <a:sym typeface="arial"/>
              </a:rPr>
              <a:t> numerados del 0 al 65.535. </a:t>
            </a:r>
            <a:r>
              <a:rPr lang="es-ES" sz="1800" b="1" i="0">
                <a:solidFill>
                  <a:srgbClr val="202124"/>
                </a:solidFill>
                <a:latin typeface="arial"/>
                <a:ea typeface="arial"/>
                <a:cs typeface="arial"/>
                <a:sym typeface="arial"/>
              </a:rPr>
              <a:t>De</a:t>
            </a:r>
            <a:r>
              <a:rPr lang="es-ES" sz="1800" b="0" i="0">
                <a:solidFill>
                  <a:srgbClr val="202124"/>
                </a:solidFill>
                <a:latin typeface="arial"/>
                <a:ea typeface="arial"/>
                <a:cs typeface="arial"/>
                <a:sym typeface="arial"/>
              </a:rPr>
              <a:t> modo que, cuando nos conectamos a una página web, el </a:t>
            </a:r>
            <a:r>
              <a:rPr lang="es-ES" sz="1800" b="1" i="0">
                <a:solidFill>
                  <a:srgbClr val="202124"/>
                </a:solidFill>
                <a:latin typeface="arial"/>
                <a:ea typeface="arial"/>
                <a:cs typeface="arial"/>
                <a:sym typeface="arial"/>
              </a:rPr>
              <a:t>router</a:t>
            </a:r>
            <a:r>
              <a:rPr lang="es-ES" sz="1800" b="0" i="0">
                <a:solidFill>
                  <a:srgbClr val="202124"/>
                </a:solidFill>
                <a:latin typeface="arial"/>
                <a:ea typeface="arial"/>
                <a:cs typeface="arial"/>
                <a:sym typeface="arial"/>
              </a:rPr>
              <a:t> del servidor </a:t>
            </a:r>
            <a:r>
              <a:rPr lang="es-ES" sz="1800" b="1" i="0">
                <a:solidFill>
                  <a:srgbClr val="202124"/>
                </a:solidFill>
                <a:latin typeface="arial"/>
                <a:ea typeface="arial"/>
                <a:cs typeface="arial"/>
                <a:sym typeface="arial"/>
              </a:rPr>
              <a:t>de</a:t>
            </a:r>
            <a:r>
              <a:rPr lang="es-ES" sz="1800" b="0" i="0">
                <a:solidFill>
                  <a:srgbClr val="202124"/>
                </a:solidFill>
                <a:latin typeface="arial"/>
                <a:ea typeface="arial"/>
                <a:cs typeface="arial"/>
                <a:sym typeface="arial"/>
              </a:rPr>
              <a:t> dicha web tiene abierto el </a:t>
            </a:r>
            <a:r>
              <a:rPr lang="es-ES" sz="1800" b="1" i="0">
                <a:solidFill>
                  <a:srgbClr val="202124"/>
                </a:solidFill>
                <a:latin typeface="arial"/>
                <a:ea typeface="arial"/>
                <a:cs typeface="arial"/>
                <a:sym typeface="arial"/>
              </a:rPr>
              <a:t>puerto</a:t>
            </a:r>
            <a:r>
              <a:rPr lang="es-ES" sz="1800" b="0" i="0">
                <a:solidFill>
                  <a:srgbClr val="202124"/>
                </a:solidFill>
                <a:latin typeface="arial"/>
                <a:ea typeface="arial"/>
                <a:cs typeface="arial"/>
                <a:sym typeface="arial"/>
              </a:rPr>
              <a:t> 80 o el 443 (los </a:t>
            </a:r>
            <a:r>
              <a:rPr lang="es-ES" sz="1800" b="1" i="0">
                <a:solidFill>
                  <a:srgbClr val="202124"/>
                </a:solidFill>
                <a:latin typeface="arial"/>
                <a:ea typeface="arial"/>
                <a:cs typeface="arial"/>
                <a:sym typeface="arial"/>
              </a:rPr>
              <a:t>puertos por defecto de</a:t>
            </a:r>
            <a:r>
              <a:rPr lang="es-ES" sz="1800" b="0" i="0">
                <a:solidFill>
                  <a:srgbClr val="202124"/>
                </a:solidFill>
                <a:latin typeface="arial"/>
                <a:ea typeface="arial"/>
                <a:cs typeface="arial"/>
                <a:sym typeface="arial"/>
              </a:rPr>
              <a:t> las comunicaciones HTTP y HTTPS respectivamente).</a:t>
            </a:r>
            <a:endParaRPr sz="18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9FEC35-3B74-CB2A-C528-005213F954CE}"/>
              </a:ext>
            </a:extLst>
          </p:cNvPr>
          <p:cNvSpPr>
            <a:spLocks noGrp="1"/>
          </p:cNvSpPr>
          <p:nvPr>
            <p:ph type="title"/>
          </p:nvPr>
        </p:nvSpPr>
        <p:spPr/>
        <p:txBody>
          <a:bodyPr/>
          <a:lstStyle/>
          <a:p>
            <a:r>
              <a:rPr lang="es-ES" dirty="0"/>
              <a:t>PROTOCOLOS</a:t>
            </a:r>
          </a:p>
        </p:txBody>
      </p:sp>
      <p:sp>
        <p:nvSpPr>
          <p:cNvPr id="3" name="Marcador de texto 2">
            <a:extLst>
              <a:ext uri="{FF2B5EF4-FFF2-40B4-BE49-F238E27FC236}">
                <a16:creationId xmlns:a16="http://schemas.microsoft.com/office/drawing/2014/main" id="{7E5F88AC-F60E-8427-4B90-2ADBC991025E}"/>
              </a:ext>
            </a:extLst>
          </p:cNvPr>
          <p:cNvSpPr>
            <a:spLocks noGrp="1"/>
          </p:cNvSpPr>
          <p:nvPr>
            <p:ph type="body" idx="1"/>
          </p:nvPr>
        </p:nvSpPr>
        <p:spPr>
          <a:xfrm>
            <a:off x="533400" y="1467817"/>
            <a:ext cx="11353800" cy="5025058"/>
          </a:xfrm>
        </p:spPr>
        <p:txBody>
          <a:bodyPr>
            <a:normAutofit/>
          </a:bodyPr>
          <a:lstStyle/>
          <a:p>
            <a:r>
              <a:rPr lang="es-ES" dirty="0"/>
              <a:t>TCP:</a:t>
            </a:r>
          </a:p>
          <a:p>
            <a:pPr lvl="1"/>
            <a:r>
              <a:rPr lang="es-ES" dirty="0"/>
              <a:t>Orientado a </a:t>
            </a:r>
            <a:r>
              <a:rPr lang="es-ES" dirty="0" err="1"/>
              <a:t>conexión.Fiable</a:t>
            </a:r>
            <a:r>
              <a:rPr lang="es-ES" dirty="0"/>
              <a:t> (asegura orden y entrega).</a:t>
            </a:r>
          </a:p>
          <a:p>
            <a:pPr lvl="1"/>
            <a:r>
              <a:rPr lang="es-ES" dirty="0"/>
              <a:t>Más lento.</a:t>
            </a:r>
          </a:p>
          <a:p>
            <a:pPr lvl="1"/>
            <a:r>
              <a:rPr lang="es-ES" dirty="0"/>
              <a:t>Ejemplos: web (HTTP/HTTPS), correo, FTP.🔹 </a:t>
            </a:r>
          </a:p>
          <a:p>
            <a:r>
              <a:rPr lang="es-ES" dirty="0"/>
              <a:t>UDP No orientado a conexión.</a:t>
            </a:r>
          </a:p>
          <a:p>
            <a:pPr lvl="1"/>
            <a:r>
              <a:rPr lang="es-ES" dirty="0"/>
              <a:t>No garantiza entrega ni orden.</a:t>
            </a:r>
          </a:p>
          <a:p>
            <a:pPr lvl="1"/>
            <a:r>
              <a:rPr lang="es-ES" dirty="0"/>
              <a:t>Más rápido.</a:t>
            </a:r>
          </a:p>
          <a:p>
            <a:pPr lvl="1"/>
            <a:r>
              <a:rPr lang="es-ES" dirty="0"/>
              <a:t>Ejemplos: </a:t>
            </a:r>
            <a:r>
              <a:rPr lang="es-ES" dirty="0" err="1"/>
              <a:t>streaming</a:t>
            </a:r>
            <a:r>
              <a:rPr lang="es-ES" dirty="0"/>
              <a:t>, juegos online, DNS, VoIP.🔹</a:t>
            </a:r>
          </a:p>
          <a:p>
            <a:r>
              <a:rPr lang="es-ES" dirty="0"/>
              <a:t> Diferencia clave</a:t>
            </a:r>
          </a:p>
          <a:p>
            <a:pPr lvl="1"/>
            <a:r>
              <a:rPr lang="es-ES" dirty="0"/>
              <a:t>TCP = seguridad y fiabilidad.</a:t>
            </a:r>
          </a:p>
          <a:p>
            <a:pPr lvl="1"/>
            <a:r>
              <a:rPr lang="es-ES" dirty="0"/>
              <a:t>UDP = velocidad y simplicidad.</a:t>
            </a:r>
          </a:p>
        </p:txBody>
      </p:sp>
    </p:spTree>
    <p:extLst>
      <p:ext uri="{BB962C8B-B14F-4D97-AF65-F5344CB8AC3E}">
        <p14:creationId xmlns:p14="http://schemas.microsoft.com/office/powerpoint/2010/main" val="37314424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72"/>
          <p:cNvSpPr txBox="1">
            <a:spLocks noGrp="1"/>
          </p:cNvSpPr>
          <p:nvPr>
            <p:ph type="title"/>
          </p:nvPr>
        </p:nvSpPr>
        <p:spPr>
          <a:xfrm>
            <a:off x="838200" y="141891"/>
            <a:ext cx="10515600" cy="47044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CONFIGURACION</a:t>
            </a:r>
            <a:endParaRPr/>
          </a:p>
        </p:txBody>
      </p:sp>
      <p:sp>
        <p:nvSpPr>
          <p:cNvPr id="689" name="Google Shape;689;p72"/>
          <p:cNvSpPr txBox="1">
            <a:spLocks noGrp="1"/>
          </p:cNvSpPr>
          <p:nvPr>
            <p:ph type="body" idx="1"/>
          </p:nvPr>
        </p:nvSpPr>
        <p:spPr>
          <a:xfrm>
            <a:off x="412531" y="819807"/>
            <a:ext cx="11521966" cy="5817475"/>
          </a:xfrm>
          <a:prstGeom prst="rect">
            <a:avLst/>
          </a:prstGeom>
          <a:noFill/>
          <a:ln>
            <a:noFill/>
          </a:ln>
        </p:spPr>
        <p:txBody>
          <a:bodyPr spcFirstLastPara="1" wrap="square" lIns="91425" tIns="45700" rIns="91425" bIns="45700" anchor="t" anchorCtr="0">
            <a:normAutofit/>
          </a:bodyPr>
          <a:lstStyle/>
          <a:p>
            <a:pPr marL="228600" lvl="0" indent="-228600" algn="just" rtl="0">
              <a:lnSpc>
                <a:spcPct val="80000"/>
              </a:lnSpc>
              <a:spcBef>
                <a:spcPts val="0"/>
              </a:spcBef>
              <a:spcAft>
                <a:spcPts val="0"/>
              </a:spcAft>
              <a:buClr>
                <a:srgbClr val="525252"/>
              </a:buClr>
              <a:buSzPts val="1850"/>
              <a:buChar char="•"/>
            </a:pPr>
            <a:r>
              <a:rPr lang="es-ES" sz="1850" b="0" i="0">
                <a:solidFill>
                  <a:srgbClr val="525252"/>
                </a:solidFill>
                <a:latin typeface="Arial"/>
                <a:ea typeface="Arial"/>
                <a:cs typeface="Arial"/>
                <a:sym typeface="Arial"/>
              </a:rPr>
              <a:t>Lo habitual es que la información de los puertos la encontremos en los apartados </a:t>
            </a:r>
            <a:r>
              <a:rPr lang="es-ES" sz="1850" b="1" i="0">
                <a:solidFill>
                  <a:srgbClr val="525252"/>
                </a:solidFill>
                <a:latin typeface="Arial"/>
                <a:ea typeface="Arial"/>
                <a:cs typeface="Arial"/>
                <a:sym typeface="Arial"/>
              </a:rPr>
              <a:t>NAT, Port Forwarding u Opciones Avanzadas de nuestro </a:t>
            </a:r>
            <a:r>
              <a:rPr lang="es-ES" sz="1850" b="1" i="1">
                <a:solidFill>
                  <a:srgbClr val="525252"/>
                </a:solidFill>
                <a:latin typeface="Arial"/>
                <a:ea typeface="Arial"/>
                <a:cs typeface="Arial"/>
                <a:sym typeface="Arial"/>
              </a:rPr>
              <a:t>router</a:t>
            </a:r>
            <a:r>
              <a:rPr lang="es-ES" sz="1850" b="0" i="0">
                <a:solidFill>
                  <a:srgbClr val="525252"/>
                </a:solidFill>
                <a:latin typeface="Arial"/>
                <a:ea typeface="Arial"/>
                <a:cs typeface="Arial"/>
                <a:sym typeface="Arial"/>
              </a:rPr>
              <a:t>. Allí habrá diversas casillas que debemos completar con los datos de los puertos que queremos abrir, la IP del dispositivo al que debe enviarse la información y el protocolo que se usará. No obstante, el número y tipo de datos pueden variar dependiendo del </a:t>
            </a:r>
            <a:r>
              <a:rPr lang="es-ES" sz="1850" b="0" i="1">
                <a:solidFill>
                  <a:srgbClr val="525252"/>
                </a:solidFill>
                <a:latin typeface="Arial"/>
                <a:ea typeface="Arial"/>
                <a:cs typeface="Arial"/>
                <a:sym typeface="Arial"/>
              </a:rPr>
              <a:t>router</a:t>
            </a:r>
            <a:r>
              <a:rPr lang="es-ES" sz="1850" b="0" i="0">
                <a:solidFill>
                  <a:srgbClr val="525252"/>
                </a:solidFill>
                <a:latin typeface="Arial"/>
                <a:ea typeface="Arial"/>
                <a:cs typeface="Arial"/>
                <a:sym typeface="Arial"/>
              </a:rPr>
              <a:t>.</a:t>
            </a:r>
            <a:endParaRPr/>
          </a:p>
          <a:p>
            <a:pPr marL="228600" lvl="0" indent="-228600" algn="just" rtl="0">
              <a:lnSpc>
                <a:spcPct val="80000"/>
              </a:lnSpc>
              <a:spcBef>
                <a:spcPts val="1000"/>
              </a:spcBef>
              <a:spcAft>
                <a:spcPts val="0"/>
              </a:spcAft>
              <a:buClr>
                <a:srgbClr val="525252"/>
              </a:buClr>
              <a:buSzPts val="1850"/>
              <a:buChar char="•"/>
            </a:pPr>
            <a:r>
              <a:rPr lang="es-ES" sz="1850" b="0" i="0">
                <a:solidFill>
                  <a:srgbClr val="525252"/>
                </a:solidFill>
                <a:latin typeface="Arial"/>
                <a:ea typeface="Arial"/>
                <a:cs typeface="Arial"/>
                <a:sym typeface="Arial"/>
              </a:rPr>
              <a:t>Algunos de los términos más habituales que encontraremos son estos:</a:t>
            </a:r>
            <a:endParaRPr/>
          </a:p>
          <a:p>
            <a:pPr marL="228600" lvl="0" indent="-228600" algn="just" rtl="0">
              <a:lnSpc>
                <a:spcPct val="80000"/>
              </a:lnSpc>
              <a:spcBef>
                <a:spcPts val="1000"/>
              </a:spcBef>
              <a:spcAft>
                <a:spcPts val="0"/>
              </a:spcAft>
              <a:buClr>
                <a:srgbClr val="525252"/>
              </a:buClr>
              <a:buSzPts val="1850"/>
              <a:buFont typeface="Arial"/>
              <a:buChar char="•"/>
            </a:pPr>
            <a:r>
              <a:rPr lang="es-ES" sz="1850" b="1" i="0">
                <a:solidFill>
                  <a:srgbClr val="525252"/>
                </a:solidFill>
                <a:latin typeface="Arial"/>
                <a:ea typeface="Arial"/>
                <a:cs typeface="Arial"/>
                <a:sym typeface="Arial"/>
              </a:rPr>
              <a:t>Nombre</a:t>
            </a:r>
            <a:r>
              <a:rPr lang="es-ES" sz="1850" b="0" i="0">
                <a:solidFill>
                  <a:srgbClr val="525252"/>
                </a:solidFill>
                <a:latin typeface="Arial"/>
                <a:ea typeface="Arial"/>
                <a:cs typeface="Arial"/>
                <a:sym typeface="Arial"/>
              </a:rPr>
              <a:t>: Se indica la aplicación que está usando la configuración del puerto que vamos a configurar, a modo informativo.</a:t>
            </a:r>
            <a:endParaRPr/>
          </a:p>
          <a:p>
            <a:pPr marL="228600" lvl="0" indent="-228600" algn="just" rtl="0">
              <a:lnSpc>
                <a:spcPct val="80000"/>
              </a:lnSpc>
              <a:spcBef>
                <a:spcPts val="1000"/>
              </a:spcBef>
              <a:spcAft>
                <a:spcPts val="0"/>
              </a:spcAft>
              <a:buClr>
                <a:srgbClr val="525252"/>
              </a:buClr>
              <a:buSzPts val="1850"/>
              <a:buFont typeface="Arial"/>
              <a:buChar char="•"/>
            </a:pPr>
            <a:r>
              <a:rPr lang="es-ES" sz="1850" b="1" i="0">
                <a:solidFill>
                  <a:srgbClr val="525252"/>
                </a:solidFill>
                <a:latin typeface="Arial"/>
                <a:ea typeface="Arial"/>
                <a:cs typeface="Arial"/>
                <a:sym typeface="Arial"/>
              </a:rPr>
              <a:t>Dirección IP de LAN</a:t>
            </a:r>
            <a:r>
              <a:rPr lang="es-ES" sz="1850" b="0" i="0">
                <a:solidFill>
                  <a:srgbClr val="525252"/>
                </a:solidFill>
                <a:latin typeface="Arial"/>
                <a:ea typeface="Arial"/>
                <a:cs typeface="Arial"/>
                <a:sym typeface="Arial"/>
              </a:rPr>
              <a:t>: Se utiliza para indicar a qué dispositivo de destino debe redirigirse la información que llegue por ese puerto. Introduce la dirección IP del dispositivo en el que se va a ejecutar dicha aplicación.</a:t>
            </a:r>
            <a:endParaRPr/>
          </a:p>
          <a:p>
            <a:pPr marL="228600" lvl="0" indent="-228600" algn="just" rtl="0">
              <a:lnSpc>
                <a:spcPct val="80000"/>
              </a:lnSpc>
              <a:spcBef>
                <a:spcPts val="1000"/>
              </a:spcBef>
              <a:spcAft>
                <a:spcPts val="0"/>
              </a:spcAft>
              <a:buClr>
                <a:srgbClr val="525252"/>
              </a:buClr>
              <a:buSzPts val="1850"/>
              <a:buFont typeface="Arial"/>
              <a:buChar char="•"/>
            </a:pPr>
            <a:r>
              <a:rPr lang="es-ES" sz="1850" b="1" i="0">
                <a:solidFill>
                  <a:srgbClr val="525252"/>
                </a:solidFill>
                <a:latin typeface="Arial"/>
                <a:ea typeface="Arial"/>
                <a:cs typeface="Arial"/>
                <a:sym typeface="Arial"/>
              </a:rPr>
              <a:t>Dirección IP de WAN</a:t>
            </a:r>
            <a:r>
              <a:rPr lang="es-ES" sz="1850" b="0" i="0">
                <a:solidFill>
                  <a:srgbClr val="525252"/>
                </a:solidFill>
                <a:latin typeface="Arial"/>
                <a:ea typeface="Arial"/>
                <a:cs typeface="Arial"/>
                <a:sym typeface="Arial"/>
              </a:rPr>
              <a:t>: Es la dirección desde la que se van a redirigir los datos. Suele corresponder a la dirección IP de nuestro </a:t>
            </a:r>
            <a:r>
              <a:rPr lang="es-ES" sz="1850" b="0" i="1">
                <a:solidFill>
                  <a:srgbClr val="525252"/>
                </a:solidFill>
                <a:latin typeface="Arial"/>
                <a:ea typeface="Arial"/>
                <a:cs typeface="Arial"/>
                <a:sym typeface="Arial"/>
              </a:rPr>
              <a:t>router</a:t>
            </a:r>
            <a:r>
              <a:rPr lang="es-ES" sz="1850" b="0" i="0">
                <a:solidFill>
                  <a:srgbClr val="525252"/>
                </a:solidFill>
                <a:latin typeface="Arial"/>
                <a:ea typeface="Arial"/>
                <a:cs typeface="Arial"/>
                <a:sym typeface="Arial"/>
              </a:rPr>
              <a:t>, por lo que suele venir ya cumplimentado o simplemente en blanco para obviarlo.</a:t>
            </a:r>
            <a:endParaRPr/>
          </a:p>
          <a:p>
            <a:pPr marL="228600" lvl="0" indent="-228600" algn="just" rtl="0">
              <a:lnSpc>
                <a:spcPct val="80000"/>
              </a:lnSpc>
              <a:spcBef>
                <a:spcPts val="1000"/>
              </a:spcBef>
              <a:spcAft>
                <a:spcPts val="0"/>
              </a:spcAft>
              <a:buClr>
                <a:srgbClr val="525252"/>
              </a:buClr>
              <a:buSzPts val="1850"/>
              <a:buFont typeface="Arial"/>
              <a:buChar char="•"/>
            </a:pPr>
            <a:r>
              <a:rPr lang="es-ES" sz="1850" b="1" i="0">
                <a:solidFill>
                  <a:srgbClr val="525252"/>
                </a:solidFill>
                <a:latin typeface="Arial"/>
                <a:ea typeface="Arial"/>
                <a:cs typeface="Arial"/>
                <a:sym typeface="Arial"/>
              </a:rPr>
              <a:t>Puertos WAN</a:t>
            </a:r>
            <a:r>
              <a:rPr lang="es-ES" sz="1850" b="0" i="0">
                <a:solidFill>
                  <a:srgbClr val="525252"/>
                </a:solidFill>
                <a:latin typeface="Arial"/>
                <a:ea typeface="Arial"/>
                <a:cs typeface="Arial"/>
                <a:sym typeface="Arial"/>
              </a:rPr>
              <a:t>: Este campo corresponde al número del puerto o rango que queremos abrir. </a:t>
            </a:r>
            <a:endParaRPr/>
          </a:p>
          <a:p>
            <a:pPr marL="228600" lvl="0" indent="-228600" algn="just" rtl="0">
              <a:lnSpc>
                <a:spcPct val="80000"/>
              </a:lnSpc>
              <a:spcBef>
                <a:spcPts val="1000"/>
              </a:spcBef>
              <a:spcAft>
                <a:spcPts val="0"/>
              </a:spcAft>
              <a:buClr>
                <a:srgbClr val="525252"/>
              </a:buClr>
              <a:buSzPts val="1850"/>
              <a:buFont typeface="Arial"/>
              <a:buChar char="•"/>
            </a:pPr>
            <a:r>
              <a:rPr lang="es-ES" sz="1850" b="1" i="0">
                <a:solidFill>
                  <a:srgbClr val="525252"/>
                </a:solidFill>
                <a:latin typeface="Arial"/>
                <a:ea typeface="Arial"/>
                <a:cs typeface="Arial"/>
                <a:sym typeface="Arial"/>
              </a:rPr>
              <a:t>Puertos LAN</a:t>
            </a:r>
            <a:r>
              <a:rPr lang="es-ES" sz="1850" b="0" i="0">
                <a:solidFill>
                  <a:srgbClr val="525252"/>
                </a:solidFill>
                <a:latin typeface="Arial"/>
                <a:ea typeface="Arial"/>
                <a:cs typeface="Arial"/>
                <a:sym typeface="Arial"/>
              </a:rPr>
              <a:t>: Se utilizan los mismos datos que en la configuración de puertos WAN.</a:t>
            </a:r>
            <a:endParaRPr/>
          </a:p>
          <a:p>
            <a:pPr marL="228600" lvl="0" indent="-228600" algn="just" rtl="0">
              <a:lnSpc>
                <a:spcPct val="80000"/>
              </a:lnSpc>
              <a:spcBef>
                <a:spcPts val="1000"/>
              </a:spcBef>
              <a:spcAft>
                <a:spcPts val="0"/>
              </a:spcAft>
              <a:buClr>
                <a:srgbClr val="525252"/>
              </a:buClr>
              <a:buSzPts val="1850"/>
              <a:buFont typeface="Arial"/>
              <a:buChar char="•"/>
            </a:pPr>
            <a:r>
              <a:rPr lang="es-ES" sz="1850" b="1" i="0">
                <a:solidFill>
                  <a:srgbClr val="525252"/>
                </a:solidFill>
                <a:latin typeface="Arial"/>
                <a:ea typeface="Arial"/>
                <a:cs typeface="Arial"/>
                <a:sym typeface="Arial"/>
              </a:rPr>
              <a:t>Protocolo UDP/ TCP</a:t>
            </a:r>
            <a:r>
              <a:rPr lang="es-ES" sz="1850" b="0" i="0">
                <a:solidFill>
                  <a:srgbClr val="525252"/>
                </a:solidFill>
                <a:latin typeface="Arial"/>
                <a:ea typeface="Arial"/>
                <a:cs typeface="Arial"/>
                <a:sym typeface="Arial"/>
              </a:rPr>
              <a:t>: Este dato debe indicarlo la aplicación o servicios que necesita abrir los puertos. </a:t>
            </a:r>
            <a:endParaRPr/>
          </a:p>
          <a:p>
            <a:pPr marL="228600" lvl="0" indent="-228600" algn="just" rtl="0">
              <a:lnSpc>
                <a:spcPct val="80000"/>
              </a:lnSpc>
              <a:spcBef>
                <a:spcPts val="1000"/>
              </a:spcBef>
              <a:spcAft>
                <a:spcPts val="0"/>
              </a:spcAft>
              <a:buClr>
                <a:srgbClr val="525252"/>
              </a:buClr>
              <a:buSzPts val="1850"/>
              <a:buChar char="•"/>
            </a:pPr>
            <a:r>
              <a:rPr lang="es-ES" sz="1850" b="0" i="0">
                <a:solidFill>
                  <a:srgbClr val="525252"/>
                </a:solidFill>
                <a:latin typeface="Arial"/>
                <a:ea typeface="Arial"/>
                <a:cs typeface="Arial"/>
                <a:sym typeface="Arial"/>
              </a:rPr>
              <a:t>Una vez introducidos todos los datos, </a:t>
            </a:r>
            <a:r>
              <a:rPr lang="es-ES" sz="1850" b="1" i="0">
                <a:solidFill>
                  <a:srgbClr val="525252"/>
                </a:solidFill>
                <a:latin typeface="Arial"/>
                <a:ea typeface="Arial"/>
                <a:cs typeface="Arial"/>
                <a:sym typeface="Arial"/>
              </a:rPr>
              <a:t>debemos guardar la nueva configuración del </a:t>
            </a:r>
            <a:r>
              <a:rPr lang="es-ES" sz="1850" b="1" i="1">
                <a:solidFill>
                  <a:srgbClr val="525252"/>
                </a:solidFill>
                <a:latin typeface="Arial"/>
                <a:ea typeface="Arial"/>
                <a:cs typeface="Arial"/>
                <a:sym typeface="Arial"/>
              </a:rPr>
              <a:t>router</a:t>
            </a:r>
            <a:r>
              <a:rPr lang="es-ES" sz="1850" b="0" i="1">
                <a:solidFill>
                  <a:srgbClr val="525252"/>
                </a:solidFill>
                <a:latin typeface="Arial"/>
                <a:ea typeface="Arial"/>
                <a:cs typeface="Arial"/>
                <a:sym typeface="Arial"/>
              </a:rPr>
              <a:t> </a:t>
            </a:r>
            <a:r>
              <a:rPr lang="es-ES" sz="1850" b="0" i="0">
                <a:solidFill>
                  <a:srgbClr val="525252"/>
                </a:solidFill>
                <a:latin typeface="Arial"/>
                <a:ea typeface="Arial"/>
                <a:cs typeface="Arial"/>
                <a:sym typeface="Arial"/>
              </a:rPr>
              <a:t>y, en algunos casos, incluso es recomendable </a:t>
            </a:r>
            <a:r>
              <a:rPr lang="es-ES" sz="1850" b="1" i="0">
                <a:solidFill>
                  <a:srgbClr val="525252"/>
                </a:solidFill>
                <a:latin typeface="Arial"/>
                <a:ea typeface="Arial"/>
                <a:cs typeface="Arial"/>
                <a:sym typeface="Arial"/>
              </a:rPr>
              <a:t>reiniciarlo</a:t>
            </a:r>
            <a:endParaRPr sz="1850" b="0" i="0">
              <a:solidFill>
                <a:srgbClr val="525252"/>
              </a:solidFill>
              <a:latin typeface="Arial"/>
              <a:ea typeface="Arial"/>
              <a:cs typeface="Arial"/>
              <a:sym typeface="Arial"/>
            </a:endParaRPr>
          </a:p>
          <a:p>
            <a:pPr marL="228600" lvl="0" indent="-111125" algn="l" rtl="0">
              <a:lnSpc>
                <a:spcPct val="80000"/>
              </a:lnSpc>
              <a:spcBef>
                <a:spcPts val="1000"/>
              </a:spcBef>
              <a:spcAft>
                <a:spcPts val="0"/>
              </a:spcAft>
              <a:buClr>
                <a:schemeClr val="dk1"/>
              </a:buClr>
              <a:buSzPts val="1850"/>
              <a:buNone/>
            </a:pPr>
            <a:endParaRPr sz="185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73"/>
          <p:cNvSpPr txBox="1">
            <a:spLocks noGrp="1"/>
          </p:cNvSpPr>
          <p:nvPr>
            <p:ph type="title"/>
          </p:nvPr>
        </p:nvSpPr>
        <p:spPr>
          <a:xfrm>
            <a:off x="1831427"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CONFIGURACION DEL ROUTER</a:t>
            </a:r>
            <a:endParaRPr/>
          </a:p>
        </p:txBody>
      </p:sp>
      <p:sp>
        <p:nvSpPr>
          <p:cNvPr id="695" name="Google Shape;695;p73"/>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s-ES"/>
              <a:t>PROTOCOLO HTTPS</a:t>
            </a:r>
            <a:endParaRPr/>
          </a:p>
        </p:txBody>
      </p:sp>
      <p:sp>
        <p:nvSpPr>
          <p:cNvPr id="696" name="Google Shape;696;p73"/>
          <p:cNvSpPr txBox="1"/>
          <p:nvPr/>
        </p:nvSpPr>
        <p:spPr>
          <a:xfrm>
            <a:off x="3008697" y="1719917"/>
            <a:ext cx="6174606"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202124"/>
                </a:solidFill>
                <a:latin typeface="arial"/>
                <a:ea typeface="arial"/>
                <a:cs typeface="arial"/>
                <a:sym typeface="arial"/>
              </a:rPr>
              <a:t>El </a:t>
            </a:r>
            <a:r>
              <a:rPr lang="es-ES" sz="1800" b="1" i="0">
                <a:solidFill>
                  <a:srgbClr val="202124"/>
                </a:solidFill>
                <a:latin typeface="arial"/>
                <a:ea typeface="arial"/>
                <a:cs typeface="arial"/>
                <a:sym typeface="arial"/>
              </a:rPr>
              <a:t>protocolo</a:t>
            </a:r>
            <a:r>
              <a:rPr lang="es-ES" sz="1800" b="0" i="0">
                <a:solidFill>
                  <a:srgbClr val="202124"/>
                </a:solidFill>
                <a:latin typeface="arial"/>
                <a:ea typeface="arial"/>
                <a:cs typeface="arial"/>
                <a:sym typeface="arial"/>
              </a:rPr>
              <a:t> de seguridad </a:t>
            </a:r>
            <a:r>
              <a:rPr lang="es-ES" sz="1800" b="1" i="0">
                <a:solidFill>
                  <a:srgbClr val="202124"/>
                </a:solidFill>
                <a:latin typeface="arial"/>
                <a:ea typeface="arial"/>
                <a:cs typeface="arial"/>
                <a:sym typeface="arial"/>
              </a:rPr>
              <a:t>HTTPS</a:t>
            </a:r>
            <a:r>
              <a:rPr lang="es-ES" sz="1800" b="0" i="0">
                <a:solidFill>
                  <a:srgbClr val="202124"/>
                </a:solidFill>
                <a:latin typeface="arial"/>
                <a:ea typeface="arial"/>
                <a:cs typeface="arial"/>
                <a:sym typeface="arial"/>
              </a:rPr>
              <a:t> (HyperText Transfer Protocol Secure) es una versión encriptada de </a:t>
            </a:r>
            <a:r>
              <a:rPr lang="es-ES" sz="1800" b="1" i="0">
                <a:solidFill>
                  <a:srgbClr val="202124"/>
                </a:solidFill>
                <a:latin typeface="arial"/>
                <a:ea typeface="arial"/>
                <a:cs typeface="arial"/>
                <a:sym typeface="arial"/>
              </a:rPr>
              <a:t>HTTP</a:t>
            </a:r>
            <a:r>
              <a:rPr lang="es-ES" sz="1800" b="0" i="0">
                <a:solidFill>
                  <a:srgbClr val="202124"/>
                </a:solidFill>
                <a:latin typeface="arial"/>
                <a:ea typeface="arial"/>
                <a:cs typeface="arial"/>
                <a:sym typeface="arial"/>
              </a:rPr>
              <a:t>, que es el </a:t>
            </a:r>
            <a:r>
              <a:rPr lang="es-ES" sz="1800" b="1" i="0">
                <a:solidFill>
                  <a:srgbClr val="202124"/>
                </a:solidFill>
                <a:latin typeface="arial"/>
                <a:ea typeface="arial"/>
                <a:cs typeface="arial"/>
                <a:sym typeface="arial"/>
              </a:rPr>
              <a:t>protocolo</a:t>
            </a:r>
            <a:r>
              <a:rPr lang="es-ES" sz="1800" b="0" i="0">
                <a:solidFill>
                  <a:srgbClr val="202124"/>
                </a:solidFill>
                <a:latin typeface="arial"/>
                <a:ea typeface="arial"/>
                <a:cs typeface="arial"/>
                <a:sym typeface="arial"/>
              </a:rPr>
              <a:t> más usado para transferir datos en internet. </a:t>
            </a:r>
            <a:r>
              <a:rPr lang="es-ES" sz="1800" b="1" i="0">
                <a:solidFill>
                  <a:srgbClr val="202124"/>
                </a:solidFill>
                <a:latin typeface="arial"/>
                <a:ea typeface="arial"/>
                <a:cs typeface="arial"/>
                <a:sym typeface="arial"/>
              </a:rPr>
              <a:t>HTTPS</a:t>
            </a:r>
            <a:r>
              <a:rPr lang="es-ES" sz="1800" b="0" i="0">
                <a:solidFill>
                  <a:srgbClr val="202124"/>
                </a:solidFill>
                <a:latin typeface="arial"/>
                <a:ea typeface="arial"/>
                <a:cs typeface="arial"/>
                <a:sym typeface="arial"/>
              </a:rPr>
              <a:t> protege la comunicación entre tu navegador y servidor para que no sea interceptada o modificada por atacantes.</a:t>
            </a:r>
            <a:endParaRPr sz="1800">
              <a:solidFill>
                <a:schemeClr val="dk1"/>
              </a:solidFill>
              <a:latin typeface="Calibri"/>
              <a:ea typeface="Calibri"/>
              <a:cs typeface="Calibri"/>
              <a:sym typeface="Calibri"/>
            </a:endParaRPr>
          </a:p>
        </p:txBody>
      </p:sp>
      <p:pic>
        <p:nvPicPr>
          <p:cNvPr id="697" name="Google Shape;697;p73"/>
          <p:cNvPicPr preferRelativeResize="0"/>
          <p:nvPr/>
        </p:nvPicPr>
        <p:blipFill rotWithShape="1">
          <a:blip r:embed="rId3">
            <a:alphaModFix/>
          </a:blip>
          <a:srcRect/>
          <a:stretch/>
        </p:blipFill>
        <p:spPr>
          <a:xfrm>
            <a:off x="3511115" y="3674644"/>
            <a:ext cx="4476750" cy="27813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74"/>
          <p:cNvSpPr txBox="1">
            <a:spLocks noGrp="1"/>
          </p:cNvSpPr>
          <p:nvPr>
            <p:ph type="title"/>
          </p:nvPr>
        </p:nvSpPr>
        <p:spPr>
          <a:xfrm>
            <a:off x="1831427"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CONFIGURACION DEL ROUTER</a:t>
            </a:r>
            <a:endParaRPr/>
          </a:p>
        </p:txBody>
      </p:sp>
      <p:sp>
        <p:nvSpPr>
          <p:cNvPr id="703" name="Google Shape;703;p74"/>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s-ES"/>
              <a:t>PROTOCOLO WEP</a:t>
            </a:r>
            <a:endParaRPr/>
          </a:p>
        </p:txBody>
      </p:sp>
      <p:sp>
        <p:nvSpPr>
          <p:cNvPr id="704" name="Google Shape;704;p74"/>
          <p:cNvSpPr txBox="1"/>
          <p:nvPr/>
        </p:nvSpPr>
        <p:spPr>
          <a:xfrm>
            <a:off x="1701264" y="1915160"/>
            <a:ext cx="9652535"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202124"/>
                </a:solidFill>
                <a:latin typeface="arial"/>
                <a:ea typeface="arial"/>
                <a:cs typeface="arial"/>
                <a:sym typeface="arial"/>
              </a:rPr>
              <a:t>Wired Equivalent Privacy (</a:t>
            </a:r>
            <a:r>
              <a:rPr lang="es-ES" sz="1800" b="1" i="0">
                <a:solidFill>
                  <a:srgbClr val="202124"/>
                </a:solidFill>
                <a:latin typeface="arial"/>
                <a:ea typeface="arial"/>
                <a:cs typeface="arial"/>
                <a:sym typeface="arial"/>
              </a:rPr>
              <a:t>WEP</a:t>
            </a:r>
            <a:r>
              <a:rPr lang="es-ES" sz="1800" b="0" i="0">
                <a:solidFill>
                  <a:srgbClr val="202124"/>
                </a:solidFill>
                <a:latin typeface="arial"/>
                <a:ea typeface="arial"/>
                <a:cs typeface="arial"/>
                <a:sym typeface="arial"/>
              </a:rPr>
              <a:t>), en español «Privacidad equivalente a cableado», es el sistema de cifrado incluido en el estándar IEEE 802.11 como </a:t>
            </a:r>
            <a:r>
              <a:rPr lang="es-ES" sz="1800" b="1" i="0">
                <a:solidFill>
                  <a:srgbClr val="202124"/>
                </a:solidFill>
                <a:latin typeface="arial"/>
                <a:ea typeface="arial"/>
                <a:cs typeface="arial"/>
                <a:sym typeface="arial"/>
              </a:rPr>
              <a:t>protocolo</a:t>
            </a:r>
            <a:r>
              <a:rPr lang="es-ES" sz="1800" b="0" i="0">
                <a:solidFill>
                  <a:srgbClr val="202124"/>
                </a:solidFill>
                <a:latin typeface="arial"/>
                <a:ea typeface="arial"/>
                <a:cs typeface="arial"/>
                <a:sym typeface="arial"/>
              </a:rPr>
              <a:t> para redes Wireless que permite cifrar la información que se transmite.</a:t>
            </a:r>
            <a:endParaRPr sz="1800">
              <a:solidFill>
                <a:schemeClr val="dk1"/>
              </a:solidFill>
              <a:latin typeface="Calibri"/>
              <a:ea typeface="Calibri"/>
              <a:cs typeface="Calibri"/>
              <a:sym typeface="Calibri"/>
            </a:endParaRPr>
          </a:p>
        </p:txBody>
      </p:sp>
      <p:sp>
        <p:nvSpPr>
          <p:cNvPr id="705" name="Google Shape;705;p74"/>
          <p:cNvSpPr txBox="1"/>
          <p:nvPr/>
        </p:nvSpPr>
        <p:spPr>
          <a:xfrm>
            <a:off x="1318661" y="3137836"/>
            <a:ext cx="9567512"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a:solidFill>
                  <a:srgbClr val="4A4D5D"/>
                </a:solidFill>
                <a:latin typeface="Nunito Sans Black"/>
                <a:ea typeface="Nunito Sans Black"/>
                <a:cs typeface="Nunito Sans Black"/>
                <a:sym typeface="Nunito Sans Black"/>
              </a:rPr>
              <a:t>WEP</a:t>
            </a:r>
            <a:r>
              <a:rPr lang="es-ES" sz="1800" b="0" i="0">
                <a:solidFill>
                  <a:srgbClr val="4A4D5D"/>
                </a:solidFill>
                <a:latin typeface="Nunito Sans"/>
                <a:ea typeface="Nunito Sans"/>
                <a:cs typeface="Nunito Sans"/>
                <a:sym typeface="Nunito Sans"/>
              </a:rPr>
              <a:t> ue desarrollado para redes inalámbricas y aprobado como estándar de seguridad Wi-Fi en septiembre de 1999. WEP debía ofrecer el mismo nivel de seguridad que las redes cableadas, sin embargo hay un montón de problemas de seguridad conocidos en WEP, que también es fácil de romper y difícil de configurar.</a:t>
            </a:r>
            <a:endParaRPr/>
          </a:p>
          <a:p>
            <a:pPr marL="0" marR="0" lvl="0" indent="0" algn="l" rtl="0">
              <a:spcBef>
                <a:spcPts val="0"/>
              </a:spcBef>
              <a:spcAft>
                <a:spcPts val="0"/>
              </a:spcAft>
              <a:buNone/>
            </a:pPr>
            <a:r>
              <a:rPr lang="es-ES" sz="1800" b="0" i="0">
                <a:solidFill>
                  <a:srgbClr val="4A4D5D"/>
                </a:solidFill>
                <a:latin typeface="Nunito Sans"/>
                <a:ea typeface="Nunito Sans"/>
                <a:cs typeface="Nunito Sans"/>
                <a:sym typeface="Nunito Sans"/>
              </a:rPr>
              <a:t>A pesar de todo el trabajo que se ha hecho para mejorar el sistema, WEP sigue siendo una solución altamente vulnerable. Los sistemas que dependen de este protocolo deben ser actualizados o reemplazados en caso de que la actualización de seguridad no sea posible. WEP fue oficialmente abandonada por la Alianza Wi-Fi en 2004.</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75"/>
          <p:cNvSpPr txBox="1">
            <a:spLocks noGrp="1"/>
          </p:cNvSpPr>
          <p:nvPr>
            <p:ph type="title"/>
          </p:nvPr>
        </p:nvSpPr>
        <p:spPr>
          <a:xfrm>
            <a:off x="1831427"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CONFIGURACION DEL ROUTER</a:t>
            </a:r>
            <a:endParaRPr/>
          </a:p>
        </p:txBody>
      </p:sp>
      <p:sp>
        <p:nvSpPr>
          <p:cNvPr id="711" name="Google Shape;711;p75"/>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s-ES"/>
              <a:t>PROTOCOLO WPA2</a:t>
            </a:r>
            <a:endParaRPr/>
          </a:p>
        </p:txBody>
      </p:sp>
      <p:sp>
        <p:nvSpPr>
          <p:cNvPr id="712" name="Google Shape;712;p75"/>
          <p:cNvSpPr txBox="1"/>
          <p:nvPr/>
        </p:nvSpPr>
        <p:spPr>
          <a:xfrm>
            <a:off x="2788919" y="1749467"/>
            <a:ext cx="6174606"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rgbClr val="202124"/>
                </a:solidFill>
                <a:latin typeface="arial"/>
                <a:ea typeface="arial"/>
                <a:cs typeface="arial"/>
                <a:sym typeface="arial"/>
              </a:rPr>
              <a:t>WPA2</a:t>
            </a:r>
            <a:r>
              <a:rPr lang="es-ES" sz="1800" b="0" i="0">
                <a:solidFill>
                  <a:srgbClr val="202124"/>
                </a:solidFill>
                <a:latin typeface="arial"/>
                <a:ea typeface="arial"/>
                <a:cs typeface="arial"/>
                <a:sym typeface="arial"/>
              </a:rPr>
              <a:t> (Wi-Fi Protected Access 2), en español «Acceso Wi-Fi protegido 2», es un sistema para proteger las redes inalámbricas (Wi-Fi); creado para corregir las deficiencias del sistema previo en el nuevo estándar 802.11i. ... El estándar 802.11i fue ratificado en junio de 2004.</a:t>
            </a:r>
            <a:endParaRPr sz="1800">
              <a:solidFill>
                <a:schemeClr val="dk1"/>
              </a:solidFill>
              <a:latin typeface="Calibri"/>
              <a:ea typeface="Calibri"/>
              <a:cs typeface="Calibri"/>
              <a:sym typeface="Calibri"/>
            </a:endParaRPr>
          </a:p>
        </p:txBody>
      </p:sp>
      <p:pic>
        <p:nvPicPr>
          <p:cNvPr id="713" name="Google Shape;713;p75" descr="Protocolos de seguridad inalámbrica: WEP, WPA y WPA2. ¿En que se  diferencian? | Antelec, S.L."/>
          <p:cNvPicPr preferRelativeResize="0"/>
          <p:nvPr/>
        </p:nvPicPr>
        <p:blipFill rotWithShape="1">
          <a:blip r:embed="rId3">
            <a:alphaModFix/>
          </a:blip>
          <a:srcRect/>
          <a:stretch/>
        </p:blipFill>
        <p:spPr>
          <a:xfrm>
            <a:off x="1085400" y="3964706"/>
            <a:ext cx="9140314" cy="2045612"/>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76"/>
          <p:cNvSpPr txBox="1">
            <a:spLocks noGrp="1"/>
          </p:cNvSpPr>
          <p:nvPr>
            <p:ph type="title"/>
          </p:nvPr>
        </p:nvSpPr>
        <p:spPr>
          <a:xfrm>
            <a:off x="1831427"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CONFIGURACION DEL ROUTER</a:t>
            </a:r>
            <a:endParaRPr/>
          </a:p>
        </p:txBody>
      </p:sp>
      <p:sp>
        <p:nvSpPr>
          <p:cNvPr id="720" name="Google Shape;720;p76"/>
          <p:cNvSpPr txBox="1"/>
          <p:nvPr/>
        </p:nvSpPr>
        <p:spPr>
          <a:xfrm>
            <a:off x="1626669" y="834993"/>
            <a:ext cx="747000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i="0" u="sng">
                <a:solidFill>
                  <a:schemeClr val="dk1"/>
                </a:solidFill>
                <a:latin typeface="Nunito Sans ExtraBold"/>
                <a:ea typeface="Nunito Sans ExtraBold"/>
                <a:cs typeface="Nunito Sans ExtraBold"/>
                <a:sym typeface="Nunito Sans ExtraBold"/>
                <a:hlinkClick r:id="rId3">
                  <a:extLst>
                    <a:ext uri="{A12FA001-AC4F-418D-AE19-62706E023703}">
                      <ahyp:hlinkClr xmlns:ahyp="http://schemas.microsoft.com/office/drawing/2018/hyperlinkcolor" val="tx"/>
                    </a:ext>
                  </a:extLst>
                </a:hlinkClick>
              </a:rPr>
              <a:t>UPD: WPA3 es la nueva generación de seguridad WiFi</a:t>
            </a:r>
            <a:endParaRPr sz="2400" b="1">
              <a:solidFill>
                <a:schemeClr val="dk1"/>
              </a:solidFill>
              <a:latin typeface="Calibri"/>
              <a:ea typeface="Calibri"/>
              <a:cs typeface="Calibri"/>
              <a:sym typeface="Calibri"/>
            </a:endParaRPr>
          </a:p>
        </p:txBody>
      </p:sp>
      <p:sp>
        <p:nvSpPr>
          <p:cNvPr id="721" name="Google Shape;721;p76"/>
          <p:cNvSpPr txBox="1"/>
          <p:nvPr/>
        </p:nvSpPr>
        <p:spPr>
          <a:xfrm>
            <a:off x="182880" y="1445976"/>
            <a:ext cx="3907857" cy="4893647"/>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i="0">
                <a:solidFill>
                  <a:schemeClr val="lt1"/>
                </a:solidFill>
                <a:latin typeface="Nunito Sans Black"/>
                <a:ea typeface="Nunito Sans Black"/>
                <a:cs typeface="Nunito Sans Black"/>
                <a:sym typeface="Nunito Sans Black"/>
              </a:rPr>
              <a:t>Protección con contraseña</a:t>
            </a:r>
            <a:endParaRPr sz="2400" b="1" i="0">
              <a:solidFill>
                <a:schemeClr val="lt1"/>
              </a:solidFill>
              <a:latin typeface="Nunito Sans"/>
              <a:ea typeface="Nunito Sans"/>
              <a:cs typeface="Nunito Sans"/>
              <a:sym typeface="Nunito Sans"/>
            </a:endParaRPr>
          </a:p>
          <a:p>
            <a:pPr marL="0" marR="0" lvl="0" indent="0" algn="l" rtl="0">
              <a:spcBef>
                <a:spcPts val="0"/>
              </a:spcBef>
              <a:spcAft>
                <a:spcPts val="0"/>
              </a:spcAft>
              <a:buNone/>
            </a:pPr>
            <a:r>
              <a:rPr lang="es-ES" sz="1800" b="0" i="0">
                <a:solidFill>
                  <a:schemeClr val="lt1"/>
                </a:solidFill>
                <a:latin typeface="Nunito Sans"/>
                <a:ea typeface="Nunito Sans"/>
                <a:cs typeface="Nunito Sans"/>
                <a:sym typeface="Nunito Sans"/>
              </a:rPr>
              <a:t>Comience con cómo WPA3 le dará más protección. Una debilidad fundamental de WPA2, el actual protocolo de seguridad inalámbrica que data de 2004, es que permite a los hackers desplegar un llamado ataques </a:t>
            </a:r>
            <a:r>
              <a:rPr lang="es-ES" sz="1800">
                <a:solidFill>
                  <a:schemeClr val="lt1"/>
                </a:solidFill>
                <a:latin typeface="Nunito Sans"/>
                <a:ea typeface="Nunito Sans"/>
                <a:cs typeface="Nunito Sans"/>
                <a:sym typeface="Nunito Sans"/>
              </a:rPr>
              <a:t>de diccionario </a:t>
            </a:r>
            <a:r>
              <a:rPr lang="es-ES" sz="1800" b="0" i="0">
                <a:solidFill>
                  <a:schemeClr val="lt1"/>
                </a:solidFill>
                <a:latin typeface="Nunito Sans"/>
                <a:ea typeface="Nunito Sans"/>
                <a:cs typeface="Nunito Sans"/>
                <a:sym typeface="Nunito Sans"/>
              </a:rPr>
              <a:t>para averiguar su contraseña. WPA3 protegerá contra ataques de diccionario implementando un nuevo protocolo de intercambio de claves. Utiliza un sistema de protección denominada DragonFly que protege contra estos tipos de ataques. Aunque parece que este ultimo año se ha demostrado que no protege tanto como se esperaba.</a:t>
            </a:r>
            <a:endParaRPr/>
          </a:p>
        </p:txBody>
      </p:sp>
      <p:sp>
        <p:nvSpPr>
          <p:cNvPr id="722" name="Google Shape;722;p76"/>
          <p:cNvSpPr txBox="1"/>
          <p:nvPr/>
        </p:nvSpPr>
        <p:spPr>
          <a:xfrm>
            <a:off x="4158115" y="1296658"/>
            <a:ext cx="8033886" cy="5170646"/>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i="0">
                <a:solidFill>
                  <a:schemeClr val="lt1"/>
                </a:solidFill>
                <a:latin typeface="Nunito Sans Black"/>
                <a:ea typeface="Nunito Sans Black"/>
                <a:cs typeface="Nunito Sans Black"/>
                <a:sym typeface="Nunito Sans Black"/>
              </a:rPr>
              <a:t>Conexiones más seguras</a:t>
            </a:r>
            <a:endParaRPr/>
          </a:p>
          <a:p>
            <a:pPr marL="0" marR="0" lvl="0" indent="0" algn="l" rtl="0">
              <a:spcBef>
                <a:spcPts val="0"/>
              </a:spcBef>
              <a:spcAft>
                <a:spcPts val="0"/>
              </a:spcAft>
              <a:buNone/>
            </a:pPr>
            <a:r>
              <a:rPr lang="es-ES" sz="1700" b="0" i="0">
                <a:solidFill>
                  <a:schemeClr val="lt1"/>
                </a:solidFill>
                <a:latin typeface="Nunito Sans Black"/>
                <a:ea typeface="Nunito Sans Black"/>
                <a:cs typeface="Nunito Sans Black"/>
                <a:sym typeface="Nunito Sans Black"/>
              </a:rPr>
              <a:t>Cuando WPA2 apareció en 2004, el Internet de los objetos aún no se había convertido en el horror de la seguridad que tanto se consume y que es su sello actual. No es de extrañar, por lo tanto, que WPA2 no ofreciera una forma racionalizada de incorporar estos dispositivos de forma segura a una red Wi-Fi existente.</a:t>
            </a:r>
            <a:endParaRPr/>
          </a:p>
          <a:p>
            <a:pPr marL="0" marR="0" lvl="0" indent="0" algn="l" rtl="0">
              <a:spcBef>
                <a:spcPts val="0"/>
              </a:spcBef>
              <a:spcAft>
                <a:spcPts val="0"/>
              </a:spcAft>
              <a:buNone/>
            </a:pPr>
            <a:r>
              <a:rPr lang="es-ES" sz="1700" b="0" i="0">
                <a:solidFill>
                  <a:schemeClr val="lt1"/>
                </a:solidFill>
                <a:latin typeface="Nunito Sans Black"/>
                <a:ea typeface="Nunito Sans Black"/>
                <a:cs typeface="Nunito Sans Black"/>
                <a:sym typeface="Nunito Sans Black"/>
              </a:rPr>
              <a:t>Y de hecho, el método predominante con el que se lleva a cabo ese proceso hoy en día — la configuración protegida Wi-Fi — ha tenido vulnerabilidades conocidas desde 2011. WPA3 proporciona una solución.</a:t>
            </a:r>
            <a:endParaRPr/>
          </a:p>
          <a:p>
            <a:pPr marL="0" marR="0" lvl="0" indent="0" algn="l" rtl="0">
              <a:spcBef>
                <a:spcPts val="0"/>
              </a:spcBef>
              <a:spcAft>
                <a:spcPts val="0"/>
              </a:spcAft>
              <a:buNone/>
            </a:pPr>
            <a:r>
              <a:rPr lang="es-ES" sz="1700" b="0" i="0">
                <a:solidFill>
                  <a:schemeClr val="lt1"/>
                </a:solidFill>
                <a:latin typeface="Nunito Sans Black"/>
                <a:ea typeface="Nunito Sans Black"/>
                <a:cs typeface="Nunito Sans Black"/>
                <a:sym typeface="Nunito Sans Black"/>
              </a:rPr>
              <a:t>Wi-Fi Easy Connect, facilita el acceso a la red de dispositivos inalámbricos que no tienen (o tienen una pantalla o mecanismo de entrada limitado). Cuando esté habilitado, sólo tiene que utilizar su smartphone para escanear un código QR en su router y, a continuación, escanear un código QR en su impresora, altavoz u otro dispositivo IoT, y ya está listo: están conectados de forma segura.</a:t>
            </a:r>
            <a:endParaRPr/>
          </a:p>
          <a:p>
            <a:pPr marL="0" marR="0" lvl="0" indent="0" algn="l" rtl="0">
              <a:spcBef>
                <a:spcPts val="0"/>
              </a:spcBef>
              <a:spcAft>
                <a:spcPts val="0"/>
              </a:spcAft>
              <a:buNone/>
            </a:pPr>
            <a:r>
              <a:rPr lang="es-ES" sz="1700" b="0" i="0">
                <a:solidFill>
                  <a:schemeClr val="lt1"/>
                </a:solidFill>
                <a:latin typeface="Nunito Sans Black"/>
                <a:ea typeface="Nunito Sans Black"/>
                <a:cs typeface="Nunito Sans Black"/>
                <a:sym typeface="Nunito Sans Black"/>
              </a:rPr>
              <a:t>Con el método de código QR, está utilizando cifrado basado en clave pública para los dispositivos integrados que actualmente carecen en gran medida de un método sencillo y seguro para hacerlo.</a:t>
            </a:r>
            <a:endParaRPr/>
          </a:p>
          <a:p>
            <a:pPr marL="0" marR="0" lvl="0" indent="0" algn="l" rtl="0">
              <a:spcBef>
                <a:spcPts val="0"/>
              </a:spcBef>
              <a:spcAft>
                <a:spcPts val="0"/>
              </a:spcAft>
              <a:buNone/>
            </a:pPr>
            <a:r>
              <a:rPr lang="es-ES" sz="1700" b="0" i="0">
                <a:solidFill>
                  <a:schemeClr val="lt1"/>
                </a:solidFill>
                <a:latin typeface="Nunito Sans Black"/>
                <a:ea typeface="Nunito Sans Black"/>
                <a:cs typeface="Nunito Sans Black"/>
                <a:sym typeface="Nunito Sans Black"/>
              </a:rPr>
              <a:t>Al iniciar sesión en el WPA3 Wi-Fi de una cafetería con un dispositivo WPA3, la conexión se cifrará automáticamente sin necesidad de credenciales adicionales. Lo hace utilizando un estándar establecido llamado Opportunistic Wireless Encryption.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728" name="Google Shape;728;p7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729" name="Google Shape;729;p77" descr="Protocolos de seguridad inalámbrica: WEP, WPA y WPA2. ¿En que se  diferencian? | Antelec, S.L."/>
          <p:cNvPicPr preferRelativeResize="0"/>
          <p:nvPr/>
        </p:nvPicPr>
        <p:blipFill rotWithShape="1">
          <a:blip r:embed="rId3">
            <a:alphaModFix/>
          </a:blip>
          <a:srcRect/>
          <a:stretch/>
        </p:blipFill>
        <p:spPr>
          <a:xfrm>
            <a:off x="519764" y="249483"/>
            <a:ext cx="10949656" cy="624339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78"/>
          <p:cNvSpPr txBox="1">
            <a:spLocks noGrp="1"/>
          </p:cNvSpPr>
          <p:nvPr>
            <p:ph type="title"/>
          </p:nvPr>
        </p:nvSpPr>
        <p:spPr>
          <a:xfrm>
            <a:off x="438483" y="269011"/>
            <a:ext cx="11302175" cy="15328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735" name="Google Shape;735;p7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736" name="Google Shape;736;p78" descr="WiFi: Cifrado y autenticación - Buenas prácticas - Capítulo 9 | SYSADMIT"/>
          <p:cNvPicPr preferRelativeResize="0"/>
          <p:nvPr/>
        </p:nvPicPr>
        <p:blipFill rotWithShape="1">
          <a:blip r:embed="rId3">
            <a:alphaModFix/>
          </a:blip>
          <a:srcRect/>
          <a:stretch/>
        </p:blipFill>
        <p:spPr>
          <a:xfrm>
            <a:off x="170000" y="168861"/>
            <a:ext cx="11754478" cy="501799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7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TIPOS DE CIFRADO</a:t>
            </a:r>
            <a:endParaRPr/>
          </a:p>
        </p:txBody>
      </p:sp>
      <p:sp>
        <p:nvSpPr>
          <p:cNvPr id="742" name="Google Shape;742;p79"/>
          <p:cNvSpPr txBox="1"/>
          <p:nvPr/>
        </p:nvSpPr>
        <p:spPr>
          <a:xfrm>
            <a:off x="430731" y="2274837"/>
            <a:ext cx="2899610" cy="341632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chemeClr val="lt1"/>
                </a:solidFill>
                <a:latin typeface="arial"/>
                <a:ea typeface="arial"/>
                <a:cs typeface="arial"/>
                <a:sym typeface="arial"/>
              </a:rPr>
              <a:t>Wired Equivalent Privacy (WEP), en español «Privacidad equivalente a cableado», es el sistema de cifrado incluido en el estándar IEEE 802.11 como protocolo para redes Wireless que permite cifrar la información que se transmite.</a:t>
            </a:r>
            <a:endParaRPr sz="1800" b="1">
              <a:solidFill>
                <a:schemeClr val="lt1"/>
              </a:solidFill>
              <a:latin typeface="Calibri"/>
              <a:ea typeface="Calibri"/>
              <a:cs typeface="Calibri"/>
              <a:sym typeface="Calibri"/>
            </a:endParaRPr>
          </a:p>
        </p:txBody>
      </p:sp>
      <p:sp>
        <p:nvSpPr>
          <p:cNvPr id="743" name="Google Shape;743;p79"/>
          <p:cNvSpPr/>
          <p:nvPr/>
        </p:nvSpPr>
        <p:spPr>
          <a:xfrm>
            <a:off x="930043" y="1351507"/>
            <a:ext cx="1495922"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5400" b="0" cap="none">
                <a:solidFill>
                  <a:schemeClr val="dk1"/>
                </a:solidFill>
                <a:latin typeface="Calibri"/>
                <a:ea typeface="Calibri"/>
                <a:cs typeface="Calibri"/>
                <a:sym typeface="Calibri"/>
              </a:rPr>
              <a:t>WEP</a:t>
            </a:r>
            <a:endParaRPr/>
          </a:p>
        </p:txBody>
      </p:sp>
      <p:sp>
        <p:nvSpPr>
          <p:cNvPr id="744" name="Google Shape;744;p79"/>
          <p:cNvSpPr txBox="1"/>
          <p:nvPr/>
        </p:nvSpPr>
        <p:spPr>
          <a:xfrm>
            <a:off x="3599848" y="2297635"/>
            <a:ext cx="3147461" cy="3393521"/>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chemeClr val="lt1"/>
                </a:solidFill>
                <a:latin typeface="arial"/>
                <a:ea typeface="arial"/>
                <a:cs typeface="arial"/>
                <a:sym typeface="arial"/>
              </a:rPr>
              <a:t>(Temporal Key Integrity Protocol) es también llamado hashing de clave WEP WPA, incluye mecanismos del estándar emergente 802.11i para mejorar el cifrado de datos inalámbricos. WPA tiene TKIP, que utiliza el mismo algoritmo que WEP, pero construye claves en una forma diferente.</a:t>
            </a:r>
            <a:endParaRPr/>
          </a:p>
        </p:txBody>
      </p:sp>
      <p:sp>
        <p:nvSpPr>
          <p:cNvPr id="745" name="Google Shape;745;p79"/>
          <p:cNvSpPr/>
          <p:nvPr/>
        </p:nvSpPr>
        <p:spPr>
          <a:xfrm>
            <a:off x="4466493" y="1395146"/>
            <a:ext cx="141417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5400" b="0" cap="none">
                <a:solidFill>
                  <a:schemeClr val="dk1"/>
                </a:solidFill>
                <a:latin typeface="Calibri"/>
                <a:ea typeface="Calibri"/>
                <a:cs typeface="Calibri"/>
                <a:sym typeface="Calibri"/>
              </a:rPr>
              <a:t>TKIP</a:t>
            </a:r>
            <a:endParaRPr/>
          </a:p>
        </p:txBody>
      </p:sp>
      <p:sp>
        <p:nvSpPr>
          <p:cNvPr id="746" name="Google Shape;746;p79"/>
          <p:cNvSpPr/>
          <p:nvPr/>
        </p:nvSpPr>
        <p:spPr>
          <a:xfrm>
            <a:off x="8569792" y="566241"/>
            <a:ext cx="1234312"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5400">
                <a:solidFill>
                  <a:schemeClr val="dk1"/>
                </a:solidFill>
                <a:latin typeface="Calibri"/>
                <a:ea typeface="Calibri"/>
                <a:cs typeface="Calibri"/>
                <a:sym typeface="Calibri"/>
              </a:rPr>
              <a:t>AES</a:t>
            </a:r>
            <a:endParaRPr sz="5400" b="0" cap="none">
              <a:solidFill>
                <a:schemeClr val="dk1"/>
              </a:solidFill>
              <a:latin typeface="Calibri"/>
              <a:ea typeface="Calibri"/>
              <a:cs typeface="Calibri"/>
              <a:sym typeface="Calibri"/>
            </a:endParaRPr>
          </a:p>
        </p:txBody>
      </p:sp>
      <p:sp>
        <p:nvSpPr>
          <p:cNvPr id="747" name="Google Shape;747;p79"/>
          <p:cNvSpPr txBox="1"/>
          <p:nvPr/>
        </p:nvSpPr>
        <p:spPr>
          <a:xfrm>
            <a:off x="6903320" y="1489571"/>
            <a:ext cx="4949792" cy="5078313"/>
          </a:xfrm>
          <a:prstGeom prst="rect">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a:solidFill>
                  <a:schemeClr val="lt1"/>
                </a:solidFill>
                <a:latin typeface="Montserrat"/>
                <a:ea typeface="Montserrat"/>
                <a:cs typeface="Montserrat"/>
                <a:sym typeface="Montserrat"/>
              </a:rPr>
              <a:t>Actualmente hay tres tipos de cifrado AES: 128 bits, 192 bits y 256 bits, donde este último es el más seguro. Esto se diseñó en base a la Ley de Moore, ya que las primeras pruebas demostraron que, en un tiempo relativamente corto, la potencia de los procesadores podría romper el cifrado más débil en periodos de tiempo cada vez menores. Además, es un sistema de clave simétrica, lo cual le otorga una mayor seguridad, ya que la clave usada debe ser conocida para el cifrado como para el descifrado y tanto emisor como receptor necesitan una copia de la llave correspondiente. Esto tiene una importante ventaja en el rendimiento de un sistema de cifrado, ya que como se obliga a remitente y destinatario a saber la clave, se requiere menos potencia computacional para hacer viajar la información puesto que siempre va segura.</a:t>
            </a:r>
            <a:endParaRPr sz="1800" b="1">
              <a:solidFill>
                <a:schemeClr val="lt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80"/>
          <p:cNvSpPr txBox="1">
            <a:spLocks noGrp="1"/>
          </p:cNvSpPr>
          <p:nvPr>
            <p:ph type="title"/>
          </p:nvPr>
        </p:nvSpPr>
        <p:spPr>
          <a:xfrm>
            <a:off x="704850" y="1"/>
            <a:ext cx="10515600" cy="6286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libri"/>
              <a:buNone/>
            </a:pPr>
            <a:r>
              <a:rPr lang="es-ES" sz="2400"/>
              <a:t>CONFIGURACION REDES WINDOWS</a:t>
            </a:r>
            <a:endParaRPr/>
          </a:p>
        </p:txBody>
      </p:sp>
      <p:sp>
        <p:nvSpPr>
          <p:cNvPr id="753" name="Google Shape;753;p80"/>
          <p:cNvSpPr txBox="1"/>
          <p:nvPr/>
        </p:nvSpPr>
        <p:spPr>
          <a:xfrm>
            <a:off x="552450" y="628651"/>
            <a:ext cx="10820400" cy="5293757"/>
          </a:xfrm>
          <a:prstGeom prst="rect">
            <a:avLst/>
          </a:prstGeom>
          <a:solidFill>
            <a:srgbClr val="0C0C0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i="0">
                <a:solidFill>
                  <a:schemeClr val="lt1"/>
                </a:solidFill>
                <a:latin typeface="Arial"/>
                <a:ea typeface="Arial"/>
                <a:cs typeface="Arial"/>
                <a:sym typeface="Arial"/>
              </a:rPr>
              <a:t>ipconfig</a:t>
            </a:r>
            <a:endParaRPr sz="2000" b="0" i="0">
              <a:solidFill>
                <a:schemeClr val="lt1"/>
              </a:solidFill>
              <a:latin typeface="Arial"/>
              <a:ea typeface="Arial"/>
              <a:cs typeface="Arial"/>
              <a:sym typeface="Arial"/>
            </a:endParaRPr>
          </a:p>
          <a:p>
            <a:pPr marL="0" marR="0" lvl="0" indent="0" algn="l" rtl="0">
              <a:spcBef>
                <a:spcPts val="0"/>
              </a:spcBef>
              <a:spcAft>
                <a:spcPts val="0"/>
              </a:spcAft>
              <a:buNone/>
            </a:pPr>
            <a:r>
              <a:rPr lang="es-ES" sz="2000" b="0" i="0">
                <a:solidFill>
                  <a:schemeClr val="lt1"/>
                </a:solidFill>
                <a:latin typeface="Roboto"/>
                <a:ea typeface="Roboto"/>
                <a:cs typeface="Roboto"/>
                <a:sym typeface="Roboto"/>
              </a:rPr>
              <a:t>Es uno de los comandos para redes más útiles. Informa de los valores de configuración de red TCP/IP actuales y actualiza la configuración del protocolo DHCP y el sistema de nombres de dominio (DNS).</a:t>
            </a:r>
            <a:endParaRPr/>
          </a:p>
          <a:p>
            <a:pPr marL="0" marR="0" lvl="0" indent="0" algn="l" rtl="0">
              <a:spcBef>
                <a:spcPts val="0"/>
              </a:spcBef>
              <a:spcAft>
                <a:spcPts val="0"/>
              </a:spcAft>
              <a:buNone/>
            </a:pPr>
            <a:r>
              <a:rPr lang="es-ES" sz="2000" b="1" i="0">
                <a:solidFill>
                  <a:schemeClr val="lt1"/>
                </a:solidFill>
                <a:latin typeface="Arial"/>
                <a:ea typeface="Arial"/>
                <a:cs typeface="Arial"/>
                <a:sym typeface="Arial"/>
              </a:rPr>
              <a:t>ping</a:t>
            </a:r>
            <a:endParaRPr sz="2000" b="0" i="0">
              <a:solidFill>
                <a:schemeClr val="lt1"/>
              </a:solidFill>
              <a:latin typeface="Arial"/>
              <a:ea typeface="Arial"/>
              <a:cs typeface="Arial"/>
              <a:sym typeface="Arial"/>
            </a:endParaRPr>
          </a:p>
          <a:p>
            <a:pPr marL="0" marR="0" lvl="0" indent="0" algn="l" rtl="0">
              <a:spcBef>
                <a:spcPts val="0"/>
              </a:spcBef>
              <a:spcAft>
                <a:spcPts val="0"/>
              </a:spcAft>
              <a:buNone/>
            </a:pPr>
            <a:r>
              <a:rPr lang="es-ES" sz="2000" b="0" i="0">
                <a:solidFill>
                  <a:schemeClr val="lt1"/>
                </a:solidFill>
                <a:latin typeface="Roboto"/>
                <a:ea typeface="Roboto"/>
                <a:cs typeface="Roboto"/>
                <a:sym typeface="Roboto"/>
              </a:rPr>
              <a:t>Prueba el estado de la comunicación del host local con uno o varios equipos remotos de una red IP. Por medio del envío de paquetes ICMP, diagnostica el estado, velocidad y calidad de una red determinada.</a:t>
            </a:r>
            <a:endParaRPr/>
          </a:p>
          <a:p>
            <a:pPr marL="0" marR="0" lvl="0" indent="0" algn="l" rtl="0">
              <a:spcBef>
                <a:spcPts val="0"/>
              </a:spcBef>
              <a:spcAft>
                <a:spcPts val="0"/>
              </a:spcAft>
              <a:buNone/>
            </a:pPr>
            <a:r>
              <a:rPr lang="es-ES" sz="2000" b="1" i="0">
                <a:solidFill>
                  <a:schemeClr val="lt1"/>
                </a:solidFill>
                <a:latin typeface="Arial"/>
                <a:ea typeface="Arial"/>
                <a:cs typeface="Arial"/>
                <a:sym typeface="Arial"/>
              </a:rPr>
              <a:t>tracert</a:t>
            </a:r>
            <a:endParaRPr sz="2000" b="0" i="0">
              <a:solidFill>
                <a:schemeClr val="lt1"/>
              </a:solidFill>
              <a:latin typeface="Arial"/>
              <a:ea typeface="Arial"/>
              <a:cs typeface="Arial"/>
              <a:sym typeface="Arial"/>
            </a:endParaRPr>
          </a:p>
          <a:p>
            <a:pPr marL="0" marR="0" lvl="0" indent="0" algn="l" rtl="0">
              <a:spcBef>
                <a:spcPts val="0"/>
              </a:spcBef>
              <a:spcAft>
                <a:spcPts val="0"/>
              </a:spcAft>
              <a:buNone/>
            </a:pPr>
            <a:r>
              <a:rPr lang="es-ES" sz="2000" b="0" i="0">
                <a:solidFill>
                  <a:schemeClr val="lt1"/>
                </a:solidFill>
                <a:latin typeface="Roboto"/>
                <a:ea typeface="Roboto"/>
                <a:cs typeface="Roboto"/>
                <a:sym typeface="Roboto"/>
              </a:rPr>
              <a:t>Permite conocer los paquetes que vienen desde un host (punto de red). También se obtiene una estadística del RTT o latencia de red de esos paquetes, ofreciendo una estimación de la distancia a la que están los extremos de la comunicación. </a:t>
            </a:r>
            <a:br>
              <a:rPr lang="es-ES" sz="2000" b="0" i="0" u="sng" strike="noStrike">
                <a:solidFill>
                  <a:schemeClr val="lt1"/>
                </a:solidFill>
                <a:latin typeface="Roboto"/>
                <a:ea typeface="Roboto"/>
                <a:cs typeface="Roboto"/>
                <a:sym typeface="Roboto"/>
                <a:hlinkClick r:id="rId3">
                  <a:extLst>
                    <a:ext uri="{A12FA001-AC4F-418D-AE19-62706E023703}">
                      <ahyp:hlinkClr xmlns:ahyp="http://schemas.microsoft.com/office/drawing/2018/hyperlinkcolor" val="tx"/>
                    </a:ext>
                  </a:extLst>
                </a:hlinkClick>
              </a:rPr>
            </a:br>
            <a:r>
              <a:rPr lang="es-ES" sz="2000" b="1" i="0">
                <a:solidFill>
                  <a:schemeClr val="lt1"/>
                </a:solidFill>
                <a:latin typeface="Arial"/>
                <a:ea typeface="Arial"/>
                <a:cs typeface="Arial"/>
                <a:sym typeface="Arial"/>
              </a:rPr>
              <a:t>pathping</a:t>
            </a:r>
            <a:endParaRPr sz="2000" b="0" i="0">
              <a:solidFill>
                <a:schemeClr val="lt1"/>
              </a:solidFill>
              <a:latin typeface="Arial"/>
              <a:ea typeface="Arial"/>
              <a:cs typeface="Arial"/>
              <a:sym typeface="Arial"/>
            </a:endParaRPr>
          </a:p>
          <a:p>
            <a:pPr marL="0" marR="0" lvl="0" indent="0" algn="l" rtl="0">
              <a:spcBef>
                <a:spcPts val="0"/>
              </a:spcBef>
              <a:spcAft>
                <a:spcPts val="0"/>
              </a:spcAft>
              <a:buNone/>
            </a:pPr>
            <a:r>
              <a:rPr lang="es-ES" sz="2000" b="0" i="0">
                <a:solidFill>
                  <a:schemeClr val="lt1"/>
                </a:solidFill>
                <a:latin typeface="Roboto"/>
                <a:ea typeface="Roboto"/>
                <a:cs typeface="Roboto"/>
                <a:sym typeface="Roboto"/>
              </a:rPr>
              <a:t>Combina la utilidad de ping y tracert. Es más informativo, por lo que tarda más tiempo para ejecutar. Después de enviar los paquetes a un destino determinado, se analiza la ruta tomada y se calcula la pérdida de paquetes y proporciona detalles entre dos host.</a:t>
            </a:r>
            <a:endParaRPr/>
          </a:p>
          <a:p>
            <a:pPr marL="0" marR="0" lvl="0" indent="0" algn="l" rtl="0">
              <a:spcBef>
                <a:spcPts val="0"/>
              </a:spcBef>
              <a:spcAft>
                <a:spcPts val="0"/>
              </a:spcAft>
              <a:buNone/>
            </a:pPr>
            <a:endParaRPr sz="2000" b="0" i="0">
              <a:solidFill>
                <a:schemeClr val="lt1"/>
              </a:solidFill>
              <a:latin typeface="Roboto"/>
              <a:ea typeface="Roboto"/>
              <a:cs typeface="Roboto"/>
              <a:sym typeface="Roboto"/>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gb8a1ea7311_2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760" name="Google Shape;760;gb8a1ea7311_2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81"/>
          <p:cNvSpPr txBox="1"/>
          <p:nvPr/>
        </p:nvSpPr>
        <p:spPr>
          <a:xfrm>
            <a:off x="895350" y="139184"/>
            <a:ext cx="6096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CONFIGURACION REDES WINDOWS</a:t>
            </a:r>
            <a:endParaRPr sz="1800">
              <a:solidFill>
                <a:schemeClr val="dk1"/>
              </a:solidFill>
              <a:latin typeface="Calibri"/>
              <a:ea typeface="Calibri"/>
              <a:cs typeface="Calibri"/>
              <a:sym typeface="Calibri"/>
            </a:endParaRPr>
          </a:p>
        </p:txBody>
      </p:sp>
      <p:sp>
        <p:nvSpPr>
          <p:cNvPr id="766" name="Google Shape;766;p81"/>
          <p:cNvSpPr txBox="1"/>
          <p:nvPr/>
        </p:nvSpPr>
        <p:spPr>
          <a:xfrm>
            <a:off x="309612" y="691266"/>
            <a:ext cx="10953750" cy="5940088"/>
          </a:xfrm>
          <a:prstGeom prst="rect">
            <a:avLst/>
          </a:prstGeom>
          <a:solidFill>
            <a:srgbClr val="0C0C0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i="0">
                <a:solidFill>
                  <a:schemeClr val="lt1"/>
                </a:solidFill>
                <a:latin typeface="Arial"/>
                <a:ea typeface="Arial"/>
                <a:cs typeface="Arial"/>
                <a:sym typeface="Arial"/>
              </a:rPr>
              <a:t>getmac</a:t>
            </a:r>
            <a:endParaRPr sz="2000" b="1" i="0">
              <a:solidFill>
                <a:schemeClr val="lt1"/>
              </a:solidFill>
              <a:latin typeface="Arial"/>
              <a:ea typeface="Arial"/>
              <a:cs typeface="Arial"/>
              <a:sym typeface="Arial"/>
            </a:endParaRPr>
          </a:p>
          <a:p>
            <a:pPr marL="0" marR="0" lvl="0" indent="0" algn="l" rtl="0">
              <a:spcBef>
                <a:spcPts val="0"/>
              </a:spcBef>
              <a:spcAft>
                <a:spcPts val="0"/>
              </a:spcAft>
              <a:buNone/>
            </a:pPr>
            <a:r>
              <a:rPr lang="es-ES" sz="2000" b="1" i="0">
                <a:solidFill>
                  <a:schemeClr val="lt1"/>
                </a:solidFill>
                <a:latin typeface="Arial"/>
                <a:ea typeface="Arial"/>
                <a:cs typeface="Arial"/>
                <a:sym typeface="Arial"/>
              </a:rPr>
              <a:t>Obtiene la mac del equipo donde se ejecuta. La dirección MAC es un identificador de 48 bits determinado y configurado por el IEEE y el fabricante (24 bits cada uno). Conocida también como dirección física es única para cada dispositivo.</a:t>
            </a:r>
            <a:endParaRPr/>
          </a:p>
          <a:p>
            <a:pPr marL="0" marR="0" lvl="0" indent="0" algn="l" rtl="0">
              <a:spcBef>
                <a:spcPts val="0"/>
              </a:spcBef>
              <a:spcAft>
                <a:spcPts val="0"/>
              </a:spcAft>
              <a:buNone/>
            </a:pPr>
            <a:r>
              <a:rPr lang="es-ES" sz="2000" b="1" i="0">
                <a:solidFill>
                  <a:schemeClr val="lt1"/>
                </a:solidFill>
                <a:latin typeface="Arial"/>
                <a:ea typeface="Arial"/>
                <a:cs typeface="Arial"/>
                <a:sym typeface="Arial"/>
              </a:rPr>
              <a:t>nslookup</a:t>
            </a:r>
            <a:endParaRPr/>
          </a:p>
          <a:p>
            <a:pPr marL="0" marR="0" lvl="0" indent="0" algn="l" rtl="0">
              <a:spcBef>
                <a:spcPts val="0"/>
              </a:spcBef>
              <a:spcAft>
                <a:spcPts val="0"/>
              </a:spcAft>
              <a:buNone/>
            </a:pPr>
            <a:r>
              <a:rPr lang="es-ES" sz="2000" b="1" i="0">
                <a:solidFill>
                  <a:schemeClr val="lt1"/>
                </a:solidFill>
                <a:latin typeface="Arial"/>
                <a:ea typeface="Arial"/>
                <a:cs typeface="Arial"/>
                <a:sym typeface="Arial"/>
              </a:rPr>
              <a:t>Se emplea para conocer si el DNS está resolviendo correctamente los nombres y las IPs. También nos permite averiguar la dirección IP detrás de un determinado nombre de dominio. Si deseas convertir una dirección IP en un nombre de dominio, sólo tienes que escribirlo en el navegador y ver a dónde conduce.</a:t>
            </a:r>
            <a:endParaRPr/>
          </a:p>
          <a:p>
            <a:pPr marL="0" marR="0" lvl="0" indent="0" algn="l" rtl="0">
              <a:spcBef>
                <a:spcPts val="0"/>
              </a:spcBef>
              <a:spcAft>
                <a:spcPts val="0"/>
              </a:spcAft>
              <a:buNone/>
            </a:pPr>
            <a:r>
              <a:rPr lang="es-ES" sz="2000" b="1" i="0">
                <a:solidFill>
                  <a:schemeClr val="lt1"/>
                </a:solidFill>
                <a:latin typeface="Arial"/>
                <a:ea typeface="Arial"/>
                <a:cs typeface="Arial"/>
                <a:sym typeface="Arial"/>
              </a:rPr>
              <a:t>netstat</a:t>
            </a:r>
            <a:endParaRPr sz="2000" b="1" i="0">
              <a:solidFill>
                <a:schemeClr val="lt1"/>
              </a:solidFill>
              <a:latin typeface="Arial"/>
              <a:ea typeface="Arial"/>
              <a:cs typeface="Arial"/>
              <a:sym typeface="Arial"/>
            </a:endParaRPr>
          </a:p>
          <a:p>
            <a:pPr marL="0" marR="0" lvl="0" indent="0" algn="l" rtl="0">
              <a:spcBef>
                <a:spcPts val="0"/>
              </a:spcBef>
              <a:spcAft>
                <a:spcPts val="0"/>
              </a:spcAft>
              <a:buNone/>
            </a:pPr>
            <a:r>
              <a:rPr lang="es-ES" sz="2000" b="1" i="0">
                <a:solidFill>
                  <a:schemeClr val="lt1"/>
                </a:solidFill>
                <a:latin typeface="Arial"/>
                <a:ea typeface="Arial"/>
                <a:cs typeface="Arial"/>
                <a:sym typeface="Arial"/>
              </a:rPr>
              <a:t>Comando potente que muestra estadísticas de la red y permite diagnósticos y análisis. Por defecto, muestra un listado de las conexiones activas de una computadora, tanto entrantes como salientes. Incluye el protocolo en uso, las tablas de ruteo, las estadísticas de las interfaces y el estado de la conexión. </a:t>
            </a:r>
            <a:r>
              <a:rPr lang="es-ES" sz="2000" b="0" i="0">
                <a:solidFill>
                  <a:srgbClr val="333333"/>
                </a:solidFill>
                <a:latin typeface="Arial"/>
                <a:ea typeface="Arial"/>
                <a:cs typeface="Arial"/>
                <a:sym typeface="Arial"/>
              </a:rPr>
              <a:t>erver 8..8.8</a:t>
            </a:r>
            <a:br>
              <a:rPr lang="es-ES" sz="2000" b="1" i="0">
                <a:solidFill>
                  <a:schemeClr val="lt1"/>
                </a:solidFill>
                <a:latin typeface="Arial"/>
                <a:ea typeface="Arial"/>
                <a:cs typeface="Arial"/>
                <a:sym typeface="Arial"/>
              </a:rPr>
            </a:br>
            <a:r>
              <a:rPr lang="es-ES" sz="2000" b="1" i="0">
                <a:solidFill>
                  <a:schemeClr val="lt1"/>
                </a:solidFill>
                <a:latin typeface="Arial"/>
                <a:ea typeface="Arial"/>
                <a:cs typeface="Arial"/>
                <a:sym typeface="Arial"/>
              </a:rPr>
              <a:t>netsh</a:t>
            </a:r>
            <a:endParaRPr sz="2000" b="1" i="0">
              <a:solidFill>
                <a:schemeClr val="lt1"/>
              </a:solidFill>
              <a:latin typeface="Arial"/>
              <a:ea typeface="Arial"/>
              <a:cs typeface="Arial"/>
              <a:sym typeface="Arial"/>
            </a:endParaRPr>
          </a:p>
          <a:p>
            <a:pPr marL="0" marR="0" lvl="0" indent="0" algn="l" rtl="0">
              <a:spcBef>
                <a:spcPts val="0"/>
              </a:spcBef>
              <a:spcAft>
                <a:spcPts val="0"/>
              </a:spcAft>
              <a:buNone/>
            </a:pPr>
            <a:r>
              <a:rPr lang="es-ES" sz="2000" b="1" i="0">
                <a:solidFill>
                  <a:schemeClr val="lt1"/>
                </a:solidFill>
                <a:latin typeface="Arial"/>
                <a:ea typeface="Arial"/>
                <a:cs typeface="Arial"/>
                <a:sym typeface="Arial"/>
              </a:rPr>
              <a:t>Sinónimo de shell de red, permite modificar, administrar y diagnosticar la configuración de una red, con más detalle y potencia que los anteriores. Un comando avanzado que ofrece un montón de opciones utilizando sus modificadores y que como ejemplo, permite cambiar el DNS primario y secundario de un equipo.</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82"/>
          <p:cNvSpPr txBox="1">
            <a:spLocks noGrp="1"/>
          </p:cNvSpPr>
          <p:nvPr>
            <p:ph type="title"/>
          </p:nvPr>
        </p:nvSpPr>
        <p:spPr>
          <a:xfrm>
            <a:off x="838200" y="0"/>
            <a:ext cx="10515600" cy="31591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COMANDOS DE NETSH</a:t>
            </a:r>
            <a:endParaRPr/>
          </a:p>
        </p:txBody>
      </p:sp>
      <p:pic>
        <p:nvPicPr>
          <p:cNvPr id="772" name="Google Shape;772;p82"/>
          <p:cNvPicPr preferRelativeResize="0">
            <a:picLocks noGrp="1"/>
          </p:cNvPicPr>
          <p:nvPr>
            <p:ph type="body" idx="1"/>
          </p:nvPr>
        </p:nvPicPr>
        <p:blipFill rotWithShape="1">
          <a:blip r:embed="rId3">
            <a:alphaModFix/>
          </a:blip>
          <a:srcRect/>
          <a:stretch/>
        </p:blipFill>
        <p:spPr>
          <a:xfrm>
            <a:off x="232996" y="467783"/>
            <a:ext cx="11616104" cy="6292057"/>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pic>
        <p:nvPicPr>
          <p:cNvPr id="777" name="Google Shape;777;p83"/>
          <p:cNvPicPr preferRelativeResize="0"/>
          <p:nvPr/>
        </p:nvPicPr>
        <p:blipFill rotWithShape="1">
          <a:blip r:embed="rId3">
            <a:alphaModFix/>
          </a:blip>
          <a:srcRect r="33290" b="27330"/>
          <a:stretch/>
        </p:blipFill>
        <p:spPr>
          <a:xfrm>
            <a:off x="259882" y="360360"/>
            <a:ext cx="11192297" cy="6497640"/>
          </a:xfrm>
          <a:prstGeom prst="rect">
            <a:avLst/>
          </a:prstGeom>
          <a:noFill/>
          <a:ln>
            <a:noFill/>
          </a:ln>
        </p:spPr>
      </p:pic>
      <p:sp>
        <p:nvSpPr>
          <p:cNvPr id="778" name="Google Shape;778;p83"/>
          <p:cNvSpPr txBox="1"/>
          <p:nvPr/>
        </p:nvSpPr>
        <p:spPr>
          <a:xfrm>
            <a:off x="4485372" y="0"/>
            <a:ext cx="21991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Ejemplo de IPCONFIG</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Ejemplos </a:t>
            </a:r>
            <a:endParaRPr/>
          </a:p>
        </p:txBody>
      </p:sp>
      <p:sp>
        <p:nvSpPr>
          <p:cNvPr id="784" name="Google Shape;784;p84"/>
          <p:cNvSpPr txBox="1">
            <a:spLocks noGrp="1"/>
          </p:cNvSpPr>
          <p:nvPr>
            <p:ph type="body" idx="1"/>
          </p:nvPr>
        </p:nvSpPr>
        <p:spPr>
          <a:xfrm>
            <a:off x="838200" y="1825625"/>
            <a:ext cx="8636000" cy="2695575"/>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800"/>
              <a:buChar char="•"/>
            </a:pPr>
            <a:r>
              <a:rPr lang="es-ES" sz="2800" b="1" i="0">
                <a:solidFill>
                  <a:schemeClr val="lt1"/>
                </a:solidFill>
                <a:latin typeface="Arial"/>
                <a:ea typeface="Arial"/>
                <a:cs typeface="Arial"/>
                <a:sym typeface="Arial"/>
              </a:rPr>
              <a:t>Ping 192.68.1.1</a:t>
            </a:r>
            <a:endParaRPr/>
          </a:p>
          <a:p>
            <a:pPr marL="228600" lvl="0" indent="-228600" algn="l" rtl="0">
              <a:lnSpc>
                <a:spcPct val="90000"/>
              </a:lnSpc>
              <a:spcBef>
                <a:spcPts val="1000"/>
              </a:spcBef>
              <a:spcAft>
                <a:spcPts val="0"/>
              </a:spcAft>
              <a:buClr>
                <a:schemeClr val="lt1"/>
              </a:buClr>
              <a:buSzPts val="2800"/>
              <a:buChar char="•"/>
            </a:pPr>
            <a:r>
              <a:rPr lang="es-ES" b="1">
                <a:solidFill>
                  <a:schemeClr val="lt1"/>
                </a:solidFill>
                <a:latin typeface="Arial"/>
                <a:ea typeface="Arial"/>
                <a:cs typeface="Arial"/>
                <a:sym typeface="Arial"/>
              </a:rPr>
              <a:t>Tracert 192.168.1.1</a:t>
            </a:r>
            <a:endParaRPr/>
          </a:p>
          <a:p>
            <a:pPr marL="228600" lvl="0" indent="-228600" algn="l" rtl="0">
              <a:lnSpc>
                <a:spcPct val="90000"/>
              </a:lnSpc>
              <a:spcBef>
                <a:spcPts val="1000"/>
              </a:spcBef>
              <a:spcAft>
                <a:spcPts val="0"/>
              </a:spcAft>
              <a:buClr>
                <a:schemeClr val="lt1"/>
              </a:buClr>
              <a:buSzPts val="2800"/>
              <a:buChar char="•"/>
            </a:pPr>
            <a:r>
              <a:rPr lang="es-ES" sz="2800" b="1" i="0">
                <a:solidFill>
                  <a:schemeClr val="lt1"/>
                </a:solidFill>
                <a:latin typeface="Arial"/>
                <a:ea typeface="Arial"/>
                <a:cs typeface="Arial"/>
                <a:sym typeface="Arial"/>
              </a:rPr>
              <a:t>Pathping ping 192.168.1.1</a:t>
            </a:r>
            <a:endParaRPr/>
          </a:p>
          <a:p>
            <a:pPr marL="228600" lvl="0" indent="-228600" algn="l" rtl="0">
              <a:lnSpc>
                <a:spcPct val="90000"/>
              </a:lnSpc>
              <a:spcBef>
                <a:spcPts val="1000"/>
              </a:spcBef>
              <a:spcAft>
                <a:spcPts val="0"/>
              </a:spcAft>
              <a:buClr>
                <a:schemeClr val="lt1"/>
              </a:buClr>
              <a:buSzPts val="2800"/>
              <a:buChar char="•"/>
            </a:pPr>
            <a:r>
              <a:rPr lang="es-ES" sz="2800" b="0" i="0">
                <a:solidFill>
                  <a:schemeClr val="lt1"/>
                </a:solidFill>
                <a:latin typeface="Arial"/>
                <a:ea typeface="Arial"/>
                <a:cs typeface="Arial"/>
                <a:sym typeface="Arial"/>
              </a:rPr>
              <a:t>Netstat 192.168.1.1</a:t>
            </a:r>
            <a:endParaRPr/>
          </a:p>
          <a:p>
            <a:pPr marL="228600" lvl="0" indent="-228600" algn="l" rtl="0">
              <a:lnSpc>
                <a:spcPct val="90000"/>
              </a:lnSpc>
              <a:spcBef>
                <a:spcPts val="1000"/>
              </a:spcBef>
              <a:spcAft>
                <a:spcPts val="0"/>
              </a:spcAft>
              <a:buClr>
                <a:schemeClr val="lt1"/>
              </a:buClr>
              <a:buSzPts val="2800"/>
              <a:buChar char="•"/>
            </a:pPr>
            <a:r>
              <a:rPr lang="es-ES">
                <a:solidFill>
                  <a:schemeClr val="lt1"/>
                </a:solidFill>
                <a:latin typeface="Arial"/>
                <a:ea typeface="Arial"/>
                <a:cs typeface="Arial"/>
                <a:sym typeface="Arial"/>
              </a:rPr>
              <a:t>Netstat 8.8.8.8</a:t>
            </a:r>
            <a:endParaRPr sz="2800" b="0" i="0">
              <a:solidFill>
                <a:schemeClr val="lt1"/>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sz="2800" b="0" i="0">
              <a:solidFill>
                <a:schemeClr val="lt1"/>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85"/>
          <p:cNvSpPr txBox="1">
            <a:spLocks noGrp="1"/>
          </p:cNvSpPr>
          <p:nvPr>
            <p:ph type="title"/>
          </p:nvPr>
        </p:nvSpPr>
        <p:spPr>
          <a:xfrm>
            <a:off x="838200" y="135769"/>
            <a:ext cx="10515600" cy="39527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160"/>
              <a:buFont typeface="Calibri"/>
              <a:buNone/>
            </a:pPr>
            <a:r>
              <a:rPr lang="es-ES" sz="2160"/>
              <a:t>3.4 TIPOS DE SERVIDORES SERVIDORES</a:t>
            </a:r>
            <a:endParaRPr sz="2160"/>
          </a:p>
        </p:txBody>
      </p:sp>
      <p:sp>
        <p:nvSpPr>
          <p:cNvPr id="790" name="Google Shape;790;p85"/>
          <p:cNvSpPr txBox="1">
            <a:spLocks noGrp="1"/>
          </p:cNvSpPr>
          <p:nvPr>
            <p:ph type="body" idx="1"/>
          </p:nvPr>
        </p:nvSpPr>
        <p:spPr>
          <a:xfrm>
            <a:off x="718556" y="2360680"/>
            <a:ext cx="10515600" cy="4351338"/>
          </a:xfrm>
          <a:prstGeom prst="rect">
            <a:avLst/>
          </a:prstGeom>
          <a:noFill/>
          <a:ln>
            <a:noFill/>
          </a:ln>
        </p:spPr>
        <p:txBody>
          <a:bodyPr spcFirstLastPara="1" wrap="square" lIns="91425" tIns="45700" rIns="91425" bIns="45700" anchor="t" anchorCtr="0">
            <a:normAutofit/>
          </a:bodyPr>
          <a:lstStyle/>
          <a:p>
            <a:pPr marL="342900" lvl="0" indent="-342900" algn="l" rtl="0">
              <a:lnSpc>
                <a:spcPct val="107000"/>
              </a:lnSpc>
              <a:spcBef>
                <a:spcPts val="0"/>
              </a:spcBef>
              <a:spcAft>
                <a:spcPts val="0"/>
              </a:spcAft>
              <a:buClr>
                <a:srgbClr val="003245"/>
              </a:buClr>
              <a:buSzPts val="1000"/>
              <a:buFont typeface="Noto Sans Symbols"/>
              <a:buChar char="∙"/>
            </a:pPr>
            <a:r>
              <a:rPr lang="es-ES">
                <a:solidFill>
                  <a:srgbClr val="003245"/>
                </a:solidFill>
                <a:latin typeface="Calibri"/>
                <a:ea typeface="Calibri"/>
                <a:cs typeface="Calibri"/>
                <a:sym typeface="Calibri"/>
              </a:rPr>
              <a:t>Realizar acciones de detección y prevención de intrusos (IDS/IPS).</a:t>
            </a:r>
            <a:endParaRPr>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a:solidFill>
                  <a:srgbClr val="003245"/>
                </a:solidFill>
                <a:latin typeface="Calibri"/>
                <a:ea typeface="Calibri"/>
                <a:cs typeface="Calibri"/>
                <a:sym typeface="Calibri"/>
              </a:rPr>
              <a:t>Llevar a cabo la segmentación de tráfico habilitando funciones de firewall.</a:t>
            </a:r>
            <a:endParaRPr>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a:solidFill>
                  <a:srgbClr val="003245"/>
                </a:solidFill>
                <a:latin typeface="Calibri"/>
                <a:ea typeface="Calibri"/>
                <a:cs typeface="Calibri"/>
                <a:sym typeface="Calibri"/>
              </a:rPr>
              <a:t>Supervisar la integridad de archivos y registros del sistema.</a:t>
            </a:r>
            <a:endParaRPr>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a:solidFill>
                  <a:srgbClr val="003245"/>
                </a:solidFill>
                <a:latin typeface="Calibri"/>
                <a:ea typeface="Calibri"/>
                <a:cs typeface="Calibri"/>
                <a:sym typeface="Calibri"/>
              </a:rPr>
              <a:t>Inspeccionar los eventos de seguridad más importantes, que normalmente son luego integrados en sistemas </a:t>
            </a:r>
            <a:r>
              <a:rPr lang="es-ES" b="1">
                <a:solidFill>
                  <a:srgbClr val="003245"/>
                </a:solidFill>
                <a:latin typeface="Calibri"/>
                <a:ea typeface="Calibri"/>
                <a:cs typeface="Calibri"/>
                <a:sym typeface="Calibri"/>
              </a:rPr>
              <a:t>SIEM (Security Information and Event Management)</a:t>
            </a:r>
            <a:r>
              <a:rPr lang="es-ES">
                <a:solidFill>
                  <a:srgbClr val="003245"/>
                </a:solidFill>
                <a:latin typeface="Calibri"/>
                <a:ea typeface="Calibri"/>
                <a:cs typeface="Calibri"/>
                <a:sym typeface="Calibri"/>
              </a:rPr>
              <a:t>.</a:t>
            </a:r>
            <a:endParaRPr>
              <a:latin typeface="Calibri"/>
              <a:ea typeface="Calibri"/>
              <a:cs typeface="Calibri"/>
              <a:sym typeface="Calibri"/>
            </a:endParaRPr>
          </a:p>
        </p:txBody>
      </p:sp>
      <p:pic>
        <p:nvPicPr>
          <p:cNvPr id="791" name="Google Shape;791;p85"/>
          <p:cNvPicPr preferRelativeResize="0"/>
          <p:nvPr/>
        </p:nvPicPr>
        <p:blipFill rotWithShape="1">
          <a:blip r:embed="rId3">
            <a:alphaModFix/>
          </a:blip>
          <a:srcRect/>
          <a:stretch/>
        </p:blipFill>
        <p:spPr>
          <a:xfrm>
            <a:off x="10755027" y="-33978"/>
            <a:ext cx="1434514" cy="1525306"/>
          </a:xfrm>
          <a:prstGeom prst="rect">
            <a:avLst/>
          </a:prstGeom>
          <a:noFill/>
          <a:ln>
            <a:noFill/>
          </a:ln>
        </p:spPr>
      </p:pic>
      <p:sp>
        <p:nvSpPr>
          <p:cNvPr id="792" name="Google Shape;792;p85"/>
          <p:cNvSpPr txBox="1"/>
          <p:nvPr/>
        </p:nvSpPr>
        <p:spPr>
          <a:xfrm>
            <a:off x="957843" y="700787"/>
            <a:ext cx="930268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cap="none">
                <a:solidFill>
                  <a:srgbClr val="3C3950"/>
                </a:solidFill>
                <a:latin typeface="Montserrat"/>
                <a:ea typeface="Montserrat"/>
                <a:cs typeface="Montserrat"/>
                <a:sym typeface="Montserrat"/>
              </a:rPr>
              <a:t>¿QUÉ ES UN SERVIDOR?</a:t>
            </a:r>
            <a:endParaRPr/>
          </a:p>
          <a:p>
            <a:pPr marL="0" marR="0" lvl="0" indent="0" algn="l" rtl="0">
              <a:spcBef>
                <a:spcPts val="0"/>
              </a:spcBef>
              <a:spcAft>
                <a:spcPts val="0"/>
              </a:spcAft>
              <a:buNone/>
            </a:pPr>
            <a:r>
              <a:rPr lang="es-ES" sz="1800" b="1" i="0">
                <a:solidFill>
                  <a:srgbClr val="5F727F"/>
                </a:solidFill>
                <a:latin typeface="Source Sans Pro"/>
                <a:ea typeface="Source Sans Pro"/>
                <a:cs typeface="Source Sans Pro"/>
                <a:sym typeface="Source Sans Pro"/>
              </a:rPr>
              <a:t>Un servidor es un ordenador o equipo informático que se encarga de transmitir información a otros ordenadores</a:t>
            </a:r>
            <a:r>
              <a:rPr lang="es-ES" sz="1800" b="0" i="0">
                <a:solidFill>
                  <a:srgbClr val="5F727F"/>
                </a:solidFill>
                <a:latin typeface="Source Sans Pro"/>
                <a:ea typeface="Source Sans Pro"/>
                <a:cs typeface="Source Sans Pro"/>
                <a:sym typeface="Source Sans Pro"/>
              </a:rPr>
              <a:t> que estén conectados a él. Además, esta transmisión de información también puede ser de ordenador a personas.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86"/>
          <p:cNvSpPr txBox="1">
            <a:spLocks noGrp="1"/>
          </p:cNvSpPr>
          <p:nvPr>
            <p:ph type="title"/>
          </p:nvPr>
        </p:nvSpPr>
        <p:spPr>
          <a:xfrm>
            <a:off x="838200" y="148815"/>
            <a:ext cx="10515600" cy="40179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TIPOS DE SERVIDORES</a:t>
            </a:r>
            <a:endParaRPr/>
          </a:p>
        </p:txBody>
      </p:sp>
      <p:sp>
        <p:nvSpPr>
          <p:cNvPr id="798" name="Google Shape;798;p86"/>
          <p:cNvSpPr txBox="1"/>
          <p:nvPr/>
        </p:nvSpPr>
        <p:spPr>
          <a:xfrm>
            <a:off x="981984" y="584431"/>
            <a:ext cx="6096000" cy="6124754"/>
          </a:xfrm>
          <a:prstGeom prst="rect">
            <a:avLst/>
          </a:prstGeom>
          <a:noFill/>
          <a:ln>
            <a:noFill/>
          </a:ln>
        </p:spPr>
        <p:txBody>
          <a:bodyPr spcFirstLastPara="1" wrap="square" lIns="91425" tIns="45700" rIns="91425" bIns="45700" anchor="t" anchorCtr="0">
            <a:spAutoFit/>
          </a:bodyPr>
          <a:lstStyle/>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Tipos de servidores</a:t>
            </a:r>
            <a:endParaRPr sz="2800" b="0" i="0" u="none" strike="noStrike">
              <a:solidFill>
                <a:srgbClr val="0505F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4">
                  <a:extLst>
                    <a:ext uri="{A12FA001-AC4F-418D-AE19-62706E023703}">
                      <ahyp:hlinkClr xmlns:ahyp="http://schemas.microsoft.com/office/drawing/2018/hyperlinkcolor" val="tx"/>
                    </a:ext>
                  </a:extLst>
                </a:hlinkClick>
              </a:rPr>
              <a:t>Servidor web</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Servidor dedicado</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Servidor compartido</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7">
                  <a:extLst>
                    <a:ext uri="{A12FA001-AC4F-418D-AE19-62706E023703}">
                      <ahyp:hlinkClr xmlns:ahyp="http://schemas.microsoft.com/office/drawing/2018/hyperlinkcolor" val="tx"/>
                    </a:ext>
                  </a:extLst>
                </a:hlinkClick>
              </a:rPr>
              <a:t>Servidores de audio y vídeo</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8">
                  <a:extLst>
                    <a:ext uri="{A12FA001-AC4F-418D-AE19-62706E023703}">
                      <ahyp:hlinkClr xmlns:ahyp="http://schemas.microsoft.com/office/drawing/2018/hyperlinkcolor" val="tx"/>
                    </a:ext>
                  </a:extLst>
                </a:hlinkClick>
              </a:rPr>
              <a:t>Servidor de correo electrónico</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9">
                  <a:extLst>
                    <a:ext uri="{A12FA001-AC4F-418D-AE19-62706E023703}">
                      <ahyp:hlinkClr xmlns:ahyp="http://schemas.microsoft.com/office/drawing/2018/hyperlinkcolor" val="tx"/>
                    </a:ext>
                  </a:extLst>
                </a:hlinkClick>
              </a:rPr>
              <a:t>Servidor FTP</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10">
                  <a:extLst>
                    <a:ext uri="{A12FA001-AC4F-418D-AE19-62706E023703}">
                      <ahyp:hlinkClr xmlns:ahyp="http://schemas.microsoft.com/office/drawing/2018/hyperlinkcolor" val="tx"/>
                    </a:ext>
                  </a:extLst>
                </a:hlinkClick>
              </a:rPr>
              <a:t>Servidor de impresión</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11">
                  <a:extLst>
                    <a:ext uri="{A12FA001-AC4F-418D-AE19-62706E023703}">
                      <ahyp:hlinkClr xmlns:ahyp="http://schemas.microsoft.com/office/drawing/2018/hyperlinkcolor" val="tx"/>
                    </a:ext>
                  </a:extLst>
                </a:hlinkClick>
              </a:rPr>
              <a:t>Servidor en la nube</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12">
                  <a:extLst>
                    <a:ext uri="{A12FA001-AC4F-418D-AE19-62706E023703}">
                      <ahyp:hlinkClr xmlns:ahyp="http://schemas.microsoft.com/office/drawing/2018/hyperlinkcolor" val="tx"/>
                    </a:ext>
                  </a:extLst>
                </a:hlinkClick>
              </a:rPr>
              <a:t>Servidor de base de datos</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13">
                  <a:extLst>
                    <a:ext uri="{A12FA001-AC4F-418D-AE19-62706E023703}">
                      <ahyp:hlinkClr xmlns:ahyp="http://schemas.microsoft.com/office/drawing/2018/hyperlinkcolor" val="tx"/>
                    </a:ext>
                  </a:extLst>
                </a:hlinkClick>
              </a:rPr>
              <a:t>Clúster de servidores</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14">
                  <a:extLst>
                    <a:ext uri="{A12FA001-AC4F-418D-AE19-62706E023703}">
                      <ahyp:hlinkClr xmlns:ahyp="http://schemas.microsoft.com/office/drawing/2018/hyperlinkcolor" val="tx"/>
                    </a:ext>
                  </a:extLst>
                </a:hlinkClick>
              </a:rPr>
              <a:t>Servidor Proxy</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15">
                  <a:extLst>
                    <a:ext uri="{A12FA001-AC4F-418D-AE19-62706E023703}">
                      <ahyp:hlinkClr xmlns:ahyp="http://schemas.microsoft.com/office/drawing/2018/hyperlinkcolor" val="tx"/>
                    </a:ext>
                  </a:extLst>
                </a:hlinkClick>
              </a:rPr>
              <a:t>Servidor de archivos</a:t>
            </a:r>
            <a:endParaRPr sz="2800" b="0" i="0">
              <a:solidFill>
                <a:srgbClr val="5F727F"/>
              </a:solidFill>
              <a:latin typeface="Source Sans Pro"/>
              <a:ea typeface="Source Sans Pro"/>
              <a:cs typeface="Source Sans Pro"/>
              <a:sym typeface="Source Sans Pro"/>
            </a:endParaRPr>
          </a:p>
          <a:p>
            <a:pPr marL="0" marR="0" lvl="0" indent="-177800" algn="l" rtl="0">
              <a:spcBef>
                <a:spcPts val="0"/>
              </a:spcBef>
              <a:spcAft>
                <a:spcPts val="0"/>
              </a:spcAft>
              <a:buClr>
                <a:srgbClr val="0505FF"/>
              </a:buClr>
              <a:buSzPts val="2800"/>
              <a:buFont typeface="Arial"/>
              <a:buChar char="•"/>
            </a:pPr>
            <a:r>
              <a:rPr lang="es-ES" sz="2800" b="0" i="0" u="sng" strike="noStrike">
                <a:solidFill>
                  <a:srgbClr val="0505FF"/>
                </a:solidFill>
                <a:latin typeface="Source Sans Pro"/>
                <a:ea typeface="Source Sans Pro"/>
                <a:cs typeface="Source Sans Pro"/>
                <a:sym typeface="Source Sans Pro"/>
                <a:hlinkClick r:id="rId16">
                  <a:extLst>
                    <a:ext uri="{A12FA001-AC4F-418D-AE19-62706E023703}">
                      <ahyp:hlinkClr xmlns:ahyp="http://schemas.microsoft.com/office/drawing/2018/hyperlinkcolor" val="tx"/>
                    </a:ext>
                  </a:extLst>
                </a:hlinkClick>
              </a:rPr>
              <a:t>Servidor de DNS</a:t>
            </a:r>
            <a:endParaRPr sz="2800" b="0" i="0">
              <a:solidFill>
                <a:srgbClr val="5F727F"/>
              </a:solidFill>
              <a:latin typeface="Source Sans Pro"/>
              <a:ea typeface="Source Sans Pro"/>
              <a:cs typeface="Source Sans Pro"/>
              <a:sym typeface="Source Sans Pro"/>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87"/>
          <p:cNvSpPr txBox="1"/>
          <p:nvPr/>
        </p:nvSpPr>
        <p:spPr>
          <a:xfrm>
            <a:off x="613611" y="299798"/>
            <a:ext cx="3313496" cy="2677656"/>
          </a:xfrm>
          <a:prstGeom prst="rect">
            <a:avLst/>
          </a:prstGeom>
          <a:solidFill>
            <a:srgbClr val="E1EFD8"/>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i="0" cap="none">
                <a:solidFill>
                  <a:srgbClr val="3C3950"/>
                </a:solidFill>
                <a:latin typeface="Montserrat"/>
                <a:ea typeface="Montserrat"/>
                <a:cs typeface="Montserrat"/>
                <a:sym typeface="Montserrat"/>
              </a:rPr>
              <a:t>SERVIDOR WEB</a:t>
            </a:r>
            <a:endParaRPr/>
          </a:p>
          <a:p>
            <a:pPr marL="0" marR="0" lvl="0" indent="0" algn="l" rtl="0">
              <a:spcBef>
                <a:spcPts val="0"/>
              </a:spcBef>
              <a:spcAft>
                <a:spcPts val="0"/>
              </a:spcAft>
              <a:buNone/>
            </a:pPr>
            <a:r>
              <a:rPr lang="es-ES" sz="2400" b="1" i="0">
                <a:solidFill>
                  <a:srgbClr val="5F727F"/>
                </a:solidFill>
                <a:latin typeface="Source Sans Pro"/>
                <a:ea typeface="Source Sans Pro"/>
                <a:cs typeface="Source Sans Pro"/>
                <a:sym typeface="Source Sans Pro"/>
              </a:rPr>
              <a:t>Es la máquina que almacena una o varias páginas web</a:t>
            </a:r>
            <a:r>
              <a:rPr lang="es-ES" sz="2400" b="0" i="0">
                <a:solidFill>
                  <a:srgbClr val="5F727F"/>
                </a:solidFill>
                <a:latin typeface="Source Sans Pro"/>
                <a:ea typeface="Source Sans Pro"/>
                <a:cs typeface="Source Sans Pro"/>
                <a:sym typeface="Source Sans Pro"/>
              </a:rPr>
              <a:t>, dependiendo de si es un servidor web dedicado o compartido.</a:t>
            </a:r>
            <a:endParaRPr/>
          </a:p>
        </p:txBody>
      </p:sp>
      <p:sp>
        <p:nvSpPr>
          <p:cNvPr id="804" name="Google Shape;804;p87"/>
          <p:cNvSpPr txBox="1"/>
          <p:nvPr/>
        </p:nvSpPr>
        <p:spPr>
          <a:xfrm>
            <a:off x="5406992" y="161298"/>
            <a:ext cx="6097604" cy="2923877"/>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i="0" cap="none">
                <a:solidFill>
                  <a:srgbClr val="3C3950"/>
                </a:solidFill>
                <a:latin typeface="Montserrat"/>
                <a:ea typeface="Montserrat"/>
                <a:cs typeface="Montserrat"/>
                <a:sym typeface="Montserrat"/>
              </a:rPr>
              <a:t>SERVIDOR DEDICADO</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Este tipo de servidores se caracterizan por </a:t>
            </a:r>
            <a:r>
              <a:rPr lang="es-ES" sz="2000" b="1" i="0">
                <a:solidFill>
                  <a:srgbClr val="5F727F"/>
                </a:solidFill>
                <a:latin typeface="Source Sans Pro"/>
                <a:ea typeface="Source Sans Pro"/>
                <a:cs typeface="Source Sans Pro"/>
                <a:sym typeface="Source Sans Pro"/>
              </a:rPr>
              <a:t>recibir peticiones de un único cliente</a:t>
            </a:r>
            <a:r>
              <a:rPr lang="es-ES" sz="20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2000" b="1" i="0">
                <a:solidFill>
                  <a:srgbClr val="5F727F"/>
                </a:solidFill>
                <a:latin typeface="Source Sans Pro"/>
                <a:ea typeface="Source Sans Pro"/>
                <a:cs typeface="Source Sans Pro"/>
                <a:sym typeface="Source Sans Pro"/>
              </a:rPr>
              <a:t>Son servidores exclusivos</a:t>
            </a:r>
            <a:r>
              <a:rPr lang="es-ES" sz="2000" b="0" i="0">
                <a:solidFill>
                  <a:srgbClr val="5F727F"/>
                </a:solidFill>
                <a:latin typeface="Source Sans Pro"/>
                <a:ea typeface="Source Sans Pro"/>
                <a:cs typeface="Source Sans Pro"/>
                <a:sym typeface="Source Sans Pro"/>
              </a:rPr>
              <a:t> y que, por tanto, suelen ofrecer mayor </a:t>
            </a:r>
            <a:r>
              <a:rPr lang="es-ES" sz="2400" b="0" i="0">
                <a:solidFill>
                  <a:srgbClr val="5F727F"/>
                </a:solidFill>
                <a:latin typeface="Source Sans Pro"/>
                <a:ea typeface="Source Sans Pro"/>
                <a:cs typeface="Source Sans Pro"/>
                <a:sym typeface="Source Sans Pro"/>
              </a:rPr>
              <a:t>cantidad</a:t>
            </a:r>
            <a:r>
              <a:rPr lang="es-ES" sz="2000" b="0" i="0">
                <a:solidFill>
                  <a:srgbClr val="5F727F"/>
                </a:solidFill>
                <a:latin typeface="Source Sans Pro"/>
                <a:ea typeface="Source Sans Pro"/>
                <a:cs typeface="Source Sans Pro"/>
                <a:sym typeface="Source Sans Pro"/>
              </a:rPr>
              <a:t> de almacenamiento.</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Este tipo de servidores son los que ofrecen algunas empresas de hosting para aquellos clientes que tienen una página web que requieren un volumen de transferencia de datos muy elevado.</a:t>
            </a:r>
            <a:endParaRPr/>
          </a:p>
        </p:txBody>
      </p:sp>
      <p:sp>
        <p:nvSpPr>
          <p:cNvPr id="805" name="Google Shape;805;p87"/>
          <p:cNvSpPr txBox="1"/>
          <p:nvPr/>
        </p:nvSpPr>
        <p:spPr>
          <a:xfrm>
            <a:off x="613611" y="3316772"/>
            <a:ext cx="5354052" cy="2862322"/>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i="0" cap="none">
                <a:solidFill>
                  <a:srgbClr val="3C3950"/>
                </a:solidFill>
                <a:latin typeface="Montserrat"/>
                <a:ea typeface="Montserrat"/>
                <a:cs typeface="Montserrat"/>
                <a:sym typeface="Montserrat"/>
              </a:rPr>
              <a:t>SERVIDOR COMPARTIDO</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Este servidor es lo opuesto al servidor dedicado.</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Los servidores compartidos se encargan </a:t>
            </a:r>
            <a:r>
              <a:rPr lang="es-ES" sz="2000" b="1" i="0">
                <a:solidFill>
                  <a:srgbClr val="5F727F"/>
                </a:solidFill>
                <a:latin typeface="Source Sans Pro"/>
                <a:ea typeface="Source Sans Pro"/>
                <a:cs typeface="Source Sans Pro"/>
                <a:sym typeface="Source Sans Pro"/>
              </a:rPr>
              <a:t>de recibir peticiones de muchos clientes</a:t>
            </a:r>
            <a:r>
              <a:rPr lang="es-ES" sz="20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Por normal general, los clientes de este tipo de servidores son aquellos que no realizan muchas peticiones al servidor ya que de no ser así, éste no sería lo suficiente rápido para adaptarse a las necesidades de todos sus clientes.</a:t>
            </a:r>
            <a:endParaRPr/>
          </a:p>
        </p:txBody>
      </p:sp>
      <p:sp>
        <p:nvSpPr>
          <p:cNvPr id="806" name="Google Shape;806;p87"/>
          <p:cNvSpPr txBox="1"/>
          <p:nvPr/>
        </p:nvSpPr>
        <p:spPr>
          <a:xfrm>
            <a:off x="6400800" y="3316772"/>
            <a:ext cx="4109988" cy="2677656"/>
          </a:xfrm>
          <a:prstGeom prst="rect">
            <a:avLst/>
          </a:prstGeom>
          <a:solidFill>
            <a:srgbClr val="E1EFD8"/>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b="1" i="0" cap="none">
                <a:solidFill>
                  <a:srgbClr val="3C3950"/>
                </a:solidFill>
                <a:latin typeface="Montserrat"/>
                <a:ea typeface="Montserrat"/>
                <a:cs typeface="Montserrat"/>
                <a:sym typeface="Montserrat"/>
              </a:rPr>
              <a:t>SERVIDORES DE AUDIO Y VÍDEO</a:t>
            </a:r>
            <a:endParaRPr/>
          </a:p>
          <a:p>
            <a:pPr marL="0" marR="0" lvl="0" indent="0" algn="l" rtl="0">
              <a:spcBef>
                <a:spcPts val="0"/>
              </a:spcBef>
              <a:spcAft>
                <a:spcPts val="0"/>
              </a:spcAft>
              <a:buNone/>
            </a:pPr>
            <a:r>
              <a:rPr lang="es-ES" sz="2800" b="0" i="0">
                <a:solidFill>
                  <a:srgbClr val="5F727F"/>
                </a:solidFill>
                <a:latin typeface="Source Sans Pro"/>
                <a:ea typeface="Source Sans Pro"/>
                <a:cs typeface="Source Sans Pro"/>
                <a:sym typeface="Source Sans Pro"/>
              </a:rPr>
              <a:t>Este tipo de servidores son </a:t>
            </a:r>
            <a:r>
              <a:rPr lang="es-ES" sz="2800" b="1" i="0">
                <a:solidFill>
                  <a:srgbClr val="5F727F"/>
                </a:solidFill>
                <a:latin typeface="Source Sans Pro"/>
                <a:ea typeface="Source Sans Pro"/>
                <a:cs typeface="Source Sans Pro"/>
                <a:sym typeface="Source Sans Pro"/>
              </a:rPr>
              <a:t>muy útiles para la transmisión de </a:t>
            </a:r>
            <a:r>
              <a:rPr lang="es-ES" sz="2800" b="1" i="0" u="sng" strike="noStrike">
                <a:solidFill>
                  <a:srgbClr val="0505FF"/>
                </a:solid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audio y vídeo en streaming</a:t>
            </a:r>
            <a:r>
              <a:rPr lang="es-ES" sz="2800" b="0" i="0" u="sng" strike="noStrike">
                <a:solidFill>
                  <a:srgbClr val="0505FF"/>
                </a:solid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a:t>
            </a:r>
            <a:endParaRPr sz="2800" b="0" i="0">
              <a:solidFill>
                <a:srgbClr val="5F727F"/>
              </a:solidFill>
              <a:latin typeface="Source Sans Pro"/>
              <a:ea typeface="Source Sans Pro"/>
              <a:cs typeface="Source Sans Pro"/>
              <a:sym typeface="Source Sans Pro"/>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88"/>
          <p:cNvSpPr txBox="1"/>
          <p:nvPr/>
        </p:nvSpPr>
        <p:spPr>
          <a:xfrm>
            <a:off x="834991" y="174597"/>
            <a:ext cx="5132672" cy="2031325"/>
          </a:xfrm>
          <a:prstGeom prst="rect">
            <a:avLst/>
          </a:prstGeom>
          <a:solidFill>
            <a:srgbClr val="E1EFD8"/>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cap="none">
                <a:solidFill>
                  <a:srgbClr val="3C3950"/>
                </a:solidFill>
                <a:latin typeface="Montserrat"/>
                <a:ea typeface="Montserrat"/>
                <a:cs typeface="Montserrat"/>
                <a:sym typeface="Montserrat"/>
              </a:rPr>
              <a:t>SERVIDOR DE CORREO ELECTRÓNICO</a:t>
            </a:r>
            <a:endParaRPr/>
          </a:p>
          <a:p>
            <a:pPr marL="0" marR="0" lvl="0" indent="0" algn="l" rtl="0">
              <a:spcBef>
                <a:spcPts val="0"/>
              </a:spcBef>
              <a:spcAft>
                <a:spcPts val="0"/>
              </a:spcAft>
              <a:buNone/>
            </a:pPr>
            <a:r>
              <a:rPr lang="es-ES" sz="1800" b="1" i="0">
                <a:solidFill>
                  <a:srgbClr val="5F727F"/>
                </a:solidFill>
                <a:latin typeface="Source Sans Pro"/>
                <a:ea typeface="Source Sans Pro"/>
                <a:cs typeface="Source Sans Pro"/>
                <a:sym typeface="Source Sans Pro"/>
              </a:rPr>
              <a:t>Se encarga de gestionar todos los emails que recibe y envía un correo electrónico</a:t>
            </a:r>
            <a:r>
              <a:rPr lang="es-ES" sz="18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Además, es el responsable de todas las operaciones de dicho email y permite el intercambio de mensajes a través de sistemas de comunicación electrónico.</a:t>
            </a:r>
            <a:endParaRPr/>
          </a:p>
        </p:txBody>
      </p:sp>
      <p:sp>
        <p:nvSpPr>
          <p:cNvPr id="812" name="Google Shape;812;p88"/>
          <p:cNvSpPr txBox="1"/>
          <p:nvPr/>
        </p:nvSpPr>
        <p:spPr>
          <a:xfrm>
            <a:off x="834991" y="2413337"/>
            <a:ext cx="5450306" cy="2031325"/>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cap="none">
                <a:solidFill>
                  <a:srgbClr val="3C3950"/>
                </a:solidFill>
                <a:latin typeface="Montserrat"/>
                <a:ea typeface="Montserrat"/>
                <a:cs typeface="Montserrat"/>
                <a:sym typeface="Montserrat"/>
              </a:rPr>
              <a:t>SERVIDOR FTP</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Es un tipo de servidor que </a:t>
            </a:r>
            <a:r>
              <a:rPr lang="es-ES" sz="1800" b="1" i="0">
                <a:solidFill>
                  <a:srgbClr val="5F727F"/>
                </a:solidFill>
                <a:latin typeface="Source Sans Pro"/>
                <a:ea typeface="Source Sans Pro"/>
                <a:cs typeface="Source Sans Pro"/>
                <a:sym typeface="Source Sans Pro"/>
              </a:rPr>
              <a:t>permite la transferencia de archivos</a:t>
            </a:r>
            <a:r>
              <a:rPr lang="es-ES" sz="18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Es un </a:t>
            </a:r>
            <a:r>
              <a:rPr lang="es-ES" sz="1800" b="0" i="0" u="sng" strike="noStrike">
                <a:solidFill>
                  <a:srgbClr val="0505FF"/>
                </a:solid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método de transferencia de archivos</a:t>
            </a:r>
            <a:r>
              <a:rPr lang="es-ES" sz="1800" b="0" i="0">
                <a:solidFill>
                  <a:srgbClr val="5F727F"/>
                </a:solidFill>
                <a:latin typeface="Source Sans Pro"/>
                <a:ea typeface="Source Sans Pro"/>
                <a:cs typeface="Source Sans Pro"/>
                <a:sym typeface="Source Sans Pro"/>
              </a:rPr>
              <a:t> es muy propio dentro del diseño web ya que permite al cliente descargar un archivo desde el servidor o al servidor recibir un archivo enviado desde el cliente.</a:t>
            </a:r>
            <a:endParaRPr/>
          </a:p>
        </p:txBody>
      </p:sp>
      <p:sp>
        <p:nvSpPr>
          <p:cNvPr id="813" name="Google Shape;813;p88"/>
          <p:cNvSpPr txBox="1"/>
          <p:nvPr/>
        </p:nvSpPr>
        <p:spPr>
          <a:xfrm>
            <a:off x="834991" y="4859492"/>
            <a:ext cx="5450306" cy="923330"/>
          </a:xfrm>
          <a:prstGeom prst="rect">
            <a:avLst/>
          </a:prstGeom>
          <a:solidFill>
            <a:srgbClr val="D8E2F3"/>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cap="none">
                <a:solidFill>
                  <a:srgbClr val="3C3950"/>
                </a:solidFill>
                <a:latin typeface="Montserrat"/>
                <a:ea typeface="Montserrat"/>
                <a:cs typeface="Montserrat"/>
                <a:sym typeface="Montserrat"/>
              </a:rPr>
              <a:t>SERVIDOR DE IMPRESIÓN</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Su función es </a:t>
            </a:r>
            <a:r>
              <a:rPr lang="es-ES" sz="1800" b="1" i="0">
                <a:solidFill>
                  <a:srgbClr val="5F727F"/>
                </a:solidFill>
                <a:latin typeface="Source Sans Pro"/>
                <a:ea typeface="Source Sans Pro"/>
                <a:cs typeface="Source Sans Pro"/>
                <a:sym typeface="Source Sans Pro"/>
              </a:rPr>
              <a:t>vincular muchos ordenadores a una o varias impresoras</a:t>
            </a:r>
            <a:r>
              <a:rPr lang="es-ES" sz="1800" b="0" i="0">
                <a:solidFill>
                  <a:srgbClr val="5F727F"/>
                </a:solidFill>
                <a:latin typeface="Source Sans Pro"/>
                <a:ea typeface="Source Sans Pro"/>
                <a:cs typeface="Source Sans Pro"/>
                <a:sym typeface="Source Sans Pro"/>
              </a:rPr>
              <a:t>.</a:t>
            </a:r>
            <a:endParaRPr/>
          </a:p>
        </p:txBody>
      </p:sp>
      <p:sp>
        <p:nvSpPr>
          <p:cNvPr id="814" name="Google Shape;814;p88"/>
          <p:cNvSpPr txBox="1"/>
          <p:nvPr/>
        </p:nvSpPr>
        <p:spPr>
          <a:xfrm>
            <a:off x="6224339" y="105013"/>
            <a:ext cx="5749488" cy="2308324"/>
          </a:xfrm>
          <a:prstGeom prst="rect">
            <a:avLst/>
          </a:prstGeom>
          <a:solidFill>
            <a:srgbClr val="EDEDED"/>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cap="none">
                <a:solidFill>
                  <a:srgbClr val="3C3950"/>
                </a:solidFill>
                <a:latin typeface="Montserrat"/>
                <a:ea typeface="Montserrat"/>
                <a:cs typeface="Montserrat"/>
                <a:sym typeface="Montserrat"/>
              </a:rPr>
              <a:t>SERVIDOR EN LA NUBE</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Los servidores en la nube se caracterizan por </a:t>
            </a:r>
            <a:r>
              <a:rPr lang="es-ES" sz="1800" b="1" i="0">
                <a:solidFill>
                  <a:srgbClr val="5F727F"/>
                </a:solidFill>
                <a:latin typeface="Source Sans Pro"/>
                <a:ea typeface="Source Sans Pro"/>
                <a:cs typeface="Source Sans Pro"/>
                <a:sym typeface="Source Sans Pro"/>
              </a:rPr>
              <a:t>almacenar la información en internet en vez de en algún equipo informático físico</a:t>
            </a:r>
            <a:r>
              <a:rPr lang="es-ES" sz="18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Plataformas como</a:t>
            </a:r>
            <a:r>
              <a:rPr lang="es-ES" sz="1800" b="0" i="0" u="sng" strike="noStrike">
                <a:solidFill>
                  <a:srgbClr val="0505FF"/>
                </a:solidFill>
                <a:latin typeface="Source Sans Pro"/>
                <a:ea typeface="Source Sans Pro"/>
                <a:cs typeface="Source Sans Pro"/>
                <a:sym typeface="Source Sans Pro"/>
                <a:hlinkClick r:id="rId4">
                  <a:extLst>
                    <a:ext uri="{A12FA001-AC4F-418D-AE19-62706E023703}">
                      <ahyp:hlinkClr xmlns:ahyp="http://schemas.microsoft.com/office/drawing/2018/hyperlinkcolor" val="tx"/>
                    </a:ext>
                  </a:extLst>
                </a:hlinkClick>
              </a:rPr>
              <a:t> Google Drive</a:t>
            </a:r>
            <a:r>
              <a:rPr lang="es-ES" sz="1800" b="0" i="0">
                <a:solidFill>
                  <a:srgbClr val="5F727F"/>
                </a:solidFill>
                <a:latin typeface="Source Sans Pro"/>
                <a:ea typeface="Source Sans Pro"/>
                <a:cs typeface="Source Sans Pro"/>
                <a:sym typeface="Source Sans Pro"/>
              </a:rPr>
              <a:t> o Dropbox  son herramientas que almacenan la información en la nube. De esta manera, puedes acceder a esta información siempre que tengas acceso a internet.</a:t>
            </a:r>
            <a:endParaRPr/>
          </a:p>
        </p:txBody>
      </p:sp>
      <p:sp>
        <p:nvSpPr>
          <p:cNvPr id="815" name="Google Shape;815;p88"/>
          <p:cNvSpPr txBox="1"/>
          <p:nvPr/>
        </p:nvSpPr>
        <p:spPr>
          <a:xfrm>
            <a:off x="6533147" y="2706440"/>
            <a:ext cx="5209674" cy="2585323"/>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cap="none">
                <a:solidFill>
                  <a:srgbClr val="3C3950"/>
                </a:solidFill>
                <a:latin typeface="Montserrat"/>
                <a:ea typeface="Montserrat"/>
                <a:cs typeface="Montserrat"/>
                <a:sym typeface="Montserrat"/>
              </a:rPr>
              <a:t>SERVIDOR DE BASE DE DATOS</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Estos servidores se encargan de </a:t>
            </a:r>
            <a:r>
              <a:rPr lang="es-ES" sz="1800" b="1" i="0">
                <a:solidFill>
                  <a:srgbClr val="5F727F"/>
                </a:solidFill>
                <a:latin typeface="Source Sans Pro"/>
                <a:ea typeface="Source Sans Pro"/>
                <a:cs typeface="Source Sans Pro"/>
                <a:sym typeface="Source Sans Pro"/>
              </a:rPr>
              <a:t>transferir información almacenada en bases de datos a otros programas u ordenadores</a:t>
            </a:r>
            <a:r>
              <a:rPr lang="es-ES" sz="1800" b="0" i="0">
                <a:solidFill>
                  <a:srgbClr val="5F727F"/>
                </a:solidFill>
                <a:latin typeface="Source Sans Pro"/>
                <a:ea typeface="Source Sans Pro"/>
                <a:cs typeface="Source Sans Pro"/>
                <a:sym typeface="Source Sans Pro"/>
              </a:rPr>
              <a:t>. De esta manera, organiza la información mediante el uso de tablas, índices y registros.</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Es muy propio de empresas o bancos que tienen varios clientes con información detallada de cada uno de ellos como: correo, dirección, teléfono, etc.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89"/>
          <p:cNvSpPr txBox="1"/>
          <p:nvPr/>
        </p:nvSpPr>
        <p:spPr>
          <a:xfrm>
            <a:off x="494900" y="241107"/>
            <a:ext cx="6097604" cy="2246769"/>
          </a:xfrm>
          <a:prstGeom prst="rect">
            <a:avLst/>
          </a:prstGeom>
          <a:solidFill>
            <a:srgbClr val="E1EFD8"/>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i="0" cap="none">
                <a:solidFill>
                  <a:srgbClr val="3C3950"/>
                </a:solidFill>
                <a:latin typeface="Montserrat"/>
                <a:ea typeface="Montserrat"/>
                <a:cs typeface="Montserrat"/>
                <a:sym typeface="Montserrat"/>
              </a:rPr>
              <a:t>CLÚSTER DE SERVIDORES</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Esto más que un servidor, es la </a:t>
            </a:r>
            <a:r>
              <a:rPr lang="es-ES" sz="2000" b="1" i="0">
                <a:solidFill>
                  <a:srgbClr val="5F727F"/>
                </a:solidFill>
                <a:latin typeface="Source Sans Pro"/>
                <a:ea typeface="Source Sans Pro"/>
                <a:cs typeface="Source Sans Pro"/>
                <a:sym typeface="Source Sans Pro"/>
              </a:rPr>
              <a:t>agrupación de varios servidores</a:t>
            </a:r>
            <a:r>
              <a:rPr lang="es-ES" sz="20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Su particularidad es que todos se dedican a la misma tarea y se suele recurrir a esta unión cuando un único servidor no responde al número de peticiones que hacen los clientes.</a:t>
            </a:r>
            <a:endParaRPr/>
          </a:p>
        </p:txBody>
      </p:sp>
      <p:sp>
        <p:nvSpPr>
          <p:cNvPr id="821" name="Google Shape;821;p89"/>
          <p:cNvSpPr txBox="1"/>
          <p:nvPr/>
        </p:nvSpPr>
        <p:spPr>
          <a:xfrm>
            <a:off x="456401" y="3320173"/>
            <a:ext cx="5392553" cy="3170099"/>
          </a:xfrm>
          <a:prstGeom prst="rect">
            <a:avLst/>
          </a:prstGeom>
          <a:solidFill>
            <a:srgbClr val="FBE4D4"/>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i="0" cap="none">
                <a:solidFill>
                  <a:srgbClr val="3C3950"/>
                </a:solidFill>
                <a:latin typeface="Montserrat"/>
                <a:ea typeface="Montserrat"/>
                <a:cs typeface="Montserrat"/>
                <a:sym typeface="Montserrat"/>
              </a:rPr>
              <a:t>SERVIDOR PROXY</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Un servidor proxy es un equipo informático que </a:t>
            </a:r>
            <a:r>
              <a:rPr lang="es-ES" sz="2000" b="1" i="0">
                <a:solidFill>
                  <a:srgbClr val="5F727F"/>
                </a:solidFill>
                <a:latin typeface="Source Sans Pro"/>
                <a:ea typeface="Source Sans Pro"/>
                <a:cs typeface="Source Sans Pro"/>
                <a:sym typeface="Source Sans Pro"/>
              </a:rPr>
              <a:t>actúa de intermediario entre un dispositivo y otro servidor del cual un cliente solicita un servicio</a:t>
            </a:r>
            <a:r>
              <a:rPr lang="es-ES" sz="20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Un ejemplo es la navegación de internet en un ordenador y la propia red de internet. De esta manera, el proxy es quien recibe la petición de acceder a una página y es quien trasmite la petición al servidor web.</a:t>
            </a:r>
            <a:endParaRPr/>
          </a:p>
        </p:txBody>
      </p:sp>
      <p:sp>
        <p:nvSpPr>
          <p:cNvPr id="822" name="Google Shape;822;p89"/>
          <p:cNvSpPr txBox="1"/>
          <p:nvPr/>
        </p:nvSpPr>
        <p:spPr>
          <a:xfrm>
            <a:off x="7404233" y="471639"/>
            <a:ext cx="4129237" cy="2585323"/>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i="0" cap="none">
                <a:solidFill>
                  <a:srgbClr val="3C3950"/>
                </a:solidFill>
                <a:latin typeface="Montserrat"/>
                <a:ea typeface="Montserrat"/>
                <a:cs typeface="Montserrat"/>
                <a:sym typeface="Montserrat"/>
              </a:rPr>
              <a:t>SERVIDOR DE ARCHIVOS</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Los servidores de archivos tienen como finalidad </a:t>
            </a:r>
            <a:r>
              <a:rPr lang="es-ES" sz="1800" b="1" i="0">
                <a:solidFill>
                  <a:srgbClr val="5F727F"/>
                </a:solidFill>
                <a:latin typeface="Source Sans Pro"/>
                <a:ea typeface="Source Sans Pro"/>
                <a:cs typeface="Source Sans Pro"/>
                <a:sym typeface="Source Sans Pro"/>
              </a:rPr>
              <a:t>crear una red en la que varios ordenadores se pueden conectar y ver y modificar todos los archivos que hay en dicha red</a:t>
            </a:r>
            <a:r>
              <a:rPr lang="es-ES" sz="18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1800" b="0" i="0">
                <a:solidFill>
                  <a:srgbClr val="5F727F"/>
                </a:solidFill>
                <a:latin typeface="Source Sans Pro"/>
                <a:ea typeface="Source Sans Pro"/>
                <a:cs typeface="Source Sans Pro"/>
                <a:sym typeface="Source Sans Pro"/>
              </a:rPr>
              <a:t>Esta es una práctica muy utilizada en equipos de trabajo que necesitan acceso a los mismos archivos.</a:t>
            </a:r>
            <a:endParaRPr/>
          </a:p>
        </p:txBody>
      </p:sp>
      <p:sp>
        <p:nvSpPr>
          <p:cNvPr id="823" name="Google Shape;823;p89"/>
          <p:cNvSpPr txBox="1"/>
          <p:nvPr/>
        </p:nvSpPr>
        <p:spPr>
          <a:xfrm>
            <a:off x="6487427" y="3626049"/>
            <a:ext cx="5113421" cy="2554545"/>
          </a:xfrm>
          <a:prstGeom prst="rect">
            <a:avLst/>
          </a:prstGeom>
          <a:solidFill>
            <a:srgbClr val="E1EFD8"/>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b="1" i="0" cap="none">
                <a:solidFill>
                  <a:srgbClr val="3C3950"/>
                </a:solidFill>
                <a:latin typeface="Montserrat"/>
                <a:ea typeface="Montserrat"/>
                <a:cs typeface="Montserrat"/>
                <a:sym typeface="Montserrat"/>
              </a:rPr>
              <a:t>SERVIDOR DE DNS</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La función de este servidor es la de </a:t>
            </a:r>
            <a:r>
              <a:rPr lang="es-ES" sz="2000" b="1" i="0">
                <a:solidFill>
                  <a:srgbClr val="5F727F"/>
                </a:solidFill>
                <a:latin typeface="Source Sans Pro"/>
                <a:ea typeface="Source Sans Pro"/>
                <a:cs typeface="Source Sans Pro"/>
                <a:sym typeface="Source Sans Pro"/>
              </a:rPr>
              <a:t>traducir la dirección IP de una página web en un dominio</a:t>
            </a:r>
            <a:r>
              <a:rPr lang="es-ES" sz="2000" b="0" i="0">
                <a:solidFill>
                  <a:srgbClr val="5F727F"/>
                </a:solidFill>
                <a:latin typeface="Source Sans Pro"/>
                <a:ea typeface="Source Sans Pro"/>
                <a:cs typeface="Source Sans Pro"/>
                <a:sym typeface="Source Sans Pro"/>
              </a:rPr>
              <a:t>.</a:t>
            </a:r>
            <a:endParaRPr/>
          </a:p>
          <a:p>
            <a:pPr marL="0" marR="0" lvl="0" indent="0" algn="l" rtl="0">
              <a:spcBef>
                <a:spcPts val="0"/>
              </a:spcBef>
              <a:spcAft>
                <a:spcPts val="0"/>
              </a:spcAft>
              <a:buNone/>
            </a:pPr>
            <a:r>
              <a:rPr lang="es-ES" sz="2000" b="0" i="0">
                <a:solidFill>
                  <a:srgbClr val="5F727F"/>
                </a:solidFill>
                <a:latin typeface="Source Sans Pro"/>
                <a:ea typeface="Source Sans Pro"/>
                <a:cs typeface="Source Sans Pro"/>
                <a:sym typeface="Source Sans Pro"/>
              </a:rPr>
              <a:t>La razón de este cambio es porque resulta más fácil recordar los dominios, como “desafiohosting.com” antes que una dirección IP numérica como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90"/>
          <p:cNvSpPr txBox="1">
            <a:spLocks noGrp="1"/>
          </p:cNvSpPr>
          <p:nvPr>
            <p:ph type="title"/>
          </p:nvPr>
        </p:nvSpPr>
        <p:spPr>
          <a:xfrm>
            <a:off x="838200" y="45135"/>
            <a:ext cx="10515600" cy="6359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959"/>
              <a:buFont typeface="Calibri"/>
              <a:buNone/>
            </a:pPr>
            <a:r>
              <a:rPr lang="es-ES" sz="3959"/>
              <a:t>PRINCIPALES PUERTOS-SERVIDORES</a:t>
            </a:r>
            <a:endParaRPr/>
          </a:p>
        </p:txBody>
      </p:sp>
      <p:pic>
        <p:nvPicPr>
          <p:cNvPr id="829" name="Google Shape;829;p90"/>
          <p:cNvPicPr preferRelativeResize="0"/>
          <p:nvPr/>
        </p:nvPicPr>
        <p:blipFill rotWithShape="1">
          <a:blip r:embed="rId3">
            <a:alphaModFix/>
          </a:blip>
          <a:srcRect/>
          <a:stretch/>
        </p:blipFill>
        <p:spPr>
          <a:xfrm>
            <a:off x="4066674" y="2840257"/>
            <a:ext cx="1817370" cy="1817370"/>
          </a:xfrm>
          <a:prstGeom prst="rect">
            <a:avLst/>
          </a:prstGeom>
          <a:noFill/>
          <a:ln>
            <a:noFill/>
          </a:ln>
        </p:spPr>
      </p:pic>
      <p:sp>
        <p:nvSpPr>
          <p:cNvPr id="830" name="Google Shape;830;p90"/>
          <p:cNvSpPr txBox="1"/>
          <p:nvPr/>
        </p:nvSpPr>
        <p:spPr>
          <a:xfrm>
            <a:off x="574305" y="1160482"/>
            <a:ext cx="2329315" cy="523220"/>
          </a:xfrm>
          <a:prstGeom prst="rect">
            <a:avLst/>
          </a:prstGeom>
          <a:gradFill>
            <a:gsLst>
              <a:gs pos="0">
                <a:srgbClr val="5F82CA"/>
              </a:gs>
              <a:gs pos="50000">
                <a:srgbClr val="3C70CA"/>
              </a:gs>
              <a:gs pos="100000">
                <a:srgbClr val="2E60B9"/>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b="0" i="0">
                <a:solidFill>
                  <a:schemeClr val="lt1"/>
                </a:solidFill>
                <a:latin typeface="Roboto"/>
                <a:ea typeface="Roboto"/>
                <a:cs typeface="Roboto"/>
                <a:sym typeface="Roboto"/>
              </a:rPr>
              <a:t>FTP (21)</a:t>
            </a:r>
            <a:endParaRPr/>
          </a:p>
        </p:txBody>
      </p:sp>
      <p:sp>
        <p:nvSpPr>
          <p:cNvPr id="831" name="Google Shape;831;p90"/>
          <p:cNvSpPr txBox="1"/>
          <p:nvPr/>
        </p:nvSpPr>
        <p:spPr>
          <a:xfrm>
            <a:off x="4066674" y="1160482"/>
            <a:ext cx="1529615" cy="461665"/>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0" i="0">
                <a:solidFill>
                  <a:schemeClr val="lt1"/>
                </a:solidFill>
                <a:latin typeface="Roboto"/>
                <a:ea typeface="Roboto"/>
                <a:cs typeface="Roboto"/>
                <a:sym typeface="Roboto"/>
              </a:rPr>
              <a:t>SSH (22)</a:t>
            </a:r>
            <a:endParaRPr/>
          </a:p>
        </p:txBody>
      </p:sp>
      <p:sp>
        <p:nvSpPr>
          <p:cNvPr id="832" name="Google Shape;832;p90"/>
          <p:cNvSpPr txBox="1"/>
          <p:nvPr/>
        </p:nvSpPr>
        <p:spPr>
          <a:xfrm>
            <a:off x="1086250" y="4591236"/>
            <a:ext cx="1817370" cy="461665"/>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0" i="0">
                <a:solidFill>
                  <a:schemeClr val="lt1"/>
                </a:solidFill>
                <a:latin typeface="Roboto"/>
                <a:ea typeface="Roboto"/>
                <a:cs typeface="Roboto"/>
                <a:sym typeface="Roboto"/>
              </a:rPr>
              <a:t>SMTP (25)</a:t>
            </a:r>
            <a:endParaRPr/>
          </a:p>
        </p:txBody>
      </p:sp>
      <p:sp>
        <p:nvSpPr>
          <p:cNvPr id="833" name="Google Shape;833;p90"/>
          <p:cNvSpPr txBox="1"/>
          <p:nvPr/>
        </p:nvSpPr>
        <p:spPr>
          <a:xfrm>
            <a:off x="574305" y="2772691"/>
            <a:ext cx="1965960" cy="523220"/>
          </a:xfrm>
          <a:prstGeom prst="rect">
            <a:avLst/>
          </a:prstGeom>
          <a:gradFill>
            <a:gsLst>
              <a:gs pos="0">
                <a:srgbClr val="5F82CA"/>
              </a:gs>
              <a:gs pos="50000">
                <a:srgbClr val="3C70CA"/>
              </a:gs>
              <a:gs pos="100000">
                <a:srgbClr val="2E60B9"/>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b="0" i="0">
                <a:solidFill>
                  <a:schemeClr val="lt1"/>
                </a:solidFill>
                <a:latin typeface="Roboto"/>
                <a:ea typeface="Roboto"/>
                <a:cs typeface="Roboto"/>
                <a:sym typeface="Roboto"/>
              </a:rPr>
              <a:t>HTTP (80)</a:t>
            </a:r>
            <a:endParaRPr/>
          </a:p>
        </p:txBody>
      </p:sp>
      <p:sp>
        <p:nvSpPr>
          <p:cNvPr id="834" name="Google Shape;834;p90"/>
          <p:cNvSpPr txBox="1"/>
          <p:nvPr/>
        </p:nvSpPr>
        <p:spPr>
          <a:xfrm>
            <a:off x="6764154" y="1829604"/>
            <a:ext cx="2062212" cy="461665"/>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0" i="0">
                <a:solidFill>
                  <a:schemeClr val="lt1"/>
                </a:solidFill>
                <a:latin typeface="Roboto"/>
                <a:ea typeface="Roboto"/>
                <a:cs typeface="Roboto"/>
                <a:sym typeface="Roboto"/>
              </a:rPr>
              <a:t>HTTPS (443)</a:t>
            </a:r>
            <a:endParaRPr/>
          </a:p>
        </p:txBody>
      </p:sp>
      <p:sp>
        <p:nvSpPr>
          <p:cNvPr id="835" name="Google Shape;835;p90"/>
          <p:cNvSpPr txBox="1"/>
          <p:nvPr/>
        </p:nvSpPr>
        <p:spPr>
          <a:xfrm>
            <a:off x="7047098" y="3634067"/>
            <a:ext cx="2179919" cy="461665"/>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0" i="0">
                <a:solidFill>
                  <a:schemeClr val="lt1"/>
                </a:solidFill>
                <a:latin typeface="Roboto"/>
                <a:ea typeface="Roboto"/>
                <a:cs typeface="Roboto"/>
                <a:sym typeface="Roboto"/>
              </a:rPr>
              <a:t>MySQL (3306)</a:t>
            </a:r>
            <a:endParaRPr/>
          </a:p>
        </p:txBody>
      </p:sp>
      <p:sp>
        <p:nvSpPr>
          <p:cNvPr id="836" name="Google Shape;836;p90"/>
          <p:cNvSpPr txBox="1"/>
          <p:nvPr/>
        </p:nvSpPr>
        <p:spPr>
          <a:xfrm>
            <a:off x="4174957" y="5644904"/>
            <a:ext cx="2062212" cy="461665"/>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0" i="0">
                <a:solidFill>
                  <a:schemeClr val="lt1"/>
                </a:solidFill>
                <a:latin typeface="Roboto"/>
                <a:ea typeface="Roboto"/>
                <a:cs typeface="Roboto"/>
                <a:sym typeface="Roboto"/>
              </a:rPr>
              <a:t>UpnP (5000)</a:t>
            </a:r>
            <a:endParaRPr/>
          </a:p>
        </p:txBody>
      </p:sp>
      <p:sp>
        <p:nvSpPr>
          <p:cNvPr id="837" name="Google Shape;837;p90"/>
          <p:cNvSpPr/>
          <p:nvPr/>
        </p:nvSpPr>
        <p:spPr>
          <a:xfrm rot="-8446825">
            <a:off x="3080084" y="2012028"/>
            <a:ext cx="847023" cy="461665"/>
          </a:xfrm>
          <a:prstGeom prst="rightArrow">
            <a:avLst>
              <a:gd name="adj1" fmla="val 50000"/>
              <a:gd name="adj2" fmla="val 50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8" name="Google Shape;838;p90"/>
          <p:cNvSpPr/>
          <p:nvPr/>
        </p:nvSpPr>
        <p:spPr>
          <a:xfrm rot="-10115868">
            <a:off x="2879958" y="3113472"/>
            <a:ext cx="847023" cy="461665"/>
          </a:xfrm>
          <a:prstGeom prst="rightArrow">
            <a:avLst>
              <a:gd name="adj1" fmla="val 50000"/>
              <a:gd name="adj2" fmla="val 50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9" name="Google Shape;839;p90"/>
          <p:cNvSpPr/>
          <p:nvPr/>
        </p:nvSpPr>
        <p:spPr>
          <a:xfrm rot="9498782">
            <a:off x="3061635" y="4360403"/>
            <a:ext cx="847023" cy="461665"/>
          </a:xfrm>
          <a:prstGeom prst="rightArrow">
            <a:avLst>
              <a:gd name="adj1" fmla="val 50000"/>
              <a:gd name="adj2" fmla="val 50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0" name="Google Shape;840;p90"/>
          <p:cNvSpPr/>
          <p:nvPr/>
        </p:nvSpPr>
        <p:spPr>
          <a:xfrm rot="-5400000">
            <a:off x="4321765" y="1870760"/>
            <a:ext cx="847023" cy="461665"/>
          </a:xfrm>
          <a:prstGeom prst="rightArrow">
            <a:avLst>
              <a:gd name="adj1" fmla="val 50000"/>
              <a:gd name="adj2" fmla="val 50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1" name="Google Shape;841;p90"/>
          <p:cNvSpPr/>
          <p:nvPr/>
        </p:nvSpPr>
        <p:spPr>
          <a:xfrm rot="-2402565">
            <a:off x="5813658" y="2294303"/>
            <a:ext cx="847023" cy="461665"/>
          </a:xfrm>
          <a:prstGeom prst="rightArrow">
            <a:avLst>
              <a:gd name="adj1" fmla="val 50000"/>
              <a:gd name="adj2" fmla="val 50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2" name="Google Shape;842;p90"/>
          <p:cNvSpPr/>
          <p:nvPr/>
        </p:nvSpPr>
        <p:spPr>
          <a:xfrm rot="589553">
            <a:off x="6019916" y="3565179"/>
            <a:ext cx="847023" cy="461665"/>
          </a:xfrm>
          <a:prstGeom prst="rightArrow">
            <a:avLst>
              <a:gd name="adj1" fmla="val 50000"/>
              <a:gd name="adj2" fmla="val 50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3" name="Google Shape;843;p90"/>
          <p:cNvSpPr/>
          <p:nvPr/>
        </p:nvSpPr>
        <p:spPr>
          <a:xfrm rot="5400000">
            <a:off x="4657349" y="4898243"/>
            <a:ext cx="847023" cy="461665"/>
          </a:xfrm>
          <a:prstGeom prst="rightArrow">
            <a:avLst>
              <a:gd name="adj1" fmla="val 50000"/>
              <a:gd name="adj2" fmla="val 50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FTP</a:t>
            </a:r>
            <a:endParaRPr/>
          </a:p>
        </p:txBody>
      </p:sp>
      <p:sp>
        <p:nvSpPr>
          <p:cNvPr id="849" name="Google Shape;849;p9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rgbClr val="848F96"/>
              </a:buClr>
              <a:buSzPts val="2800"/>
              <a:buChar char="•"/>
            </a:pPr>
            <a:r>
              <a:rPr lang="es-ES" b="0" i="0">
                <a:solidFill>
                  <a:srgbClr val="848F96"/>
                </a:solidFill>
                <a:latin typeface="Roboto"/>
                <a:ea typeface="Roboto"/>
                <a:cs typeface="Roboto"/>
                <a:sym typeface="Roboto"/>
              </a:rPr>
              <a:t>FTP (21)</a:t>
            </a:r>
            <a:endParaRPr/>
          </a:p>
          <a:p>
            <a:pPr marL="228600" lvl="0" indent="-228600" algn="l" rtl="0">
              <a:lnSpc>
                <a:spcPct val="90000"/>
              </a:lnSpc>
              <a:spcBef>
                <a:spcPts val="1000"/>
              </a:spcBef>
              <a:spcAft>
                <a:spcPts val="0"/>
              </a:spcAft>
              <a:buClr>
                <a:srgbClr val="848F96"/>
              </a:buClr>
              <a:buSzPts val="2800"/>
              <a:buChar char="•"/>
            </a:pPr>
            <a:r>
              <a:rPr lang="es-ES" b="0" i="0">
                <a:solidFill>
                  <a:srgbClr val="848F96"/>
                </a:solidFill>
                <a:latin typeface="Roboto"/>
                <a:ea typeface="Roboto"/>
                <a:cs typeface="Roboto"/>
                <a:sym typeface="Roboto"/>
              </a:rPr>
              <a:t>El protocolo FTP o File Transfer Protocol, por sus siglas en inglés, permite la transferencia de archivos entre sistemas conectados a una red TCP (Transmission Control Protocol), basado en la arquitectura cliente-servidor. Normalmente se utiliza el puerto 21 en las transmisiones por lo que tendremos que abrirlo en nuestro router para la mejor conexión.</a:t>
            </a:r>
            <a:endParaRPr/>
          </a:p>
        </p:txBody>
      </p:sp>
      <p:pic>
        <p:nvPicPr>
          <p:cNvPr id="850" name="Google Shape;850;p91"/>
          <p:cNvPicPr preferRelativeResize="0"/>
          <p:nvPr/>
        </p:nvPicPr>
        <p:blipFill rotWithShape="1">
          <a:blip r:embed="rId3">
            <a:alphaModFix/>
          </a:blip>
          <a:srcRect/>
          <a:stretch/>
        </p:blipFill>
        <p:spPr>
          <a:xfrm>
            <a:off x="10284594" y="0"/>
            <a:ext cx="1817370" cy="181737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9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HTTP</a:t>
            </a:r>
            <a:endParaRPr/>
          </a:p>
        </p:txBody>
      </p:sp>
      <p:sp>
        <p:nvSpPr>
          <p:cNvPr id="856" name="Google Shape;856;p9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rgbClr val="848F96"/>
              </a:buClr>
              <a:buSzPts val="2800"/>
              <a:buChar char="•"/>
            </a:pPr>
            <a:r>
              <a:rPr lang="es-ES" b="0" i="0">
                <a:solidFill>
                  <a:srgbClr val="848F96"/>
                </a:solidFill>
                <a:latin typeface="Roboto"/>
                <a:ea typeface="Roboto"/>
                <a:cs typeface="Roboto"/>
                <a:sym typeface="Roboto"/>
              </a:rPr>
              <a:t>HTTP (80)</a:t>
            </a:r>
            <a:endParaRPr/>
          </a:p>
          <a:p>
            <a:pPr marL="228600" lvl="0" indent="-228600" algn="l" rtl="0">
              <a:lnSpc>
                <a:spcPct val="90000"/>
              </a:lnSpc>
              <a:spcBef>
                <a:spcPts val="1000"/>
              </a:spcBef>
              <a:spcAft>
                <a:spcPts val="0"/>
              </a:spcAft>
              <a:buClr>
                <a:srgbClr val="848F96"/>
              </a:buClr>
              <a:buSzPts val="2800"/>
              <a:buChar char="•"/>
            </a:pPr>
            <a:r>
              <a:rPr lang="es-ES" b="0" i="0">
                <a:solidFill>
                  <a:srgbClr val="848F96"/>
                </a:solidFill>
                <a:latin typeface="Roboto"/>
                <a:ea typeface="Roboto"/>
                <a:cs typeface="Roboto"/>
                <a:sym typeface="Roboto"/>
              </a:rPr>
              <a:t>Hypertext Transfer Protocol o http es el protocolo de comunicación que permite las transferencias de información en la World Wide Web. El pasado año estrenó la última versión http/2 que mejora la velocidad de navegación sin que los usuarios tengan que hacer nada al respecto. Su puerto por defecto es el 80.</a:t>
            </a:r>
            <a:endParaRPr/>
          </a:p>
        </p:txBody>
      </p:sp>
      <p:pic>
        <p:nvPicPr>
          <p:cNvPr id="857" name="Google Shape;857;p92"/>
          <p:cNvPicPr preferRelativeResize="0"/>
          <p:nvPr/>
        </p:nvPicPr>
        <p:blipFill rotWithShape="1">
          <a:blip r:embed="rId3">
            <a:alphaModFix/>
          </a:blip>
          <a:srcRect/>
          <a:stretch/>
        </p:blipFill>
        <p:spPr>
          <a:xfrm>
            <a:off x="10284594" y="0"/>
            <a:ext cx="1817370" cy="181737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SSH</a:t>
            </a:r>
            <a:endParaRPr/>
          </a:p>
        </p:txBody>
      </p:sp>
      <p:sp>
        <p:nvSpPr>
          <p:cNvPr id="863" name="Google Shape;863;p9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rgbClr val="848F96"/>
              </a:buClr>
              <a:buSzPts val="2800"/>
              <a:buChar char="•"/>
            </a:pPr>
            <a:r>
              <a:rPr lang="es-ES" b="0" i="0">
                <a:solidFill>
                  <a:srgbClr val="848F96"/>
                </a:solidFill>
                <a:latin typeface="Roboto"/>
                <a:ea typeface="Roboto"/>
                <a:cs typeface="Roboto"/>
                <a:sym typeface="Roboto"/>
              </a:rPr>
              <a:t>SSH (22)</a:t>
            </a:r>
            <a:endParaRPr/>
          </a:p>
          <a:p>
            <a:pPr marL="228600" lvl="0" indent="-228600" algn="l" rtl="0">
              <a:lnSpc>
                <a:spcPct val="90000"/>
              </a:lnSpc>
              <a:spcBef>
                <a:spcPts val="1000"/>
              </a:spcBef>
              <a:spcAft>
                <a:spcPts val="0"/>
              </a:spcAft>
              <a:buClr>
                <a:srgbClr val="848F96"/>
              </a:buClr>
              <a:buSzPts val="2800"/>
              <a:buChar char="•"/>
            </a:pPr>
            <a:r>
              <a:rPr lang="es-ES" b="0" i="0">
                <a:solidFill>
                  <a:srgbClr val="848F96"/>
                </a:solidFill>
                <a:latin typeface="Roboto"/>
                <a:ea typeface="Roboto"/>
                <a:cs typeface="Roboto"/>
                <a:sym typeface="Roboto"/>
              </a:rPr>
              <a:t>El protocolo Secure Shell (SSH) sirve para acceder a máquinas remotas a través de una red y manejar por completo el sistema mediante un intérprete de comandos. También podremos copiar datos de forma segura. El puerto usado por defecto es el 22 por lo que tendremos que tenerlo abierto en el router.</a:t>
            </a:r>
            <a:endParaRPr/>
          </a:p>
        </p:txBody>
      </p:sp>
      <p:pic>
        <p:nvPicPr>
          <p:cNvPr id="864" name="Google Shape;864;p93"/>
          <p:cNvPicPr preferRelativeResize="0"/>
          <p:nvPr/>
        </p:nvPicPr>
        <p:blipFill rotWithShape="1">
          <a:blip r:embed="rId3">
            <a:alphaModFix/>
          </a:blip>
          <a:srcRect/>
          <a:stretch/>
        </p:blipFill>
        <p:spPr>
          <a:xfrm>
            <a:off x="10284594" y="0"/>
            <a:ext cx="1817370" cy="181737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9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SMTP</a:t>
            </a:r>
            <a:endParaRPr/>
          </a:p>
        </p:txBody>
      </p:sp>
      <p:sp>
        <p:nvSpPr>
          <p:cNvPr id="870" name="Google Shape;870;p9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rgbClr val="848F96"/>
              </a:buClr>
              <a:buSzPts val="2800"/>
              <a:buChar char="•"/>
            </a:pPr>
            <a:r>
              <a:rPr lang="es-ES" b="0" i="0">
                <a:solidFill>
                  <a:srgbClr val="848F96"/>
                </a:solidFill>
                <a:latin typeface="Roboto"/>
                <a:ea typeface="Roboto"/>
                <a:cs typeface="Roboto"/>
                <a:sym typeface="Roboto"/>
              </a:rPr>
              <a:t>SMTP (25)</a:t>
            </a:r>
            <a:endParaRPr/>
          </a:p>
          <a:p>
            <a:pPr marL="228600" lvl="0" indent="-228600" algn="l" rtl="0">
              <a:lnSpc>
                <a:spcPct val="90000"/>
              </a:lnSpc>
              <a:spcBef>
                <a:spcPts val="1000"/>
              </a:spcBef>
              <a:spcAft>
                <a:spcPts val="0"/>
              </a:spcAft>
              <a:buClr>
                <a:srgbClr val="848F96"/>
              </a:buClr>
              <a:buSzPts val="2800"/>
              <a:buChar char="•"/>
            </a:pPr>
            <a:r>
              <a:rPr lang="es-ES" b="0" i="0">
                <a:solidFill>
                  <a:srgbClr val="848F96"/>
                </a:solidFill>
                <a:latin typeface="Roboto"/>
                <a:ea typeface="Roboto"/>
                <a:cs typeface="Roboto"/>
                <a:sym typeface="Roboto"/>
              </a:rPr>
              <a:t>El protocolo Simple Mail Transfer Protocol (SMTP) se utiliza para para el intercambio de mensajes de correo electrónico entre ordenadores u otros dispositivos como teléfonos móviles o impresoras. Abriremos el puerto 25 en el router ya que es el que tiene asignado por defecto.</a:t>
            </a:r>
            <a:endParaRPr/>
          </a:p>
        </p:txBody>
      </p:sp>
      <p:pic>
        <p:nvPicPr>
          <p:cNvPr id="871" name="Google Shape;871;p94"/>
          <p:cNvPicPr preferRelativeResize="0"/>
          <p:nvPr/>
        </p:nvPicPr>
        <p:blipFill rotWithShape="1">
          <a:blip r:embed="rId3">
            <a:alphaModFix/>
          </a:blip>
          <a:srcRect/>
          <a:stretch/>
        </p:blipFill>
        <p:spPr>
          <a:xfrm>
            <a:off x="10284594" y="0"/>
            <a:ext cx="1817370" cy="181737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p9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HTTPS</a:t>
            </a:r>
            <a:endParaRPr/>
          </a:p>
        </p:txBody>
      </p:sp>
      <p:sp>
        <p:nvSpPr>
          <p:cNvPr id="877" name="Google Shape;877;p9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848F96"/>
              </a:buClr>
              <a:buSzPts val="2800"/>
              <a:buChar char="•"/>
            </a:pPr>
            <a:r>
              <a:rPr lang="es-ES" b="0" i="0">
                <a:solidFill>
                  <a:srgbClr val="848F96"/>
                </a:solidFill>
                <a:latin typeface="Roboto"/>
                <a:ea typeface="Roboto"/>
                <a:cs typeface="Roboto"/>
                <a:sym typeface="Roboto"/>
              </a:rPr>
              <a:t>HTTPS (443)</a:t>
            </a:r>
            <a:endParaRPr/>
          </a:p>
          <a:p>
            <a:pPr marL="228600" lvl="0" indent="-228600" algn="l" rtl="0">
              <a:lnSpc>
                <a:spcPct val="90000"/>
              </a:lnSpc>
              <a:spcBef>
                <a:spcPts val="1000"/>
              </a:spcBef>
              <a:spcAft>
                <a:spcPts val="0"/>
              </a:spcAft>
              <a:buClr>
                <a:srgbClr val="848F96"/>
              </a:buClr>
              <a:buSzPts val="2800"/>
              <a:buChar char="•"/>
            </a:pPr>
            <a:r>
              <a:rPr lang="es-ES" b="0" i="0">
                <a:solidFill>
                  <a:srgbClr val="848F96"/>
                </a:solidFill>
                <a:latin typeface="Roboto"/>
                <a:ea typeface="Roboto"/>
                <a:cs typeface="Roboto"/>
                <a:sym typeface="Roboto"/>
              </a:rPr>
              <a:t>Hypertext Transfer Protocol Secure o HTTPS es un protocolo de aplicación basado en el protocolo HTTP, destinado a la transferencia segura de datos. Su puerto por defecto corresponde al 443.</a:t>
            </a:r>
            <a:endParaRPr/>
          </a:p>
          <a:p>
            <a:pPr marL="228600" lvl="0" indent="-50800" algn="l" rtl="0">
              <a:lnSpc>
                <a:spcPct val="90000"/>
              </a:lnSpc>
              <a:spcBef>
                <a:spcPts val="1000"/>
              </a:spcBef>
              <a:spcAft>
                <a:spcPts val="0"/>
              </a:spcAft>
              <a:buClr>
                <a:schemeClr val="dk1"/>
              </a:buClr>
              <a:buSzPts val="2800"/>
              <a:buNone/>
            </a:pPr>
            <a:endParaRPr/>
          </a:p>
        </p:txBody>
      </p:sp>
      <p:pic>
        <p:nvPicPr>
          <p:cNvPr id="878" name="Google Shape;878;p95"/>
          <p:cNvPicPr preferRelativeResize="0"/>
          <p:nvPr/>
        </p:nvPicPr>
        <p:blipFill rotWithShape="1">
          <a:blip r:embed="rId3">
            <a:alphaModFix/>
          </a:blip>
          <a:srcRect/>
          <a:stretch/>
        </p:blipFill>
        <p:spPr>
          <a:xfrm>
            <a:off x="10284594" y="0"/>
            <a:ext cx="1817370" cy="181737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9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MySQL</a:t>
            </a:r>
            <a:endParaRPr/>
          </a:p>
        </p:txBody>
      </p:sp>
      <p:sp>
        <p:nvSpPr>
          <p:cNvPr id="884" name="Google Shape;884;p9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848F96"/>
              </a:buClr>
              <a:buSzPts val="2800"/>
              <a:buChar char="•"/>
            </a:pPr>
            <a:r>
              <a:rPr lang="es-ES" b="0" i="0">
                <a:solidFill>
                  <a:srgbClr val="848F96"/>
                </a:solidFill>
                <a:latin typeface="Roboto"/>
                <a:ea typeface="Roboto"/>
                <a:cs typeface="Roboto"/>
                <a:sym typeface="Roboto"/>
              </a:rPr>
              <a:t>MySQL (3306)</a:t>
            </a:r>
            <a:endParaRPr/>
          </a:p>
          <a:p>
            <a:pPr marL="228600" lvl="0" indent="-228600" algn="l" rtl="0">
              <a:lnSpc>
                <a:spcPct val="90000"/>
              </a:lnSpc>
              <a:spcBef>
                <a:spcPts val="1000"/>
              </a:spcBef>
              <a:spcAft>
                <a:spcPts val="0"/>
              </a:spcAft>
              <a:buClr>
                <a:srgbClr val="848F96"/>
              </a:buClr>
              <a:buSzPts val="2800"/>
              <a:buChar char="•"/>
            </a:pPr>
            <a:r>
              <a:rPr lang="es-ES" b="0" i="0">
                <a:solidFill>
                  <a:srgbClr val="848F96"/>
                </a:solidFill>
                <a:latin typeface="Roboto"/>
                <a:ea typeface="Roboto"/>
                <a:cs typeface="Roboto"/>
                <a:sym typeface="Roboto"/>
              </a:rPr>
              <a:t>MySQL es un sistema de gestión de bases de datos relacional desarrollado por Oracle Corporation y está considerada como la base datos open source más popular del mundo. Su puerto por defecto es el 3306.</a:t>
            </a:r>
            <a:endParaRPr/>
          </a:p>
          <a:p>
            <a:pPr marL="228600" lvl="0" indent="-50800" algn="l" rtl="0">
              <a:lnSpc>
                <a:spcPct val="90000"/>
              </a:lnSpc>
              <a:spcBef>
                <a:spcPts val="1000"/>
              </a:spcBef>
              <a:spcAft>
                <a:spcPts val="0"/>
              </a:spcAft>
              <a:buClr>
                <a:schemeClr val="dk1"/>
              </a:buClr>
              <a:buSzPts val="2800"/>
              <a:buNone/>
            </a:pPr>
            <a:endParaRPr/>
          </a:p>
        </p:txBody>
      </p:sp>
      <p:pic>
        <p:nvPicPr>
          <p:cNvPr id="885" name="Google Shape;885;p96"/>
          <p:cNvPicPr preferRelativeResize="0"/>
          <p:nvPr/>
        </p:nvPicPr>
        <p:blipFill rotWithShape="1">
          <a:blip r:embed="rId3">
            <a:alphaModFix/>
          </a:blip>
          <a:srcRect/>
          <a:stretch/>
        </p:blipFill>
        <p:spPr>
          <a:xfrm>
            <a:off x="10284594" y="0"/>
            <a:ext cx="1817370" cy="181737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UpnP</a:t>
            </a:r>
            <a:endParaRPr/>
          </a:p>
        </p:txBody>
      </p:sp>
      <p:sp>
        <p:nvSpPr>
          <p:cNvPr id="891" name="Google Shape;891;p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848F96"/>
              </a:buClr>
              <a:buSzPts val="2800"/>
              <a:buChar char="•"/>
            </a:pPr>
            <a:r>
              <a:rPr lang="es-ES" b="0" i="0">
                <a:solidFill>
                  <a:srgbClr val="848F96"/>
                </a:solidFill>
                <a:latin typeface="Roboto"/>
                <a:ea typeface="Roboto"/>
                <a:cs typeface="Roboto"/>
                <a:sym typeface="Roboto"/>
              </a:rPr>
              <a:t>UpnP (5000)</a:t>
            </a:r>
            <a:endParaRPr/>
          </a:p>
          <a:p>
            <a:pPr marL="228600" lvl="0" indent="-228600" algn="l" rtl="0">
              <a:lnSpc>
                <a:spcPct val="90000"/>
              </a:lnSpc>
              <a:spcBef>
                <a:spcPts val="1000"/>
              </a:spcBef>
              <a:spcAft>
                <a:spcPts val="0"/>
              </a:spcAft>
              <a:buClr>
                <a:srgbClr val="848F96"/>
              </a:buClr>
              <a:buSzPts val="2800"/>
              <a:buChar char="•"/>
            </a:pPr>
            <a:r>
              <a:rPr lang="es-ES" b="0" i="0">
                <a:solidFill>
                  <a:srgbClr val="848F96"/>
                </a:solidFill>
                <a:latin typeface="Roboto"/>
                <a:ea typeface="Roboto"/>
                <a:cs typeface="Roboto"/>
                <a:sym typeface="Roboto"/>
              </a:rPr>
              <a:t>Universal Plug and Play (UPnP) es un conjunto de protocolos de comunicación que permite descubrir de manera transparente la presencia de otros dispositivos en la red y establecer servicios de red de comunicación, compartición de datos y entretenimiento. Su puerto es el 5000.</a:t>
            </a:r>
            <a:endParaRPr/>
          </a:p>
          <a:p>
            <a:pPr marL="228600" lvl="0" indent="-50800" algn="l" rtl="0">
              <a:lnSpc>
                <a:spcPct val="90000"/>
              </a:lnSpc>
              <a:spcBef>
                <a:spcPts val="1000"/>
              </a:spcBef>
              <a:spcAft>
                <a:spcPts val="0"/>
              </a:spcAft>
              <a:buClr>
                <a:schemeClr val="dk1"/>
              </a:buClr>
              <a:buSzPts val="2800"/>
              <a:buNone/>
            </a:pPr>
            <a:endParaRPr/>
          </a:p>
        </p:txBody>
      </p:sp>
      <p:pic>
        <p:nvPicPr>
          <p:cNvPr id="892" name="Google Shape;892;p97"/>
          <p:cNvPicPr preferRelativeResize="0"/>
          <p:nvPr/>
        </p:nvPicPr>
        <p:blipFill rotWithShape="1">
          <a:blip r:embed="rId3">
            <a:alphaModFix/>
          </a:blip>
          <a:srcRect/>
          <a:stretch/>
        </p:blipFill>
        <p:spPr>
          <a:xfrm>
            <a:off x="10284594" y="0"/>
            <a:ext cx="1817370" cy="181737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pic>
        <p:nvPicPr>
          <p:cNvPr id="897" name="Google Shape;897;p98" descr="Ciberseguridad en las empresas | Quality Devs"/>
          <p:cNvPicPr preferRelativeResize="0"/>
          <p:nvPr/>
        </p:nvPicPr>
        <p:blipFill rotWithShape="1">
          <a:blip r:embed="rId3">
            <a:alphaModFix/>
          </a:blip>
          <a:srcRect/>
          <a:stretch/>
        </p:blipFill>
        <p:spPr>
          <a:xfrm>
            <a:off x="0" y="0"/>
            <a:ext cx="12246429" cy="6858000"/>
          </a:xfrm>
          <a:prstGeom prst="rect">
            <a:avLst/>
          </a:prstGeom>
          <a:noFill/>
          <a:ln>
            <a:noFill/>
          </a:ln>
        </p:spPr>
      </p:pic>
      <p:sp>
        <p:nvSpPr>
          <p:cNvPr id="898" name="Google Shape;898;p98"/>
          <p:cNvSpPr txBox="1">
            <a:spLocks noGrp="1"/>
          </p:cNvSpPr>
          <p:nvPr>
            <p:ph type="title"/>
          </p:nvPr>
        </p:nvSpPr>
        <p:spPr>
          <a:xfrm>
            <a:off x="941832" y="-18256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alibri"/>
              <a:buNone/>
            </a:pPr>
            <a:r>
              <a:rPr lang="es-ES" sz="4800" b="1">
                <a:solidFill>
                  <a:schemeClr val="lt1"/>
                </a:solidFill>
              </a:rPr>
              <a:t>Tema 4: patrones de ataque</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9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TIPOS DE ATAQUES</a:t>
            </a:r>
            <a:endParaRPr/>
          </a:p>
        </p:txBody>
      </p:sp>
      <p:sp>
        <p:nvSpPr>
          <p:cNvPr id="904" name="Google Shape;904;p99"/>
          <p:cNvSpPr txBox="1">
            <a:spLocks noGrp="1"/>
          </p:cNvSpPr>
          <p:nvPr>
            <p:ph type="body" idx="1"/>
          </p:nvPr>
        </p:nvSpPr>
        <p:spPr>
          <a:xfrm>
            <a:off x="838200" y="1825625"/>
            <a:ext cx="10515600" cy="11461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s-ES"/>
              <a:t>SUPLANTACION DE IDENTIDAD ARP.</a:t>
            </a:r>
            <a:endParaRPr/>
          </a:p>
          <a:p>
            <a:pPr marL="228600" lvl="0" indent="-228600" algn="l" rtl="0">
              <a:lnSpc>
                <a:spcPct val="90000"/>
              </a:lnSpc>
              <a:spcBef>
                <a:spcPts val="1000"/>
              </a:spcBef>
              <a:spcAft>
                <a:spcPts val="0"/>
              </a:spcAft>
              <a:buClr>
                <a:schemeClr val="dk1"/>
              </a:buClr>
              <a:buSzPts val="2800"/>
              <a:buChar char="•"/>
            </a:pPr>
            <a:r>
              <a:rPr lang="es-ES"/>
              <a:t>DENEGACION DE SERVICIOS.</a:t>
            </a:r>
            <a:endParaRPr/>
          </a:p>
          <a:p>
            <a:pPr marL="228600" lvl="0" indent="-50800" algn="l" rtl="0">
              <a:lnSpc>
                <a:spcPct val="90000"/>
              </a:lnSpc>
              <a:spcBef>
                <a:spcPts val="1000"/>
              </a:spcBef>
              <a:spcAft>
                <a:spcPts val="0"/>
              </a:spcAft>
              <a:buClr>
                <a:schemeClr val="dk1"/>
              </a:buClr>
              <a:buSzPts val="2800"/>
              <a:buNone/>
            </a:pPr>
            <a:endParaRPr/>
          </a:p>
        </p:txBody>
      </p:sp>
      <p:pic>
        <p:nvPicPr>
          <p:cNvPr id="905" name="Google Shape;905;p99" descr="Star Wars: El Imperio en Guerra fondos de pantalla | Star Wars: El Imperio  en Guerra fotos gratis"/>
          <p:cNvPicPr preferRelativeResize="0"/>
          <p:nvPr/>
        </p:nvPicPr>
        <p:blipFill rotWithShape="1">
          <a:blip r:embed="rId3">
            <a:alphaModFix/>
          </a:blip>
          <a:srcRect/>
          <a:stretch/>
        </p:blipFill>
        <p:spPr>
          <a:xfrm>
            <a:off x="6481763" y="1440242"/>
            <a:ext cx="5310187" cy="397751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100"/>
          <p:cNvSpPr txBox="1">
            <a:spLocks noGrp="1"/>
          </p:cNvSpPr>
          <p:nvPr>
            <p:ph type="title"/>
          </p:nvPr>
        </p:nvSpPr>
        <p:spPr>
          <a:xfrm>
            <a:off x="838200" y="42862"/>
            <a:ext cx="10515600" cy="6381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Calibri"/>
              <a:buNone/>
            </a:pPr>
            <a:r>
              <a:rPr lang="es-ES" sz="2800"/>
              <a:t>4.1 SUPLANTACION DE IDENTIDAD ARP</a:t>
            </a:r>
            <a:endParaRPr/>
          </a:p>
        </p:txBody>
      </p:sp>
      <p:sp>
        <p:nvSpPr>
          <p:cNvPr id="911" name="Google Shape;911;p100"/>
          <p:cNvSpPr txBox="1">
            <a:spLocks noGrp="1"/>
          </p:cNvSpPr>
          <p:nvPr>
            <p:ph type="body" idx="1"/>
          </p:nvPr>
        </p:nvSpPr>
        <p:spPr>
          <a:xfrm>
            <a:off x="711200" y="796925"/>
            <a:ext cx="9017000" cy="1463675"/>
          </a:xfrm>
          <a:prstGeom prst="rect">
            <a:avLst/>
          </a:prstGeom>
          <a:no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rgbClr val="4D5156"/>
              </a:buClr>
              <a:buSzPts val="2380"/>
              <a:buChar char="•"/>
            </a:pPr>
            <a:r>
              <a:rPr lang="es-ES" sz="2380" b="0" i="0">
                <a:solidFill>
                  <a:srgbClr val="4D5156"/>
                </a:solidFill>
                <a:latin typeface="arial"/>
                <a:ea typeface="arial"/>
                <a:cs typeface="arial"/>
                <a:sym typeface="arial"/>
              </a:rPr>
              <a:t>La suplantación de ARP es enviar mensajes ARP falsos a la Ethernet. Normalmente la finalidad es asociar la dirección MAC del atacante con la dirección IP de otro nodo, como por ejemplo la puerta de enlace predeterminada.</a:t>
            </a:r>
            <a:endParaRPr sz="2380"/>
          </a:p>
        </p:txBody>
      </p:sp>
      <p:sp>
        <p:nvSpPr>
          <p:cNvPr id="912" name="Google Shape;912;p100"/>
          <p:cNvSpPr txBox="1"/>
          <p:nvPr/>
        </p:nvSpPr>
        <p:spPr>
          <a:xfrm>
            <a:off x="469900" y="2889241"/>
            <a:ext cx="11480800"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i="0">
                <a:solidFill>
                  <a:srgbClr val="292929"/>
                </a:solidFill>
                <a:latin typeface="Calibri"/>
                <a:ea typeface="Calibri"/>
                <a:cs typeface="Calibri"/>
                <a:sym typeface="Calibri"/>
              </a:rPr>
              <a:t>De denegación de servicio ataques (Denial-of-service attacks):</a:t>
            </a:r>
            <a:r>
              <a:rPr lang="es-ES" sz="2400" b="0" i="0">
                <a:solidFill>
                  <a:srgbClr val="292929"/>
                </a:solidFill>
                <a:latin typeface="Calibri"/>
                <a:ea typeface="Calibri"/>
                <a:cs typeface="Calibri"/>
                <a:sym typeface="Calibri"/>
              </a:rPr>
              <a:t> ataques DoS utilizan ARP Spoofing para enlazar varias direcciones IP en una LAN con la dirección MAC de un solo objetivo. Debido a esto, el tráfico que está destinada a diferentes direcciones IP será redirigido a la dirección MAC del destino, sobrecargando así el objetivo con el tráfico.</a:t>
            </a:r>
            <a:endParaRPr/>
          </a:p>
          <a:p>
            <a:pPr marL="0" marR="0" lvl="0" indent="0" algn="l" rtl="0">
              <a:spcBef>
                <a:spcPts val="0"/>
              </a:spcBef>
              <a:spcAft>
                <a:spcPts val="0"/>
              </a:spcAft>
              <a:buNone/>
            </a:pPr>
            <a:r>
              <a:rPr lang="es-ES" sz="2400" b="1" i="0">
                <a:solidFill>
                  <a:srgbClr val="292929"/>
                </a:solidFill>
                <a:latin typeface="Calibri"/>
                <a:ea typeface="Calibri"/>
                <a:cs typeface="Calibri"/>
                <a:sym typeface="Calibri"/>
              </a:rPr>
              <a:t>Secuestro de sesiones (Session hijacking)</a:t>
            </a:r>
            <a:r>
              <a:rPr lang="es-ES" sz="2400" b="0" i="0">
                <a:solidFill>
                  <a:srgbClr val="292929"/>
                </a:solidFill>
                <a:latin typeface="Calibri"/>
                <a:ea typeface="Calibri"/>
                <a:cs typeface="Calibri"/>
                <a:sym typeface="Calibri"/>
              </a:rPr>
              <a:t>: ataques de secuestro de sesión pueden hacer uso de ARP Spoofing para robar los identificadores de sesión, garantizando así el acceso a los atacantes y los sistemas privados de datos.</a:t>
            </a:r>
            <a:endParaRPr/>
          </a:p>
          <a:p>
            <a:pPr marL="0" marR="0" lvl="0" indent="0" algn="l" rtl="0">
              <a:spcBef>
                <a:spcPts val="0"/>
              </a:spcBef>
              <a:spcAft>
                <a:spcPts val="0"/>
              </a:spcAft>
              <a:buNone/>
            </a:pPr>
            <a:r>
              <a:rPr lang="es-ES" sz="2400" b="1" i="0">
                <a:solidFill>
                  <a:srgbClr val="292929"/>
                </a:solidFill>
                <a:latin typeface="Calibri"/>
                <a:ea typeface="Calibri"/>
                <a:cs typeface="Calibri"/>
                <a:sym typeface="Calibri"/>
              </a:rPr>
              <a:t>Ataques tipo Hombre en el Medio (Man-in-the-middle Attacks):</a:t>
            </a:r>
            <a:r>
              <a:rPr lang="es-ES" sz="2400" b="0" i="0">
                <a:solidFill>
                  <a:srgbClr val="292929"/>
                </a:solidFill>
                <a:latin typeface="Calibri"/>
                <a:ea typeface="Calibri"/>
                <a:cs typeface="Calibri"/>
                <a:sym typeface="Calibri"/>
              </a:rPr>
              <a:t> Los ataques MITM pueden utilizar ARP Spoofing para interceptar y/o modificar el tráfico entre dos víctimas.</a:t>
            </a:r>
            <a:endParaRPr/>
          </a:p>
        </p:txBody>
      </p:sp>
      <p:pic>
        <p:nvPicPr>
          <p:cNvPr id="913" name="Google Shape;913;p100" descr="Gran Guerra Galáctica | Star Wars Wiki | Fandom"/>
          <p:cNvPicPr preferRelativeResize="0"/>
          <p:nvPr/>
        </p:nvPicPr>
        <p:blipFill rotWithShape="1">
          <a:blip r:embed="rId3">
            <a:alphaModFix/>
          </a:blip>
          <a:srcRect/>
          <a:stretch/>
        </p:blipFill>
        <p:spPr>
          <a:xfrm>
            <a:off x="9771941" y="657211"/>
            <a:ext cx="2420059" cy="1304934"/>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101"/>
          <p:cNvSpPr txBox="1">
            <a:spLocks noGrp="1"/>
          </p:cNvSpPr>
          <p:nvPr>
            <p:ph type="title"/>
          </p:nvPr>
        </p:nvSpPr>
        <p:spPr>
          <a:xfrm>
            <a:off x="3721101" y="-24181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Calibri"/>
              <a:buNone/>
            </a:pPr>
            <a:r>
              <a:rPr lang="es-ES" sz="3200"/>
              <a:t>ATAQUE Y PREVENCION</a:t>
            </a:r>
            <a:endParaRPr/>
          </a:p>
        </p:txBody>
      </p:sp>
      <p:sp>
        <p:nvSpPr>
          <p:cNvPr id="919" name="Google Shape;919;p101"/>
          <p:cNvSpPr txBox="1"/>
          <p:nvPr/>
        </p:nvSpPr>
        <p:spPr>
          <a:xfrm>
            <a:off x="5188016" y="606692"/>
            <a:ext cx="1405289" cy="523220"/>
          </a:xfrm>
          <a:prstGeom prst="rect">
            <a:avLst/>
          </a:prstGeom>
          <a:solidFill>
            <a:srgbClr val="C00000"/>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800"/>
              <a:buFont typeface="Calibri"/>
              <a:buNone/>
            </a:pPr>
            <a:r>
              <a:rPr lang="es-ES" sz="2800" b="1" i="0">
                <a:solidFill>
                  <a:schemeClr val="lt1"/>
                </a:solidFill>
                <a:latin typeface="Calibri"/>
                <a:ea typeface="Calibri"/>
                <a:cs typeface="Calibri"/>
                <a:sym typeface="Calibri"/>
              </a:rPr>
              <a:t>ATAQUE</a:t>
            </a:r>
            <a:endParaRPr/>
          </a:p>
        </p:txBody>
      </p:sp>
      <p:sp>
        <p:nvSpPr>
          <p:cNvPr id="920" name="Google Shape;920;p101"/>
          <p:cNvSpPr txBox="1"/>
          <p:nvPr/>
        </p:nvSpPr>
        <p:spPr>
          <a:xfrm>
            <a:off x="201024" y="1164134"/>
            <a:ext cx="11789952" cy="5693866"/>
          </a:xfrm>
          <a:prstGeom prst="rect">
            <a:avLst/>
          </a:prstGeom>
          <a:solidFill>
            <a:srgbClr val="C00000"/>
          </a:solidFill>
          <a:ln>
            <a:noFill/>
          </a:ln>
        </p:spPr>
        <p:txBody>
          <a:bodyPr spcFirstLastPara="1" wrap="square" lIns="91425" tIns="45700" rIns="91425" bIns="45700" anchor="t" anchorCtr="0">
            <a:spAutoFit/>
          </a:bodyPr>
          <a:lstStyle/>
          <a:p>
            <a:pPr marL="0" marR="0" lvl="0" indent="-177800" algn="l" rtl="0">
              <a:spcBef>
                <a:spcPts val="0"/>
              </a:spcBef>
              <a:spcAft>
                <a:spcPts val="0"/>
              </a:spcAft>
              <a:buClr>
                <a:schemeClr val="lt1"/>
              </a:buClr>
              <a:buSzPts val="2800"/>
              <a:buFont typeface="Calibri"/>
              <a:buAutoNum type="arabicPeriod"/>
            </a:pPr>
            <a:r>
              <a:rPr lang="es-ES" sz="2800" b="1" i="0">
                <a:solidFill>
                  <a:schemeClr val="lt1"/>
                </a:solidFill>
                <a:latin typeface="Calibri"/>
                <a:ea typeface="Calibri"/>
                <a:cs typeface="Calibri"/>
                <a:sym typeface="Calibri"/>
              </a:rPr>
              <a:t>- Primero el atacante abre una herramienta ARP Spoofing, y establece la dirección IP de la herramienta para que coincida con la IP de un objetivo. Algunos de los populares software de suplantación ARP incluyen arpspoof, Arpoison, Cain &amp; Abel y Ettercap.</a:t>
            </a:r>
            <a:endParaRPr/>
          </a:p>
          <a:p>
            <a:pPr marL="0" marR="0" lvl="0" indent="-177800" algn="l" rtl="0">
              <a:spcBef>
                <a:spcPts val="0"/>
              </a:spcBef>
              <a:spcAft>
                <a:spcPts val="0"/>
              </a:spcAft>
              <a:buClr>
                <a:schemeClr val="lt1"/>
              </a:buClr>
              <a:buSzPts val="2800"/>
              <a:buFont typeface="Calibri"/>
              <a:buAutoNum type="arabicPeriod"/>
            </a:pPr>
            <a:r>
              <a:rPr lang="es-ES" sz="2800" b="1" i="0">
                <a:solidFill>
                  <a:schemeClr val="lt1"/>
                </a:solidFill>
                <a:latin typeface="Calibri"/>
                <a:ea typeface="Calibri"/>
                <a:cs typeface="Calibri"/>
                <a:sym typeface="Calibri"/>
              </a:rPr>
              <a:t>El atacante hace uso de la herramienta de ARP Spoofing y escanea las direcciones MAC e IP de los hosts de la subred del objetivo.</a:t>
            </a:r>
            <a:endParaRPr/>
          </a:p>
          <a:p>
            <a:pPr marL="0" marR="0" lvl="0" indent="-177800" algn="l" rtl="0">
              <a:spcBef>
                <a:spcPts val="0"/>
              </a:spcBef>
              <a:spcAft>
                <a:spcPts val="0"/>
              </a:spcAft>
              <a:buClr>
                <a:schemeClr val="lt1"/>
              </a:buClr>
              <a:buSzPts val="2800"/>
              <a:buFont typeface="Calibri"/>
              <a:buAutoNum type="arabicPeriod"/>
            </a:pPr>
            <a:r>
              <a:rPr lang="es-ES" sz="2800" b="1" i="0">
                <a:solidFill>
                  <a:schemeClr val="lt1"/>
                </a:solidFill>
                <a:latin typeface="Calibri"/>
                <a:ea typeface="Calibri"/>
                <a:cs typeface="Calibri"/>
                <a:sym typeface="Calibri"/>
              </a:rPr>
              <a:t>El atacante elige su destino y comienza a enviar paquetes ARP través de la LAN. Estos paquetes contienen la dirección MAC del atacante y la dirección IP de la víctima.</a:t>
            </a:r>
            <a:endParaRPr/>
          </a:p>
          <a:p>
            <a:pPr marL="0" marR="0" lvl="0" indent="-177800" algn="l" rtl="0">
              <a:spcBef>
                <a:spcPts val="0"/>
              </a:spcBef>
              <a:spcAft>
                <a:spcPts val="0"/>
              </a:spcAft>
              <a:buClr>
                <a:schemeClr val="lt1"/>
              </a:buClr>
              <a:buSzPts val="2800"/>
              <a:buFont typeface="Calibri"/>
              <a:buAutoNum type="arabicPeriod"/>
            </a:pPr>
            <a:r>
              <a:rPr lang="es-ES" sz="2800" b="1" i="0">
                <a:solidFill>
                  <a:schemeClr val="lt1"/>
                </a:solidFill>
                <a:latin typeface="Calibri"/>
                <a:ea typeface="Calibri"/>
                <a:cs typeface="Calibri"/>
                <a:sym typeface="Calibri"/>
              </a:rPr>
              <a:t>Como otras computadoras de la red los paquetes ARP de suplantación imitan el cache, los datos que los hosts envían a la víctima, una vez falseados se redireccionan al atacante. A partir de aquí, el atacante puede robar datos o lanzar un ataque más sofisticado de seguimiento.</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pic>
        <p:nvPicPr>
          <p:cNvPr id="925" name="Google Shape;925;p102" descr="Suplantacion de identidad (ARP-DNS SPOOFING) | &quot;los indestructibles&quot;"/>
          <p:cNvPicPr preferRelativeResize="0"/>
          <p:nvPr/>
        </p:nvPicPr>
        <p:blipFill rotWithShape="1">
          <a:blip r:embed="rId3">
            <a:alphaModFix/>
          </a:blip>
          <a:srcRect/>
          <a:stretch/>
        </p:blipFill>
        <p:spPr>
          <a:xfrm>
            <a:off x="1933575" y="1314450"/>
            <a:ext cx="8324850" cy="42291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103"/>
          <p:cNvSpPr txBox="1"/>
          <p:nvPr/>
        </p:nvSpPr>
        <p:spPr>
          <a:xfrm>
            <a:off x="279133" y="991402"/>
            <a:ext cx="11709741" cy="5663398"/>
          </a:xfrm>
          <a:prstGeom prst="rect">
            <a:avLst/>
          </a:prstGeom>
          <a:solidFill>
            <a:srgbClr val="E1EFD8"/>
          </a:solid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292929"/>
              </a:buClr>
              <a:buSzPts val="2400"/>
              <a:buFont typeface="Arial"/>
              <a:buChar char="•"/>
            </a:pPr>
            <a:r>
              <a:rPr lang="es-ES" sz="2400" b="1">
                <a:solidFill>
                  <a:srgbClr val="292929"/>
                </a:solidFill>
                <a:latin typeface="Calibri"/>
                <a:ea typeface="Calibri"/>
                <a:cs typeface="Calibri"/>
                <a:sym typeface="Calibri"/>
              </a:rPr>
              <a:t>El filtrado de paquetes:</a:t>
            </a:r>
            <a:r>
              <a:rPr lang="es-ES" sz="2400">
                <a:solidFill>
                  <a:srgbClr val="292929"/>
                </a:solidFill>
                <a:latin typeface="Calibri"/>
                <a:ea typeface="Calibri"/>
                <a:cs typeface="Calibri"/>
                <a:sym typeface="Calibri"/>
              </a:rPr>
              <a:t> Los filtros de paquetes inspeccionan los paquetes que se transmiten a través de una red. Los filtros de paquetes son útiles en la prevención ARP Spoofing, ya que son capaces de filtrar y bloquear los paquetes con información de la dirección fuente de conflicto (</a:t>
            </a:r>
            <a:r>
              <a:rPr lang="es-ES" sz="2400" i="1">
                <a:solidFill>
                  <a:srgbClr val="292929"/>
                </a:solidFill>
                <a:latin typeface="Calibri"/>
                <a:ea typeface="Calibri"/>
                <a:cs typeface="Calibri"/>
                <a:sym typeface="Calibri"/>
              </a:rPr>
              <a:t>paquetes desde fuera de la red que muestran las direcciones de origen desde el interior de la red y viceversa</a:t>
            </a:r>
            <a:r>
              <a:rPr lang="es-ES" sz="2400">
                <a:solidFill>
                  <a:srgbClr val="292929"/>
                </a:solidFill>
                <a:latin typeface="Calibri"/>
                <a:ea typeface="Calibri"/>
                <a:cs typeface="Calibri"/>
                <a:sym typeface="Calibri"/>
              </a:rPr>
              <a:t>).</a:t>
            </a:r>
            <a:endParaRPr/>
          </a:p>
          <a:p>
            <a:pPr marL="0" marR="0" lvl="0" indent="0" algn="l" rtl="0">
              <a:lnSpc>
                <a:spcPct val="90000"/>
              </a:lnSpc>
              <a:spcBef>
                <a:spcPts val="1000"/>
              </a:spcBef>
              <a:spcAft>
                <a:spcPts val="0"/>
              </a:spcAft>
              <a:buClr>
                <a:schemeClr val="dk1"/>
              </a:buClr>
              <a:buSzPts val="2400"/>
              <a:buFont typeface="Arial"/>
              <a:buNone/>
            </a:pPr>
            <a:endParaRPr sz="2400">
              <a:solidFill>
                <a:srgbClr val="292929"/>
              </a:solidFill>
              <a:latin typeface="Calibri"/>
              <a:ea typeface="Calibri"/>
              <a:cs typeface="Calibri"/>
              <a:sym typeface="Calibri"/>
            </a:endParaRPr>
          </a:p>
          <a:p>
            <a:pPr marL="228600" marR="0" lvl="0" indent="-228600" algn="l" rtl="0">
              <a:lnSpc>
                <a:spcPct val="90000"/>
              </a:lnSpc>
              <a:spcBef>
                <a:spcPts val="1000"/>
              </a:spcBef>
              <a:spcAft>
                <a:spcPts val="0"/>
              </a:spcAft>
              <a:buClr>
                <a:srgbClr val="292929"/>
              </a:buClr>
              <a:buSzPts val="2400"/>
              <a:buFont typeface="Arial"/>
              <a:buChar char="•"/>
            </a:pPr>
            <a:r>
              <a:rPr lang="es-ES" sz="2400" b="1">
                <a:solidFill>
                  <a:srgbClr val="292929"/>
                </a:solidFill>
                <a:latin typeface="Calibri"/>
                <a:ea typeface="Calibri"/>
                <a:cs typeface="Calibri"/>
                <a:sym typeface="Calibri"/>
              </a:rPr>
              <a:t>Utilice software de detección de ARP Spoofing: </a:t>
            </a:r>
            <a:r>
              <a:rPr lang="es-ES" sz="2400">
                <a:solidFill>
                  <a:srgbClr val="292929"/>
                </a:solidFill>
                <a:latin typeface="Calibri"/>
                <a:ea typeface="Calibri"/>
                <a:cs typeface="Calibri"/>
                <a:sym typeface="Calibri"/>
              </a:rPr>
              <a:t>Hay muchos programas disponibles que ayudarán a las organizaciones a detectar ARP ataques de suplantación. Estos programas funcionan básicamente mediante la inspección y la certificación de los datos antes de su transmisión y el bloqueo de los datos, que parece ser falsa.</a:t>
            </a:r>
            <a:br>
              <a:rPr lang="es-ES" sz="2400">
                <a:solidFill>
                  <a:srgbClr val="292929"/>
                </a:solidFill>
                <a:latin typeface="Calibri"/>
                <a:ea typeface="Calibri"/>
                <a:cs typeface="Calibri"/>
                <a:sym typeface="Calibri"/>
              </a:rPr>
            </a:br>
            <a:endParaRPr sz="2400">
              <a:solidFill>
                <a:srgbClr val="292929"/>
              </a:solidFill>
              <a:latin typeface="Calibri"/>
              <a:ea typeface="Calibri"/>
              <a:cs typeface="Calibri"/>
              <a:sym typeface="Calibri"/>
            </a:endParaRPr>
          </a:p>
          <a:p>
            <a:pPr marL="228600" marR="0" lvl="0" indent="-228600" algn="l" rtl="0">
              <a:lnSpc>
                <a:spcPct val="90000"/>
              </a:lnSpc>
              <a:spcBef>
                <a:spcPts val="1000"/>
              </a:spcBef>
              <a:spcAft>
                <a:spcPts val="0"/>
              </a:spcAft>
              <a:buClr>
                <a:srgbClr val="292929"/>
              </a:buClr>
              <a:buSzPts val="2400"/>
              <a:buFont typeface="Arial"/>
              <a:buChar char="•"/>
            </a:pPr>
            <a:r>
              <a:rPr lang="es-ES" sz="2400" b="1">
                <a:solidFill>
                  <a:srgbClr val="292929"/>
                </a:solidFill>
                <a:latin typeface="Calibri"/>
                <a:ea typeface="Calibri"/>
                <a:cs typeface="Calibri"/>
                <a:sym typeface="Calibri"/>
              </a:rPr>
              <a:t>Utilizar protocolos de red criptográficos:</a:t>
            </a:r>
            <a:r>
              <a:rPr lang="es-ES" sz="2400">
                <a:solidFill>
                  <a:srgbClr val="292929"/>
                </a:solidFill>
                <a:latin typeface="Calibri"/>
                <a:ea typeface="Calibri"/>
                <a:cs typeface="Calibri"/>
                <a:sym typeface="Calibri"/>
              </a:rPr>
              <a:t> Transport Layer Security (TLS), Secure Shell (SSH), HTTP seguro (HTTPS) y otros protocolos de comunicaciones seguras refuerzan la prevención de ataques ARP Spoofing mediante el cifrado de los datos antes de la transmisión de datos y mediante la autenticación cuando se reciben.</a:t>
            </a:r>
            <a:endParaRPr/>
          </a:p>
          <a:p>
            <a:pPr marL="228600" marR="0" lvl="0" indent="-76200" algn="l" rtl="0">
              <a:lnSpc>
                <a:spcPct val="90000"/>
              </a:lnSpc>
              <a:spcBef>
                <a:spcPts val="100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
        <p:nvSpPr>
          <p:cNvPr id="931" name="Google Shape;931;p103"/>
          <p:cNvSpPr txBox="1"/>
          <p:nvPr/>
        </p:nvSpPr>
        <p:spPr>
          <a:xfrm>
            <a:off x="4629289" y="314073"/>
            <a:ext cx="1778051" cy="461665"/>
          </a:xfrm>
          <a:prstGeom prst="rect">
            <a:avLst/>
          </a:prstGeom>
          <a:solidFill>
            <a:srgbClr val="E1EFD8"/>
          </a:solidFill>
          <a:ln>
            <a:noFill/>
          </a:ln>
        </p:spPr>
        <p:txBody>
          <a:bodyPr spcFirstLastPara="1" wrap="square" lIns="91425" tIns="45700" rIns="91425" bIns="45700" anchor="t" anchorCtr="0">
            <a:normAutofit fontScale="92500"/>
          </a:bodyPr>
          <a:lstStyle/>
          <a:p>
            <a:pPr marL="0" marR="0" lvl="0" indent="0" algn="l" rtl="0">
              <a:lnSpc>
                <a:spcPct val="90000"/>
              </a:lnSpc>
              <a:spcBef>
                <a:spcPts val="0"/>
              </a:spcBef>
              <a:spcAft>
                <a:spcPts val="0"/>
              </a:spcAft>
              <a:buClr>
                <a:srgbClr val="292929"/>
              </a:buClr>
              <a:buSzPts val="2400"/>
              <a:buFont typeface="Arial"/>
              <a:buNone/>
            </a:pPr>
            <a:r>
              <a:rPr lang="es-ES" sz="2400" b="1">
                <a:solidFill>
                  <a:srgbClr val="292929"/>
                </a:solidFill>
                <a:latin typeface="Calibri"/>
                <a:ea typeface="Calibri"/>
                <a:cs typeface="Calibri"/>
                <a:sym typeface="Calibri"/>
              </a:rPr>
              <a:t>PREVENCIÓN</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04"/>
          <p:cNvSpPr txBox="1">
            <a:spLocks noGrp="1"/>
          </p:cNvSpPr>
          <p:nvPr>
            <p:ph type="title"/>
          </p:nvPr>
        </p:nvSpPr>
        <p:spPr>
          <a:xfrm>
            <a:off x="939800" y="212726"/>
            <a:ext cx="10515600" cy="3159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Calibri"/>
              <a:buNone/>
            </a:pPr>
            <a:r>
              <a:rPr lang="es-ES" sz="2800"/>
              <a:t>4.2 ATAQUE DE DENEGACION DE SERVICIOS</a:t>
            </a:r>
            <a:br>
              <a:rPr lang="es-ES" sz="2800"/>
            </a:br>
            <a:endParaRPr sz="2800"/>
          </a:p>
        </p:txBody>
      </p:sp>
      <p:sp>
        <p:nvSpPr>
          <p:cNvPr id="937" name="Google Shape;937;p104"/>
          <p:cNvSpPr txBox="1"/>
          <p:nvPr/>
        </p:nvSpPr>
        <p:spPr>
          <a:xfrm>
            <a:off x="4058814" y="550885"/>
            <a:ext cx="3083131" cy="523220"/>
          </a:xfrm>
          <a:prstGeom prst="rect">
            <a:avLst/>
          </a:prstGeom>
          <a:solidFill>
            <a:srgbClr val="C00000"/>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800"/>
              <a:buFont typeface="Calibri"/>
              <a:buNone/>
            </a:pPr>
            <a:r>
              <a:rPr lang="es-ES" sz="2800" b="1" i="0">
                <a:solidFill>
                  <a:schemeClr val="lt1"/>
                </a:solidFill>
                <a:latin typeface="Calibri"/>
                <a:ea typeface="Calibri"/>
                <a:cs typeface="Calibri"/>
                <a:sym typeface="Calibri"/>
              </a:rPr>
              <a:t>PATRON DE ATAQUE</a:t>
            </a:r>
            <a:endParaRPr/>
          </a:p>
        </p:txBody>
      </p:sp>
      <p:sp>
        <p:nvSpPr>
          <p:cNvPr id="938" name="Google Shape;938;p104"/>
          <p:cNvSpPr txBox="1"/>
          <p:nvPr/>
        </p:nvSpPr>
        <p:spPr>
          <a:xfrm>
            <a:off x="194579" y="1363614"/>
            <a:ext cx="11634870" cy="5262979"/>
          </a:xfrm>
          <a:prstGeom prst="rect">
            <a:avLst/>
          </a:prstGeom>
          <a:solidFill>
            <a:srgbClr val="C00000"/>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800"/>
              <a:buFont typeface="Calibri"/>
              <a:buNone/>
            </a:pPr>
            <a:r>
              <a:rPr lang="es-ES" sz="2800" b="1" i="0">
                <a:solidFill>
                  <a:schemeClr val="lt1"/>
                </a:solidFill>
                <a:latin typeface="Calibri"/>
                <a:ea typeface="Calibri"/>
                <a:cs typeface="Calibri"/>
                <a:sym typeface="Calibri"/>
              </a:rPr>
              <a:t>En informática se denomina denegación de servicio (denial of service, DoS) a la no disponibilidad de un servicio. Este tipo de bloqueos suelen ser los efectos colaterales de una sobrecarga de componentes de la infraestructura informática. Si este problema tiene una causa intencionada externa, se habla de un ataque de denegación de servicio o DoS. </a:t>
            </a:r>
            <a:endParaRPr/>
          </a:p>
          <a:p>
            <a:pPr marL="0" marR="0" lvl="0" indent="0" algn="l" rtl="0">
              <a:spcBef>
                <a:spcPts val="0"/>
              </a:spcBef>
              <a:spcAft>
                <a:spcPts val="0"/>
              </a:spcAft>
              <a:buClr>
                <a:schemeClr val="lt1"/>
              </a:buClr>
              <a:buSzPts val="2800"/>
              <a:buFont typeface="Calibri"/>
              <a:buNone/>
            </a:pPr>
            <a:endParaRPr sz="2800" b="1" i="0">
              <a:solidFill>
                <a:schemeClr val="lt1"/>
              </a:solidFill>
              <a:latin typeface="Calibri"/>
              <a:ea typeface="Calibri"/>
              <a:cs typeface="Calibri"/>
              <a:sym typeface="Calibri"/>
            </a:endParaRPr>
          </a:p>
          <a:p>
            <a:pPr marL="0" marR="0" lvl="0" indent="0" algn="l" rtl="0">
              <a:spcBef>
                <a:spcPts val="0"/>
              </a:spcBef>
              <a:spcAft>
                <a:spcPts val="0"/>
              </a:spcAft>
              <a:buClr>
                <a:schemeClr val="lt1"/>
              </a:buClr>
              <a:buSzPts val="2800"/>
              <a:buFont typeface="Calibri"/>
              <a:buNone/>
            </a:pPr>
            <a:r>
              <a:rPr lang="es-ES" sz="2800" b="1" i="0">
                <a:solidFill>
                  <a:schemeClr val="lt1"/>
                </a:solidFill>
                <a:latin typeface="Calibri"/>
                <a:ea typeface="Calibri"/>
                <a:cs typeface="Calibri"/>
                <a:sym typeface="Calibri"/>
              </a:rPr>
              <a:t>Aquí, el atacante dirige a un sistema más solicitudes de las que puede contestar. De esta forma, puede lograrse que los dispositivos de red, los sistemas operativos y los servidores no sean capaces de responder a las solicitudes regulares o lo hagan solo con retraso. Este ataque resulta especialmente efectivo cuando un sistema se enfrenta a las solicitudes de varios ordenadores. Estos ataques DDoS, a diferencia de los ataques DoS, se basan en extensas redes de bots o botnets.</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pic>
        <p:nvPicPr>
          <p:cNvPr id="943" name="Google Shape;943;p105" descr="Qué son los ataques DoS y DDoS? | Oficina de Seguridad del Internauta"/>
          <p:cNvPicPr preferRelativeResize="0"/>
          <p:nvPr/>
        </p:nvPicPr>
        <p:blipFill rotWithShape="1">
          <a:blip r:embed="rId3">
            <a:alphaModFix/>
          </a:blip>
          <a:srcRect/>
          <a:stretch/>
        </p:blipFill>
        <p:spPr>
          <a:xfrm>
            <a:off x="1301566" y="135489"/>
            <a:ext cx="9305474" cy="6587021"/>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106"/>
          <p:cNvSpPr txBox="1"/>
          <p:nvPr/>
        </p:nvSpPr>
        <p:spPr>
          <a:xfrm>
            <a:off x="4575844" y="261595"/>
            <a:ext cx="2694584" cy="523220"/>
          </a:xfrm>
          <a:prstGeom prst="rect">
            <a:avLst/>
          </a:prstGeom>
          <a:solidFill>
            <a:srgbClr val="C00000"/>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800"/>
              <a:buFont typeface="Calibri"/>
              <a:buNone/>
            </a:pPr>
            <a:r>
              <a:rPr lang="es-ES" sz="2800" b="1" i="0">
                <a:solidFill>
                  <a:schemeClr val="lt1"/>
                </a:solidFill>
                <a:latin typeface="Calibri"/>
                <a:ea typeface="Calibri"/>
                <a:cs typeface="Calibri"/>
                <a:sym typeface="Calibri"/>
              </a:rPr>
              <a:t>TIPOS DE ATAQUE</a:t>
            </a:r>
            <a:endParaRPr/>
          </a:p>
        </p:txBody>
      </p:sp>
      <p:grpSp>
        <p:nvGrpSpPr>
          <p:cNvPr id="949" name="Google Shape;949;p106"/>
          <p:cNvGrpSpPr/>
          <p:nvPr/>
        </p:nvGrpSpPr>
        <p:grpSpPr>
          <a:xfrm>
            <a:off x="3017182" y="1068702"/>
            <a:ext cx="6157635" cy="5413613"/>
            <a:chOff x="985182" y="2526"/>
            <a:chExt cx="6157635" cy="5413613"/>
          </a:xfrm>
        </p:grpSpPr>
        <p:sp>
          <p:nvSpPr>
            <p:cNvPr id="950" name="Google Shape;950;p106"/>
            <p:cNvSpPr/>
            <p:nvPr/>
          </p:nvSpPr>
          <p:spPr>
            <a:xfrm rot="10800000">
              <a:off x="1737697" y="2526"/>
              <a:ext cx="5405120" cy="1505029"/>
            </a:xfrm>
            <a:prstGeom prst="homePlate">
              <a:avLst>
                <a:gd name="adj" fmla="val 5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06"/>
            <p:cNvSpPr txBox="1"/>
            <p:nvPr/>
          </p:nvSpPr>
          <p:spPr>
            <a:xfrm>
              <a:off x="2113954" y="2526"/>
              <a:ext cx="5028863" cy="1505029"/>
            </a:xfrm>
            <a:prstGeom prst="rect">
              <a:avLst/>
            </a:prstGeom>
            <a:noFill/>
            <a:ln>
              <a:noFill/>
            </a:ln>
          </p:spPr>
          <p:txBody>
            <a:bodyPr spcFirstLastPara="1" wrap="square" lIns="663675" tIns="114300" rIns="213350" bIns="114300" anchor="ctr" anchorCtr="0">
              <a:noAutofit/>
            </a:bodyPr>
            <a:lstStyle/>
            <a:p>
              <a:pPr marL="0" marR="0" lvl="0" indent="0" algn="ctr" rtl="0">
                <a:lnSpc>
                  <a:spcPct val="90000"/>
                </a:lnSpc>
                <a:spcBef>
                  <a:spcPts val="0"/>
                </a:spcBef>
                <a:spcAft>
                  <a:spcPts val="0"/>
                </a:spcAft>
                <a:buClr>
                  <a:schemeClr val="lt1"/>
                </a:buClr>
                <a:buSzPts val="3000"/>
                <a:buFont typeface="Calibri"/>
                <a:buNone/>
              </a:pPr>
              <a:r>
                <a:rPr lang="es-ES" sz="3000">
                  <a:solidFill>
                    <a:schemeClr val="lt1"/>
                  </a:solidFill>
                  <a:latin typeface="Calibri"/>
                  <a:ea typeface="Calibri"/>
                  <a:cs typeface="Calibri"/>
                  <a:sym typeface="Calibri"/>
                </a:rPr>
                <a:t>Sobrecarga del ancho de banda,</a:t>
              </a:r>
              <a:endParaRPr/>
            </a:p>
          </p:txBody>
        </p:sp>
        <p:sp>
          <p:nvSpPr>
            <p:cNvPr id="952" name="Google Shape;952;p106"/>
            <p:cNvSpPr/>
            <p:nvPr/>
          </p:nvSpPr>
          <p:spPr>
            <a:xfrm>
              <a:off x="985182" y="2526"/>
              <a:ext cx="1505029" cy="1505029"/>
            </a:xfrm>
            <a:prstGeom prst="ellipse">
              <a:avLst/>
            </a:prstGeom>
            <a:blipFill rotWithShape="1">
              <a:blip r:embed="rId3">
                <a:alphaModFix/>
              </a:blip>
              <a:stretch>
                <a:fillRect l="-38998" r="-38997"/>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06"/>
            <p:cNvSpPr/>
            <p:nvPr/>
          </p:nvSpPr>
          <p:spPr>
            <a:xfrm rot="10800000">
              <a:off x="1737697" y="1956818"/>
              <a:ext cx="5405120" cy="1505029"/>
            </a:xfrm>
            <a:prstGeom prst="homePlate">
              <a:avLst>
                <a:gd name="adj" fmla="val 5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06"/>
            <p:cNvSpPr txBox="1"/>
            <p:nvPr/>
          </p:nvSpPr>
          <p:spPr>
            <a:xfrm>
              <a:off x="2113954" y="1956818"/>
              <a:ext cx="5028863" cy="1505029"/>
            </a:xfrm>
            <a:prstGeom prst="rect">
              <a:avLst/>
            </a:prstGeom>
            <a:noFill/>
            <a:ln>
              <a:noFill/>
            </a:ln>
          </p:spPr>
          <p:txBody>
            <a:bodyPr spcFirstLastPara="1" wrap="square" lIns="663675" tIns="114300" rIns="213350" bIns="114300" anchor="ctr" anchorCtr="0">
              <a:noAutofit/>
            </a:bodyPr>
            <a:lstStyle/>
            <a:p>
              <a:pPr marL="0" marR="0" lvl="0" indent="0" algn="ctr" rtl="0">
                <a:lnSpc>
                  <a:spcPct val="90000"/>
                </a:lnSpc>
                <a:spcBef>
                  <a:spcPts val="0"/>
                </a:spcBef>
                <a:spcAft>
                  <a:spcPts val="0"/>
                </a:spcAft>
                <a:buClr>
                  <a:schemeClr val="lt1"/>
                </a:buClr>
                <a:buSzPts val="3000"/>
                <a:buFont typeface="Calibri"/>
                <a:buNone/>
              </a:pPr>
              <a:r>
                <a:rPr lang="es-ES" sz="3000">
                  <a:solidFill>
                    <a:schemeClr val="lt1"/>
                  </a:solidFill>
                  <a:latin typeface="Calibri"/>
                  <a:ea typeface="Calibri"/>
                  <a:cs typeface="Calibri"/>
                  <a:sym typeface="Calibri"/>
                </a:rPr>
                <a:t>Saturación de los recursos del sistema,</a:t>
              </a:r>
              <a:endParaRPr/>
            </a:p>
          </p:txBody>
        </p:sp>
        <p:sp>
          <p:nvSpPr>
            <p:cNvPr id="955" name="Google Shape;955;p106"/>
            <p:cNvSpPr/>
            <p:nvPr/>
          </p:nvSpPr>
          <p:spPr>
            <a:xfrm>
              <a:off x="985182" y="1956818"/>
              <a:ext cx="1505029" cy="1505029"/>
            </a:xfrm>
            <a:prstGeom prst="ellipse">
              <a:avLst/>
            </a:prstGeom>
            <a:blipFill rotWithShape="1">
              <a:blip r:embed="rId3">
                <a:alphaModFix/>
              </a:blip>
              <a:stretch>
                <a:fillRect l="-38998" r="-38997"/>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06"/>
            <p:cNvSpPr/>
            <p:nvPr/>
          </p:nvSpPr>
          <p:spPr>
            <a:xfrm rot="10800000">
              <a:off x="1737697" y="3911110"/>
              <a:ext cx="5405120" cy="1505029"/>
            </a:xfrm>
            <a:prstGeom prst="homePlate">
              <a:avLst>
                <a:gd name="adj" fmla="val 5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06"/>
            <p:cNvSpPr txBox="1"/>
            <p:nvPr/>
          </p:nvSpPr>
          <p:spPr>
            <a:xfrm>
              <a:off x="2113954" y="3911110"/>
              <a:ext cx="5028863" cy="1505029"/>
            </a:xfrm>
            <a:prstGeom prst="rect">
              <a:avLst/>
            </a:prstGeom>
            <a:noFill/>
            <a:ln>
              <a:noFill/>
            </a:ln>
          </p:spPr>
          <p:txBody>
            <a:bodyPr spcFirstLastPara="1" wrap="square" lIns="663675" tIns="114300" rIns="213350" bIns="114300" anchor="ctr" anchorCtr="0">
              <a:noAutofit/>
            </a:bodyPr>
            <a:lstStyle/>
            <a:p>
              <a:pPr marL="0" marR="0" lvl="0" indent="0" algn="ctr" rtl="0">
                <a:lnSpc>
                  <a:spcPct val="90000"/>
                </a:lnSpc>
                <a:spcBef>
                  <a:spcPts val="0"/>
                </a:spcBef>
                <a:spcAft>
                  <a:spcPts val="0"/>
                </a:spcAft>
                <a:buClr>
                  <a:schemeClr val="lt1"/>
                </a:buClr>
                <a:buSzPts val="3000"/>
                <a:buFont typeface="Calibri"/>
                <a:buNone/>
              </a:pPr>
              <a:r>
                <a:rPr lang="es-ES" sz="3000">
                  <a:solidFill>
                    <a:schemeClr val="lt1"/>
                  </a:solidFill>
                  <a:latin typeface="Calibri"/>
                  <a:ea typeface="Calibri"/>
                  <a:cs typeface="Calibri"/>
                  <a:sym typeface="Calibri"/>
                </a:rPr>
                <a:t>Explotación de defectos del software y vulnerabilidades</a:t>
              </a:r>
              <a:endParaRPr/>
            </a:p>
          </p:txBody>
        </p:sp>
        <p:sp>
          <p:nvSpPr>
            <p:cNvPr id="958" name="Google Shape;958;p106"/>
            <p:cNvSpPr/>
            <p:nvPr/>
          </p:nvSpPr>
          <p:spPr>
            <a:xfrm>
              <a:off x="985182" y="3911110"/>
              <a:ext cx="1505029" cy="1505029"/>
            </a:xfrm>
            <a:prstGeom prst="ellipse">
              <a:avLst/>
            </a:prstGeom>
            <a:blipFill rotWithShape="1">
              <a:blip r:embed="rId3">
                <a:alphaModFix/>
              </a:blip>
              <a:stretch>
                <a:fillRect l="-38998" r="-38997"/>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107"/>
          <p:cNvSpPr txBox="1"/>
          <p:nvPr/>
        </p:nvSpPr>
        <p:spPr>
          <a:xfrm>
            <a:off x="5193158" y="116686"/>
            <a:ext cx="2008883" cy="424732"/>
          </a:xfrm>
          <a:prstGeom prst="rect">
            <a:avLst/>
          </a:prstGeom>
          <a:solidFill>
            <a:srgbClr val="E1EFD8"/>
          </a:solid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292929"/>
              </a:buClr>
              <a:buSzPts val="2400"/>
              <a:buFont typeface="Arial"/>
              <a:buNone/>
            </a:pPr>
            <a:r>
              <a:rPr lang="es-ES" sz="2400" b="1">
                <a:solidFill>
                  <a:srgbClr val="292929"/>
                </a:solidFill>
                <a:latin typeface="Calibri"/>
                <a:ea typeface="Calibri"/>
                <a:cs typeface="Calibri"/>
                <a:sym typeface="Calibri"/>
              </a:rPr>
              <a:t>PREVENCIÓN</a:t>
            </a:r>
            <a:endParaRPr/>
          </a:p>
        </p:txBody>
      </p:sp>
      <p:sp>
        <p:nvSpPr>
          <p:cNvPr id="965" name="Google Shape;965;p107"/>
          <p:cNvSpPr txBox="1"/>
          <p:nvPr/>
        </p:nvSpPr>
        <p:spPr>
          <a:xfrm>
            <a:off x="182880" y="683394"/>
            <a:ext cx="11863977" cy="6057920"/>
          </a:xfrm>
          <a:prstGeom prst="rect">
            <a:avLst/>
          </a:prstGeom>
          <a:solidFill>
            <a:srgbClr val="E1EFD8"/>
          </a:solid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292929"/>
              </a:buClr>
              <a:buSzPts val="2000"/>
              <a:buFont typeface="Arial"/>
              <a:buChar char="•"/>
            </a:pPr>
            <a:r>
              <a:rPr lang="es-ES" sz="2000" b="1">
                <a:solidFill>
                  <a:srgbClr val="292929"/>
                </a:solidFill>
                <a:latin typeface="Calibri"/>
                <a:ea typeface="Calibri"/>
                <a:cs typeface="Calibri"/>
                <a:sym typeface="Calibri"/>
              </a:rPr>
              <a:t>Se han desarrollado diferentes medidas para contrarrestar la sobrecarga causada por ataques DoS y DDoS. Es fundamental identificar las direcciones IP críticas, así como posibles vulnerabilidades del sistema. También es necesario disponer de recursos de hardware y software que permitan bloquear ataques leves.</a:t>
            </a:r>
            <a:endParaRPr/>
          </a:p>
          <a:p>
            <a:pPr marL="228600" marR="0" lvl="0" indent="-228600" algn="l" rtl="0">
              <a:lnSpc>
                <a:spcPct val="90000"/>
              </a:lnSpc>
              <a:spcBef>
                <a:spcPts val="1000"/>
              </a:spcBef>
              <a:spcAft>
                <a:spcPts val="0"/>
              </a:spcAft>
              <a:buClr>
                <a:srgbClr val="292929"/>
              </a:buClr>
              <a:buSzPts val="2400"/>
              <a:buFont typeface="Arial"/>
              <a:buChar char="•"/>
            </a:pPr>
            <a:r>
              <a:rPr lang="es-ES" sz="2400" b="1">
                <a:solidFill>
                  <a:srgbClr val="292929"/>
                </a:solidFill>
                <a:latin typeface="Calibri"/>
                <a:ea typeface="Calibri"/>
                <a:cs typeface="Calibri"/>
                <a:sym typeface="Calibri"/>
              </a:rPr>
              <a:t>Lista de IP bloqueadas</a:t>
            </a:r>
            <a:r>
              <a:rPr lang="es-ES" sz="2000" b="1">
                <a:solidFill>
                  <a:srgbClr val="292929"/>
                </a:solidFill>
                <a:latin typeface="Calibri"/>
                <a:ea typeface="Calibri"/>
                <a:cs typeface="Calibri"/>
                <a:sym typeface="Calibri"/>
              </a:rPr>
              <a:t>: las listas negras permiten la identificación de las direcciones IP críticas y el descarte de paquetes. Esta medida de seguridad puede ser implementada de forma manual o automática a través de las listas de bloqueo del </a:t>
            </a:r>
            <a:r>
              <a:rPr lang="es-ES" sz="2000" b="1" u="sng">
                <a:solidFill>
                  <a:srgbClr val="292929"/>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cortafuegos</a:t>
            </a:r>
            <a:r>
              <a:rPr lang="es-ES" sz="2000" b="1">
                <a:solidFill>
                  <a:srgbClr val="292929"/>
                </a:solidFill>
                <a:latin typeface="Calibri"/>
                <a:ea typeface="Calibri"/>
                <a:cs typeface="Calibri"/>
                <a:sym typeface="Calibri"/>
              </a:rPr>
              <a:t>.</a:t>
            </a:r>
            <a:br>
              <a:rPr lang="es-ES" sz="2000" b="1">
                <a:solidFill>
                  <a:srgbClr val="292929"/>
                </a:solidFill>
                <a:latin typeface="Calibri"/>
                <a:ea typeface="Calibri"/>
                <a:cs typeface="Calibri"/>
                <a:sym typeface="Calibri"/>
              </a:rPr>
            </a:br>
            <a:r>
              <a:rPr lang="es-ES" sz="2000" b="1">
                <a:solidFill>
                  <a:srgbClr val="292929"/>
                </a:solidFill>
                <a:latin typeface="Calibri"/>
                <a:ea typeface="Calibri"/>
                <a:cs typeface="Calibri"/>
                <a:sym typeface="Calibri"/>
              </a:rPr>
              <a:t> </a:t>
            </a:r>
            <a:endParaRPr/>
          </a:p>
          <a:p>
            <a:pPr marL="228600" marR="0" lvl="0" indent="-228600" algn="l" rtl="0">
              <a:lnSpc>
                <a:spcPct val="90000"/>
              </a:lnSpc>
              <a:spcBef>
                <a:spcPts val="1000"/>
              </a:spcBef>
              <a:spcAft>
                <a:spcPts val="0"/>
              </a:spcAft>
              <a:buClr>
                <a:srgbClr val="292929"/>
              </a:buClr>
              <a:buSzPts val="2400"/>
              <a:buFont typeface="Arial"/>
              <a:buChar char="•"/>
            </a:pPr>
            <a:r>
              <a:rPr lang="es-ES" sz="2400" b="1">
                <a:solidFill>
                  <a:srgbClr val="292929"/>
                </a:solidFill>
                <a:latin typeface="Calibri"/>
                <a:ea typeface="Calibri"/>
                <a:cs typeface="Calibri"/>
                <a:sym typeface="Calibri"/>
              </a:rPr>
              <a:t>Filtros:</a:t>
            </a:r>
            <a:r>
              <a:rPr lang="es-ES" sz="2000" b="1">
                <a:solidFill>
                  <a:srgbClr val="292929"/>
                </a:solidFill>
                <a:latin typeface="Calibri"/>
                <a:ea typeface="Calibri"/>
                <a:cs typeface="Calibri"/>
                <a:sym typeface="Calibri"/>
              </a:rPr>
              <a:t> es posible definir límites en la cantidad de datos procesados simultáneamente para filtrar, así, todo tipo de paquetes anormales. En este punto es importante considerar que, muchas veces, los proxys permiten que muchos clientes se conecten desde una misma dirección IP del servidor, lo que puede generar su bloqueo sin razón aparente.</a:t>
            </a:r>
            <a:br>
              <a:rPr lang="es-ES" sz="2000" b="1">
                <a:solidFill>
                  <a:srgbClr val="292929"/>
                </a:solidFill>
                <a:latin typeface="Calibri"/>
                <a:ea typeface="Calibri"/>
                <a:cs typeface="Calibri"/>
                <a:sym typeface="Calibri"/>
              </a:rPr>
            </a:br>
            <a:r>
              <a:rPr lang="es-ES" sz="2000" b="1">
                <a:solidFill>
                  <a:srgbClr val="292929"/>
                </a:solidFill>
                <a:latin typeface="Calibri"/>
                <a:ea typeface="Calibri"/>
                <a:cs typeface="Calibri"/>
                <a:sym typeface="Calibri"/>
              </a:rPr>
              <a:t> </a:t>
            </a:r>
            <a:endParaRPr/>
          </a:p>
          <a:p>
            <a:pPr marL="228600" marR="0" lvl="0" indent="-228600" algn="l" rtl="0">
              <a:lnSpc>
                <a:spcPct val="90000"/>
              </a:lnSpc>
              <a:spcBef>
                <a:spcPts val="1000"/>
              </a:spcBef>
              <a:spcAft>
                <a:spcPts val="0"/>
              </a:spcAft>
              <a:buClr>
                <a:srgbClr val="292929"/>
              </a:buClr>
              <a:buSzPts val="2400"/>
              <a:buFont typeface="Arial"/>
              <a:buChar char="•"/>
            </a:pPr>
            <a:r>
              <a:rPr lang="es-ES" sz="2400" b="1" u="sng">
                <a:solidFill>
                  <a:srgbClr val="292929"/>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Balanceo de carga</a:t>
            </a:r>
            <a:r>
              <a:rPr lang="es-ES" sz="2000" b="1">
                <a:solidFill>
                  <a:srgbClr val="292929"/>
                </a:solidFill>
                <a:latin typeface="Calibri"/>
                <a:ea typeface="Calibri"/>
                <a:cs typeface="Calibri"/>
                <a:sym typeface="Calibri"/>
              </a:rPr>
              <a:t>: una medida eficaz contra la sobrecarga es la distribución de la carga en diferentes sistemas. La utilización de balanceadores de carga permite extender los servicios a múltiples máquinas físicas. De esta forma, y hasta cierto punto, se pueden controlar los ataques DoS y DDoS.</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pic>
        <p:nvPicPr>
          <p:cNvPr id="970" name="Google Shape;970;p108" descr="Ciberseguridad en las empresas | Quality Devs"/>
          <p:cNvPicPr preferRelativeResize="0"/>
          <p:nvPr/>
        </p:nvPicPr>
        <p:blipFill rotWithShape="1">
          <a:blip r:embed="rId3">
            <a:alphaModFix/>
          </a:blip>
          <a:srcRect/>
          <a:stretch/>
        </p:blipFill>
        <p:spPr>
          <a:xfrm>
            <a:off x="0" y="0"/>
            <a:ext cx="12246429" cy="6858000"/>
          </a:xfrm>
          <a:prstGeom prst="rect">
            <a:avLst/>
          </a:prstGeom>
          <a:noFill/>
          <a:ln>
            <a:noFill/>
          </a:ln>
        </p:spPr>
      </p:pic>
      <p:sp>
        <p:nvSpPr>
          <p:cNvPr id="971" name="Google Shape;971;p108"/>
          <p:cNvSpPr txBox="1">
            <a:spLocks noGrp="1"/>
          </p:cNvSpPr>
          <p:nvPr>
            <p:ph type="title"/>
          </p:nvPr>
        </p:nvSpPr>
        <p:spPr>
          <a:xfrm>
            <a:off x="941832" y="-18256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alibri"/>
              <a:buNone/>
            </a:pPr>
            <a:r>
              <a:rPr lang="es-ES" sz="4800" b="1">
                <a:solidFill>
                  <a:schemeClr val="lt1"/>
                </a:solidFill>
              </a:rPr>
              <a:t>Tema 5: contramedidas</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10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CRITPOGRAFIA-CIFRADO</a:t>
            </a:r>
            <a:endParaRPr/>
          </a:p>
        </p:txBody>
      </p:sp>
      <p:sp>
        <p:nvSpPr>
          <p:cNvPr id="977" name="Google Shape;977;p109"/>
          <p:cNvSpPr txBox="1">
            <a:spLocks noGrp="1"/>
          </p:cNvSpPr>
          <p:nvPr>
            <p:ph type="body" idx="1"/>
          </p:nvPr>
        </p:nvSpPr>
        <p:spPr>
          <a:xfrm>
            <a:off x="576262" y="1495425"/>
            <a:ext cx="11039475" cy="4900613"/>
          </a:xfrm>
          <a:prstGeom prst="rect">
            <a:avLst/>
          </a:prstGeom>
          <a:noFill/>
          <a:ln>
            <a:noFill/>
          </a:ln>
        </p:spPr>
        <p:txBody>
          <a:bodyPr spcFirstLastPara="1" wrap="square" lIns="91425" tIns="45700" rIns="91425" bIns="45700" anchor="t" anchorCtr="0">
            <a:normAutofit/>
          </a:bodyPr>
          <a:lstStyle/>
          <a:p>
            <a:pPr marL="228600" lvl="0" indent="-228600" algn="l" rtl="0">
              <a:lnSpc>
                <a:spcPct val="107000"/>
              </a:lnSpc>
              <a:spcBef>
                <a:spcPts val="0"/>
              </a:spcBef>
              <a:spcAft>
                <a:spcPts val="0"/>
              </a:spcAft>
              <a:buClr>
                <a:srgbClr val="4D5156"/>
              </a:buClr>
              <a:buSzPts val="2000"/>
              <a:buChar char="•"/>
            </a:pPr>
            <a:r>
              <a:rPr lang="es-ES" sz="2000" b="0" i="0">
                <a:solidFill>
                  <a:srgbClr val="4D5156"/>
                </a:solidFill>
                <a:latin typeface="Calibri"/>
                <a:ea typeface="Calibri"/>
                <a:cs typeface="Calibri"/>
                <a:sym typeface="Calibri"/>
              </a:rPr>
              <a:t>La criptografía se ha definido, tradicionalmente, como el ámbito de la criptología que se ocupa de las técnicas de cifrado o codificado destinadas a alterar las representaciones lingüísticas de ciertos mensajes con el fin de hacerlos ininteligibles a receptores no autorizados </a:t>
            </a:r>
            <a:endParaRPr/>
          </a:p>
          <a:p>
            <a:pPr marL="228600" lvl="0" indent="-228600" algn="l" rtl="0">
              <a:lnSpc>
                <a:spcPct val="107000"/>
              </a:lnSpc>
              <a:spcBef>
                <a:spcPts val="1800"/>
              </a:spcBef>
              <a:spcAft>
                <a:spcPts val="0"/>
              </a:spcAft>
              <a:buClr>
                <a:srgbClr val="003245"/>
              </a:buClr>
              <a:buSzPts val="2000"/>
              <a:buChar char="•"/>
            </a:pPr>
            <a:r>
              <a:rPr lang="es-ES" sz="2000">
                <a:solidFill>
                  <a:srgbClr val="003245"/>
                </a:solidFill>
                <a:latin typeface="Calibri"/>
                <a:ea typeface="Calibri"/>
                <a:cs typeface="Calibri"/>
                <a:sym typeface="Calibri"/>
              </a:rPr>
              <a:t>Con un sistema de </a:t>
            </a:r>
            <a:r>
              <a:rPr lang="es-ES" sz="2000" b="1">
                <a:solidFill>
                  <a:srgbClr val="003245"/>
                </a:solidFill>
                <a:latin typeface="Calibri"/>
                <a:ea typeface="Calibri"/>
                <a:cs typeface="Calibri"/>
                <a:sym typeface="Calibri"/>
              </a:rPr>
              <a:t>cifrado de clave pública</a:t>
            </a:r>
            <a:r>
              <a:rPr lang="es-ES" sz="2000">
                <a:solidFill>
                  <a:srgbClr val="003245"/>
                </a:solidFill>
                <a:latin typeface="Calibri"/>
                <a:ea typeface="Calibri"/>
                <a:cs typeface="Calibri"/>
                <a:sym typeface="Calibri"/>
              </a:rPr>
              <a:t> cada usuario crea </a:t>
            </a:r>
            <a:r>
              <a:rPr lang="es-ES" sz="2000" b="1">
                <a:solidFill>
                  <a:srgbClr val="003245"/>
                </a:solidFill>
                <a:latin typeface="Calibri"/>
                <a:ea typeface="Calibri"/>
                <a:cs typeface="Calibri"/>
                <a:sym typeface="Calibri"/>
              </a:rPr>
              <a:t>un par de claves</a:t>
            </a:r>
            <a:r>
              <a:rPr lang="es-ES" sz="2000">
                <a:solidFill>
                  <a:srgbClr val="003245"/>
                </a:solidFill>
                <a:latin typeface="Calibri"/>
                <a:ea typeface="Calibri"/>
                <a:cs typeface="Calibri"/>
                <a:sym typeface="Calibri"/>
              </a:rPr>
              <a:t>, una privada y otra pública. Lo que se cifra en emisión con una clave, se descifra en recepción con la clave inversa o complementaria. El sistema de clave pública es asimétrico, frente al sistema simétrico de clave secreta. Si alguien desea enviar un mensaje, buscará la clave pública de a quien desea enviárselo, y lo cifrará con dicha clave. Esta clave, conocida por todos, no permite desencriptar el mensaje. La única forma de desencriptarlo es utilizando la clave privada del receptor, la cual es conocida únicamente por él. Para que estos sistemas sean seguros, ha de resultar muy difícil calcular una clave a partir de la otra.</a:t>
            </a:r>
            <a:endParaRPr sz="2000">
              <a:latin typeface="Calibri"/>
              <a:ea typeface="Calibri"/>
              <a:cs typeface="Calibri"/>
              <a:sym typeface="Calibri"/>
            </a:endParaRPr>
          </a:p>
          <a:p>
            <a:pPr marL="228600" lvl="0" indent="-228600" algn="l" rtl="0">
              <a:lnSpc>
                <a:spcPct val="107000"/>
              </a:lnSpc>
              <a:spcBef>
                <a:spcPts val="1800"/>
              </a:spcBef>
              <a:spcAft>
                <a:spcPts val="0"/>
              </a:spcAft>
              <a:buClr>
                <a:srgbClr val="003245"/>
              </a:buClr>
              <a:buSzPts val="2000"/>
              <a:buChar char="•"/>
            </a:pPr>
            <a:r>
              <a:rPr lang="es-ES" sz="2000">
                <a:solidFill>
                  <a:srgbClr val="003245"/>
                </a:solidFill>
                <a:latin typeface="Calibri"/>
                <a:ea typeface="Calibri"/>
                <a:cs typeface="Calibri"/>
                <a:sym typeface="Calibri"/>
              </a:rPr>
              <a:t> </a:t>
            </a:r>
            <a:endParaRPr sz="2000">
              <a:latin typeface="Calibri"/>
              <a:ea typeface="Calibri"/>
              <a:cs typeface="Calibri"/>
              <a:sym typeface="Calibri"/>
            </a:endParaRPr>
          </a:p>
          <a:p>
            <a:pPr marL="228600" lvl="0" indent="-50800" algn="l" rtl="0">
              <a:lnSpc>
                <a:spcPct val="90000"/>
              </a:lnSpc>
              <a:spcBef>
                <a:spcPts val="2200"/>
              </a:spcBef>
              <a:spcAft>
                <a:spcPts val="0"/>
              </a:spcAft>
              <a:buClr>
                <a:schemeClr val="dk1"/>
              </a:buClr>
              <a:buSzPts val="2800"/>
              <a:buNone/>
            </a:pPr>
            <a:endParaRPr/>
          </a:p>
        </p:txBody>
      </p:sp>
      <p:pic>
        <p:nvPicPr>
          <p:cNvPr id="978" name="Google Shape;978;p109" descr="Enigma (máquina) - Wikipedia, la enciclopedia libre"/>
          <p:cNvPicPr preferRelativeResize="0"/>
          <p:nvPr/>
        </p:nvPicPr>
        <p:blipFill rotWithShape="1">
          <a:blip r:embed="rId3">
            <a:alphaModFix/>
          </a:blip>
          <a:srcRect/>
          <a:stretch/>
        </p:blipFill>
        <p:spPr>
          <a:xfrm>
            <a:off x="10501162" y="4915394"/>
            <a:ext cx="1566161" cy="171185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1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TIPOS DE CIFRADO</a:t>
            </a:r>
            <a:endParaRPr/>
          </a:p>
        </p:txBody>
      </p:sp>
      <p:sp>
        <p:nvSpPr>
          <p:cNvPr id="984" name="Google Shape;984;p110"/>
          <p:cNvSpPr txBox="1">
            <a:spLocks noGrp="1"/>
          </p:cNvSpPr>
          <p:nvPr>
            <p:ph type="body" idx="1"/>
          </p:nvPr>
        </p:nvSpPr>
        <p:spPr>
          <a:xfrm>
            <a:off x="587943" y="144061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02124"/>
              </a:buClr>
              <a:buSzPts val="2800"/>
              <a:buChar char="•"/>
            </a:pPr>
            <a:r>
              <a:rPr lang="es-ES" b="0" i="0">
                <a:solidFill>
                  <a:srgbClr val="202124"/>
                </a:solidFill>
                <a:latin typeface="arial"/>
                <a:ea typeface="arial"/>
                <a:cs typeface="arial"/>
                <a:sym typeface="arial"/>
              </a:rPr>
              <a:t>Los dos </a:t>
            </a:r>
            <a:r>
              <a:rPr lang="es-ES" b="1" i="0">
                <a:solidFill>
                  <a:srgbClr val="202124"/>
                </a:solidFill>
                <a:latin typeface="arial"/>
                <a:ea typeface="arial"/>
                <a:cs typeface="arial"/>
                <a:sym typeface="arial"/>
              </a:rPr>
              <a:t>tipos</a:t>
            </a:r>
            <a:r>
              <a:rPr lang="es-ES" b="0" i="0">
                <a:solidFill>
                  <a:srgbClr val="202124"/>
                </a:solidFill>
                <a:latin typeface="arial"/>
                <a:ea typeface="arial"/>
                <a:cs typeface="arial"/>
                <a:sym typeface="arial"/>
              </a:rPr>
              <a:t> principales de </a:t>
            </a:r>
            <a:r>
              <a:rPr lang="es-ES" b="1" i="0">
                <a:solidFill>
                  <a:srgbClr val="202124"/>
                </a:solidFill>
                <a:latin typeface="arial"/>
                <a:ea typeface="arial"/>
                <a:cs typeface="arial"/>
                <a:sym typeface="arial"/>
              </a:rPr>
              <a:t>cifrado</a:t>
            </a:r>
            <a:r>
              <a:rPr lang="es-ES" b="0" i="0">
                <a:solidFill>
                  <a:srgbClr val="202124"/>
                </a:solidFill>
                <a:latin typeface="arial"/>
                <a:ea typeface="arial"/>
                <a:cs typeface="arial"/>
                <a:sym typeface="arial"/>
              </a:rPr>
              <a:t> son el </a:t>
            </a:r>
            <a:r>
              <a:rPr lang="es-ES" b="1" i="0">
                <a:solidFill>
                  <a:srgbClr val="202124"/>
                </a:solidFill>
                <a:latin typeface="arial"/>
                <a:ea typeface="arial"/>
                <a:cs typeface="arial"/>
                <a:sym typeface="arial"/>
              </a:rPr>
              <a:t>cifrado</a:t>
            </a:r>
            <a:r>
              <a:rPr lang="es-ES" b="0" i="0">
                <a:solidFill>
                  <a:srgbClr val="202124"/>
                </a:solidFill>
                <a:latin typeface="arial"/>
                <a:ea typeface="arial"/>
                <a:cs typeface="arial"/>
                <a:sym typeface="arial"/>
              </a:rPr>
              <a:t> simétrico y el </a:t>
            </a:r>
            <a:r>
              <a:rPr lang="es-ES" b="1" i="0">
                <a:solidFill>
                  <a:srgbClr val="202124"/>
                </a:solidFill>
                <a:latin typeface="arial"/>
                <a:ea typeface="arial"/>
                <a:cs typeface="arial"/>
                <a:sym typeface="arial"/>
              </a:rPr>
              <a:t>cifrado</a:t>
            </a:r>
            <a:r>
              <a:rPr lang="es-ES" b="0" i="0">
                <a:solidFill>
                  <a:srgbClr val="202124"/>
                </a:solidFill>
                <a:latin typeface="arial"/>
                <a:ea typeface="arial"/>
                <a:cs typeface="arial"/>
                <a:sym typeface="arial"/>
              </a:rPr>
              <a:t> asimétrico. - Criptografía simétrica: utiliza la misma clave para </a:t>
            </a:r>
            <a:r>
              <a:rPr lang="es-ES" b="1" i="0">
                <a:solidFill>
                  <a:srgbClr val="202124"/>
                </a:solidFill>
                <a:latin typeface="arial"/>
                <a:ea typeface="arial"/>
                <a:cs typeface="arial"/>
                <a:sym typeface="arial"/>
              </a:rPr>
              <a:t>cifrar</a:t>
            </a:r>
            <a:r>
              <a:rPr lang="es-ES" b="0" i="0">
                <a:solidFill>
                  <a:srgbClr val="202124"/>
                </a:solidFill>
                <a:latin typeface="arial"/>
                <a:ea typeface="arial"/>
                <a:cs typeface="arial"/>
                <a:sym typeface="arial"/>
              </a:rPr>
              <a:t> y descifrar el mensaje, que tienen que conocer, previamente, tanto el emisor como el receptor. - Criptografía asimétrica: se basa en el uso de dos claves</a:t>
            </a:r>
            <a:endParaRPr/>
          </a:p>
        </p:txBody>
      </p:sp>
      <p:pic>
        <p:nvPicPr>
          <p:cNvPr id="985" name="Google Shape;985;p110"/>
          <p:cNvPicPr preferRelativeResize="0"/>
          <p:nvPr/>
        </p:nvPicPr>
        <p:blipFill rotWithShape="1">
          <a:blip r:embed="rId3">
            <a:alphaModFix/>
          </a:blip>
          <a:srcRect/>
          <a:stretch/>
        </p:blipFill>
        <p:spPr>
          <a:xfrm>
            <a:off x="2703696" y="3616284"/>
            <a:ext cx="6515100" cy="2657475"/>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111"/>
          <p:cNvSpPr txBox="1">
            <a:spLocks noGrp="1"/>
          </p:cNvSpPr>
          <p:nvPr>
            <p:ph type="title"/>
          </p:nvPr>
        </p:nvSpPr>
        <p:spPr>
          <a:xfrm>
            <a:off x="942975" y="36096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SEGURIDAD PERIMETRAL</a:t>
            </a:r>
            <a:endParaRPr/>
          </a:p>
        </p:txBody>
      </p:sp>
      <p:sp>
        <p:nvSpPr>
          <p:cNvPr id="991" name="Google Shape;991;p111"/>
          <p:cNvSpPr txBox="1">
            <a:spLocks noGrp="1"/>
          </p:cNvSpPr>
          <p:nvPr>
            <p:ph type="body" idx="1"/>
          </p:nvPr>
        </p:nvSpPr>
        <p:spPr>
          <a:xfrm>
            <a:off x="733425" y="1343818"/>
            <a:ext cx="5924550" cy="44862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3245"/>
              </a:buClr>
              <a:buSzPts val="3000"/>
              <a:buChar char="•"/>
            </a:pPr>
            <a:r>
              <a:rPr lang="es-ES" sz="3000">
                <a:solidFill>
                  <a:srgbClr val="003245"/>
                </a:solidFill>
                <a:latin typeface="Calibri"/>
                <a:ea typeface="Calibri"/>
                <a:cs typeface="Calibri"/>
                <a:sym typeface="Calibri"/>
              </a:rPr>
              <a:t>Pero antes debemos definir nuestros </a:t>
            </a:r>
            <a:r>
              <a:rPr lang="es-ES" sz="3000" b="1">
                <a:solidFill>
                  <a:srgbClr val="003245"/>
                </a:solidFill>
                <a:latin typeface="Calibri"/>
                <a:ea typeface="Calibri"/>
                <a:cs typeface="Calibri"/>
                <a:sym typeface="Calibri"/>
              </a:rPr>
              <a:t>dominios</a:t>
            </a:r>
            <a:r>
              <a:rPr lang="es-ES" sz="3000">
                <a:solidFill>
                  <a:srgbClr val="003245"/>
                </a:solidFill>
                <a:latin typeface="Calibri"/>
                <a:ea typeface="Calibri"/>
                <a:cs typeface="Calibri"/>
                <a:sym typeface="Calibri"/>
              </a:rPr>
              <a:t>, dónde empieza y dónde acaba nuestra red, es decir, su perímetro. Hoy en día el perímetro de una red corporativa es cada vez mayor y más difuso debido a la utilización de tecnologías inalámbricas, cloud, virtualización, dispositivos móviles, BYOD, etc., </a:t>
            </a:r>
            <a:endParaRPr/>
          </a:p>
        </p:txBody>
      </p:sp>
      <p:pic>
        <p:nvPicPr>
          <p:cNvPr id="992" name="Google Shape;992;p111" descr="Ciudad Medieval, Aldea, Pared Circundante"/>
          <p:cNvPicPr preferRelativeResize="0"/>
          <p:nvPr/>
        </p:nvPicPr>
        <p:blipFill rotWithShape="1">
          <a:blip r:embed="rId3">
            <a:alphaModFix/>
          </a:blip>
          <a:srcRect/>
          <a:stretch/>
        </p:blipFill>
        <p:spPr>
          <a:xfrm>
            <a:off x="7067920" y="1490662"/>
            <a:ext cx="4285880" cy="3876675"/>
          </a:xfrm>
          <a:prstGeom prst="rect">
            <a:avLst/>
          </a:prstGeom>
          <a:noFill/>
          <a:ln>
            <a:noFill/>
          </a:ln>
        </p:spPr>
      </p:pic>
      <p:sp>
        <p:nvSpPr>
          <p:cNvPr id="993" name="Google Shape;993;p111"/>
          <p:cNvSpPr txBox="1"/>
          <p:nvPr/>
        </p:nvSpPr>
        <p:spPr>
          <a:xfrm>
            <a:off x="200025" y="180459"/>
            <a:ext cx="11258550" cy="52322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s-ES" sz="2800" b="0" i="0" u="none" strike="noStrike" cap="none">
                <a:solidFill>
                  <a:schemeClr val="dk1"/>
                </a:solidFill>
                <a:latin typeface="Calibri"/>
                <a:ea typeface="Calibri"/>
                <a:cs typeface="Calibri"/>
                <a:sym typeface="Calibri"/>
              </a:rPr>
              <a:t>5.1 A nivel de red. (seguridad perimetral y segmentación de redes)</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p112"/>
          <p:cNvSpPr txBox="1">
            <a:spLocks noGrp="1"/>
          </p:cNvSpPr>
          <p:nvPr>
            <p:ph type="title"/>
          </p:nvPr>
        </p:nvSpPr>
        <p:spPr>
          <a:xfrm>
            <a:off x="742950" y="47148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SEGMENTACION DE REDES</a:t>
            </a:r>
            <a:endParaRPr/>
          </a:p>
        </p:txBody>
      </p:sp>
      <p:sp>
        <p:nvSpPr>
          <p:cNvPr id="999" name="Google Shape;999;p112"/>
          <p:cNvSpPr txBox="1">
            <a:spLocks noGrp="1"/>
          </p:cNvSpPr>
          <p:nvPr>
            <p:ph type="body" idx="1"/>
          </p:nvPr>
        </p:nvSpPr>
        <p:spPr>
          <a:xfrm>
            <a:off x="504825" y="16732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3245"/>
              </a:buClr>
              <a:buSzPts val="2800"/>
              <a:buChar char="•"/>
            </a:pPr>
            <a:r>
              <a:rPr lang="es-ES" sz="2800">
                <a:solidFill>
                  <a:srgbClr val="003245"/>
                </a:solidFill>
                <a:latin typeface="Calibri"/>
                <a:ea typeface="Calibri"/>
                <a:cs typeface="Calibri"/>
                <a:sym typeface="Calibri"/>
              </a:rPr>
              <a:t>En este apartado veremos </a:t>
            </a:r>
            <a:r>
              <a:rPr lang="es-ES" sz="2800" b="1">
                <a:solidFill>
                  <a:srgbClr val="003245"/>
                </a:solidFill>
                <a:latin typeface="Calibri"/>
                <a:ea typeface="Calibri"/>
                <a:cs typeface="Calibri"/>
                <a:sym typeface="Calibri"/>
              </a:rPr>
              <a:t>cómo entorpecer lo más posible un ataque una vez tenemos al enemigo dentro de nuestra red, mediante la segmentación de la misma</a:t>
            </a:r>
            <a:r>
              <a:rPr lang="es-ES" sz="2800">
                <a:solidFill>
                  <a:srgbClr val="003245"/>
                </a:solidFill>
                <a:latin typeface="Calibri"/>
                <a:ea typeface="Calibri"/>
                <a:cs typeface="Calibri"/>
                <a:sym typeface="Calibri"/>
              </a:rPr>
              <a:t>. Es como ir poniendo distintos diques en nuestra ciudad para protegernos de una posible inundación, de forma que si una zona queda inundada podamos contener el agua y que no pase a otras zonas, y de esta forma prevenimos la propagación de la amenaza.</a:t>
            </a:r>
            <a:endParaRPr sz="2800">
              <a:latin typeface="Calibri"/>
              <a:ea typeface="Calibri"/>
              <a:cs typeface="Calibri"/>
              <a:sym typeface="Calibri"/>
            </a:endParaRPr>
          </a:p>
          <a:p>
            <a:pPr marL="228600" lvl="0" indent="-228600" algn="l" rtl="0">
              <a:lnSpc>
                <a:spcPct val="90000"/>
              </a:lnSpc>
              <a:spcBef>
                <a:spcPts val="1000"/>
              </a:spcBef>
              <a:spcAft>
                <a:spcPts val="0"/>
              </a:spcAft>
              <a:buClr>
                <a:srgbClr val="003245"/>
              </a:buClr>
              <a:buSzPts val="2800"/>
              <a:buChar char="•"/>
            </a:pPr>
            <a:r>
              <a:rPr lang="es-ES" sz="2800">
                <a:solidFill>
                  <a:srgbClr val="003245"/>
                </a:solidFill>
                <a:latin typeface="Calibri"/>
                <a:ea typeface="Calibri"/>
                <a:cs typeface="Calibri"/>
                <a:sym typeface="Calibri"/>
              </a:rPr>
              <a:t>Las redes tradicionales tenían una arquitectura plana con una única muralla defensiva exterior, La segmentación permite crear sistemas de redes en forma de cebollas, con zonas expuestas y zonas a salvo.</a:t>
            </a:r>
            <a:endParaRPr/>
          </a:p>
          <a:p>
            <a:pPr marL="228600" lvl="0" indent="-50800" algn="l" rtl="0">
              <a:lnSpc>
                <a:spcPct val="90000"/>
              </a:lnSpc>
              <a:spcBef>
                <a:spcPts val="2200"/>
              </a:spcBef>
              <a:spcAft>
                <a:spcPts val="0"/>
              </a:spcAft>
              <a:buClr>
                <a:schemeClr val="dk1"/>
              </a:buClr>
              <a:buSzPts val="2800"/>
              <a:buNone/>
            </a:pPr>
            <a:endParaRPr sz="2800">
              <a:latin typeface="Calibri"/>
              <a:ea typeface="Calibri"/>
              <a:cs typeface="Calibri"/>
              <a:sym typeface="Calibri"/>
            </a:endParaRPr>
          </a:p>
          <a:p>
            <a:pPr marL="228600" lvl="0" indent="-50800" algn="l" rtl="0">
              <a:lnSpc>
                <a:spcPct val="90000"/>
              </a:lnSpc>
              <a:spcBef>
                <a:spcPts val="2200"/>
              </a:spcBef>
              <a:spcAft>
                <a:spcPts val="0"/>
              </a:spcAft>
              <a:buClr>
                <a:schemeClr val="dk1"/>
              </a:buClr>
              <a:buSzPts val="2800"/>
              <a:buNone/>
            </a:pPr>
            <a:endParaRPr/>
          </a:p>
        </p:txBody>
      </p:sp>
      <p:pic>
        <p:nvPicPr>
          <p:cNvPr id="1000" name="Google Shape;1000;p112" descr="Ordenador - Redes - Tutorialspoint"/>
          <p:cNvPicPr preferRelativeResize="0"/>
          <p:nvPr/>
        </p:nvPicPr>
        <p:blipFill rotWithShape="1">
          <a:blip r:embed="rId3">
            <a:alphaModFix/>
          </a:blip>
          <a:srcRect/>
          <a:stretch/>
        </p:blipFill>
        <p:spPr>
          <a:xfrm>
            <a:off x="10325099" y="155254"/>
            <a:ext cx="1704975" cy="1196027"/>
          </a:xfrm>
          <a:prstGeom prst="rect">
            <a:avLst/>
          </a:prstGeom>
          <a:noFill/>
          <a:ln>
            <a:noFill/>
          </a:ln>
        </p:spPr>
      </p:pic>
      <p:sp>
        <p:nvSpPr>
          <p:cNvPr id="1001" name="Google Shape;1001;p112"/>
          <p:cNvSpPr txBox="1"/>
          <p:nvPr/>
        </p:nvSpPr>
        <p:spPr>
          <a:xfrm>
            <a:off x="200025" y="180459"/>
            <a:ext cx="11258550" cy="52322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s-ES" sz="2800" b="0" i="0" u="none" strike="noStrike" cap="none">
                <a:solidFill>
                  <a:schemeClr val="dk1"/>
                </a:solidFill>
                <a:latin typeface="Calibri"/>
                <a:ea typeface="Calibri"/>
                <a:cs typeface="Calibri"/>
                <a:sym typeface="Calibri"/>
              </a:rPr>
              <a:t>5.1 A nivel de red. (seguridad perimetral y segmentación de redes)</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pic>
        <p:nvPicPr>
          <p:cNvPr id="1006" name="Google Shape;1006;p113" descr="Ejemplo de segmentación de redes teniendo en cuenta los procesos de negocio."/>
          <p:cNvPicPr preferRelativeResize="0"/>
          <p:nvPr/>
        </p:nvPicPr>
        <p:blipFill rotWithShape="1">
          <a:blip r:embed="rId3">
            <a:alphaModFix/>
          </a:blip>
          <a:srcRect/>
          <a:stretch/>
        </p:blipFill>
        <p:spPr>
          <a:xfrm>
            <a:off x="1652587" y="0"/>
            <a:ext cx="8886826" cy="6672970"/>
          </a:xfrm>
          <a:prstGeom prst="rect">
            <a:avLst/>
          </a:prstGeom>
          <a:noFill/>
          <a:ln>
            <a:noFill/>
          </a:ln>
        </p:spPr>
      </p:pic>
      <p:sp>
        <p:nvSpPr>
          <p:cNvPr id="1007" name="Google Shape;1007;p113"/>
          <p:cNvSpPr/>
          <p:nvPr/>
        </p:nvSpPr>
        <p:spPr>
          <a:xfrm>
            <a:off x="0" y="8553450"/>
            <a:ext cx="12192000" cy="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3245"/>
              </a:buClr>
              <a:buSzPts val="1200"/>
              <a:buFont typeface="Calibri"/>
              <a:buNone/>
            </a:pPr>
            <a:br>
              <a:rPr lang="es-ES" sz="1200" b="0" i="0" u="none" strike="noStrike" cap="none">
                <a:solidFill>
                  <a:srgbClr val="003245"/>
                </a:solidFill>
                <a:latin typeface="Calibri"/>
                <a:ea typeface="Calibri"/>
                <a:cs typeface="Calibri"/>
                <a:sym typeface="Calibri"/>
              </a:rPr>
            </a:br>
            <a:r>
              <a:rPr lang="es-ES" sz="1000" b="0" i="0" u="none" strike="noStrike" cap="none">
                <a:solidFill>
                  <a:srgbClr val="003245"/>
                </a:solidFill>
                <a:latin typeface="Calibri"/>
                <a:ea typeface="Calibri"/>
                <a:cs typeface="Calibri"/>
                <a:sym typeface="Calibri"/>
              </a:rPr>
              <a:t>Ejemplo de segmentación de redes teniendo en cuenta los procesos de negocio.</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3245"/>
              </a:buClr>
              <a:buSzPts val="1200"/>
              <a:buFont typeface="Calibri"/>
              <a:buNone/>
            </a:pPr>
            <a:r>
              <a:rPr lang="es-ES" sz="1200" b="0" i="0" u="none" strike="noStrike" cap="none">
                <a:solidFill>
                  <a:srgbClr val="003245"/>
                </a:solidFill>
                <a:latin typeface="Calibri"/>
                <a:ea typeface="Calibri"/>
                <a:cs typeface="Calibri"/>
                <a:sym typeface="Calibri"/>
              </a:rPr>
              <a:t>Otra forma de segmentar redes en lugar de utilizar VLANs es directamente con firewalls, </a:t>
            </a:r>
            <a:r>
              <a:rPr lang="es-ES" sz="1200" b="1" i="0" u="none" strike="noStrike" cap="none">
                <a:solidFill>
                  <a:srgbClr val="003245"/>
                </a:solidFill>
                <a:latin typeface="Calibri"/>
                <a:ea typeface="Calibri"/>
                <a:cs typeface="Calibri"/>
                <a:sym typeface="Calibri"/>
              </a:rPr>
              <a:t>separando cada zona del resto con un firewall</a:t>
            </a:r>
            <a:r>
              <a:rPr lang="es-ES" sz="1200" b="0" i="0" u="none" strike="noStrike" cap="none">
                <a:solidFill>
                  <a:srgbClr val="003245"/>
                </a:solidFill>
                <a:latin typeface="Calibri"/>
                <a:ea typeface="Calibri"/>
                <a:cs typeface="Calibri"/>
                <a:sym typeface="Calibri"/>
              </a:rPr>
              <a:t>. Esto podría incrementar enormemente el número de dispositivos (lo que repercute no sólo en lo estrictamente económico, sino también en espacio en el CPD, aumento de la temperatura, etc.) y dificultar su administración, aunque al gestionar zonas más reducidas también se simplifica algo su gestión. La alternativa es emplear la virtualización de firewalls, que con un único equipo podemos implementar varios firewalls para varias zonas.</a:t>
            </a:r>
            <a:endParaRPr sz="1200" b="0" i="0" u="none" strike="noStrike" cap="none">
              <a:solidFill>
                <a:srgbClr val="003245"/>
              </a:solidFill>
              <a:latin typeface="Calibri"/>
              <a:ea typeface="Calibri"/>
              <a:cs typeface="Calibri"/>
              <a:sym typeface="Calibri"/>
            </a:endParaRPr>
          </a:p>
          <a:p>
            <a:pPr marL="0" marR="0" lvl="0" indent="0" algn="l" rtl="0">
              <a:lnSpc>
                <a:spcPct val="100000"/>
              </a:lnSpc>
              <a:spcBef>
                <a:spcPts val="0"/>
              </a:spcBef>
              <a:spcAft>
                <a:spcPts val="0"/>
              </a:spcAft>
              <a:buClr>
                <a:srgbClr val="003245"/>
              </a:buClr>
              <a:buSzPts val="1200"/>
              <a:buFont typeface="Arial"/>
              <a:buNone/>
            </a:pPr>
            <a:r>
              <a:rPr lang="es-ES" sz="1200" b="0" i="0" u="none" strike="noStrike" cap="none">
                <a:solidFill>
                  <a:srgbClr val="003245"/>
                </a:solidFill>
                <a:latin typeface="Arial"/>
                <a:ea typeface="Arial"/>
                <a:cs typeface="Arial"/>
                <a:sym typeface="Arial"/>
              </a:rPr>
              <a:t>Por último, destacar las posibilidades que las </a:t>
            </a:r>
            <a:r>
              <a:rPr lang="es-ES" sz="1200" b="1" i="0" u="none" strike="noStrike" cap="none">
                <a:solidFill>
                  <a:srgbClr val="003245"/>
                </a:solidFill>
                <a:latin typeface="Arial"/>
                <a:ea typeface="Arial"/>
                <a:cs typeface="Arial"/>
                <a:sym typeface="Arial"/>
              </a:rPr>
              <a:t>SDN (Software-Defined Networks)</a:t>
            </a:r>
            <a:r>
              <a:rPr lang="es-ES" sz="1200" b="0" i="0" u="none" strike="noStrike" cap="none">
                <a:solidFill>
                  <a:srgbClr val="003245"/>
                </a:solidFill>
                <a:latin typeface="Arial"/>
                <a:ea typeface="Arial"/>
                <a:cs typeface="Arial"/>
                <a:sym typeface="Arial"/>
              </a:rPr>
              <a:t> están abriendo en cuanto a “micro-segmentación” de redes, pudiendo analizar y filtrar el tráfico extremo a extremo entre dos puntos cualquiera siguiendo una política determinada. Esto permite no sólo segmentar la red de una organización en una sede, sino extender esa segmentación a todas las sedes por toda la WAN de la organización, algo imposible de llevar a cabo con VLANs.</a:t>
            </a:r>
            <a:r>
              <a:rPr lang="es-ES" sz="1100" b="0"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114"/>
          <p:cNvSpPr txBox="1">
            <a:spLocks noGrp="1"/>
          </p:cNvSpPr>
          <p:nvPr>
            <p:ph type="title"/>
          </p:nvPr>
        </p:nvSpPr>
        <p:spPr>
          <a:xfrm>
            <a:off x="318436" y="85993"/>
            <a:ext cx="11780520" cy="3856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400"/>
              <a:buFont typeface="Calibri"/>
              <a:buNone/>
            </a:pPr>
            <a:r>
              <a:rPr lang="es-ES" sz="2400"/>
              <a:t>5.2 CONTRAMEDIDAS DE SERVICIOS/APLICACION</a:t>
            </a:r>
            <a:endParaRPr/>
          </a:p>
        </p:txBody>
      </p:sp>
      <p:sp>
        <p:nvSpPr>
          <p:cNvPr id="1013" name="Google Shape;1013;p114"/>
          <p:cNvSpPr txBox="1"/>
          <p:nvPr/>
        </p:nvSpPr>
        <p:spPr>
          <a:xfrm>
            <a:off x="6696777" y="177959"/>
            <a:ext cx="6097604" cy="308226"/>
          </a:xfrm>
          <a:prstGeom prst="rect">
            <a:avLst/>
          </a:prstGeom>
          <a:noFill/>
          <a:ln>
            <a:noFill/>
          </a:ln>
        </p:spPr>
        <p:txBody>
          <a:bodyPr spcFirstLastPara="1" wrap="square" lIns="91425" tIns="45700" rIns="91425" bIns="45700" anchor="t" anchorCtr="0">
            <a:spAutoFit/>
          </a:bodyPr>
          <a:lstStyle/>
          <a:p>
            <a:pPr marL="0" marR="0" lvl="0" indent="0" algn="l" rtl="0">
              <a:lnSpc>
                <a:spcPct val="60000"/>
              </a:lnSpc>
              <a:spcBef>
                <a:spcPts val="0"/>
              </a:spcBef>
              <a:spcAft>
                <a:spcPts val="0"/>
              </a:spcAft>
              <a:buNone/>
            </a:pPr>
            <a:r>
              <a:rPr lang="es-ES" sz="2400" b="1">
                <a:solidFill>
                  <a:srgbClr val="003245"/>
                </a:solidFill>
                <a:latin typeface="Calibri"/>
                <a:ea typeface="Calibri"/>
                <a:cs typeface="Calibri"/>
                <a:sym typeface="Calibri"/>
              </a:rPr>
              <a:t>Sistemas operativos de confianza</a:t>
            </a:r>
            <a:endParaRPr sz="2400" b="1">
              <a:solidFill>
                <a:schemeClr val="dk1"/>
              </a:solidFill>
              <a:latin typeface="Calibri"/>
              <a:ea typeface="Calibri"/>
              <a:cs typeface="Calibri"/>
              <a:sym typeface="Calibri"/>
            </a:endParaRPr>
          </a:p>
        </p:txBody>
      </p:sp>
      <p:grpSp>
        <p:nvGrpSpPr>
          <p:cNvPr id="1014" name="Google Shape;1014;p114"/>
          <p:cNvGrpSpPr/>
          <p:nvPr/>
        </p:nvGrpSpPr>
        <p:grpSpPr>
          <a:xfrm>
            <a:off x="250257" y="563604"/>
            <a:ext cx="11780520" cy="5962323"/>
            <a:chOff x="0" y="0"/>
            <a:chExt cx="11780520" cy="5962323"/>
          </a:xfrm>
        </p:grpSpPr>
        <p:sp>
          <p:nvSpPr>
            <p:cNvPr id="1015" name="Google Shape;1015;p114"/>
            <p:cNvSpPr/>
            <p:nvPr/>
          </p:nvSpPr>
          <p:spPr>
            <a:xfrm>
              <a:off x="0" y="0"/>
              <a:ext cx="11780520" cy="2683045"/>
            </a:xfrm>
            <a:prstGeom prst="roundRect">
              <a:avLst>
                <a:gd name="adj" fmla="val 10000"/>
              </a:avLst>
            </a:prstGeom>
            <a:solidFill>
              <a:srgbClr val="CCD3EA">
                <a:alpha val="89803"/>
              </a:srgbClr>
            </a:solidFill>
            <a:ln w="9525"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14"/>
            <p:cNvSpPr/>
            <p:nvPr/>
          </p:nvSpPr>
          <p:spPr>
            <a:xfrm>
              <a:off x="2002050" y="357739"/>
              <a:ext cx="1977330" cy="1967566"/>
            </a:xfrm>
            <a:prstGeom prst="roundRect">
              <a:avLst>
                <a:gd name="adj" fmla="val 10000"/>
              </a:avLst>
            </a:prstGeom>
            <a:blipFill rotWithShape="1">
              <a:blip r:embed="rId3">
                <a:alphaModFix/>
              </a:blip>
              <a:stretch>
                <a:fillRect l="-8999" r="-8998"/>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14"/>
            <p:cNvSpPr/>
            <p:nvPr/>
          </p:nvSpPr>
          <p:spPr>
            <a:xfrm rot="10800000">
              <a:off x="354767" y="2683045"/>
              <a:ext cx="5271897" cy="3279278"/>
            </a:xfrm>
            <a:prstGeom prst="round2SameRect">
              <a:avLst>
                <a:gd name="adj1" fmla="val 10500"/>
                <a:gd name="adj2" fmla="val 0"/>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14"/>
            <p:cNvSpPr txBox="1"/>
            <p:nvPr/>
          </p:nvSpPr>
          <p:spPr>
            <a:xfrm>
              <a:off x="455616" y="2683045"/>
              <a:ext cx="5070199" cy="3178429"/>
            </a:xfrm>
            <a:prstGeom prst="rect">
              <a:avLst/>
            </a:prstGeom>
            <a:noFill/>
            <a:ln>
              <a:noFill/>
            </a:ln>
          </p:spPr>
          <p:txBody>
            <a:bodyPr spcFirstLastPara="1" wrap="square" lIns="199125" tIns="199125" rIns="199125" bIns="199125" anchor="t" anchorCtr="0">
              <a:noAutofit/>
            </a:bodyPr>
            <a:lstStyle/>
            <a:p>
              <a:pPr marL="0" marR="0" lvl="0" indent="0" algn="ctr" rtl="0">
                <a:lnSpc>
                  <a:spcPct val="90000"/>
                </a:lnSpc>
                <a:spcBef>
                  <a:spcPts val="0"/>
                </a:spcBef>
                <a:spcAft>
                  <a:spcPts val="0"/>
                </a:spcAft>
                <a:buClr>
                  <a:schemeClr val="lt1"/>
                </a:buClr>
                <a:buSzPts val="1000"/>
                <a:buFont typeface="Noto Sans Symbols"/>
                <a:buNone/>
              </a:pPr>
              <a:r>
                <a:rPr lang="es-ES" sz="2800" b="1">
                  <a:solidFill>
                    <a:schemeClr val="lt1"/>
                  </a:solidFill>
                  <a:latin typeface="Calibri"/>
                  <a:ea typeface="Calibri"/>
                  <a:cs typeface="Calibri"/>
                  <a:sym typeface="Calibri"/>
                </a:rPr>
                <a:t>Corrección funcional</a:t>
              </a:r>
              <a:r>
                <a:rPr lang="es-ES" sz="2000">
                  <a:solidFill>
                    <a:schemeClr val="lt1"/>
                  </a:solidFill>
                  <a:latin typeface="Calibri"/>
                  <a:ea typeface="Calibri"/>
                  <a:cs typeface="Calibri"/>
                  <a:sym typeface="Calibri"/>
                </a:rPr>
                <a:t>. </a:t>
              </a:r>
              <a:endParaRPr/>
            </a:p>
            <a:p>
              <a:pPr marL="0" marR="0" lvl="0" indent="0" algn="ctr" rtl="0">
                <a:lnSpc>
                  <a:spcPct val="90000"/>
                </a:lnSpc>
                <a:spcBef>
                  <a:spcPts val="980"/>
                </a:spcBef>
                <a:spcAft>
                  <a:spcPts val="0"/>
                </a:spcAft>
                <a:buClr>
                  <a:schemeClr val="lt1"/>
                </a:buClr>
                <a:buSzPts val="1000"/>
                <a:buFont typeface="Noto Sans Symbols"/>
                <a:buNone/>
              </a:pPr>
              <a:r>
                <a:rPr lang="es-ES" sz="2000">
                  <a:solidFill>
                    <a:schemeClr val="lt1"/>
                  </a:solidFill>
                  <a:latin typeface="Calibri"/>
                  <a:ea typeface="Calibri"/>
                  <a:cs typeface="Calibri"/>
                  <a:sym typeface="Calibri"/>
                </a:rPr>
                <a:t>El sistema debe incorporar mecanismos diseñados para verificar que la ejecución de los procesos es tal y como se especificó en fase de diseño. Esto supone generalmente habilitar una monitorización eficiente de procesos y un adecuado sistema de auditoría de procesos y usuarios.</a:t>
              </a:r>
              <a:endParaRPr sz="2000">
                <a:solidFill>
                  <a:schemeClr val="lt1"/>
                </a:solidFill>
                <a:latin typeface="Calibri"/>
                <a:ea typeface="Calibri"/>
                <a:cs typeface="Calibri"/>
                <a:sym typeface="Calibri"/>
              </a:endParaRPr>
            </a:p>
          </p:txBody>
        </p:sp>
        <p:sp>
          <p:nvSpPr>
            <p:cNvPr id="1019" name="Google Shape;1019;p114"/>
            <p:cNvSpPr/>
            <p:nvPr/>
          </p:nvSpPr>
          <p:spPr>
            <a:xfrm>
              <a:off x="7854226" y="357739"/>
              <a:ext cx="1871154" cy="1967566"/>
            </a:xfrm>
            <a:prstGeom prst="roundRect">
              <a:avLst>
                <a:gd name="adj" fmla="val 10000"/>
              </a:avLst>
            </a:prstGeom>
            <a:blipFill rotWithShape="1">
              <a:blip r:embed="rId3">
                <a:alphaModFix/>
              </a:blip>
              <a:stretch>
                <a:fillRect l="-8999" r="-8998"/>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14"/>
            <p:cNvSpPr/>
            <p:nvPr/>
          </p:nvSpPr>
          <p:spPr>
            <a:xfrm rot="10800000">
              <a:off x="6153854" y="2683045"/>
              <a:ext cx="5271897" cy="3279278"/>
            </a:xfrm>
            <a:prstGeom prst="round2SameRect">
              <a:avLst>
                <a:gd name="adj1" fmla="val 10500"/>
                <a:gd name="adj2" fmla="val 0"/>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14"/>
            <p:cNvSpPr txBox="1"/>
            <p:nvPr/>
          </p:nvSpPr>
          <p:spPr>
            <a:xfrm>
              <a:off x="6254703" y="2683045"/>
              <a:ext cx="5070199" cy="3178429"/>
            </a:xfrm>
            <a:prstGeom prst="rect">
              <a:avLst/>
            </a:prstGeom>
            <a:noFill/>
            <a:ln>
              <a:noFill/>
            </a:ln>
          </p:spPr>
          <p:txBody>
            <a:bodyPr spcFirstLastPara="1" wrap="square" lIns="170675" tIns="170675" rIns="170675" bIns="170675" anchor="t" anchorCtr="0">
              <a:noAutofit/>
            </a:bodyPr>
            <a:lstStyle/>
            <a:p>
              <a:pPr marL="0" marR="0" lvl="0" indent="0" algn="ctr" rtl="0">
                <a:lnSpc>
                  <a:spcPct val="90000"/>
                </a:lnSpc>
                <a:spcBef>
                  <a:spcPts val="0"/>
                </a:spcBef>
                <a:spcAft>
                  <a:spcPts val="0"/>
                </a:spcAft>
                <a:buClr>
                  <a:schemeClr val="lt1"/>
                </a:buClr>
                <a:buSzPts val="2400"/>
                <a:buFont typeface="Calibri"/>
                <a:buNone/>
              </a:pPr>
              <a:r>
                <a:rPr lang="es-ES" sz="2400" b="1">
                  <a:solidFill>
                    <a:schemeClr val="lt1"/>
                  </a:solidFill>
                  <a:latin typeface="Calibri"/>
                  <a:ea typeface="Calibri"/>
                  <a:cs typeface="Calibri"/>
                  <a:sym typeface="Calibri"/>
                </a:rPr>
                <a:t>Integridad de la información y de las operaciones</a:t>
              </a:r>
              <a:r>
                <a:rPr lang="es-ES" sz="1900">
                  <a:solidFill>
                    <a:schemeClr val="lt1"/>
                  </a:solidFill>
                  <a:latin typeface="Calibri"/>
                  <a:ea typeface="Calibri"/>
                  <a:cs typeface="Calibri"/>
                  <a:sym typeface="Calibri"/>
                </a:rPr>
                <a:t>. </a:t>
              </a:r>
              <a:endParaRPr/>
            </a:p>
            <a:p>
              <a:pPr marL="0" marR="0" lvl="0" indent="0" algn="ctr" rtl="0">
                <a:lnSpc>
                  <a:spcPct val="90000"/>
                </a:lnSpc>
                <a:spcBef>
                  <a:spcPts val="840"/>
                </a:spcBef>
                <a:spcAft>
                  <a:spcPts val="0"/>
                </a:spcAft>
                <a:buClr>
                  <a:schemeClr val="lt1"/>
                </a:buClr>
                <a:buSzPts val="1900"/>
                <a:buFont typeface="Calibri"/>
                <a:buNone/>
              </a:pPr>
              <a:r>
                <a:rPr lang="es-ES" sz="1900">
                  <a:solidFill>
                    <a:schemeClr val="lt1"/>
                  </a:solidFill>
                  <a:latin typeface="Calibri"/>
                  <a:ea typeface="Calibri"/>
                  <a:cs typeface="Calibri"/>
                  <a:sym typeface="Calibri"/>
                </a:rPr>
                <a:t>Es preciso que la información que se genera e intercambia entre los procesos ejecutados por el sistema operativo no sea modificada por ningún elemento no autorizado. Son necesarios mecanismos orientados a garantizar que sea imposible realizar este tipo de modificaciones no autorizadas o que, en caso de suceder, sea posible determinar su ocurrencia.</a:t>
              </a:r>
              <a:endParaRPr sz="1900">
                <a:solidFill>
                  <a:schemeClr val="lt1"/>
                </a:solidFill>
                <a:latin typeface="Calibri"/>
                <a:ea typeface="Calibri"/>
                <a:cs typeface="Calibri"/>
                <a:sym typeface="Calibri"/>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grpSp>
        <p:nvGrpSpPr>
          <p:cNvPr id="1026" name="Google Shape;1026;p115"/>
          <p:cNvGrpSpPr/>
          <p:nvPr/>
        </p:nvGrpSpPr>
        <p:grpSpPr>
          <a:xfrm>
            <a:off x="250257" y="563604"/>
            <a:ext cx="11780520" cy="5962323"/>
            <a:chOff x="0" y="0"/>
            <a:chExt cx="11780520" cy="5962323"/>
          </a:xfrm>
        </p:grpSpPr>
        <p:sp>
          <p:nvSpPr>
            <p:cNvPr id="1027" name="Google Shape;1027;p115"/>
            <p:cNvSpPr/>
            <p:nvPr/>
          </p:nvSpPr>
          <p:spPr>
            <a:xfrm>
              <a:off x="0" y="0"/>
              <a:ext cx="11780520" cy="2683045"/>
            </a:xfrm>
            <a:prstGeom prst="roundRect">
              <a:avLst>
                <a:gd name="adj" fmla="val 10000"/>
              </a:avLst>
            </a:prstGeom>
            <a:solidFill>
              <a:srgbClr val="CCD3EA">
                <a:alpha val="89803"/>
              </a:srgbClr>
            </a:solidFill>
            <a:ln w="9525"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15"/>
            <p:cNvSpPr/>
            <p:nvPr/>
          </p:nvSpPr>
          <p:spPr>
            <a:xfrm>
              <a:off x="1693302" y="357739"/>
              <a:ext cx="2594828" cy="1967566"/>
            </a:xfrm>
            <a:prstGeom prst="roundRect">
              <a:avLst>
                <a:gd name="adj" fmla="val 10000"/>
              </a:avLst>
            </a:prstGeom>
            <a:blipFill rotWithShape="1">
              <a:blip r:embed="rId3">
                <a:alphaModFix/>
              </a:blip>
              <a:stretch>
                <a:fillRect l="-8999" r="-8998"/>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15"/>
            <p:cNvSpPr/>
            <p:nvPr/>
          </p:nvSpPr>
          <p:spPr>
            <a:xfrm rot="10800000">
              <a:off x="354767" y="2683045"/>
              <a:ext cx="5271897" cy="3279278"/>
            </a:xfrm>
            <a:prstGeom prst="round2SameRect">
              <a:avLst>
                <a:gd name="adj1" fmla="val 10500"/>
                <a:gd name="adj2" fmla="val 0"/>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15"/>
            <p:cNvSpPr txBox="1"/>
            <p:nvPr/>
          </p:nvSpPr>
          <p:spPr>
            <a:xfrm>
              <a:off x="455616" y="2683045"/>
              <a:ext cx="5070199" cy="3178429"/>
            </a:xfrm>
            <a:prstGeom prst="rect">
              <a:avLst/>
            </a:prstGeom>
            <a:noFill/>
            <a:ln>
              <a:noFill/>
            </a:ln>
          </p:spPr>
          <p:txBody>
            <a:bodyPr spcFirstLastPara="1" wrap="square" lIns="199125" tIns="199125" rIns="199125" bIns="199125" anchor="t" anchorCtr="0">
              <a:noAutofit/>
            </a:bodyPr>
            <a:lstStyle/>
            <a:p>
              <a:pPr marL="0" marR="0" lvl="0" indent="0" algn="ctr" rtl="0">
                <a:lnSpc>
                  <a:spcPct val="90000"/>
                </a:lnSpc>
                <a:spcBef>
                  <a:spcPts val="0"/>
                </a:spcBef>
                <a:spcAft>
                  <a:spcPts val="0"/>
                </a:spcAft>
                <a:buClr>
                  <a:schemeClr val="lt1"/>
                </a:buClr>
                <a:buSzPts val="2800"/>
                <a:buFont typeface="Calibri"/>
                <a:buNone/>
              </a:pPr>
              <a:r>
                <a:rPr lang="es-ES" sz="2800" b="1">
                  <a:solidFill>
                    <a:schemeClr val="lt1"/>
                  </a:solidFill>
                  <a:latin typeface="Calibri"/>
                  <a:ea typeface="Calibri"/>
                  <a:cs typeface="Calibri"/>
                  <a:sym typeface="Calibri"/>
                </a:rPr>
                <a:t>Limitación de privilegios</a:t>
              </a:r>
              <a:r>
                <a:rPr lang="es-ES" sz="2100">
                  <a:solidFill>
                    <a:schemeClr val="lt1"/>
                  </a:solidFill>
                  <a:latin typeface="Calibri"/>
                  <a:ea typeface="Calibri"/>
                  <a:cs typeface="Calibri"/>
                  <a:sym typeface="Calibri"/>
                </a:rPr>
                <a:t>.</a:t>
              </a:r>
              <a:endParaRPr/>
            </a:p>
            <a:p>
              <a:pPr marL="0" marR="0" lvl="0" indent="0" algn="ctr" rtl="0">
                <a:lnSpc>
                  <a:spcPct val="90000"/>
                </a:lnSpc>
                <a:spcBef>
                  <a:spcPts val="980"/>
                </a:spcBef>
                <a:spcAft>
                  <a:spcPts val="0"/>
                </a:spcAft>
                <a:buClr>
                  <a:schemeClr val="lt1"/>
                </a:buClr>
                <a:buSzPts val="2100"/>
                <a:buFont typeface="Calibri"/>
                <a:buNone/>
              </a:pPr>
              <a:r>
                <a:rPr lang="es-ES" sz="2100">
                  <a:solidFill>
                    <a:schemeClr val="lt1"/>
                  </a:solidFill>
                  <a:latin typeface="Calibri"/>
                  <a:ea typeface="Calibri"/>
                  <a:cs typeface="Calibri"/>
                  <a:sym typeface="Calibri"/>
                </a:rPr>
                <a:t> Es necesario garantizar un adecuado control de accesos a los recursos de los sistemas, a todo tipo de recursos.</a:t>
              </a:r>
              <a:endParaRPr sz="2100">
                <a:solidFill>
                  <a:schemeClr val="lt1"/>
                </a:solidFill>
                <a:latin typeface="Calibri"/>
                <a:ea typeface="Calibri"/>
                <a:cs typeface="Calibri"/>
                <a:sym typeface="Calibri"/>
              </a:endParaRPr>
            </a:p>
          </p:txBody>
        </p:sp>
        <p:sp>
          <p:nvSpPr>
            <p:cNvPr id="1031" name="Google Shape;1031;p115"/>
            <p:cNvSpPr/>
            <p:nvPr/>
          </p:nvSpPr>
          <p:spPr>
            <a:xfrm>
              <a:off x="7514689" y="357739"/>
              <a:ext cx="2550227" cy="1967566"/>
            </a:xfrm>
            <a:prstGeom prst="roundRect">
              <a:avLst>
                <a:gd name="adj" fmla="val 10000"/>
              </a:avLst>
            </a:prstGeom>
            <a:blipFill rotWithShape="1">
              <a:blip r:embed="rId3">
                <a:alphaModFix/>
              </a:blip>
              <a:stretch>
                <a:fillRect l="-8999" r="-8998"/>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15"/>
            <p:cNvSpPr/>
            <p:nvPr/>
          </p:nvSpPr>
          <p:spPr>
            <a:xfrm rot="10800000">
              <a:off x="6153854" y="2683045"/>
              <a:ext cx="5271897" cy="3279278"/>
            </a:xfrm>
            <a:prstGeom prst="round2SameRect">
              <a:avLst>
                <a:gd name="adj1" fmla="val 10500"/>
                <a:gd name="adj2" fmla="val 0"/>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15"/>
            <p:cNvSpPr txBox="1"/>
            <p:nvPr/>
          </p:nvSpPr>
          <p:spPr>
            <a:xfrm>
              <a:off x="6254703" y="2683045"/>
              <a:ext cx="5070199" cy="3178429"/>
            </a:xfrm>
            <a:prstGeom prst="rect">
              <a:avLst/>
            </a:prstGeom>
            <a:noFill/>
            <a:ln>
              <a:noFill/>
            </a:ln>
          </p:spPr>
          <p:txBody>
            <a:bodyPr spcFirstLastPara="1" wrap="square" lIns="170675" tIns="170675" rIns="170675" bIns="170675" anchor="t" anchorCtr="0">
              <a:noAutofit/>
            </a:bodyPr>
            <a:lstStyle/>
            <a:p>
              <a:pPr marL="0" marR="0" lvl="0" indent="0" algn="ctr" rtl="0">
                <a:lnSpc>
                  <a:spcPct val="90000"/>
                </a:lnSpc>
                <a:spcBef>
                  <a:spcPts val="0"/>
                </a:spcBef>
                <a:spcAft>
                  <a:spcPts val="0"/>
                </a:spcAft>
                <a:buClr>
                  <a:schemeClr val="lt1"/>
                </a:buClr>
                <a:buSzPts val="2400"/>
                <a:buFont typeface="Calibri"/>
                <a:buNone/>
              </a:pPr>
              <a:r>
                <a:rPr lang="es-ES" sz="2400" b="1">
                  <a:solidFill>
                    <a:schemeClr val="lt1"/>
                  </a:solidFill>
                  <a:latin typeface="Calibri"/>
                  <a:ea typeface="Calibri"/>
                  <a:cs typeface="Calibri"/>
                  <a:sym typeface="Calibri"/>
                </a:rPr>
                <a:t>Nivel de apropiado de confidencialidad</a:t>
              </a:r>
              <a:r>
                <a:rPr lang="es-ES" sz="2100">
                  <a:solidFill>
                    <a:schemeClr val="lt1"/>
                  </a:solidFill>
                  <a:latin typeface="Calibri"/>
                  <a:ea typeface="Calibri"/>
                  <a:cs typeface="Calibri"/>
                  <a:sym typeface="Calibri"/>
                </a:rPr>
                <a:t>. </a:t>
              </a:r>
              <a:endParaRPr/>
            </a:p>
            <a:p>
              <a:pPr marL="0" marR="0" lvl="0" indent="0" algn="ctr" rtl="0">
                <a:lnSpc>
                  <a:spcPct val="90000"/>
                </a:lnSpc>
                <a:spcBef>
                  <a:spcPts val="840"/>
                </a:spcBef>
                <a:spcAft>
                  <a:spcPts val="0"/>
                </a:spcAft>
                <a:buClr>
                  <a:schemeClr val="lt1"/>
                </a:buClr>
                <a:buSzPts val="2100"/>
                <a:buFont typeface="Calibri"/>
                <a:buNone/>
              </a:pPr>
              <a:r>
                <a:rPr lang="es-ES" sz="2100">
                  <a:solidFill>
                    <a:schemeClr val="lt1"/>
                  </a:solidFill>
                  <a:latin typeface="Calibri"/>
                  <a:ea typeface="Calibri"/>
                  <a:cs typeface="Calibri"/>
                  <a:sym typeface="Calibri"/>
                </a:rPr>
                <a:t>Es preciso habilitar mecanismos que permitan proponer esquemas complejos de confidencialidad en los sistemas operativos. La idea es que se pueda dar soporte con estos sistemas a organizaciones en las que ya está preestablecida una normativa o política de confidencialidad.</a:t>
              </a:r>
              <a:endParaRPr sz="2100">
                <a:solidFill>
                  <a:schemeClr val="lt1"/>
                </a:solidFill>
                <a:latin typeface="Calibri"/>
                <a:ea typeface="Calibri"/>
                <a:cs typeface="Calibri"/>
                <a:sym typeface="Calibri"/>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116"/>
          <p:cNvSpPr txBox="1">
            <a:spLocks noGrp="1"/>
          </p:cNvSpPr>
          <p:nvPr>
            <p:ph type="body" idx="1"/>
          </p:nvPr>
        </p:nvSpPr>
        <p:spPr>
          <a:xfrm>
            <a:off x="944078" y="221381"/>
            <a:ext cx="10515600" cy="593633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3245"/>
              </a:buClr>
              <a:buSzPts val="3200"/>
              <a:buNone/>
            </a:pPr>
            <a:r>
              <a:rPr lang="es-ES" sz="3200" b="1">
                <a:solidFill>
                  <a:srgbClr val="003245"/>
                </a:solidFill>
                <a:latin typeface="Calibri"/>
                <a:ea typeface="Calibri"/>
                <a:cs typeface="Calibri"/>
                <a:sym typeface="Calibri"/>
              </a:rPr>
              <a:t>La protección de los sistemas operativos se entiende de forma básica como la separación entre procesos y/o usuarios. Esta separación se puede conseguir de diferentes maneras:</a:t>
            </a:r>
            <a:endParaRPr/>
          </a:p>
          <a:p>
            <a:pPr marL="0" lvl="0" indent="0" algn="l" rtl="0">
              <a:lnSpc>
                <a:spcPct val="90000"/>
              </a:lnSpc>
              <a:spcBef>
                <a:spcPts val="1000"/>
              </a:spcBef>
              <a:spcAft>
                <a:spcPts val="0"/>
              </a:spcAft>
              <a:buClr>
                <a:schemeClr val="dk1"/>
              </a:buClr>
              <a:buSzPts val="3200"/>
              <a:buNone/>
            </a:pPr>
            <a:endParaRPr sz="3200" b="1">
              <a:latin typeface="Calibri"/>
              <a:ea typeface="Calibri"/>
              <a:cs typeface="Calibri"/>
              <a:sym typeface="Calibri"/>
            </a:endParaRPr>
          </a:p>
          <a:p>
            <a:pPr marL="342900" lvl="0" indent="-342900" algn="l" rtl="0">
              <a:lnSpc>
                <a:spcPct val="107000"/>
              </a:lnSpc>
              <a:spcBef>
                <a:spcPts val="10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Separación física.</a:t>
            </a:r>
            <a:endParaRPr sz="32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Separación temporal.</a:t>
            </a:r>
            <a:endParaRPr sz="32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Separación lógica.</a:t>
            </a:r>
            <a:endParaRPr sz="32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Separación basada en el uso de criptografía.</a:t>
            </a:r>
            <a:endParaRPr sz="3200">
              <a:latin typeface="Calibri"/>
              <a:ea typeface="Calibri"/>
              <a:cs typeface="Calibri"/>
              <a:sym typeface="Calibri"/>
            </a:endParaRPr>
          </a:p>
          <a:p>
            <a:pPr marL="0" lvl="0" indent="0" algn="l" rtl="0">
              <a:lnSpc>
                <a:spcPct val="107000"/>
              </a:lnSpc>
              <a:spcBef>
                <a:spcPts val="1800"/>
              </a:spcBef>
              <a:spcAft>
                <a:spcPts val="0"/>
              </a:spcAft>
              <a:buClr>
                <a:schemeClr val="dk1"/>
              </a:buClr>
              <a:buSzPts val="3200"/>
              <a:buNone/>
            </a:pPr>
            <a:endParaRPr sz="3200">
              <a:latin typeface="Calibri"/>
              <a:ea typeface="Calibri"/>
              <a:cs typeface="Calibri"/>
              <a:sym typeface="Calibri"/>
            </a:endParaRPr>
          </a:p>
          <a:p>
            <a:pPr marL="228600" lvl="0" indent="-25400" algn="l" rtl="0">
              <a:lnSpc>
                <a:spcPct val="90000"/>
              </a:lnSpc>
              <a:spcBef>
                <a:spcPts val="1800"/>
              </a:spcBef>
              <a:spcAft>
                <a:spcPts val="0"/>
              </a:spcAft>
              <a:buClr>
                <a:schemeClr val="dk1"/>
              </a:buClr>
              <a:buSzPts val="3200"/>
              <a:buNone/>
            </a:pPr>
            <a:endParaRPr sz="32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p117"/>
          <p:cNvSpPr txBox="1"/>
          <p:nvPr/>
        </p:nvSpPr>
        <p:spPr>
          <a:xfrm>
            <a:off x="873492" y="469719"/>
            <a:ext cx="9810549" cy="583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3245"/>
              </a:buClr>
              <a:buSzPts val="3200"/>
              <a:buFont typeface="Calibri"/>
              <a:buNone/>
            </a:pPr>
            <a:r>
              <a:rPr lang="es-ES" sz="3200" b="1">
                <a:solidFill>
                  <a:srgbClr val="003245"/>
                </a:solidFill>
                <a:latin typeface="Calibri"/>
                <a:ea typeface="Calibri"/>
                <a:cs typeface="Calibri"/>
                <a:sym typeface="Calibri"/>
              </a:rPr>
              <a:t>Todas estas técnicas implican habilitar mecanismos que permitan cubrir varios objetivos en un sistema operativo:</a:t>
            </a:r>
            <a:endParaRPr/>
          </a:p>
          <a:p>
            <a:pPr marL="0" marR="0" lvl="0" indent="0" algn="l" rtl="0">
              <a:spcBef>
                <a:spcPts val="0"/>
              </a:spcBef>
              <a:spcAft>
                <a:spcPts val="0"/>
              </a:spcAft>
              <a:buClr>
                <a:schemeClr val="dk1"/>
              </a:buClr>
              <a:buSzPts val="3200"/>
              <a:buFont typeface="Calibri"/>
              <a:buNone/>
            </a:pPr>
            <a:endParaRPr sz="3200">
              <a:solidFill>
                <a:schemeClr val="dk1"/>
              </a:solidFill>
              <a:latin typeface="Calibri"/>
              <a:ea typeface="Calibri"/>
              <a:cs typeface="Calibri"/>
              <a:sym typeface="Calibri"/>
            </a:endParaRPr>
          </a:p>
          <a:p>
            <a:pPr marL="342900" marR="0" lvl="0" indent="-342900" algn="l" rtl="0">
              <a:lnSpc>
                <a:spcPct val="107000"/>
              </a:lnSpc>
              <a:spcBef>
                <a:spcPts val="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La protección de la memoria del sistema.</a:t>
            </a:r>
            <a:endParaRPr sz="32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La protección de los ficheros.</a:t>
            </a:r>
            <a:endParaRPr sz="32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El control de accesos a objetos generales.</a:t>
            </a:r>
            <a:endParaRPr sz="32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Autenticación de usuarios.</a:t>
            </a:r>
            <a:endParaRPr sz="32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Hacer cumplir la ejecución con mínimos privilegios.</a:t>
            </a:r>
            <a:endParaRPr sz="32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3200">
                <a:solidFill>
                  <a:srgbClr val="003245"/>
                </a:solidFill>
                <a:latin typeface="Calibri"/>
                <a:ea typeface="Calibri"/>
                <a:cs typeface="Calibri"/>
                <a:sym typeface="Calibri"/>
              </a:rPr>
              <a:t>Verificar el uso aceptable de los recursos.</a:t>
            </a:r>
            <a:endParaRPr sz="3200">
              <a:solidFill>
                <a:schemeClr val="dk1"/>
              </a:solidFill>
              <a:latin typeface="Calibri"/>
              <a:ea typeface="Calibri"/>
              <a:cs typeface="Calibri"/>
              <a:sym typeface="Calibri"/>
            </a:endParaRPr>
          </a:p>
          <a:p>
            <a:pPr marL="0" marR="0" lvl="0" indent="0" algn="l" rtl="0">
              <a:spcBef>
                <a:spcPts val="800"/>
              </a:spcBef>
              <a:spcAft>
                <a:spcPts val="0"/>
              </a:spcAft>
              <a:buNone/>
            </a:pPr>
            <a:r>
              <a:rPr lang="es-ES" sz="3200">
                <a:solidFill>
                  <a:srgbClr val="003245"/>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118"/>
          <p:cNvSpPr txBox="1">
            <a:spLocks noGrp="1"/>
          </p:cNvSpPr>
          <p:nvPr>
            <p:ph type="title"/>
          </p:nvPr>
        </p:nvSpPr>
        <p:spPr>
          <a:xfrm>
            <a:off x="838200" y="0"/>
            <a:ext cx="10515600" cy="6000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Calibri"/>
              <a:buNone/>
            </a:pPr>
            <a:r>
              <a:rPr lang="es-ES" sz="2800"/>
              <a:t>PREVENCION</a:t>
            </a:r>
            <a:endParaRPr/>
          </a:p>
        </p:txBody>
      </p:sp>
      <p:sp>
        <p:nvSpPr>
          <p:cNvPr id="1049" name="Google Shape;1049;p118"/>
          <p:cNvSpPr txBox="1">
            <a:spLocks noGrp="1"/>
          </p:cNvSpPr>
          <p:nvPr>
            <p:ph type="body" idx="1"/>
          </p:nvPr>
        </p:nvSpPr>
        <p:spPr>
          <a:xfrm>
            <a:off x="533400" y="600075"/>
            <a:ext cx="9467248" cy="4432299"/>
          </a:xfrm>
          <a:prstGeom prst="rect">
            <a:avLst/>
          </a:prstGeom>
          <a:noFill/>
          <a:ln>
            <a:noFill/>
          </a:ln>
        </p:spPr>
        <p:txBody>
          <a:bodyPr spcFirstLastPara="1" wrap="square" lIns="91425" tIns="45700" rIns="91425" bIns="45700" anchor="t" anchorCtr="0">
            <a:noAutofit/>
          </a:bodyPr>
          <a:lstStyle/>
          <a:p>
            <a:pPr marL="228600" lvl="0" indent="-228600" algn="l" rtl="0">
              <a:lnSpc>
                <a:spcPct val="107000"/>
              </a:lnSpc>
              <a:spcBef>
                <a:spcPts val="0"/>
              </a:spcBef>
              <a:spcAft>
                <a:spcPts val="0"/>
              </a:spcAft>
              <a:buClr>
                <a:srgbClr val="003245"/>
              </a:buClr>
              <a:buSzPts val="2800"/>
              <a:buChar char="•"/>
            </a:pPr>
            <a:r>
              <a:rPr lang="es-ES" b="1">
                <a:solidFill>
                  <a:srgbClr val="003245"/>
                </a:solidFill>
                <a:latin typeface="Calibri"/>
                <a:ea typeface="Calibri"/>
                <a:cs typeface="Calibri"/>
                <a:sym typeface="Calibri"/>
              </a:rPr>
              <a:t>Los Sistemas de Detección de Intrusos (IDS) </a:t>
            </a:r>
            <a:r>
              <a:rPr lang="es-ES" sz="2400">
                <a:solidFill>
                  <a:srgbClr val="003245"/>
                </a:solidFill>
                <a:latin typeface="Calibri"/>
                <a:ea typeface="Calibri"/>
                <a:cs typeface="Calibri"/>
                <a:sym typeface="Calibri"/>
              </a:rPr>
              <a:t>son sistemas que se emplean para detectar accesos no autorizados a un ordenador, un servidor o una red de ordenadores. Las funciones de un IDS se pueden resumir de la siguiente forma:</a:t>
            </a:r>
            <a:endParaRPr sz="24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b="1">
                <a:solidFill>
                  <a:srgbClr val="003245"/>
                </a:solidFill>
                <a:latin typeface="Calibri"/>
                <a:ea typeface="Calibri"/>
                <a:cs typeface="Calibri"/>
                <a:sym typeface="Calibri"/>
              </a:rPr>
              <a:t>Detección de ataques </a:t>
            </a:r>
            <a:r>
              <a:rPr lang="es-ES" sz="2400">
                <a:solidFill>
                  <a:srgbClr val="003245"/>
                </a:solidFill>
                <a:latin typeface="Calibri"/>
                <a:ea typeface="Calibri"/>
                <a:cs typeface="Calibri"/>
                <a:sym typeface="Calibri"/>
              </a:rPr>
              <a:t>en el momento que están ocurriendo (o poco después).</a:t>
            </a:r>
            <a:endParaRPr sz="24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b="1">
                <a:solidFill>
                  <a:srgbClr val="003245"/>
                </a:solidFill>
                <a:latin typeface="Calibri"/>
                <a:ea typeface="Calibri"/>
                <a:cs typeface="Calibri"/>
                <a:sym typeface="Calibri"/>
              </a:rPr>
              <a:t>Automatización de la búsqueda de nuevos patrones de ataque</a:t>
            </a:r>
            <a:r>
              <a:rPr lang="es-ES" sz="2400">
                <a:solidFill>
                  <a:srgbClr val="003245"/>
                </a:solidFill>
                <a:latin typeface="Calibri"/>
                <a:ea typeface="Calibri"/>
                <a:cs typeface="Calibri"/>
                <a:sym typeface="Calibri"/>
              </a:rPr>
              <a:t>, gracias a herramientas estadísticas de búsqueda, y al análisis de tráfico anómalo.</a:t>
            </a:r>
            <a:endParaRPr sz="2400">
              <a:latin typeface="Calibri"/>
              <a:ea typeface="Calibri"/>
              <a:cs typeface="Calibri"/>
              <a:sym typeface="Calibri"/>
            </a:endParaRPr>
          </a:p>
          <a:p>
            <a:pPr marL="342900" lvl="0" indent="-342900" algn="l" rtl="0">
              <a:lnSpc>
                <a:spcPct val="107000"/>
              </a:lnSpc>
              <a:spcBef>
                <a:spcPts val="1800"/>
              </a:spcBef>
              <a:spcAft>
                <a:spcPts val="0"/>
              </a:spcAft>
              <a:buClr>
                <a:srgbClr val="003245"/>
              </a:buClr>
              <a:buSzPts val="1000"/>
              <a:buFont typeface="Noto Sans Symbols"/>
              <a:buChar char="∙"/>
            </a:pPr>
            <a:r>
              <a:rPr lang="es-ES" b="1">
                <a:solidFill>
                  <a:srgbClr val="003245"/>
                </a:solidFill>
                <a:latin typeface="Calibri"/>
                <a:ea typeface="Calibri"/>
                <a:cs typeface="Calibri"/>
                <a:sym typeface="Calibri"/>
              </a:rPr>
              <a:t>Monitorización y análisis de las actividades de los usuarios</a:t>
            </a:r>
            <a:r>
              <a:rPr lang="es-ES" sz="2400">
                <a:solidFill>
                  <a:srgbClr val="003245"/>
                </a:solidFill>
                <a:latin typeface="Calibri"/>
                <a:ea typeface="Calibri"/>
                <a:cs typeface="Calibri"/>
                <a:sym typeface="Calibri"/>
              </a:rPr>
              <a:t>. De este modo se pueden conocer los servicios que usan los usuarios, y estudiar el contenido del tráfico, en busca de elementos anómalos.</a:t>
            </a:r>
            <a:endParaRPr sz="2400">
              <a:latin typeface="Calibri"/>
              <a:ea typeface="Calibri"/>
              <a:cs typeface="Calibri"/>
              <a:sym typeface="Calibri"/>
            </a:endParaRPr>
          </a:p>
          <a:p>
            <a:pPr marL="228600" lvl="0" indent="-228600" algn="l" rtl="0">
              <a:lnSpc>
                <a:spcPct val="107000"/>
              </a:lnSpc>
              <a:spcBef>
                <a:spcPts val="1800"/>
              </a:spcBef>
              <a:spcAft>
                <a:spcPts val="0"/>
              </a:spcAft>
              <a:buClr>
                <a:srgbClr val="003245"/>
              </a:buClr>
              <a:buSzPts val="2400"/>
              <a:buChar char="•"/>
            </a:pPr>
            <a:br>
              <a:rPr lang="es-ES" sz="2400">
                <a:solidFill>
                  <a:srgbClr val="003245"/>
                </a:solidFill>
                <a:latin typeface="Calibri"/>
                <a:ea typeface="Calibri"/>
                <a:cs typeface="Calibri"/>
                <a:sym typeface="Calibri"/>
              </a:rPr>
            </a:br>
            <a:br>
              <a:rPr lang="es-ES" sz="2400">
                <a:solidFill>
                  <a:srgbClr val="003245"/>
                </a:solidFill>
                <a:latin typeface="Calibri"/>
                <a:ea typeface="Calibri"/>
                <a:cs typeface="Calibri"/>
                <a:sym typeface="Calibri"/>
              </a:rPr>
            </a:br>
            <a:endParaRPr sz="2400">
              <a:latin typeface="Calibri"/>
              <a:ea typeface="Calibri"/>
              <a:cs typeface="Calibri"/>
              <a:sym typeface="Calibri"/>
            </a:endParaRPr>
          </a:p>
        </p:txBody>
      </p:sp>
      <p:pic>
        <p:nvPicPr>
          <p:cNvPr id="1050" name="Google Shape;1050;p118" descr="Rambo Simp | Personajes de los simpsons, Personajes, Los simpson"/>
          <p:cNvPicPr preferRelativeResize="0"/>
          <p:nvPr/>
        </p:nvPicPr>
        <p:blipFill rotWithShape="1">
          <a:blip r:embed="rId3">
            <a:alphaModFix/>
          </a:blip>
          <a:srcRect/>
          <a:stretch/>
        </p:blipFill>
        <p:spPr>
          <a:xfrm>
            <a:off x="10306050" y="0"/>
            <a:ext cx="1771650" cy="2581275"/>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119"/>
          <p:cNvSpPr txBox="1"/>
          <p:nvPr/>
        </p:nvSpPr>
        <p:spPr>
          <a:xfrm>
            <a:off x="606392" y="532507"/>
            <a:ext cx="9699658" cy="575413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7000"/>
              </a:lnSpc>
              <a:spcBef>
                <a:spcPts val="0"/>
              </a:spcBef>
              <a:spcAft>
                <a:spcPts val="0"/>
              </a:spcAft>
              <a:buClr>
                <a:srgbClr val="003245"/>
              </a:buClr>
              <a:buSzPts val="1000"/>
              <a:buFont typeface="Noto Sans Symbols"/>
              <a:buChar char="∙"/>
            </a:pPr>
            <a:r>
              <a:rPr lang="es-ES" sz="2800" b="1">
                <a:solidFill>
                  <a:srgbClr val="003245"/>
                </a:solidFill>
                <a:latin typeface="Calibri"/>
                <a:ea typeface="Calibri"/>
                <a:cs typeface="Calibri"/>
                <a:sym typeface="Calibri"/>
              </a:rPr>
              <a:t>Auditoría de configuraciones y vulnerabilidades de determinados sistemas</a:t>
            </a:r>
            <a:r>
              <a:rPr lang="es-ES" sz="2400">
                <a:solidFill>
                  <a:srgbClr val="003245"/>
                </a:solidFill>
                <a:latin typeface="Calibri"/>
                <a:ea typeface="Calibri"/>
                <a:cs typeface="Calibri"/>
                <a:sym typeface="Calibri"/>
              </a:rPr>
              <a:t>.</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b="1">
                <a:solidFill>
                  <a:srgbClr val="003245"/>
                </a:solidFill>
                <a:latin typeface="Calibri"/>
                <a:ea typeface="Calibri"/>
                <a:cs typeface="Calibri"/>
                <a:sym typeface="Calibri"/>
              </a:rPr>
              <a:t>Descubrimiento de sistemas con servicios habilitados que no deberían de estarlo </a:t>
            </a:r>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b="1">
                <a:solidFill>
                  <a:srgbClr val="003245"/>
                </a:solidFill>
                <a:latin typeface="Calibri"/>
                <a:ea typeface="Calibri"/>
                <a:cs typeface="Calibri"/>
                <a:sym typeface="Calibri"/>
              </a:rPr>
              <a:t>Análisis de comportamiento anormal</a:t>
            </a:r>
            <a:r>
              <a:rPr lang="es-ES" sz="2400">
                <a:solidFill>
                  <a:srgbClr val="003245"/>
                </a:solidFill>
                <a:latin typeface="Calibri"/>
                <a:ea typeface="Calibri"/>
                <a:cs typeface="Calibri"/>
                <a:sym typeface="Calibri"/>
              </a:rPr>
              <a:t>. Si se detecta una conexión fuera de hora, reintentos de conexión fallidos y otros, existe la posibilidad de que se esté en presencia de una intrusión. Un análisis detallado del tráfico y los logs puede revelar una máquina comprometida o un usuario con su contraseña al descubierto.</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b="1">
                <a:solidFill>
                  <a:srgbClr val="003245"/>
                </a:solidFill>
                <a:latin typeface="Calibri"/>
                <a:ea typeface="Calibri"/>
                <a:cs typeface="Calibri"/>
                <a:sym typeface="Calibri"/>
              </a:rPr>
              <a:t>Recogida de evidencias del ataque </a:t>
            </a:r>
            <a:r>
              <a:rPr lang="es-ES" sz="2400">
                <a:solidFill>
                  <a:srgbClr val="003245"/>
                </a:solidFill>
                <a:latin typeface="Calibri"/>
                <a:ea typeface="Calibri"/>
                <a:cs typeface="Calibri"/>
                <a:sym typeface="Calibri"/>
              </a:rPr>
              <a:t>de forma que pueda ser empleada como prueba legal en caso de actuar judicialmente contra los atacantes.</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b="1">
                <a:solidFill>
                  <a:srgbClr val="003245"/>
                </a:solidFill>
                <a:latin typeface="Calibri"/>
                <a:ea typeface="Calibri"/>
                <a:cs typeface="Calibri"/>
                <a:sym typeface="Calibri"/>
              </a:rPr>
              <a:t>Automatización de tareas como la actualización de reglas</a:t>
            </a:r>
            <a:r>
              <a:rPr lang="es-ES" sz="2400">
                <a:solidFill>
                  <a:srgbClr val="003245"/>
                </a:solidFill>
                <a:latin typeface="Calibri"/>
                <a:ea typeface="Calibri"/>
                <a:cs typeface="Calibri"/>
                <a:sym typeface="Calibri"/>
              </a:rPr>
              <a:t>, la obtención y análisis de logs, la configuración de cortafuegos y otros.</a:t>
            </a:r>
            <a:endParaRPr sz="2400">
              <a:solidFill>
                <a:schemeClr val="dk1"/>
              </a:solidFill>
              <a:latin typeface="Calibri"/>
              <a:ea typeface="Calibri"/>
              <a:cs typeface="Calibri"/>
              <a:sym typeface="Calibri"/>
            </a:endParaRPr>
          </a:p>
        </p:txBody>
      </p:sp>
      <p:sp>
        <p:nvSpPr>
          <p:cNvPr id="1056" name="Google Shape;1056;p119"/>
          <p:cNvSpPr txBox="1">
            <a:spLocks noGrp="1"/>
          </p:cNvSpPr>
          <p:nvPr>
            <p:ph type="title"/>
          </p:nvPr>
        </p:nvSpPr>
        <p:spPr>
          <a:xfrm>
            <a:off x="838200" y="0"/>
            <a:ext cx="10515600" cy="6000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Calibri"/>
              <a:buNone/>
            </a:pPr>
            <a:r>
              <a:rPr lang="es-ES" sz="2800"/>
              <a:t>PREVENCION</a:t>
            </a:r>
            <a:endParaRPr/>
          </a:p>
        </p:txBody>
      </p:sp>
      <p:pic>
        <p:nvPicPr>
          <p:cNvPr id="1057" name="Google Shape;1057;p119" descr="Rambo Simp | Personajes de los simpsons, Personajes, Los simpson"/>
          <p:cNvPicPr preferRelativeResize="0"/>
          <p:nvPr/>
        </p:nvPicPr>
        <p:blipFill rotWithShape="1">
          <a:blip r:embed="rId3">
            <a:alphaModFix/>
          </a:blip>
          <a:srcRect/>
          <a:stretch/>
        </p:blipFill>
        <p:spPr>
          <a:xfrm>
            <a:off x="10306050" y="0"/>
            <a:ext cx="1771650" cy="2581275"/>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120"/>
          <p:cNvSpPr txBox="1"/>
          <p:nvPr/>
        </p:nvSpPr>
        <p:spPr>
          <a:xfrm>
            <a:off x="2032000" y="344114"/>
            <a:ext cx="9030903" cy="3755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s-ES" sz="1800">
                <a:solidFill>
                  <a:srgbClr val="003245"/>
                </a:solidFill>
                <a:latin typeface="Calibri"/>
                <a:ea typeface="Calibri"/>
                <a:cs typeface="Calibri"/>
                <a:sym typeface="Calibri"/>
              </a:rPr>
              <a:t>Hay tres métodos que pueden emplear los IDS para detectar los ataques o las intrusiones:</a:t>
            </a:r>
            <a:endParaRPr sz="1800">
              <a:solidFill>
                <a:schemeClr val="dk1"/>
              </a:solidFill>
              <a:latin typeface="Calibri"/>
              <a:ea typeface="Calibri"/>
              <a:cs typeface="Calibri"/>
              <a:sym typeface="Calibri"/>
            </a:endParaRPr>
          </a:p>
        </p:txBody>
      </p:sp>
      <p:sp>
        <p:nvSpPr>
          <p:cNvPr id="1064" name="Google Shape;1064;p120"/>
          <p:cNvSpPr txBox="1"/>
          <p:nvPr/>
        </p:nvSpPr>
        <p:spPr>
          <a:xfrm>
            <a:off x="654517" y="182879"/>
            <a:ext cx="147187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SISTEMAS IDS</a:t>
            </a:r>
            <a:endParaRPr/>
          </a:p>
        </p:txBody>
      </p:sp>
      <p:pic>
        <p:nvPicPr>
          <p:cNvPr id="1065" name="Google Shape;1065;p120" descr="Alarma Roja Sirena De Dibujos Animados De Alarma Pintada A Mano, Rojo,  Ilustrador De Alarma, Ilustración De Alarma PNG y PSD para Descargar Gratis  | Pngtree"/>
          <p:cNvPicPr preferRelativeResize="0"/>
          <p:nvPr/>
        </p:nvPicPr>
        <p:blipFill rotWithShape="1">
          <a:blip r:embed="rId3">
            <a:alphaModFix/>
          </a:blip>
          <a:srcRect/>
          <a:stretch/>
        </p:blipFill>
        <p:spPr>
          <a:xfrm>
            <a:off x="10048875" y="0"/>
            <a:ext cx="2143125" cy="2143125"/>
          </a:xfrm>
          <a:prstGeom prst="rect">
            <a:avLst/>
          </a:prstGeom>
          <a:noFill/>
          <a:ln>
            <a:noFill/>
          </a:ln>
        </p:spPr>
      </p:pic>
      <p:grpSp>
        <p:nvGrpSpPr>
          <p:cNvPr id="1066" name="Google Shape;1066;p120"/>
          <p:cNvGrpSpPr/>
          <p:nvPr/>
        </p:nvGrpSpPr>
        <p:grpSpPr>
          <a:xfrm>
            <a:off x="309077" y="883730"/>
            <a:ext cx="11270114" cy="5788561"/>
            <a:chOff x="0" y="2829"/>
            <a:chExt cx="11270114" cy="5788561"/>
          </a:xfrm>
        </p:grpSpPr>
        <p:sp>
          <p:nvSpPr>
            <p:cNvPr id="1067" name="Google Shape;1067;p120"/>
            <p:cNvSpPr/>
            <p:nvPr/>
          </p:nvSpPr>
          <p:spPr>
            <a:xfrm>
              <a:off x="4508045" y="2829"/>
              <a:ext cx="6762069" cy="5788561"/>
            </a:xfrm>
            <a:prstGeom prst="rightArrow">
              <a:avLst>
                <a:gd name="adj1" fmla="val 75000"/>
                <a:gd name="adj2" fmla="val 50000"/>
              </a:avLst>
            </a:prstGeom>
            <a:solidFill>
              <a:srgbClr val="F7D5CB">
                <a:alpha val="89803"/>
              </a:srgbClr>
            </a:solidFill>
            <a:ln w="12700"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20"/>
            <p:cNvSpPr txBox="1"/>
            <p:nvPr/>
          </p:nvSpPr>
          <p:spPr>
            <a:xfrm>
              <a:off x="4508045" y="726399"/>
              <a:ext cx="4591359" cy="4341421"/>
            </a:xfrm>
            <a:prstGeom prst="rect">
              <a:avLst/>
            </a:prstGeom>
            <a:noFill/>
            <a:ln>
              <a:noFill/>
            </a:ln>
          </p:spPr>
          <p:txBody>
            <a:bodyPr spcFirstLastPara="1" wrap="square" lIns="11425" tIns="11425" rIns="11425" bIns="11425" anchor="t" anchorCtr="0">
              <a:noAutofit/>
            </a:bodyPr>
            <a:lstStyle/>
            <a:p>
              <a:pPr marL="171450" marR="0" lvl="1" indent="-171450" algn="l" rtl="0">
                <a:lnSpc>
                  <a:spcPct val="90000"/>
                </a:lnSpc>
                <a:spcBef>
                  <a:spcPts val="0"/>
                </a:spcBef>
                <a:spcAft>
                  <a:spcPts val="0"/>
                </a:spcAft>
                <a:buClr>
                  <a:schemeClr val="dk1"/>
                </a:buClr>
                <a:buSzPts val="1000"/>
                <a:buFont typeface="Noto Sans Symbols"/>
                <a:buChar char="∙"/>
              </a:pPr>
              <a:r>
                <a:rPr lang="es-ES" sz="1800" b="0" i="0" u="none" strike="noStrike" cap="none">
                  <a:solidFill>
                    <a:schemeClr val="dk1"/>
                  </a:solidFill>
                  <a:latin typeface="Calibri"/>
                  <a:ea typeface="Calibri"/>
                  <a:cs typeface="Calibri"/>
                  <a:sym typeface="Calibri"/>
                </a:rPr>
                <a:t> Se basa en el aprendizaje por parte del sistema de las actividades normales y legítimas que tienen lugar en nuestra red/equipo, de forma que se entrena al IDS para detectar las actividades que se salen de este patrón de comportamiento normal. La ventaja de este método es que se adapta y puede detectar ataques no conocidos sin necesidad de estar continuamente actualizando sus firmas, pero como contrapartida es muy propenso a generar falsas alarmas.</a:t>
              </a:r>
              <a:endParaRPr sz="1800" b="0" i="0" u="none" strike="noStrike" cap="none">
                <a:solidFill>
                  <a:schemeClr val="dk1"/>
                </a:solidFill>
                <a:latin typeface="Calibri"/>
                <a:ea typeface="Calibri"/>
                <a:cs typeface="Calibri"/>
                <a:sym typeface="Calibri"/>
              </a:endParaRPr>
            </a:p>
            <a:p>
              <a:pPr marL="171450" marR="0" lvl="1" indent="-171450" algn="l" rtl="0">
                <a:lnSpc>
                  <a:spcPct val="90000"/>
                </a:lnSpc>
                <a:spcBef>
                  <a:spcPts val="270"/>
                </a:spcBef>
                <a:spcAft>
                  <a:spcPts val="0"/>
                </a:spcAft>
                <a:buClr>
                  <a:schemeClr val="dk1"/>
                </a:buClr>
                <a:buSzPts val="1000"/>
                <a:buFont typeface="Noto Sans Symbols"/>
                <a:buChar char="∙"/>
              </a:pPr>
              <a:r>
                <a:rPr lang="es-ES" sz="1800" b="0" i="0" u="none" strike="noStrike" cap="none">
                  <a:solidFill>
                    <a:schemeClr val="dk1"/>
                  </a:solidFill>
                  <a:latin typeface="Calibri"/>
                  <a:ea typeface="Calibri"/>
                  <a:cs typeface="Calibri"/>
                  <a:sym typeface="Calibri"/>
                </a:rPr>
                <a:t> Por ejemplo, si un usuario suele enviar 30 correos electrónicos al día y se detecta un envío de 500 correos es muy probable que se trate de un ataque (o que ese día ese usuario tenga que hacer la difusión de un evento, en ese caso saltaría una falsa alarma).</a:t>
              </a:r>
              <a:endParaRPr sz="1800" b="0" i="0" u="none" strike="noStrike" cap="none">
                <a:solidFill>
                  <a:schemeClr val="dk1"/>
                </a:solidFill>
                <a:latin typeface="Calibri"/>
                <a:ea typeface="Calibri"/>
                <a:cs typeface="Calibri"/>
                <a:sym typeface="Calibri"/>
              </a:endParaRPr>
            </a:p>
          </p:txBody>
        </p:sp>
        <p:sp>
          <p:nvSpPr>
            <p:cNvPr id="1069" name="Google Shape;1069;p120"/>
            <p:cNvSpPr/>
            <p:nvPr/>
          </p:nvSpPr>
          <p:spPr>
            <a:xfrm>
              <a:off x="0" y="2829"/>
              <a:ext cx="4508046" cy="5788561"/>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20"/>
            <p:cNvSpPr txBox="1"/>
            <p:nvPr/>
          </p:nvSpPr>
          <p:spPr>
            <a:xfrm>
              <a:off x="220065" y="222894"/>
              <a:ext cx="4067916" cy="5348431"/>
            </a:xfrm>
            <a:prstGeom prst="rect">
              <a:avLst/>
            </a:prstGeom>
            <a:noFill/>
            <a:ln>
              <a:noFill/>
            </a:ln>
          </p:spPr>
          <p:txBody>
            <a:bodyPr spcFirstLastPara="1" wrap="square" lIns="182875" tIns="91425" rIns="182875" bIns="91425" anchor="ctr" anchorCtr="0">
              <a:noAutofit/>
            </a:bodyPr>
            <a:lstStyle/>
            <a:p>
              <a:pPr marL="0" marR="0" lvl="0" indent="0" algn="ctr" rtl="0">
                <a:lnSpc>
                  <a:spcPct val="90000"/>
                </a:lnSpc>
                <a:spcBef>
                  <a:spcPts val="0"/>
                </a:spcBef>
                <a:spcAft>
                  <a:spcPts val="0"/>
                </a:spcAft>
                <a:buClr>
                  <a:schemeClr val="lt1"/>
                </a:buClr>
                <a:buSzPts val="1000"/>
                <a:buFont typeface="Noto Sans Symbols"/>
                <a:buNone/>
              </a:pPr>
              <a:r>
                <a:rPr lang="es-ES" sz="4800" b="1">
                  <a:solidFill>
                    <a:schemeClr val="lt1"/>
                  </a:solidFill>
                  <a:latin typeface="Calibri"/>
                  <a:ea typeface="Calibri"/>
                  <a:cs typeface="Calibri"/>
                  <a:sym typeface="Calibri"/>
                </a:rPr>
                <a:t>Detección</a:t>
              </a:r>
              <a:r>
                <a:rPr lang="es-ES" sz="7200" b="1">
                  <a:solidFill>
                    <a:schemeClr val="lt1"/>
                  </a:solidFill>
                  <a:latin typeface="Calibri"/>
                  <a:ea typeface="Calibri"/>
                  <a:cs typeface="Calibri"/>
                  <a:sym typeface="Calibri"/>
                </a:rPr>
                <a:t> de anomalías</a:t>
              </a:r>
              <a:r>
                <a:rPr lang="es-ES" sz="7200">
                  <a:solidFill>
                    <a:schemeClr val="lt1"/>
                  </a:solidFill>
                  <a:latin typeface="Calibri"/>
                  <a:ea typeface="Calibri"/>
                  <a:cs typeface="Calibri"/>
                  <a:sym typeface="Calibri"/>
                </a:rPr>
                <a:t>:</a:t>
              </a:r>
              <a:endParaRPr sz="7200">
                <a:solidFill>
                  <a:schemeClr val="lt1"/>
                </a:solidFill>
                <a:latin typeface="Calibri"/>
                <a:ea typeface="Calibri"/>
                <a:cs typeface="Calibri"/>
                <a:sym typeface="Calibri"/>
              </a:endParaRPr>
            </a:p>
          </p:txBody>
        </p:sp>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121"/>
          <p:cNvSpPr txBox="1"/>
          <p:nvPr/>
        </p:nvSpPr>
        <p:spPr>
          <a:xfrm>
            <a:off x="2032000" y="344114"/>
            <a:ext cx="9030903" cy="3755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s-ES" sz="1800">
                <a:solidFill>
                  <a:srgbClr val="003245"/>
                </a:solidFill>
                <a:latin typeface="Calibri"/>
                <a:ea typeface="Calibri"/>
                <a:cs typeface="Calibri"/>
                <a:sym typeface="Calibri"/>
              </a:rPr>
              <a:t>Hay tres métodos que pueden emplear los IDS para detectar los ataques o las intrusiones:</a:t>
            </a:r>
            <a:endParaRPr sz="1800">
              <a:solidFill>
                <a:schemeClr val="dk1"/>
              </a:solidFill>
              <a:latin typeface="Calibri"/>
              <a:ea typeface="Calibri"/>
              <a:cs typeface="Calibri"/>
              <a:sym typeface="Calibri"/>
            </a:endParaRPr>
          </a:p>
        </p:txBody>
      </p:sp>
      <p:sp>
        <p:nvSpPr>
          <p:cNvPr id="1077" name="Google Shape;1077;p121"/>
          <p:cNvSpPr txBox="1"/>
          <p:nvPr/>
        </p:nvSpPr>
        <p:spPr>
          <a:xfrm>
            <a:off x="654517" y="182879"/>
            <a:ext cx="147187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SISTEMAS IDS</a:t>
            </a:r>
            <a:endParaRPr/>
          </a:p>
        </p:txBody>
      </p:sp>
      <p:pic>
        <p:nvPicPr>
          <p:cNvPr id="1078" name="Google Shape;1078;p121" descr="Alarma Roja Sirena De Dibujos Animados De Alarma Pintada A Mano, Rojo,  Ilustrador De Alarma, Ilustración De Alarma PNG y PSD para Descargar Gratis  | Pngtree"/>
          <p:cNvPicPr preferRelativeResize="0"/>
          <p:nvPr/>
        </p:nvPicPr>
        <p:blipFill rotWithShape="1">
          <a:blip r:embed="rId3">
            <a:alphaModFix/>
          </a:blip>
          <a:srcRect/>
          <a:stretch/>
        </p:blipFill>
        <p:spPr>
          <a:xfrm>
            <a:off x="10048875" y="0"/>
            <a:ext cx="2143125" cy="2143125"/>
          </a:xfrm>
          <a:prstGeom prst="rect">
            <a:avLst/>
          </a:prstGeom>
          <a:noFill/>
          <a:ln>
            <a:noFill/>
          </a:ln>
        </p:spPr>
      </p:pic>
      <p:grpSp>
        <p:nvGrpSpPr>
          <p:cNvPr id="1079" name="Google Shape;1079;p121"/>
          <p:cNvGrpSpPr/>
          <p:nvPr/>
        </p:nvGrpSpPr>
        <p:grpSpPr>
          <a:xfrm>
            <a:off x="309077" y="880901"/>
            <a:ext cx="10753825" cy="5794220"/>
            <a:chOff x="0" y="0"/>
            <a:chExt cx="10753825" cy="5794220"/>
          </a:xfrm>
        </p:grpSpPr>
        <p:sp>
          <p:nvSpPr>
            <p:cNvPr id="1080" name="Google Shape;1080;p121"/>
            <p:cNvSpPr/>
            <p:nvPr/>
          </p:nvSpPr>
          <p:spPr>
            <a:xfrm>
              <a:off x="4301530" y="0"/>
              <a:ext cx="6452295" cy="5794220"/>
            </a:xfrm>
            <a:prstGeom prst="rightArrow">
              <a:avLst>
                <a:gd name="adj1" fmla="val 75000"/>
                <a:gd name="adj2" fmla="val 50000"/>
              </a:avLst>
            </a:prstGeom>
            <a:solidFill>
              <a:srgbClr val="F7D5CB">
                <a:alpha val="89803"/>
              </a:srgbClr>
            </a:solidFill>
            <a:ln w="12700"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21"/>
            <p:cNvSpPr txBox="1"/>
            <p:nvPr/>
          </p:nvSpPr>
          <p:spPr>
            <a:xfrm>
              <a:off x="4301530" y="724278"/>
              <a:ext cx="4279463" cy="4345665"/>
            </a:xfrm>
            <a:prstGeom prst="rect">
              <a:avLst/>
            </a:prstGeom>
            <a:noFill/>
            <a:ln>
              <a:noFill/>
            </a:ln>
          </p:spPr>
          <p:txBody>
            <a:bodyPr spcFirstLastPara="1" wrap="square" lIns="12700" tIns="12700" rIns="12700" bIns="12700" anchor="t" anchorCtr="0">
              <a:noAutofit/>
            </a:bodyPr>
            <a:lstStyle/>
            <a:p>
              <a:pPr marL="228600" marR="0" lvl="1" indent="-228600" algn="l" rtl="0">
                <a:lnSpc>
                  <a:spcPct val="90000"/>
                </a:lnSpc>
                <a:spcBef>
                  <a:spcPts val="0"/>
                </a:spcBef>
                <a:spcAft>
                  <a:spcPts val="0"/>
                </a:spcAft>
                <a:buClr>
                  <a:schemeClr val="dk1"/>
                </a:buClr>
                <a:buSzPts val="2000"/>
                <a:buFont typeface="Calibri"/>
                <a:buChar char="•"/>
              </a:pPr>
              <a:r>
                <a:rPr lang="es-ES" sz="2000" b="0" i="0" u="none" strike="noStrike" cap="none">
                  <a:solidFill>
                    <a:schemeClr val="dk1"/>
                  </a:solidFill>
                  <a:latin typeface="Calibri"/>
                  <a:ea typeface="Calibri"/>
                  <a:cs typeface="Calibri"/>
                  <a:sym typeface="Calibri"/>
                </a:rPr>
                <a:t>Se basa en comparar las actividades que se monitorizan en el equipo/red con una base de datos de firmas de ataques, generando una alarma en caso de coincidencia. Este método es más preciso que el anterior pero requiere de una actualización continua de la base de datos de firmas, y no detecta nuevas intrusiones o variaciones sobre las existentes. Por ejemplo, un intento de telnet con el usuario “root” sería detectado como uso incorrecto.</a:t>
              </a:r>
              <a:endParaRPr sz="2000" b="0" i="0" u="none" strike="noStrike" cap="none">
                <a:solidFill>
                  <a:schemeClr val="dk1"/>
                </a:solidFill>
                <a:latin typeface="Calibri"/>
                <a:ea typeface="Calibri"/>
                <a:cs typeface="Calibri"/>
                <a:sym typeface="Calibri"/>
              </a:endParaRPr>
            </a:p>
          </p:txBody>
        </p:sp>
        <p:sp>
          <p:nvSpPr>
            <p:cNvPr id="1082" name="Google Shape;1082;p121"/>
            <p:cNvSpPr/>
            <p:nvPr/>
          </p:nvSpPr>
          <p:spPr>
            <a:xfrm>
              <a:off x="0" y="0"/>
              <a:ext cx="4301530" cy="579422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21"/>
            <p:cNvSpPr txBox="1"/>
            <p:nvPr/>
          </p:nvSpPr>
          <p:spPr>
            <a:xfrm>
              <a:off x="209983" y="209983"/>
              <a:ext cx="3881564" cy="5374254"/>
            </a:xfrm>
            <a:prstGeom prst="rect">
              <a:avLst/>
            </a:prstGeom>
            <a:noFill/>
            <a:ln>
              <a:noFill/>
            </a:ln>
          </p:spPr>
          <p:txBody>
            <a:bodyPr spcFirstLastPara="1" wrap="square" lIns="205725" tIns="102850" rIns="205725" bIns="102850" anchor="ctr" anchorCtr="0">
              <a:noAutofit/>
            </a:bodyPr>
            <a:lstStyle/>
            <a:p>
              <a:pPr marL="0" marR="0" lvl="0" indent="0" algn="ctr" rtl="0">
                <a:lnSpc>
                  <a:spcPct val="90000"/>
                </a:lnSpc>
                <a:spcBef>
                  <a:spcPts val="0"/>
                </a:spcBef>
                <a:spcAft>
                  <a:spcPts val="0"/>
                </a:spcAft>
                <a:buClr>
                  <a:schemeClr val="lt1"/>
                </a:buClr>
                <a:buSzPts val="5400"/>
                <a:buFont typeface="Calibri"/>
                <a:buNone/>
              </a:pPr>
              <a:r>
                <a:rPr lang="es-ES" sz="5400" b="1">
                  <a:solidFill>
                    <a:schemeClr val="lt1"/>
                  </a:solidFill>
                  <a:latin typeface="Calibri"/>
                  <a:ea typeface="Calibri"/>
                  <a:cs typeface="Calibri"/>
                  <a:sym typeface="Calibri"/>
                </a:rPr>
                <a:t>Detección de usos incorrectos</a:t>
              </a:r>
              <a:r>
                <a:rPr lang="es-ES" sz="5400">
                  <a:solidFill>
                    <a:schemeClr val="lt1"/>
                  </a:solidFill>
                  <a:latin typeface="Calibri"/>
                  <a:ea typeface="Calibri"/>
                  <a:cs typeface="Calibri"/>
                  <a:sym typeface="Calibri"/>
                </a:rPr>
                <a:t>:</a:t>
              </a:r>
              <a:endParaRPr sz="5400">
                <a:solidFill>
                  <a:schemeClr val="lt1"/>
                </a:solidFill>
                <a:latin typeface="Calibri"/>
                <a:ea typeface="Calibri"/>
                <a:cs typeface="Calibri"/>
                <a:sym typeface="Calibri"/>
              </a:endParaRP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122"/>
          <p:cNvSpPr txBox="1"/>
          <p:nvPr/>
        </p:nvSpPr>
        <p:spPr>
          <a:xfrm>
            <a:off x="2032000" y="344114"/>
            <a:ext cx="9030903" cy="375552"/>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s-ES" sz="1800">
                <a:solidFill>
                  <a:srgbClr val="003245"/>
                </a:solidFill>
                <a:latin typeface="Calibri"/>
                <a:ea typeface="Calibri"/>
                <a:cs typeface="Calibri"/>
                <a:sym typeface="Calibri"/>
              </a:rPr>
              <a:t>Hay tres métodos que pueden emplear los IDS para detectar los ataques o las intrusiones:</a:t>
            </a:r>
            <a:endParaRPr sz="1800">
              <a:solidFill>
                <a:schemeClr val="dk1"/>
              </a:solidFill>
              <a:latin typeface="Calibri"/>
              <a:ea typeface="Calibri"/>
              <a:cs typeface="Calibri"/>
              <a:sym typeface="Calibri"/>
            </a:endParaRPr>
          </a:p>
        </p:txBody>
      </p:sp>
      <p:sp>
        <p:nvSpPr>
          <p:cNvPr id="1090" name="Google Shape;1090;p122"/>
          <p:cNvSpPr txBox="1"/>
          <p:nvPr/>
        </p:nvSpPr>
        <p:spPr>
          <a:xfrm>
            <a:off x="654517" y="182879"/>
            <a:ext cx="147187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SISTEMAS IDS</a:t>
            </a:r>
            <a:endParaRPr/>
          </a:p>
        </p:txBody>
      </p:sp>
      <p:pic>
        <p:nvPicPr>
          <p:cNvPr id="1091" name="Google Shape;1091;p122" descr="Alarma Roja Sirena De Dibujos Animados De Alarma Pintada A Mano, Rojo,  Ilustrador De Alarma, Ilustración De Alarma PNG y PSD para Descargar Gratis  | Pngtree"/>
          <p:cNvPicPr preferRelativeResize="0"/>
          <p:nvPr/>
        </p:nvPicPr>
        <p:blipFill rotWithShape="1">
          <a:blip r:embed="rId3">
            <a:alphaModFix/>
          </a:blip>
          <a:srcRect/>
          <a:stretch/>
        </p:blipFill>
        <p:spPr>
          <a:xfrm>
            <a:off x="10048875" y="0"/>
            <a:ext cx="2143125" cy="2143125"/>
          </a:xfrm>
          <a:prstGeom prst="rect">
            <a:avLst/>
          </a:prstGeom>
          <a:noFill/>
          <a:ln>
            <a:noFill/>
          </a:ln>
        </p:spPr>
      </p:pic>
      <p:grpSp>
        <p:nvGrpSpPr>
          <p:cNvPr id="1092" name="Google Shape;1092;p122"/>
          <p:cNvGrpSpPr/>
          <p:nvPr/>
        </p:nvGrpSpPr>
        <p:grpSpPr>
          <a:xfrm>
            <a:off x="309077" y="880901"/>
            <a:ext cx="9941826" cy="5794220"/>
            <a:chOff x="0" y="0"/>
            <a:chExt cx="9941826" cy="5794220"/>
          </a:xfrm>
        </p:grpSpPr>
        <p:sp>
          <p:nvSpPr>
            <p:cNvPr id="1093" name="Google Shape;1093;p122"/>
            <p:cNvSpPr/>
            <p:nvPr/>
          </p:nvSpPr>
          <p:spPr>
            <a:xfrm>
              <a:off x="3976730" y="0"/>
              <a:ext cx="5965096" cy="5794220"/>
            </a:xfrm>
            <a:prstGeom prst="rightArrow">
              <a:avLst>
                <a:gd name="adj1" fmla="val 75000"/>
                <a:gd name="adj2" fmla="val 50000"/>
              </a:avLst>
            </a:prstGeom>
            <a:solidFill>
              <a:srgbClr val="F7D5CB">
                <a:alpha val="89803"/>
              </a:srgbClr>
            </a:solidFill>
            <a:ln w="12700"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22"/>
            <p:cNvSpPr txBox="1"/>
            <p:nvPr/>
          </p:nvSpPr>
          <p:spPr>
            <a:xfrm>
              <a:off x="3976730" y="724278"/>
              <a:ext cx="3792264" cy="4345665"/>
            </a:xfrm>
            <a:prstGeom prst="rect">
              <a:avLst/>
            </a:prstGeom>
            <a:noFill/>
            <a:ln>
              <a:noFill/>
            </a:ln>
          </p:spPr>
          <p:txBody>
            <a:bodyPr spcFirstLastPara="1" wrap="square" lIns="15225" tIns="15225" rIns="15225" bIns="15225" anchor="t" anchorCtr="0">
              <a:noAutofit/>
            </a:bodyPr>
            <a:lstStyle/>
            <a:p>
              <a:pPr marL="228600" marR="0" lvl="1" indent="-228600" algn="l" rtl="0">
                <a:lnSpc>
                  <a:spcPct val="90000"/>
                </a:lnSpc>
                <a:spcBef>
                  <a:spcPts val="0"/>
                </a:spcBef>
                <a:spcAft>
                  <a:spcPts val="0"/>
                </a:spcAft>
                <a:buClr>
                  <a:schemeClr val="dk1"/>
                </a:buClr>
                <a:buSzPts val="2400"/>
                <a:buFont typeface="Calibri"/>
                <a:buChar char="•"/>
              </a:pPr>
              <a:r>
                <a:rPr lang="es-ES" sz="2400" b="0" i="0" u="none" strike="noStrike" cap="none">
                  <a:solidFill>
                    <a:schemeClr val="dk1"/>
                  </a:solidFill>
                  <a:latin typeface="Calibri"/>
                  <a:ea typeface="Calibri"/>
                  <a:cs typeface="Calibri"/>
                  <a:sym typeface="Calibri"/>
                </a:rPr>
                <a:t>Sería el método ideal, </a:t>
              </a:r>
              <a:r>
                <a:rPr lang="es-ES" sz="6000" b="0" i="0" u="none" strike="noStrike" cap="none">
                  <a:solidFill>
                    <a:schemeClr val="dk1"/>
                  </a:solidFill>
                  <a:latin typeface="Calibri"/>
                  <a:ea typeface="Calibri"/>
                  <a:cs typeface="Calibri"/>
                  <a:sym typeface="Calibri"/>
                </a:rPr>
                <a:t>mezclando</a:t>
              </a:r>
              <a:r>
                <a:rPr lang="es-ES" sz="2400" b="0" i="0" u="none" strike="noStrike" cap="none">
                  <a:solidFill>
                    <a:schemeClr val="dk1"/>
                  </a:solidFill>
                  <a:latin typeface="Calibri"/>
                  <a:ea typeface="Calibri"/>
                  <a:cs typeface="Calibri"/>
                  <a:sym typeface="Calibri"/>
                </a:rPr>
                <a:t> la detección de anomalías con los usos incorrectos, para tomar lo bueno de cada uno de ellos. Aún hay mucha investigación por realizar en este campo.</a:t>
              </a:r>
              <a:endParaRPr sz="2400" b="0" i="0" u="none" strike="noStrike" cap="none">
                <a:solidFill>
                  <a:schemeClr val="dk1"/>
                </a:solidFill>
                <a:latin typeface="Calibri"/>
                <a:ea typeface="Calibri"/>
                <a:cs typeface="Calibri"/>
                <a:sym typeface="Calibri"/>
              </a:endParaRPr>
            </a:p>
          </p:txBody>
        </p:sp>
        <p:sp>
          <p:nvSpPr>
            <p:cNvPr id="1095" name="Google Shape;1095;p122"/>
            <p:cNvSpPr/>
            <p:nvPr/>
          </p:nvSpPr>
          <p:spPr>
            <a:xfrm>
              <a:off x="0" y="0"/>
              <a:ext cx="3976730" cy="579422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22"/>
            <p:cNvSpPr txBox="1"/>
            <p:nvPr/>
          </p:nvSpPr>
          <p:spPr>
            <a:xfrm>
              <a:off x="194128" y="194128"/>
              <a:ext cx="3588474" cy="5405964"/>
            </a:xfrm>
            <a:prstGeom prst="rect">
              <a:avLst/>
            </a:prstGeom>
            <a:noFill/>
            <a:ln>
              <a:noFill/>
            </a:ln>
          </p:spPr>
          <p:txBody>
            <a:bodyPr spcFirstLastPara="1" wrap="square" lIns="41900" tIns="20950" rIns="41900" bIns="20950" anchor="ctr" anchorCtr="0">
              <a:noAutofit/>
            </a:bodyPr>
            <a:lstStyle/>
            <a:p>
              <a:pPr marL="0" marR="0" lvl="0" indent="0" algn="ctr" rtl="0">
                <a:lnSpc>
                  <a:spcPct val="90000"/>
                </a:lnSpc>
                <a:spcBef>
                  <a:spcPts val="0"/>
                </a:spcBef>
                <a:spcAft>
                  <a:spcPts val="0"/>
                </a:spcAft>
                <a:buClr>
                  <a:schemeClr val="lt1"/>
                </a:buClr>
                <a:buSzPts val="1000"/>
                <a:buFont typeface="Noto Sans Symbols"/>
                <a:buNone/>
              </a:pPr>
              <a:r>
                <a:rPr lang="es-ES" sz="1100">
                  <a:solidFill>
                    <a:schemeClr val="lt1"/>
                  </a:solidFill>
                  <a:latin typeface="Calibri"/>
                  <a:ea typeface="Calibri"/>
                  <a:cs typeface="Calibri"/>
                  <a:sym typeface="Calibri"/>
                </a:rPr>
                <a:t>).</a:t>
              </a:r>
              <a:r>
                <a:rPr lang="es-ES" sz="4800" b="1">
                  <a:solidFill>
                    <a:schemeClr val="lt1"/>
                  </a:solidFill>
                  <a:latin typeface="Calibri"/>
                  <a:ea typeface="Calibri"/>
                  <a:cs typeface="Calibri"/>
                  <a:sym typeface="Calibri"/>
                </a:rPr>
                <a:t>Híbrido</a:t>
              </a:r>
              <a:r>
                <a:rPr lang="es-ES" sz="4800">
                  <a:solidFill>
                    <a:schemeClr val="lt1"/>
                  </a:solidFill>
                  <a:latin typeface="Calibri"/>
                  <a:ea typeface="Calibri"/>
                  <a:cs typeface="Calibri"/>
                  <a:sym typeface="Calibri"/>
                </a:rPr>
                <a:t>:</a:t>
              </a:r>
              <a:endParaRPr sz="1100">
                <a:solidFill>
                  <a:schemeClr val="lt1"/>
                </a:solidFill>
                <a:latin typeface="Calibri"/>
                <a:ea typeface="Calibri"/>
                <a:cs typeface="Calibri"/>
                <a:sym typeface="Calibri"/>
              </a:endParaRPr>
            </a:p>
          </p:txBody>
        </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23"/>
          <p:cNvSpPr txBox="1">
            <a:spLocks noGrp="1"/>
          </p:cNvSpPr>
          <p:nvPr>
            <p:ph type="title"/>
          </p:nvPr>
        </p:nvSpPr>
        <p:spPr>
          <a:xfrm>
            <a:off x="838200" y="141387"/>
            <a:ext cx="10515600" cy="53965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s-ES" sz="3959"/>
              <a:t>ANTIVIRUS-ESCANEO</a:t>
            </a:r>
            <a:endParaRPr/>
          </a:p>
        </p:txBody>
      </p:sp>
      <p:sp>
        <p:nvSpPr>
          <p:cNvPr id="1102" name="Google Shape;1102;p123"/>
          <p:cNvSpPr txBox="1">
            <a:spLocks noGrp="1"/>
          </p:cNvSpPr>
          <p:nvPr>
            <p:ph type="body" idx="1"/>
          </p:nvPr>
        </p:nvSpPr>
        <p:spPr>
          <a:xfrm>
            <a:off x="106680" y="681038"/>
            <a:ext cx="10515600" cy="6499408"/>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rgbClr val="003245"/>
              </a:buClr>
              <a:buSzPts val="1679"/>
              <a:buNone/>
            </a:pPr>
            <a:r>
              <a:rPr lang="es-ES" sz="1679">
                <a:solidFill>
                  <a:srgbClr val="003245"/>
                </a:solidFill>
                <a:latin typeface="Calibri"/>
                <a:ea typeface="Calibri"/>
                <a:cs typeface="Calibri"/>
                <a:sym typeface="Calibri"/>
              </a:rPr>
              <a:t>Los </a:t>
            </a:r>
            <a:r>
              <a:rPr lang="es-ES" sz="1679" b="1">
                <a:solidFill>
                  <a:srgbClr val="003245"/>
                </a:solidFill>
                <a:latin typeface="Calibri"/>
                <a:ea typeface="Calibri"/>
                <a:cs typeface="Calibri"/>
                <a:sym typeface="Calibri"/>
              </a:rPr>
              <a:t>antivirus/antimalware</a:t>
            </a:r>
            <a:r>
              <a:rPr lang="es-ES" sz="1679">
                <a:solidFill>
                  <a:srgbClr val="003245"/>
                </a:solidFill>
                <a:latin typeface="Calibri"/>
                <a:ea typeface="Calibri"/>
                <a:cs typeface="Calibri"/>
                <a:sym typeface="Calibri"/>
              </a:rPr>
              <a:t> son programas que pueden ser instalados tanto en PCs, como en servidores o dispositivos móviles y que normalmente funcionan de la siguiente manera: realizan un escaneo de los archivos almacenados, detectan malware utilizando diferentes técnicas y por último proceden a su eliminación siempre que sea posible.</a:t>
            </a:r>
            <a:endParaRPr sz="1679">
              <a:latin typeface="Calibri"/>
              <a:ea typeface="Calibri"/>
              <a:cs typeface="Calibri"/>
              <a:sym typeface="Calibri"/>
            </a:endParaRPr>
          </a:p>
          <a:p>
            <a:pPr marL="0" lvl="0" indent="0" algn="l" rtl="0">
              <a:lnSpc>
                <a:spcPct val="87000"/>
              </a:lnSpc>
              <a:spcBef>
                <a:spcPts val="1000"/>
              </a:spcBef>
              <a:spcAft>
                <a:spcPts val="0"/>
              </a:spcAft>
              <a:buClr>
                <a:srgbClr val="003245"/>
              </a:buClr>
              <a:buSzPts val="1000"/>
              <a:buNone/>
            </a:pPr>
            <a:r>
              <a:rPr lang="es-ES" sz="1679" b="1">
                <a:solidFill>
                  <a:srgbClr val="003245"/>
                </a:solidFill>
                <a:latin typeface="Calibri"/>
                <a:ea typeface="Calibri"/>
                <a:cs typeface="Calibri"/>
                <a:sym typeface="Calibri"/>
              </a:rPr>
              <a:t>Signature matching</a:t>
            </a:r>
            <a:r>
              <a:rPr lang="es-ES" sz="1679">
                <a:solidFill>
                  <a:srgbClr val="003245"/>
                </a:solidFill>
                <a:latin typeface="Calibri"/>
                <a:ea typeface="Calibri"/>
                <a:cs typeface="Calibri"/>
                <a:sym typeface="Calibri"/>
              </a:rPr>
              <a:t>: </a:t>
            </a:r>
            <a:endParaRPr/>
          </a:p>
          <a:p>
            <a:pPr marL="342900" lvl="0" indent="-342900" algn="l" rtl="0">
              <a:lnSpc>
                <a:spcPct val="87000"/>
              </a:lnSpc>
              <a:spcBef>
                <a:spcPts val="1800"/>
              </a:spcBef>
              <a:spcAft>
                <a:spcPts val="0"/>
              </a:spcAft>
              <a:buClr>
                <a:srgbClr val="003245"/>
              </a:buClr>
              <a:buSzPts val="1000"/>
              <a:buFont typeface="Noto Sans Symbols"/>
              <a:buChar char="∙"/>
            </a:pPr>
            <a:r>
              <a:rPr lang="es-ES" sz="1679">
                <a:solidFill>
                  <a:srgbClr val="003245"/>
                </a:solidFill>
                <a:latin typeface="Calibri"/>
                <a:ea typeface="Calibri"/>
                <a:cs typeface="Calibri"/>
                <a:sym typeface="Calibri"/>
              </a:rPr>
              <a:t>Consiste en comparar el código del archivo escaneado con el código de todos los tipos de malware conocidos. Para evitar problemas de rendimiento, el antivirus analiza sólo una porción representativa del código del archivo. Se trabaja con firmas en lugar de con códigos completos (algo parecido a un hash). Cada vez que aparece un nuevo malware, la base de datos de firmas es actualizada. La actualización de las firmas es realizada por los antivirus actuales una o varias veces al día. Esta actualización se hace descargando todas las firmas (lo que implica tiempo y consumo de recursos) o de forma incremental.</a:t>
            </a:r>
            <a:endParaRPr sz="1679">
              <a:latin typeface="Calibri"/>
              <a:ea typeface="Calibri"/>
              <a:cs typeface="Calibri"/>
              <a:sym typeface="Calibri"/>
            </a:endParaRPr>
          </a:p>
          <a:p>
            <a:pPr marL="0" lvl="0" indent="0" algn="l" rtl="0">
              <a:lnSpc>
                <a:spcPct val="87000"/>
              </a:lnSpc>
              <a:spcBef>
                <a:spcPts val="1800"/>
              </a:spcBef>
              <a:spcAft>
                <a:spcPts val="0"/>
              </a:spcAft>
              <a:buClr>
                <a:srgbClr val="003245"/>
              </a:buClr>
              <a:buSzPts val="1000"/>
              <a:buNone/>
            </a:pPr>
            <a:r>
              <a:rPr lang="es-ES" sz="1679" b="1">
                <a:solidFill>
                  <a:srgbClr val="003245"/>
                </a:solidFill>
                <a:latin typeface="Calibri"/>
                <a:ea typeface="Calibri"/>
                <a:cs typeface="Calibri"/>
                <a:sym typeface="Calibri"/>
              </a:rPr>
              <a:t>Heuristic analysis</a:t>
            </a:r>
            <a:r>
              <a:rPr lang="es-ES" sz="1679">
                <a:solidFill>
                  <a:srgbClr val="003245"/>
                </a:solidFill>
                <a:latin typeface="Calibri"/>
                <a:ea typeface="Calibri"/>
                <a:cs typeface="Calibri"/>
                <a:sym typeface="Calibri"/>
              </a:rPr>
              <a:t>:</a:t>
            </a:r>
            <a:endParaRPr/>
          </a:p>
          <a:p>
            <a:pPr marL="342900" lvl="0" indent="-342900" algn="l" rtl="0">
              <a:lnSpc>
                <a:spcPct val="87000"/>
              </a:lnSpc>
              <a:spcBef>
                <a:spcPts val="1800"/>
              </a:spcBef>
              <a:spcAft>
                <a:spcPts val="0"/>
              </a:spcAft>
              <a:buClr>
                <a:srgbClr val="003245"/>
              </a:buClr>
              <a:buSzPts val="1000"/>
              <a:buFont typeface="Noto Sans Symbols"/>
              <a:buChar char="∙"/>
            </a:pPr>
            <a:r>
              <a:rPr lang="es-ES" sz="1679">
                <a:solidFill>
                  <a:srgbClr val="003245"/>
                </a:solidFill>
                <a:latin typeface="Calibri"/>
                <a:ea typeface="Calibri"/>
                <a:cs typeface="Calibri"/>
                <a:sym typeface="Calibri"/>
              </a:rPr>
              <a:t>Se utiliza para completar el primer tipo de escaneo, es decir, para bloquear posibles virus que todavía no se hayan catalogado en la base de datos de firmas o que se consideren polimórficos. En este caso el antivirus realiza un escaneo basado en la búsqueda de comportamientos anómalos del sistema. Por ejemplo, que un archivo intente acceder al sector de arranque, que al ejecutar un .exe  se inicie el borrado de archivos. Basándose en estas heurísticas, se asigna un peso al archivo analizado y si el peso supera un determinado umbral, el antivirus lo bloquea. El problema de este tipo de escaneo es que consume muchos recursos y puede producir falsos positivos.</a:t>
            </a:r>
            <a:endParaRPr sz="1679">
              <a:latin typeface="Calibri"/>
              <a:ea typeface="Calibri"/>
              <a:cs typeface="Calibri"/>
              <a:sym typeface="Calibri"/>
            </a:endParaRPr>
          </a:p>
          <a:p>
            <a:pPr marL="0" lvl="0" indent="0" algn="l" rtl="0">
              <a:lnSpc>
                <a:spcPct val="87000"/>
              </a:lnSpc>
              <a:spcBef>
                <a:spcPts val="1800"/>
              </a:spcBef>
              <a:spcAft>
                <a:spcPts val="0"/>
              </a:spcAft>
              <a:buClr>
                <a:srgbClr val="003245"/>
              </a:buClr>
              <a:buSzPts val="1000"/>
              <a:buNone/>
            </a:pPr>
            <a:r>
              <a:rPr lang="es-ES" sz="1679" b="1">
                <a:solidFill>
                  <a:srgbClr val="003245"/>
                </a:solidFill>
                <a:latin typeface="Calibri"/>
                <a:ea typeface="Calibri"/>
                <a:cs typeface="Calibri"/>
                <a:sym typeface="Calibri"/>
              </a:rPr>
              <a:t>Behaviour blocking</a:t>
            </a:r>
            <a:r>
              <a:rPr lang="es-ES" sz="1679">
                <a:solidFill>
                  <a:srgbClr val="003245"/>
                </a:solidFill>
                <a:latin typeface="Calibri"/>
                <a:ea typeface="Calibri"/>
                <a:cs typeface="Calibri"/>
                <a:sym typeface="Calibri"/>
              </a:rPr>
              <a:t>: </a:t>
            </a:r>
            <a:endParaRPr/>
          </a:p>
          <a:p>
            <a:pPr marL="342900" lvl="0" indent="-342900" algn="l" rtl="0">
              <a:lnSpc>
                <a:spcPct val="87000"/>
              </a:lnSpc>
              <a:spcBef>
                <a:spcPts val="1800"/>
              </a:spcBef>
              <a:spcAft>
                <a:spcPts val="0"/>
              </a:spcAft>
              <a:buClr>
                <a:srgbClr val="003245"/>
              </a:buClr>
              <a:buSzPts val="1000"/>
              <a:buFont typeface="Noto Sans Symbols"/>
              <a:buChar char="∙"/>
            </a:pPr>
            <a:r>
              <a:rPr lang="es-ES" sz="1679">
                <a:solidFill>
                  <a:srgbClr val="003245"/>
                </a:solidFill>
                <a:latin typeface="Calibri"/>
                <a:ea typeface="Calibri"/>
                <a:cs typeface="Calibri"/>
                <a:sym typeface="Calibri"/>
              </a:rPr>
              <a:t>Es parecido la anterior, en este caso se analiza el comportamiento de un código que se intuye malicioso pero con mecanismos más sofisticados de análisis que unas simples normas heurísticas.</a:t>
            </a:r>
            <a:endParaRPr sz="1679">
              <a:latin typeface="Calibri"/>
              <a:ea typeface="Calibri"/>
              <a:cs typeface="Calibri"/>
              <a:sym typeface="Calibri"/>
            </a:endParaRPr>
          </a:p>
        </p:txBody>
      </p:sp>
      <p:pic>
        <p:nvPicPr>
          <p:cNvPr id="1103" name="Google Shape;1103;p123" descr="Estos son los mejores antivirus para Windows y Mac según OCU, y son gratis  - AS.com"/>
          <p:cNvPicPr preferRelativeResize="0"/>
          <p:nvPr/>
        </p:nvPicPr>
        <p:blipFill rotWithShape="1">
          <a:blip r:embed="rId3">
            <a:alphaModFix/>
          </a:blip>
          <a:srcRect/>
          <a:stretch/>
        </p:blipFill>
        <p:spPr>
          <a:xfrm>
            <a:off x="10634788" y="90488"/>
            <a:ext cx="1557211" cy="872038"/>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24"/>
          <p:cNvSpPr txBox="1"/>
          <p:nvPr/>
        </p:nvSpPr>
        <p:spPr>
          <a:xfrm>
            <a:off x="0" y="1195123"/>
            <a:ext cx="8614611" cy="47462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a:solidFill>
                  <a:srgbClr val="003245"/>
                </a:solidFill>
                <a:latin typeface="Calibri"/>
                <a:ea typeface="Calibri"/>
                <a:cs typeface="Calibri"/>
                <a:sym typeface="Calibri"/>
              </a:rPr>
              <a:t>Por otro lado, existen dos </a:t>
            </a:r>
            <a:r>
              <a:rPr lang="es-ES" sz="2800" b="1">
                <a:solidFill>
                  <a:srgbClr val="003245"/>
                </a:solidFill>
                <a:latin typeface="Calibri"/>
                <a:ea typeface="Calibri"/>
                <a:cs typeface="Calibri"/>
                <a:sym typeface="Calibri"/>
              </a:rPr>
              <a:t>formas</a:t>
            </a:r>
            <a:r>
              <a:rPr lang="es-ES" sz="2800">
                <a:solidFill>
                  <a:srgbClr val="003245"/>
                </a:solidFill>
                <a:latin typeface="Calibri"/>
                <a:ea typeface="Calibri"/>
                <a:cs typeface="Calibri"/>
                <a:sym typeface="Calibri"/>
              </a:rPr>
              <a:t> de realizar los escaneos: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342900" marR="0" lvl="0" indent="-342900" algn="l" rtl="0">
              <a:lnSpc>
                <a:spcPct val="107000"/>
              </a:lnSpc>
              <a:spcBef>
                <a:spcPts val="0"/>
              </a:spcBef>
              <a:spcAft>
                <a:spcPts val="0"/>
              </a:spcAft>
              <a:buClr>
                <a:srgbClr val="003245"/>
              </a:buClr>
              <a:buSzPts val="1000"/>
              <a:buFont typeface="Noto Sans Symbols"/>
              <a:buChar char="∙"/>
            </a:pPr>
            <a:r>
              <a:rPr lang="es-ES" sz="2400" b="1">
                <a:solidFill>
                  <a:srgbClr val="003245"/>
                </a:solidFill>
                <a:latin typeface="Calibri"/>
                <a:ea typeface="Calibri"/>
                <a:cs typeface="Calibri"/>
                <a:sym typeface="Calibri"/>
              </a:rPr>
              <a:t>Escaneo activo o automático</a:t>
            </a:r>
            <a:r>
              <a:rPr lang="es-ES" sz="2400">
                <a:solidFill>
                  <a:srgbClr val="003245"/>
                </a:solidFill>
                <a:latin typeface="Calibri"/>
                <a:ea typeface="Calibri"/>
                <a:cs typeface="Calibri"/>
                <a:sym typeface="Calibri"/>
              </a:rPr>
              <a:t>: </a:t>
            </a:r>
            <a:r>
              <a:rPr lang="es-ES" sz="1800">
                <a:solidFill>
                  <a:srgbClr val="003245"/>
                </a:solidFill>
                <a:latin typeface="Calibri"/>
                <a:ea typeface="Calibri"/>
                <a:cs typeface="Calibri"/>
                <a:sym typeface="Calibri"/>
              </a:rPr>
              <a:t>Se examinan los archivos cuando se produce un cambio en ellos, no permitiendo su uso/copia/edición hasta que han sido escaneados. Por ejemplo al copiar o salvar archivos, al ejecutar aplicaciones (.exe o .com). En este momento el antivirus lleva a cabo la comparación de los resultados de los cambios con la base de datos de firmas o utiliza métodos heurísticos.</a:t>
            </a:r>
            <a:endParaRPr/>
          </a:p>
          <a:p>
            <a:pPr marL="0" marR="0" lvl="0" indent="0" algn="l" rtl="0">
              <a:lnSpc>
                <a:spcPct val="107000"/>
              </a:lnSpc>
              <a:spcBef>
                <a:spcPts val="800"/>
              </a:spcBef>
              <a:spcAft>
                <a:spcPts val="0"/>
              </a:spcAft>
              <a:buNone/>
            </a:pPr>
            <a:endParaRPr sz="18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b="1">
                <a:solidFill>
                  <a:srgbClr val="003245"/>
                </a:solidFill>
                <a:latin typeface="Calibri"/>
                <a:ea typeface="Calibri"/>
                <a:cs typeface="Calibri"/>
                <a:sym typeface="Calibri"/>
              </a:rPr>
              <a:t>Escaneo manual</a:t>
            </a:r>
            <a:r>
              <a:rPr lang="es-ES" sz="2400">
                <a:solidFill>
                  <a:srgbClr val="003245"/>
                </a:solidFill>
                <a:latin typeface="Calibri"/>
                <a:ea typeface="Calibri"/>
                <a:cs typeface="Calibri"/>
                <a:sym typeface="Calibri"/>
              </a:rPr>
              <a:t>: </a:t>
            </a:r>
            <a:r>
              <a:rPr lang="es-ES" sz="1800">
                <a:solidFill>
                  <a:srgbClr val="003245"/>
                </a:solidFill>
                <a:latin typeface="Calibri"/>
                <a:ea typeface="Calibri"/>
                <a:cs typeface="Calibri"/>
                <a:sym typeface="Calibri"/>
              </a:rPr>
              <a:t>Examina un determinado conjunto de ficheros o directorios y es iniciado por un usuario o administrador. Suele tener una mayor duración y por tanto  puede degradar más el rendimiento del sistema. Es utilizado para realizar análisis profundos (necesarios), aprovechando determinados momentos (paradas programadas, poca actividad, etc.). La configuración del escaneo (throttling), suele permitir al usuario incrementar los recursos dedicados a realizar esta tarea.</a:t>
            </a:r>
            <a:endParaRPr sz="1800">
              <a:solidFill>
                <a:schemeClr val="dk1"/>
              </a:solidFill>
              <a:latin typeface="Calibri"/>
              <a:ea typeface="Calibri"/>
              <a:cs typeface="Calibri"/>
              <a:sym typeface="Calibri"/>
            </a:endParaRPr>
          </a:p>
        </p:txBody>
      </p:sp>
      <p:pic>
        <p:nvPicPr>
          <p:cNvPr id="1109" name="Google Shape;1109;p124" descr="Joyería y seguridad en el aeropuerto - Gioiellis"/>
          <p:cNvPicPr preferRelativeResize="0"/>
          <p:nvPr/>
        </p:nvPicPr>
        <p:blipFill rotWithShape="1">
          <a:blip r:embed="rId3">
            <a:alphaModFix/>
          </a:blip>
          <a:srcRect/>
          <a:stretch/>
        </p:blipFill>
        <p:spPr>
          <a:xfrm>
            <a:off x="8749364" y="2284412"/>
            <a:ext cx="3431343" cy="2289175"/>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125"/>
          <p:cNvSpPr txBox="1">
            <a:spLocks noGrp="1"/>
          </p:cNvSpPr>
          <p:nvPr>
            <p:ph type="body" idx="1"/>
          </p:nvPr>
        </p:nvSpPr>
        <p:spPr>
          <a:xfrm>
            <a:off x="510941" y="-1"/>
            <a:ext cx="10111339" cy="6487427"/>
          </a:xfrm>
          <a:prstGeom prst="rect">
            <a:avLst/>
          </a:prstGeom>
          <a:noFill/>
          <a:ln>
            <a:noFill/>
          </a:ln>
        </p:spPr>
        <p:txBody>
          <a:bodyPr spcFirstLastPara="1" wrap="square" lIns="91425" tIns="45700" rIns="91425" bIns="45700" anchor="t" anchorCtr="0">
            <a:normAutofit/>
          </a:bodyPr>
          <a:lstStyle/>
          <a:p>
            <a:pPr marL="0" lvl="0" indent="0" algn="l" rtl="0">
              <a:lnSpc>
                <a:spcPct val="87000"/>
              </a:lnSpc>
              <a:spcBef>
                <a:spcPts val="0"/>
              </a:spcBef>
              <a:spcAft>
                <a:spcPts val="0"/>
              </a:spcAft>
              <a:buClr>
                <a:srgbClr val="003245"/>
              </a:buClr>
              <a:buSzPts val="2880"/>
              <a:buNone/>
            </a:pPr>
            <a:r>
              <a:rPr lang="es-ES" sz="2880" b="1">
                <a:solidFill>
                  <a:srgbClr val="003245"/>
                </a:solidFill>
                <a:latin typeface="Calibri"/>
                <a:ea typeface="Calibri"/>
                <a:cs typeface="Calibri"/>
                <a:sym typeface="Calibri"/>
              </a:rPr>
              <a:t>Cuáles son las principales funcionalidades que proporcionan?</a:t>
            </a:r>
            <a:endParaRPr sz="2880">
              <a:latin typeface="Calibri"/>
              <a:ea typeface="Calibri"/>
              <a:cs typeface="Calibri"/>
              <a:sym typeface="Calibri"/>
            </a:endParaRPr>
          </a:p>
          <a:p>
            <a:pPr marL="228600" lvl="0" indent="-228600" algn="l" rtl="0">
              <a:lnSpc>
                <a:spcPct val="87000"/>
              </a:lnSpc>
              <a:spcBef>
                <a:spcPts val="1800"/>
              </a:spcBef>
              <a:spcAft>
                <a:spcPts val="0"/>
              </a:spcAft>
              <a:buClr>
                <a:srgbClr val="003245"/>
              </a:buClr>
              <a:buSzPts val="2880"/>
              <a:buChar char="•"/>
            </a:pPr>
            <a:r>
              <a:rPr lang="es-ES" sz="2880">
                <a:solidFill>
                  <a:srgbClr val="003245"/>
                </a:solidFill>
                <a:latin typeface="Calibri"/>
                <a:ea typeface="Calibri"/>
                <a:cs typeface="Calibri"/>
                <a:sym typeface="Calibri"/>
              </a:rPr>
              <a:t>Las funcionalidades específicas que suelen incluir las soluciones antimalware para proteger lo que hemos denominado como PCs son las siguientes:</a:t>
            </a:r>
            <a:endParaRPr sz="2880">
              <a:latin typeface="Calibri"/>
              <a:ea typeface="Calibri"/>
              <a:cs typeface="Calibri"/>
              <a:sym typeface="Calibri"/>
            </a:endParaRPr>
          </a:p>
          <a:p>
            <a:pPr marL="342900" lvl="0" indent="-342900" algn="l" rtl="0">
              <a:lnSpc>
                <a:spcPct val="87000"/>
              </a:lnSpc>
              <a:spcBef>
                <a:spcPts val="2200"/>
              </a:spcBef>
              <a:spcAft>
                <a:spcPts val="0"/>
              </a:spcAft>
              <a:buClr>
                <a:srgbClr val="003245"/>
              </a:buClr>
              <a:buSzPts val="1000"/>
              <a:buFont typeface="Noto Sans Symbols"/>
              <a:buChar char="∙"/>
            </a:pPr>
            <a:r>
              <a:rPr lang="es-ES" sz="2880">
                <a:solidFill>
                  <a:srgbClr val="003245"/>
                </a:solidFill>
                <a:latin typeface="Calibri"/>
                <a:ea typeface="Calibri"/>
                <a:cs typeface="Calibri"/>
                <a:sym typeface="Calibri"/>
              </a:rPr>
              <a:t>Detección de virus, spyware, troyanos, gusanos y otras amenazas de malware.</a:t>
            </a:r>
            <a:endParaRPr sz="2880">
              <a:latin typeface="Calibri"/>
              <a:ea typeface="Calibri"/>
              <a:cs typeface="Calibri"/>
              <a:sym typeface="Calibri"/>
            </a:endParaRPr>
          </a:p>
          <a:p>
            <a:pPr marL="342900" lvl="0" indent="-342900" algn="l" rtl="0">
              <a:lnSpc>
                <a:spcPct val="87000"/>
              </a:lnSpc>
              <a:spcBef>
                <a:spcPts val="1800"/>
              </a:spcBef>
              <a:spcAft>
                <a:spcPts val="0"/>
              </a:spcAft>
              <a:buClr>
                <a:srgbClr val="003245"/>
              </a:buClr>
              <a:buSzPts val="1000"/>
              <a:buFont typeface="Noto Sans Symbols"/>
              <a:buChar char="∙"/>
            </a:pPr>
            <a:r>
              <a:rPr lang="es-ES" sz="2880">
                <a:solidFill>
                  <a:srgbClr val="003245"/>
                </a:solidFill>
                <a:latin typeface="Calibri"/>
                <a:ea typeface="Calibri"/>
                <a:cs typeface="Calibri"/>
                <a:sym typeface="Calibri"/>
              </a:rPr>
              <a:t>Comprobación de seguridad al descargar y/o abrir archivos y aplicaciones y al visitar sitios web.</a:t>
            </a:r>
            <a:endParaRPr sz="2880">
              <a:latin typeface="Calibri"/>
              <a:ea typeface="Calibri"/>
              <a:cs typeface="Calibri"/>
              <a:sym typeface="Calibri"/>
            </a:endParaRPr>
          </a:p>
          <a:p>
            <a:pPr marL="342900" lvl="0" indent="-342900" algn="l" rtl="0">
              <a:lnSpc>
                <a:spcPct val="87000"/>
              </a:lnSpc>
              <a:spcBef>
                <a:spcPts val="1800"/>
              </a:spcBef>
              <a:spcAft>
                <a:spcPts val="0"/>
              </a:spcAft>
              <a:buClr>
                <a:srgbClr val="003245"/>
              </a:buClr>
              <a:buSzPts val="1000"/>
              <a:buFont typeface="Noto Sans Symbols"/>
              <a:buChar char="∙"/>
            </a:pPr>
            <a:r>
              <a:rPr lang="es-ES" sz="2880">
                <a:solidFill>
                  <a:srgbClr val="003245"/>
                </a:solidFill>
                <a:latin typeface="Calibri"/>
                <a:ea typeface="Calibri"/>
                <a:cs typeface="Calibri"/>
                <a:sym typeface="Calibri"/>
              </a:rPr>
              <a:t>Prevención automática de ejecución de exploits y detección y análisis de vulnerabilidades de aplicaciones.</a:t>
            </a:r>
            <a:endParaRPr sz="2880">
              <a:latin typeface="Calibri"/>
              <a:ea typeface="Calibri"/>
              <a:cs typeface="Calibri"/>
              <a:sym typeface="Calibri"/>
            </a:endParaRPr>
          </a:p>
          <a:p>
            <a:pPr marL="342900" lvl="0" indent="-342900" algn="l" rtl="0">
              <a:lnSpc>
                <a:spcPct val="87000"/>
              </a:lnSpc>
              <a:spcBef>
                <a:spcPts val="1800"/>
              </a:spcBef>
              <a:spcAft>
                <a:spcPts val="0"/>
              </a:spcAft>
              <a:buClr>
                <a:srgbClr val="003245"/>
              </a:buClr>
              <a:buSzPts val="1000"/>
              <a:buFont typeface="Noto Sans Symbols"/>
              <a:buChar char="∙"/>
            </a:pPr>
            <a:r>
              <a:rPr lang="es-ES" sz="2880">
                <a:solidFill>
                  <a:srgbClr val="003245"/>
                </a:solidFill>
                <a:latin typeface="Calibri"/>
                <a:ea typeface="Calibri"/>
                <a:cs typeface="Calibri"/>
                <a:sym typeface="Calibri"/>
              </a:rPr>
              <a:t>Verificación de la seguridad de conexiones Wi-Fi: existencia de vulnerabilidades y riesgos y recomendaciones de configuración.</a:t>
            </a:r>
            <a:endParaRPr sz="2880">
              <a:latin typeface="Calibri"/>
              <a:ea typeface="Calibri"/>
              <a:cs typeface="Calibri"/>
              <a:sym typeface="Calibri"/>
            </a:endParaRPr>
          </a:p>
          <a:p>
            <a:pPr marL="228600" lvl="0" indent="-157480" algn="l" rtl="0">
              <a:lnSpc>
                <a:spcPct val="70000"/>
              </a:lnSpc>
              <a:spcBef>
                <a:spcPts val="1800"/>
              </a:spcBef>
              <a:spcAft>
                <a:spcPts val="0"/>
              </a:spcAft>
              <a:buClr>
                <a:schemeClr val="dk1"/>
              </a:buClr>
              <a:buSzPts val="1120"/>
              <a:buNone/>
            </a:pPr>
            <a:endParaRPr sz="112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126"/>
          <p:cNvSpPr txBox="1"/>
          <p:nvPr/>
        </p:nvSpPr>
        <p:spPr>
          <a:xfrm>
            <a:off x="263090" y="-120718"/>
            <a:ext cx="11665819" cy="7026411"/>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7000"/>
              </a:lnSpc>
              <a:spcBef>
                <a:spcPts val="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Control de ejecución de aplicaciones: sólo se ejecutan las de confianza.</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Utilización de mecanismos de desbloqueo de dispositivos en caso de malware (troyano normalmente) de bloqueo.</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Incorporación de motores anti-banner para evitar anuncios potencialmente peligrosos.</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Evitación de correo spam.</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Incorporación de motores anti-phising.</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Control de acceso no autorizado a través de webcams.</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Identificación de malware keylogger para evitar el acceso a los datos escritos con el teclado.</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Incorporación de funcionalidades que incrementan la seguridad al realizar operaciones on line (banca, compras, etc.)</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Almacenamiento y sincronización de contraseñas.</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Cifrado de archivos considerados confidenciales.</a:t>
            </a:r>
            <a:endParaRPr sz="2400">
              <a:solidFill>
                <a:schemeClr val="dk1"/>
              </a:solidFill>
              <a:latin typeface="Calibri"/>
              <a:ea typeface="Calibri"/>
              <a:cs typeface="Calibri"/>
              <a:sym typeface="Calibri"/>
            </a:endParaRPr>
          </a:p>
          <a:p>
            <a:pPr marL="342900" marR="0" lvl="0" indent="-342900" algn="l" rtl="0">
              <a:lnSpc>
                <a:spcPct val="107000"/>
              </a:lnSpc>
              <a:spcBef>
                <a:spcPts val="800"/>
              </a:spcBef>
              <a:spcAft>
                <a:spcPts val="0"/>
              </a:spcAft>
              <a:buClr>
                <a:srgbClr val="003245"/>
              </a:buClr>
              <a:buSzPts val="1000"/>
              <a:buFont typeface="Noto Sans Symbols"/>
              <a:buChar char="∙"/>
            </a:pPr>
            <a:r>
              <a:rPr lang="es-ES" sz="2400">
                <a:solidFill>
                  <a:srgbClr val="003245"/>
                </a:solidFill>
                <a:latin typeface="Calibri"/>
                <a:ea typeface="Calibri"/>
                <a:cs typeface="Calibri"/>
                <a:sym typeface="Calibri"/>
              </a:rPr>
              <a:t>Control parental para evitar el acceso a espacios no recomendados para menores o para filtrar la compartición de datos personales.</a:t>
            </a:r>
            <a:endParaRPr sz="2400">
              <a:solidFill>
                <a:schemeClr val="dk1"/>
              </a:solidFill>
              <a:latin typeface="Calibri"/>
              <a:ea typeface="Calibri"/>
              <a:cs typeface="Calibri"/>
              <a:sym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1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a:t>Más información</a:t>
            </a:r>
            <a:endParaRPr/>
          </a:p>
        </p:txBody>
      </p:sp>
      <p:sp>
        <p:nvSpPr>
          <p:cNvPr id="1125" name="Google Shape;1125;p1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s-ES" u="sng">
                <a:solidFill>
                  <a:schemeClr val="hlink"/>
                </a:solidFill>
                <a:hlinkClick r:id="rId3"/>
              </a:rPr>
              <a:t>INCIBE |</a:t>
            </a:r>
            <a:r>
              <a:rPr lang="es-ES"/>
              <a:t> INSTITUTO NACIONAL DE CIBERSEGURIDAD</a:t>
            </a:r>
            <a:endParaRPr/>
          </a:p>
          <a:p>
            <a:pPr marL="228600" lvl="0" indent="-228600" algn="l" rtl="0">
              <a:lnSpc>
                <a:spcPct val="90000"/>
              </a:lnSpc>
              <a:spcBef>
                <a:spcPts val="1000"/>
              </a:spcBef>
              <a:spcAft>
                <a:spcPts val="0"/>
              </a:spcAft>
              <a:buClr>
                <a:srgbClr val="202124"/>
              </a:buClr>
              <a:buSzPts val="2800"/>
              <a:buChar char="•"/>
            </a:pPr>
            <a:r>
              <a:rPr lang="es-ES" b="0" i="0" u="sng" strike="noStrike">
                <a:solidFill>
                  <a:srgbClr val="202124"/>
                </a:solidFill>
                <a:latin typeface="arial"/>
                <a:ea typeface="arial"/>
                <a:cs typeface="arial"/>
                <a:sym typeface="arial"/>
                <a:hlinkClick r:id="rId4">
                  <a:extLst>
                    <a:ext uri="{A12FA001-AC4F-418D-AE19-62706E023703}">
                      <ahyp:hlinkClr xmlns:ahyp="http://schemas.microsoft.com/office/drawing/2018/hyperlinkcolor" val="tx"/>
                    </a:ext>
                  </a:extLst>
                </a:hlinkClick>
              </a:rPr>
              <a:t>www.osi.es</a:t>
            </a:r>
            <a:r>
              <a:rPr lang="es-ES" b="0" i="0" u="sng" strike="noStrike">
                <a:solidFill>
                  <a:srgbClr val="5F6368"/>
                </a:solidFill>
                <a:latin typeface="arial"/>
                <a:ea typeface="arial"/>
                <a:cs typeface="arial"/>
                <a:sym typeface="arial"/>
                <a:hlinkClick r:id="rId4">
                  <a:extLst>
                    <a:ext uri="{A12FA001-AC4F-418D-AE19-62706E023703}">
                      <ahyp:hlinkClr xmlns:ahyp="http://schemas.microsoft.com/office/drawing/2018/hyperlinkcolor" val="tx"/>
                    </a:ext>
                  </a:extLst>
                </a:hlinkClick>
              </a:rPr>
              <a:t> </a:t>
            </a:r>
            <a:r>
              <a:rPr lang="es-ES"/>
              <a:t> OFICINA DE SEGURIDAD DEL INTERNAUTA</a:t>
            </a:r>
            <a:endParaRPr/>
          </a:p>
          <a:p>
            <a:pPr marL="228600" lvl="0" indent="-228600" algn="l" rtl="0">
              <a:lnSpc>
                <a:spcPct val="90000"/>
              </a:lnSpc>
              <a:spcBef>
                <a:spcPts val="1000"/>
              </a:spcBef>
              <a:spcAft>
                <a:spcPts val="0"/>
              </a:spcAft>
              <a:buClr>
                <a:schemeClr val="dk1"/>
              </a:buClr>
              <a:buSzPts val="2800"/>
              <a:buChar char="•"/>
            </a:pPr>
            <a:r>
              <a:rPr lang="es-ES" u="sng">
                <a:solidFill>
                  <a:schemeClr val="hlink"/>
                </a:solidFill>
                <a:hlinkClick r:id="rId5"/>
              </a:rPr>
              <a:t>CCN-CERT (cni.es)</a:t>
            </a:r>
            <a:r>
              <a:rPr lang="es-ES"/>
              <a:t> CENTRO CRIPTOGRAFICO NACIONAL</a:t>
            </a:r>
            <a:endParaRPr/>
          </a:p>
          <a:p>
            <a:pPr marL="228600" lvl="0" indent="-228600" algn="l" rtl="0">
              <a:lnSpc>
                <a:spcPct val="90000"/>
              </a:lnSpc>
              <a:spcBef>
                <a:spcPts val="1000"/>
              </a:spcBef>
              <a:spcAft>
                <a:spcPts val="0"/>
              </a:spcAft>
              <a:buClr>
                <a:schemeClr val="dk1"/>
              </a:buClr>
              <a:buSzPts val="2800"/>
              <a:buChar char="•"/>
            </a:pPr>
            <a:r>
              <a:rPr lang="es-ES" u="sng">
                <a:solidFill>
                  <a:schemeClr val="hlink"/>
                </a:solidFill>
                <a:hlinkClick r:id="rId6"/>
              </a:rPr>
              <a:t>CVE - Common Vulnerabilities and Exposures (CVE) (mitre.org)</a:t>
            </a:r>
            <a:r>
              <a:rPr lang="es-ES"/>
              <a:t> VULNERABILIDADES</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b="0" i="0" u="sng" strike="noStrike">
              <a:solidFill>
                <a:srgbClr val="660099"/>
              </a:solidFill>
              <a:latin typeface="arial"/>
              <a:ea typeface="arial"/>
              <a:cs typeface="arial"/>
              <a:sym typeface="arial"/>
              <a:hlinkClick r:id="rId4">
                <a:extLst>
                  <a:ext uri="{A12FA001-AC4F-418D-AE19-62706E023703}">
                    <ahyp:hlinkClr xmlns:ahyp="http://schemas.microsoft.com/office/drawing/2018/hyperlinkcolor" val="tx"/>
                  </a:ext>
                </a:extLst>
              </a:hlinkClick>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theme/theme1.xml><?xml version="1.0" encoding="utf-8"?>
<a:theme xmlns:a="http://schemas.openxmlformats.org/drawingml/2006/main" name="Office Theme">
  <a:themeElements>
    <a:clrScheme name="Tema d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15295</Words>
  <Application>Microsoft Office PowerPoint</Application>
  <PresentationFormat>Panorámica</PresentationFormat>
  <Paragraphs>742</Paragraphs>
  <Slides>129</Slides>
  <Notes>128</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129</vt:i4>
      </vt:variant>
    </vt:vector>
  </HeadingPairs>
  <TitlesOfParts>
    <vt:vector size="142" baseType="lpstr">
      <vt:lpstr>Arial</vt:lpstr>
      <vt:lpstr>Times New Roman</vt:lpstr>
      <vt:lpstr>Arial</vt:lpstr>
      <vt:lpstr>Nunito Sans</vt:lpstr>
      <vt:lpstr>Roboto</vt:lpstr>
      <vt:lpstr>Montserrat</vt:lpstr>
      <vt:lpstr>Nunito Sans Black</vt:lpstr>
      <vt:lpstr>Calibri</vt:lpstr>
      <vt:lpstr>Open Sans</vt:lpstr>
      <vt:lpstr>Nunito Sans ExtraBold</vt:lpstr>
      <vt:lpstr>Noto Sans Symbols</vt:lpstr>
      <vt:lpstr>Source Sans Pro</vt:lpstr>
      <vt:lpstr>Office Theme</vt:lpstr>
      <vt:lpstr>CURSO ESPECIALISTA EN SEGURIDAD EN INTERNET</vt:lpstr>
      <vt:lpstr>Principios básicos</vt:lpstr>
      <vt:lpstr>Presentación de PowerPoint</vt:lpstr>
      <vt:lpstr>Temario</vt:lpstr>
      <vt:lpstr>Tema 1: introducción a la ciberseguridad</vt:lpstr>
      <vt:lpstr>Conceptos básicos Que es la ciberseguridad</vt:lpstr>
      <vt:lpstr>Ciberdelincuentes</vt:lpstr>
      <vt:lpstr>1.1 Tipos de atacantes</vt:lpstr>
      <vt:lpstr>Formas de actuar de los ciberdelincuentes: anonimato</vt:lpstr>
      <vt:lpstr>Técnicas </vt:lpstr>
      <vt:lpstr>Presentación de PowerPoint</vt:lpstr>
      <vt:lpstr>1.2 Tipos de ataques</vt:lpstr>
      <vt:lpstr>Presentación de PowerPoint</vt:lpstr>
      <vt:lpstr>TIPOS DE VULNERABILIDADES</vt:lpstr>
      <vt:lpstr>CICLO DE VIDA DE UNA VULNERABILIDAD DE CODIGO</vt:lpstr>
      <vt:lpstr>VULNERABILIDAD DE ZERO-DAY</vt:lpstr>
      <vt:lpstr>1.4  ANÁLISIS DE RIESGO Y PREVENCIÓN</vt:lpstr>
      <vt:lpstr>PREVENCION</vt:lpstr>
      <vt:lpstr>PREVENCIÓN</vt:lpstr>
      <vt:lpstr>1.5 FACTOR HUMANO-INGENERIA SOCIAL</vt:lpstr>
      <vt:lpstr>Presentación de PowerPoint</vt:lpstr>
      <vt:lpstr>Ejemplos </vt:lpstr>
      <vt:lpstr>INGENIERIA SOCIAL</vt:lpstr>
      <vt:lpstr>PHISING</vt:lpstr>
      <vt:lpstr>ejemplos</vt:lpstr>
      <vt:lpstr>PHISING</vt:lpstr>
      <vt:lpstr>Recomendaciones elemento humano</vt:lpstr>
      <vt:lpstr>Otras medidas</vt:lpstr>
      <vt:lpstr>Como solucionar el factor humano</vt:lpstr>
      <vt:lpstr>1.6 Eventos-ataques e incidentes de seguridad</vt:lpstr>
      <vt:lpstr>ejemplos</vt:lpstr>
      <vt:lpstr>Tema 2: malware</vt:lpstr>
      <vt:lpstr>2.1 Tipos de Malware. </vt:lpstr>
      <vt:lpstr>Ejemplo de malware</vt:lpstr>
      <vt:lpstr>VIRUS</vt:lpstr>
      <vt:lpstr>GUSANOS-WORMS</vt:lpstr>
      <vt:lpstr>TROYANOS</vt:lpstr>
      <vt:lpstr>Tipos de troyanos</vt:lpstr>
      <vt:lpstr>Troyanos bancarios </vt:lpstr>
      <vt:lpstr>Presentación de PowerPoint</vt:lpstr>
      <vt:lpstr>Presentación de PowerPoint</vt:lpstr>
      <vt:lpstr>Rogue ware</vt:lpstr>
      <vt:lpstr>CODIGO POLIMORFICO</vt:lpstr>
      <vt:lpstr>2.1 HISTORIA DE LOS VIRUS</vt:lpstr>
      <vt:lpstr>Presentación de PowerPoint</vt:lpstr>
      <vt:lpstr>2.1 HISTORIA DE LOS VIRUS</vt:lpstr>
      <vt:lpstr>2.1 HISTORIA DE LOS VIRUS</vt:lpstr>
      <vt:lpstr>2.1 HISTORIA DE LOS VIRUS</vt:lpstr>
      <vt:lpstr>2.1 HISTORIA DE LOS VIRUS</vt:lpstr>
      <vt:lpstr>BOTNETS-sistema de control hacker</vt:lpstr>
      <vt:lpstr>Tema 3: introducción a las redes</vt:lpstr>
      <vt:lpstr>Presentación de PowerPoint</vt:lpstr>
      <vt:lpstr>VOCABULARIO DE REDES</vt:lpstr>
      <vt:lpstr>Presentación de PowerPoint</vt:lpstr>
      <vt:lpstr>IP FIJAS E IP DINAMICAS</vt:lpstr>
      <vt:lpstr>Presentación de PowerPoint</vt:lpstr>
      <vt:lpstr>Presentación de PowerPoint</vt:lpstr>
      <vt:lpstr>Presentación de PowerPoint</vt:lpstr>
      <vt:lpstr>Presentación de PowerPoint</vt:lpstr>
      <vt:lpstr>Recogida de informacion</vt:lpstr>
      <vt:lpstr>Aplicaciones </vt:lpstr>
      <vt:lpstr>INTRANET</vt:lpstr>
      <vt:lpstr>TIPOS DE INTRANET</vt:lpstr>
      <vt:lpstr>EXTRANET</vt:lpstr>
      <vt:lpstr>Ventajas y desventajas de una extranet</vt:lpstr>
      <vt:lpstr>REDES PRIVADAS VIRTUALES VPN</vt:lpstr>
      <vt:lpstr>Seguridad en la web</vt:lpstr>
      <vt:lpstr>Seguridad en la web</vt:lpstr>
      <vt:lpstr>Seguridad en la web</vt:lpstr>
      <vt:lpstr>Presentación de PowerPoint</vt:lpstr>
      <vt:lpstr>ROUTER</vt:lpstr>
      <vt:lpstr>PROTOCOLOS</vt:lpstr>
      <vt:lpstr>CONFIGURACION</vt:lpstr>
      <vt:lpstr>CONFIGURACION DEL ROUTER</vt:lpstr>
      <vt:lpstr>CONFIGURACION DEL ROUTER</vt:lpstr>
      <vt:lpstr>CONFIGURACION DEL ROUTER</vt:lpstr>
      <vt:lpstr>CONFIGURACION DEL ROUTER</vt:lpstr>
      <vt:lpstr>Presentación de PowerPoint</vt:lpstr>
      <vt:lpstr>Presentación de PowerPoint</vt:lpstr>
      <vt:lpstr>TIPOS DE CIFRADO</vt:lpstr>
      <vt:lpstr>CONFIGURACION REDES WINDOWS</vt:lpstr>
      <vt:lpstr>Presentación de PowerPoint</vt:lpstr>
      <vt:lpstr>Presentación de PowerPoint</vt:lpstr>
      <vt:lpstr>COMANDOS DE NETSH</vt:lpstr>
      <vt:lpstr>Presentación de PowerPoint</vt:lpstr>
      <vt:lpstr>Ejemplos </vt:lpstr>
      <vt:lpstr>3.4 TIPOS DE SERVIDORES SERVIDORES</vt:lpstr>
      <vt:lpstr>TIPOS DE SERVIDORES</vt:lpstr>
      <vt:lpstr>Presentación de PowerPoint</vt:lpstr>
      <vt:lpstr>Presentación de PowerPoint</vt:lpstr>
      <vt:lpstr>Presentación de PowerPoint</vt:lpstr>
      <vt:lpstr>PRINCIPALES PUERTOS-SERVIDORES</vt:lpstr>
      <vt:lpstr>FTP</vt:lpstr>
      <vt:lpstr>HTTP</vt:lpstr>
      <vt:lpstr>SSH</vt:lpstr>
      <vt:lpstr>SMTP</vt:lpstr>
      <vt:lpstr>HTTPS</vt:lpstr>
      <vt:lpstr>MySQL</vt:lpstr>
      <vt:lpstr>UpnP</vt:lpstr>
      <vt:lpstr>Tema 4: patrones de ataque</vt:lpstr>
      <vt:lpstr>TIPOS DE ATAQUES</vt:lpstr>
      <vt:lpstr>4.1 SUPLANTACION DE IDENTIDAD ARP</vt:lpstr>
      <vt:lpstr>ATAQUE Y PREVENCION</vt:lpstr>
      <vt:lpstr>Presentación de PowerPoint</vt:lpstr>
      <vt:lpstr>Presentación de PowerPoint</vt:lpstr>
      <vt:lpstr>4.2 ATAQUE DE DENEGACION DE SERVICIOS </vt:lpstr>
      <vt:lpstr>Presentación de PowerPoint</vt:lpstr>
      <vt:lpstr>Presentación de PowerPoint</vt:lpstr>
      <vt:lpstr>Presentación de PowerPoint</vt:lpstr>
      <vt:lpstr>Tema 5: contramedidas</vt:lpstr>
      <vt:lpstr>CRITPOGRAFIA-CIFRADO</vt:lpstr>
      <vt:lpstr>TIPOS DE CIFRADO</vt:lpstr>
      <vt:lpstr>SEGURIDAD PERIMETRAL</vt:lpstr>
      <vt:lpstr>SEGMENTACION DE REDES</vt:lpstr>
      <vt:lpstr>Presentación de PowerPoint</vt:lpstr>
      <vt:lpstr>5.2 CONTRAMEDIDAS DE SERVICIOS/APLICACION</vt:lpstr>
      <vt:lpstr>Presentación de PowerPoint</vt:lpstr>
      <vt:lpstr>Presentación de PowerPoint</vt:lpstr>
      <vt:lpstr>Presentación de PowerPoint</vt:lpstr>
      <vt:lpstr>PREVENCION</vt:lpstr>
      <vt:lpstr>PREVENCION</vt:lpstr>
      <vt:lpstr>Presentación de PowerPoint</vt:lpstr>
      <vt:lpstr>Presentación de PowerPoint</vt:lpstr>
      <vt:lpstr>Presentación de PowerPoint</vt:lpstr>
      <vt:lpstr>ANTIVIRUS-ESCANEO</vt:lpstr>
      <vt:lpstr>Presentación de PowerPoint</vt:lpstr>
      <vt:lpstr>Presentación de PowerPoint</vt:lpstr>
      <vt:lpstr>Presentación de PowerPoint</vt:lpstr>
      <vt:lpstr>Más información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Alberto Ruiz</dc:creator>
  <cp:lastModifiedBy>Alberto Ruiz</cp:lastModifiedBy>
  <cp:revision>1</cp:revision>
  <dcterms:created xsi:type="dcterms:W3CDTF">2021-01-12T08:27:55Z</dcterms:created>
  <dcterms:modified xsi:type="dcterms:W3CDTF">2025-09-19T06:07:57Z</dcterms:modified>
</cp:coreProperties>
</file>